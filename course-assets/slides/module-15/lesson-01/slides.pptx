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c89a6f319b4095" /><Relationship Type="http://schemas.openxmlformats.org/officeDocument/2006/relationships/extended-properties" Target="/docProps/app.xml" Id="Rfc4d3abddf5b4594" /><Relationship Type="http://schemas.openxmlformats.org/officeDocument/2006/relationships/officeDocument" Target="/ppt/presentation.xml" Id="Re16c87eb1491418f" /></Relationships>
</file>

<file path=ppt/presentation.xml><?xml version="1.0" encoding="utf-8"?>
<p:presentation xmlns:p="http://schemas.openxmlformats.org/presentationml/2006/main">
  <p:sldMasterIdLst>
    <p:sldMasterId xmlns:r="http://schemas.openxmlformats.org/officeDocument/2006/relationships" id="2147483648" r:id="R4d292c5731c049f4"/>
  </p:sldMasterIdLst>
  <p:notesMasterIdLst>
    <p:notesMasterId xmlns:r="http://schemas.openxmlformats.org/officeDocument/2006/relationships" r:id="Rb6916b2b0d04471a"/>
  </p:notesMasterIdLst>
  <p:sldIdLst>
    <p:sldId xmlns:r="http://schemas.openxmlformats.org/officeDocument/2006/relationships" id="256" r:id="R1e2fb96daa4248fe"/>
    <p:sldId xmlns:r="http://schemas.openxmlformats.org/officeDocument/2006/relationships" id="257" r:id="R82d885de061e4cb8"/>
    <p:sldId xmlns:r="http://schemas.openxmlformats.org/officeDocument/2006/relationships" id="258" r:id="Re5025094e37c4649"/>
    <p:sldId xmlns:r="http://schemas.openxmlformats.org/officeDocument/2006/relationships" id="259" r:id="Rc3846b0ee77842ea"/>
    <p:sldId xmlns:r="http://schemas.openxmlformats.org/officeDocument/2006/relationships" id="260" r:id="R260cdafe18394215"/>
    <p:sldId xmlns:r="http://schemas.openxmlformats.org/officeDocument/2006/relationships" id="261" r:id="R139ef98f42e1455a"/>
    <p:sldId xmlns:r="http://schemas.openxmlformats.org/officeDocument/2006/relationships" id="262" r:id="Rc4d86b010fcb4b53"/>
    <p:sldId xmlns:r="http://schemas.openxmlformats.org/officeDocument/2006/relationships" id="263" r:id="R7b01fb6495704cb3"/>
    <p:sldId xmlns:r="http://schemas.openxmlformats.org/officeDocument/2006/relationships" id="264" r:id="R625a97489ba243f6"/>
    <p:sldId xmlns:r="http://schemas.openxmlformats.org/officeDocument/2006/relationships" id="265" r:id="R4d32e0d84530484a"/>
    <p:sldId xmlns:r="http://schemas.openxmlformats.org/officeDocument/2006/relationships" id="266" r:id="Rac0e0eafeed64b0d"/>
    <p:sldId xmlns:r="http://schemas.openxmlformats.org/officeDocument/2006/relationships" id="267" r:id="Rd53099895ca142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6d30454d884973" /><Relationship Type="http://schemas.openxmlformats.org/officeDocument/2006/relationships/slideMaster" Target="/ppt/slideMasters/slideMaster1.xml" Id="R4d292c5731c049f4" /><Relationship Type="http://schemas.openxmlformats.org/officeDocument/2006/relationships/notesMaster" Target="/ppt/notesMasters/notesMaster1.xml" Id="Rb6916b2b0d04471a" /><Relationship Type="http://schemas.openxmlformats.org/officeDocument/2006/relationships/presProps" Target="/ppt/presProps.xml" Id="R4dfe6b6ea5d84129" /><Relationship Type="http://schemas.openxmlformats.org/officeDocument/2006/relationships/tableStyles" Target="/ppt/tableStyles.xml" Id="Ra60944470e5e418a" /><Relationship Type="http://schemas.openxmlformats.org/officeDocument/2006/relationships/slide" Target="/ppt/slides/slide1.xml" Id="R1e2fb96daa4248fe" /><Relationship Type="http://schemas.openxmlformats.org/officeDocument/2006/relationships/slide" Target="/ppt/slides/slide2.xml" Id="R82d885de061e4cb8" /><Relationship Type="http://schemas.openxmlformats.org/officeDocument/2006/relationships/slide" Target="/ppt/slides/slide3.xml" Id="Re5025094e37c4649" /><Relationship Type="http://schemas.openxmlformats.org/officeDocument/2006/relationships/slide" Target="/ppt/slides/slide4.xml" Id="Rc3846b0ee77842ea" /><Relationship Type="http://schemas.openxmlformats.org/officeDocument/2006/relationships/slide" Target="/ppt/slides/slide5.xml" Id="R260cdafe18394215" /><Relationship Type="http://schemas.openxmlformats.org/officeDocument/2006/relationships/slide" Target="/ppt/slides/slide6.xml" Id="R139ef98f42e1455a" /><Relationship Type="http://schemas.openxmlformats.org/officeDocument/2006/relationships/slide" Target="/ppt/slides/slide7.xml" Id="Rc4d86b010fcb4b53" /><Relationship Type="http://schemas.openxmlformats.org/officeDocument/2006/relationships/slide" Target="/ppt/slides/slide8.xml" Id="R7b01fb6495704cb3" /><Relationship Type="http://schemas.openxmlformats.org/officeDocument/2006/relationships/slide" Target="/ppt/slides/slide9.xml" Id="R625a97489ba243f6" /><Relationship Type="http://schemas.openxmlformats.org/officeDocument/2006/relationships/slide" Target="/ppt/slides/slide10.xml" Id="R4d32e0d84530484a" /><Relationship Type="http://schemas.openxmlformats.org/officeDocument/2006/relationships/slide" Target="/ppt/slides/slide11.xml" Id="Rac0e0eafeed64b0d" /><Relationship Type="http://schemas.openxmlformats.org/officeDocument/2006/relationships/slide" Target="/ppt/slides/slide12.xml" Id="Rd53099895ca142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589d0ac5bc4a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c17db50a314319" /><Relationship Type="http://schemas.openxmlformats.org/officeDocument/2006/relationships/notesMaster" Target="/ppt/notesMasters/notesMaster1.xml" Id="R00b682987aab44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55edadb9c245b4" /><Relationship Type="http://schemas.openxmlformats.org/officeDocument/2006/relationships/notesMaster" Target="/ppt/notesMasters/notesMaster1.xml" Id="R2d6de766147048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a85d90a4a945c7" /><Relationship Type="http://schemas.openxmlformats.org/officeDocument/2006/relationships/notesMaster" Target="/ppt/notesMasters/notesMaster1.xml" Id="R946f56288fe542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5a38d1e3ba42fa" /><Relationship Type="http://schemas.openxmlformats.org/officeDocument/2006/relationships/notesMaster" Target="/ppt/notesMasters/notesMaster1.xml" Id="R3d56086d4c704e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38d97ac996433b" /><Relationship Type="http://schemas.openxmlformats.org/officeDocument/2006/relationships/notesMaster" Target="/ppt/notesMasters/notesMaster1.xml" Id="R9d833dacad2045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88c404262c4dc6" /><Relationship Type="http://schemas.openxmlformats.org/officeDocument/2006/relationships/notesMaster" Target="/ppt/notesMasters/notesMaster1.xml" Id="R9f73f04533034c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a2e8840c1a4fb7" /><Relationship Type="http://schemas.openxmlformats.org/officeDocument/2006/relationships/notesMaster" Target="/ppt/notesMasters/notesMaster1.xml" Id="Rd5e13d1384bc44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59a13e6e664db1" /><Relationship Type="http://schemas.openxmlformats.org/officeDocument/2006/relationships/notesMaster" Target="/ppt/notesMasters/notesMaster1.xml" Id="Raff5e8aa99f44e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32ef72d2d54d93" /><Relationship Type="http://schemas.openxmlformats.org/officeDocument/2006/relationships/notesMaster" Target="/ppt/notesMasters/notesMaster1.xml" Id="R438b2d8a476246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019289d3634ccb" /><Relationship Type="http://schemas.openxmlformats.org/officeDocument/2006/relationships/notesMaster" Target="/ppt/notesMasters/notesMaster1.xml" Id="Rfa02de21b3364e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440c968a214f3c" /><Relationship Type="http://schemas.openxmlformats.org/officeDocument/2006/relationships/notesMaster" Target="/ppt/notesMasters/notesMaster1.xml" Id="Rf9024fe929314a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fb9632d28a470f" /><Relationship Type="http://schemas.openxmlformats.org/officeDocument/2006/relationships/notesMaster" Target="/ppt/notesMasters/notesMaster1.xml" Id="R4e7b6a54aa3c47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**Retrieval-augmented generation (RAG)** finds relevant evidence and includes it in the model context before generation.</a:t>
            </a:r>
          </a:p>
          <a:p xmlns:a="http://schemas.openxmlformats.org/drawingml/2006/main">
            <a:r>
              <a:t/>
            </a:r>
          </a:p>
          <a:p xmlns:a="http://schemas.openxmlformats.org/drawingml/2006/main">
            <a:r>
              <a:t>The two main phases are:</a:t>
            </a:r>
          </a:p>
          <a:p xmlns:a="http://schemas.openxmlformats.org/drawingml/2006/main">
            <a:r>
              <a:t/>
            </a:r>
          </a:p>
          <a:p xmlns:a="http://schemas.openxmlformats.org/drawingml/2006/main">
            <a:r>
              <a:t>- **ingestion:** parse, clean, chunk, embed, and index documents;</a:t>
            </a:r>
          </a:p>
          <a:p xmlns:a="http://schemas.openxmlformats.org/drawingml/2006/main">
            <a:r>
              <a:t>- **query:** retrieve chunks, assemble context, generate, validate, and cite.</a:t>
            </a:r>
          </a:p>
          <a:p xmlns:a="http://schemas.openxmlformats.org/drawingml/2006/main">
            <a:r>
              <a:t/>
            </a:r>
          </a:p>
          <a:p xmlns:a="http://schemas.openxmlformats.org/drawingml/2006/main">
            <a:r>
              <a:t>RAG can use current or private documents without changing model weights. It does not guarantee that retrieval found the right evidence or that generation used it faithfully.</a:t>
            </a:r>
          </a:p>
          <a:p xmlns:a="http://schemas.openxmlformats.org/drawingml/2006/main">
            <a:r>
              <a:t/>
            </a:r>
          </a:p>
          <a:p xmlns:a="http://schemas.openxmlformats.org/drawingml/2006/main">
            <a:r>
              <a:t>[Worked Example]</a:t>
            </a:r>
          </a:p>
          <a:p xmlns:a="http://schemas.openxmlformats.org/drawingml/2006/main">
            <a:r>
              <a:t>Question: `What is the refund period?`</a:t>
            </a:r>
          </a:p>
          <a:p xmlns:a="http://schemas.openxmlformats.org/drawingml/2006/main">
            <a:r>
              <a:t/>
            </a:r>
          </a:p>
          <a:p xmlns:a="http://schemas.openxmlformats.org/drawingml/2006/main">
            <a:r>
              <a:t>Retriever returns a policy chunk stating `Refund requests are accepted within 14 days.` The model answers `14 days` and cites the source section.</a:t>
            </a:r>
          </a:p>
          <a:p xmlns:a="http://schemas.openxmlformats.org/drawingml/2006/main">
            <a:r>
              <a:t/>
            </a:r>
          </a:p>
          <a:p xmlns:a="http://schemas.openxmlformats.org/drawingml/2006/main">
            <a:r>
              <a:t>Without supporting text, the system should return insufficient evidence.</a:t>
            </a:r>
          </a:p>
          <a:p xmlns:a="http://schemas.openxmlformats.org/drawingml/2006/main">
            <a:r>
              <a:t/>
            </a:r>
          </a:p>
          <a:p xmlns:a="http://schemas.openxmlformats.org/drawingml/2006/main">
            <a:r>
              <a:t>[Visual Brief]</a:t>
            </a:r>
          </a:p>
          <a:p xmlns:a="http://schemas.openxmlformats.org/drawingml/2006/main">
            <a:r>
              <a:t>Separate ingestion and query pipelines meet at a vector index; citations point back to source documents.</a:t>
            </a:r>
          </a:p>
          <a:p xmlns:a="http://schemas.openxmlformats.org/drawingml/2006/main">
            <a:r>
              <a:t/>
            </a:r>
          </a:p>
          <a:p xmlns:a="http://schemas.openxmlformats.org/drawingml/2006/main">
            <a:r>
              <a:t>[Instructor Notes]</a:t>
            </a:r>
          </a:p>
          <a:p xmlns:a="http://schemas.openxmlformats.org/drawingml/2006/main">
            <a:r>
              <a:t>Ask which failure belongs to retrieval and which belongs to generation.</a:t>
            </a:r>
          </a:p>
          <a:p xmlns:a="http://schemas.openxmlformats.org/drawingml/2006/main">
            <a:r>
              <a:t/>
            </a:r>
          </a:p>
          <a:p xmlns:a="http://schemas.openxmlformats.org/drawingml/2006/main">
            <a:r>
              <a:t>[Notebook Connection]</a:t>
            </a:r>
          </a:p>
          <a:p xmlns:a="http://schemas.openxmlformats.org/drawingml/2006/main">
            <a:r>
              <a:t>The from-scratch notebook builds each RAG stage explicitly before using a framework.</a:t>
            </a:r>
          </a:p>
          <a:p xmlns:a="http://schemas.openxmlformats.org/drawingml/2006/main">
            <a:r>
              <a:t/>
            </a:r>
          </a:p>
          <a:p xmlns:a="http://schemas.openxmlformats.org/drawingml/2006/main">
            <a:r>
              <a:t>[Sources]</a:t>
            </a:r>
          </a:p>
          <a:p xmlns:a="http://schemas.openxmlformats.org/drawingml/2006/main">
            <a:r>
              <a:t>- https://github.com/curiousily/AI-Bootcamp/blob/master/17.rag-from-scratch.ipynb</a:t>
            </a:r>
          </a:p>
          <a:p xmlns:a="http://schemas.openxmlformats.org/drawingml/2006/main">
            <a:r>
              <a:t>- https://github.com/curiousily/AI-Bootcamp/blob/master/06.build-rag.ipynb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 parsing** converts a source format into structured text and metadata.</a:t>
            </a:r>
          </a:p>
          <a:p xmlns:a="http://schemas.openxmlformats.org/drawingml/2006/main">
            <a:r>
              <a:t/>
            </a:r>
          </a:p>
          <a:p xmlns:a="http://schemas.openxmlformats.org/drawingml/2006/main">
            <a:r>
              <a:t>A parser may need to recover:</a:t>
            </a:r>
          </a:p>
          <a:p xmlns:a="http://schemas.openxmlformats.org/drawingml/2006/main">
            <a:r>
              <a:t/>
            </a:r>
          </a:p>
          <a:p xmlns:a="http://schemas.openxmlformats.org/drawingml/2006/main">
            <a:r>
              <a:t>- headings and paragraphs;</a:t>
            </a:r>
          </a:p>
          <a:p xmlns:a="http://schemas.openxmlformats.org/drawingml/2006/main">
            <a:r>
              <a:t>- tables;</a:t>
            </a:r>
          </a:p>
          <a:p xmlns:a="http://schemas.openxmlformats.org/drawingml/2006/main">
            <a:r>
              <a:t>- page numbers;</a:t>
            </a:r>
          </a:p>
          <a:p xmlns:a="http://schemas.openxmlformats.org/drawingml/2006/main">
            <a:r>
              <a:t>- lists and reading order;</a:t>
            </a:r>
          </a:p>
          <a:p xmlns:a="http://schemas.openxmlformats.org/drawingml/2006/main">
            <a:r>
              <a:t>- captions;</a:t>
            </a:r>
          </a:p>
          <a:p xmlns:a="http://schemas.openxmlformats.org/drawingml/2006/main">
            <a:r>
              <a:t>- document identifiers.</a:t>
            </a:r>
          </a:p>
          <a:p xmlns:a="http://schemas.openxmlformats.org/drawingml/2006/main">
            <a:r>
              <a:t/>
            </a:r>
          </a:p>
          <a:p xmlns:a="http://schemas.openxmlformats.org/drawingml/2006/main">
            <a:r>
              <a:t>PDF is designed for visual layout, so extracted text may have broken order, missing tables, or repeated headers. Ingestion must inspect output rather than assuming successful file opening means correct extraction.</a:t>
            </a:r>
          </a:p>
          <a:p xmlns:a="http://schemas.openxmlformats.org/drawingml/2006/main">
            <a:r>
              <a:t/>
            </a:r>
          </a:p>
          <a:p xmlns:a="http://schemas.openxmlformats.org/drawingml/2006/main">
            <a:r>
              <a:t>[Worked Example]</a:t>
            </a:r>
          </a:p>
          <a:p xmlns:a="http://schemas.openxmlformats.org/drawingml/2006/main">
            <a:r>
              <a:t>Two-column PDF text may be extracted across columns:</a:t>
            </a:r>
          </a:p>
          <a:p xmlns:a="http://schemas.openxmlformats.org/drawingml/2006/main">
            <a:r>
              <a:t/>
            </a:r>
          </a:p>
          <a:p xmlns:a="http://schemas.openxmlformats.org/drawingml/2006/main">
            <a:r>
              <a:t>`left line 1, right line 1, left line 2...`</a:t>
            </a:r>
          </a:p>
          <a:p xmlns:a="http://schemas.openxmlformats.org/drawingml/2006/main">
            <a:r>
              <a:t/>
            </a:r>
          </a:p>
          <a:p xmlns:a="http://schemas.openxmlformats.org/drawingml/2006/main">
            <a:r>
              <a:t>The words exist, but reading order is corrupted. A retrieval result from that text may be misleading.</a:t>
            </a:r>
          </a:p>
          <a:p xmlns:a="http://schemas.openxmlformats.org/drawingml/2006/main">
            <a:r>
              <a:t/>
            </a:r>
          </a:p>
          <a:p xmlns:a="http://schemas.openxmlformats.org/drawingml/2006/main">
            <a:r>
              <a:t>[Visual Brief]</a:t>
            </a:r>
          </a:p>
          <a:p xmlns:a="http://schemas.openxmlformats.org/drawingml/2006/main">
            <a:r>
              <a:t>A PDF page with headings, columns, and table becomes structured blocks; one broken extraction path is highlighted.</a:t>
            </a:r>
          </a:p>
          <a:p xmlns:a="http://schemas.openxmlformats.org/drawingml/2006/main">
            <a:r>
              <a:t/>
            </a:r>
          </a:p>
          <a:p xmlns:a="http://schemas.openxmlformats.org/drawingml/2006/main">
            <a:r>
              <a:t>[Instructor Notes]</a:t>
            </a:r>
          </a:p>
          <a:p xmlns:a="http://schemas.openxmlformats.org/drawingml/2006/main">
            <a:r>
              <a:t>Require visual comparison between several extracted pages and the original file.</a:t>
            </a:r>
          </a:p>
          <a:p xmlns:a="http://schemas.openxmlformats.org/drawingml/2006/main">
            <a:r>
              <a:t/>
            </a:r>
          </a:p>
          <a:p xmlns:a="http://schemas.openxmlformats.org/drawingml/2006/main">
            <a:r>
              <a:t>[Notebook Connection]</a:t>
            </a:r>
          </a:p>
          <a:p xmlns:a="http://schemas.openxmlformats.org/drawingml/2006/main">
            <a:r>
              <a:t>The advanced RAG notebook begins with document parsing before embeddings.</a:t>
            </a:r>
          </a:p>
          <a:p xmlns:a="http://schemas.openxmlformats.org/drawingml/2006/main">
            <a:r>
              <a:t/>
            </a:r>
          </a:p>
          <a:p xmlns:a="http://schemas.openxmlformats.org/drawingml/2006/main">
            <a:r>
              <a:t>[Sources]</a:t>
            </a:r>
          </a:p>
          <a:p xmlns:a="http://schemas.openxmlformats.org/drawingml/2006/main">
            <a:r>
              <a:t>- https://docs.langchain.com/oss/python/integrations/document_loaders</a:t>
            </a:r>
          </a:p>
          <a:p xmlns:a="http://schemas.openxmlformats.org/drawingml/2006/main">
            <a:r>
              <a:t>- https://github.com/curiousily/AI-Bootcamp/blob/master/07.advanced-rag-with-llama-3-in-langchain.ipynb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**Cleaning** removes extraction noise or normalizes representation without changing meaning.</a:t>
            </a:r>
          </a:p>
          <a:p xmlns:a="http://schemas.openxmlformats.org/drawingml/2006/main">
            <a:r>
              <a:t/>
            </a:r>
          </a:p>
          <a:p xmlns:a="http://schemas.openxmlformats.org/drawingml/2006/main">
            <a:r>
              <a:t>**Provenance** records where every block came from:</a:t>
            </a:r>
          </a:p>
          <a:p xmlns:a="http://schemas.openxmlformats.org/drawingml/2006/main">
            <a:r>
              <a:t/>
            </a:r>
          </a:p>
          <a:p xmlns:a="http://schemas.openxmlformats.org/drawingml/2006/main">
            <a:r>
              <a:t>- source ID and version;</a:t>
            </a:r>
          </a:p>
          <a:p xmlns:a="http://schemas.openxmlformats.org/drawingml/2006/main">
            <a:r>
              <a:t>- page;</a:t>
            </a:r>
          </a:p>
          <a:p xmlns:a="http://schemas.openxmlformats.org/drawingml/2006/main">
            <a:r>
              <a:t>- section heading;</a:t>
            </a:r>
          </a:p>
          <a:p xmlns:a="http://schemas.openxmlformats.org/drawingml/2006/main">
            <a:r>
              <a:t>- stable URL or file path;</a:t>
            </a:r>
          </a:p>
          <a:p xmlns:a="http://schemas.openxmlformats.org/drawingml/2006/main">
            <a:r>
              <a:t>- ingestion time;</a:t>
            </a:r>
          </a:p>
          <a:p xmlns:a="http://schemas.openxmlformats.org/drawingml/2006/main">
            <a:r>
              <a:t>- access-control metadata.</a:t>
            </a:r>
          </a:p>
          <a:p xmlns:a="http://schemas.openxmlformats.org/drawingml/2006/main">
            <a:r>
              <a:t/>
            </a:r>
          </a:p>
          <a:p xmlns:a="http://schemas.openxmlformats.org/drawingml/2006/main">
            <a:r>
              <a:t>Keep raw extracted text or a reference to it. If cleaning changes content, the transformation should be reproducible and inspectable.</a:t>
            </a:r>
          </a:p>
          <a:p xmlns:a="http://schemas.openxmlformats.org/drawingml/2006/main">
            <a:r>
              <a:t/>
            </a:r>
          </a:p>
          <a:p xmlns:a="http://schemas.openxmlformats.org/drawingml/2006/main">
            <a:r>
              <a:t>[Worked Example]</a:t>
            </a:r>
          </a:p>
          <a:p xmlns:a="http://schemas.openxmlformats.org/drawingml/2006/main">
            <a:r>
              <a:t>Repeated header `DS Academy Policy 2026` appears on every page.</a:t>
            </a:r>
          </a:p>
          <a:p xmlns:a="http://schemas.openxmlformats.org/drawingml/2006/main">
            <a:r>
              <a:t/>
            </a:r>
          </a:p>
          <a:p xmlns:a="http://schemas.openxmlformats.org/drawingml/2006/main">
            <a:r>
              <a:t>Removing exact repeated headers is reasonable. Removing every line containing `Policy` may delete real content. Record the cleaning rule and compare before/after counts.</a:t>
            </a:r>
          </a:p>
          <a:p xmlns:a="http://schemas.openxmlformats.org/drawingml/2006/main">
            <a:r>
              <a:t/>
            </a:r>
          </a:p>
          <a:p xmlns:a="http://schemas.openxmlformats.org/drawingml/2006/main">
            <a:r>
              <a:t>[Visual Brief]</a:t>
            </a:r>
          </a:p>
          <a:p xmlns:a="http://schemas.openxmlformats.org/drawingml/2006/main">
            <a:r>
              <a:t>A cleaned text block remains linked by an unbroken provenance chain to source, page, section, and version.</a:t>
            </a:r>
          </a:p>
          <a:p xmlns:a="http://schemas.openxmlformats.org/drawingml/2006/main">
            <a:r>
              <a:t/>
            </a:r>
          </a:p>
          <a:p xmlns:a="http://schemas.openxmlformats.org/drawingml/2006/main">
            <a:r>
              <a:t>[Instructor Notes]</a:t>
            </a:r>
          </a:p>
          <a:p xmlns:a="http://schemas.openxmlformats.org/drawingml/2006/main">
            <a:r>
              <a:t>Explain that citations cannot be reconstructed reliably if provenance was discarded during ingestion.</a:t>
            </a:r>
          </a:p>
          <a:p xmlns:a="http://schemas.openxmlformats.org/drawingml/2006/main">
            <a:r>
              <a:t/>
            </a:r>
          </a:p>
          <a:p xmlns:a="http://schemas.openxmlformats.org/drawingml/2006/main">
            <a:r>
              <a:t>[Notebook Connection]</a:t>
            </a:r>
          </a:p>
          <a:p xmlns:a="http://schemas.openxmlformats.org/drawingml/2006/main">
            <a:r>
              <a:t>Learners add metadata before chunk storage, not after answering.</a:t>
            </a:r>
          </a:p>
          <a:p xmlns:a="http://schemas.openxmlformats.org/drawingml/2006/main">
            <a:r>
              <a:t/>
            </a:r>
          </a:p>
          <a:p xmlns:a="http://schemas.openxmlformats.org/drawingml/2006/main">
            <a:r>
              <a:t>[Sources]</a:t>
            </a:r>
          </a:p>
          <a:p xmlns:a="http://schemas.openxmlformats.org/drawingml/2006/main">
            <a:r>
              <a:t>- https://python.langchain.com/docs/concepts/documents/</a:t>
            </a:r>
          </a:p>
          <a:p xmlns:a="http://schemas.openxmlformats.org/drawingml/2006/main">
            <a:r>
              <a:t>- https://www.w3.org/TR/prov-overview/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**chunk** is one retrievable evidence unit.</a:t>
            </a:r>
          </a:p>
          <a:p xmlns:a="http://schemas.openxmlformats.org/drawingml/2006/main">
            <a:r>
              <a:t/>
            </a:r>
          </a:p>
          <a:p xmlns:a="http://schemas.openxmlformats.org/drawingml/2006/main">
            <a:r>
              <a:t>Chunking choices affect:</a:t>
            </a:r>
          </a:p>
          <a:p xmlns:a="http://schemas.openxmlformats.org/drawingml/2006/main">
            <a:r>
              <a:t/>
            </a:r>
          </a:p>
          <a:p xmlns:a="http://schemas.openxmlformats.org/drawingml/2006/main">
            <a:r>
              <a:t>- whether a complete idea stays together;</a:t>
            </a:r>
          </a:p>
          <a:p xmlns:a="http://schemas.openxmlformats.org/drawingml/2006/main">
            <a:r>
              <a:t>- embedding specificity;</a:t>
            </a:r>
          </a:p>
          <a:p xmlns:a="http://schemas.openxmlformats.org/drawingml/2006/main">
            <a:r>
              <a:t>- retrieval recall;</a:t>
            </a:r>
          </a:p>
          <a:p xmlns:a="http://schemas.openxmlformats.org/drawingml/2006/main">
            <a:r>
              <a:t>- prompt size;</a:t>
            </a:r>
          </a:p>
          <a:p xmlns:a="http://schemas.openxmlformats.org/drawingml/2006/main">
            <a:r>
              <a:t>- citation precision.</a:t>
            </a:r>
          </a:p>
          <a:p xmlns:a="http://schemas.openxmlformats.org/drawingml/2006/main">
            <a:r>
              <a:t/>
            </a:r>
          </a:p>
          <a:p xmlns:a="http://schemas.openxmlformats.org/drawingml/2006/main">
            <a:r>
              <a:t>**Overlap** repeats boundary text in adjacent chunks. It can preserve context but increases storage and duplicate retrieval.</a:t>
            </a:r>
          </a:p>
          <a:p xmlns:a="http://schemas.openxmlformats.org/drawingml/2006/main">
            <a:r>
              <a:t/>
            </a:r>
          </a:p>
          <a:p xmlns:a="http://schemas.openxmlformats.org/drawingml/2006/main">
            <a:r>
              <a:t>Prefer document structure such as headings and paragraphs before fixed character cuts.</a:t>
            </a:r>
          </a:p>
          <a:p xmlns:a="http://schemas.openxmlformats.org/drawingml/2006/main">
            <a:r>
              <a:t/>
            </a:r>
          </a:p>
          <a:p xmlns:a="http://schemas.openxmlformats.org/drawingml/2006/main">
            <a:r>
              <a:t>[Worked Example]</a:t>
            </a:r>
          </a:p>
          <a:p xmlns:a="http://schemas.openxmlformats.org/drawingml/2006/main">
            <a:r>
              <a:t>A 900-token section becomes:</a:t>
            </a:r>
          </a:p>
          <a:p xmlns:a="http://schemas.openxmlformats.org/drawingml/2006/main">
            <a:r>
              <a:t/>
            </a:r>
          </a:p>
          <a:p xmlns:a="http://schemas.openxmlformats.org/drawingml/2006/main">
            <a:r>
              <a:t>- three chunks of 300 tokens with no overlap; or</a:t>
            </a:r>
          </a:p>
          <a:p xmlns:a="http://schemas.openxmlformats.org/drawingml/2006/main">
            <a:r>
              <a:t>- four chunks near 300 tokens with 50-token overlap.</a:t>
            </a:r>
          </a:p>
          <a:p xmlns:a="http://schemas.openxmlformats.org/drawingml/2006/main">
            <a:r>
              <a:t/>
            </a:r>
          </a:p>
          <a:p xmlns:a="http://schemas.openxmlformats.org/drawingml/2006/main">
            <a:r>
              <a:t>The second keeps boundary context but may retrieve repeated statements.</a:t>
            </a:r>
          </a:p>
          <a:p xmlns:a="http://schemas.openxmlformats.org/drawingml/2006/main">
            <a:r>
              <a:t/>
            </a:r>
          </a:p>
          <a:p xmlns:a="http://schemas.openxmlformats.org/drawingml/2006/main">
            <a:r>
              <a:t>[Visual Brief]</a:t>
            </a:r>
          </a:p>
          <a:p xmlns:a="http://schemas.openxmlformats.org/drawingml/2006/main">
            <a:r>
              <a:t>One section splits at paragraph boundaries; overlapping spans are shaded and duplicate context is marked.</a:t>
            </a:r>
          </a:p>
          <a:p xmlns:a="http://schemas.openxmlformats.org/drawingml/2006/main">
            <a:r>
              <a:t/>
            </a:r>
          </a:p>
          <a:p xmlns:a="http://schemas.openxmlformats.org/drawingml/2006/main">
            <a:r>
              <a:t>[Instructor Notes]</a:t>
            </a:r>
          </a:p>
          <a:p xmlns:a="http://schemas.openxmlformats.org/drawingml/2006/main">
            <a:r>
              <a:t>Describe sizes as experiment settings, not universal recommendations.</a:t>
            </a:r>
          </a:p>
          <a:p xmlns:a="http://schemas.openxmlformats.org/drawingml/2006/main">
            <a:r>
              <a:t/>
            </a:r>
          </a:p>
          <a:p xmlns:a="http://schemas.openxmlformats.org/drawingml/2006/main">
            <a:r>
              <a:t>[Notebook Connection]</a:t>
            </a:r>
          </a:p>
          <a:p xmlns:a="http://schemas.openxmlformats.org/drawingml/2006/main">
            <a:r>
              <a:t>Learners compare two chunking strategies on the same retrieval questions.</a:t>
            </a:r>
          </a:p>
          <a:p xmlns:a="http://schemas.openxmlformats.org/drawingml/2006/main">
            <a:r>
              <a:t/>
            </a:r>
          </a:p>
          <a:p xmlns:a="http://schemas.openxmlformats.org/drawingml/2006/main">
            <a:r>
              <a:t>[Sources]</a:t>
            </a:r>
          </a:p>
          <a:p xmlns:a="http://schemas.openxmlformats.org/drawingml/2006/main">
            <a:r>
              <a:t>- https://docs.langchain.com/oss/python/integrations/splitters</a:t>
            </a:r>
          </a:p>
          <a:p xmlns:a="http://schemas.openxmlformats.org/drawingml/2006/main">
            <a:r>
              <a:t>- https://github.com/curiousily/AI-Bootcamp/blob/master/17.rag-from-scratch.ipynb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**embedding model** maps text into a fixed-length vector.</a:t>
            </a:r>
          </a:p>
          <a:p xmlns:a="http://schemas.openxmlformats.org/drawingml/2006/main">
            <a:r>
              <a:t/>
            </a:r>
          </a:p>
          <a:p xmlns:a="http://schemas.openxmlformats.org/drawingml/2006/main">
            <a:r>
              <a:t>For vector retrieval:</a:t>
            </a:r>
          </a:p>
          <a:p xmlns:a="http://schemas.openxmlformats.org/drawingml/2006/main">
            <a:r>
              <a:t/>
            </a:r>
          </a:p>
          <a:p xmlns:a="http://schemas.openxmlformats.org/drawingml/2006/main">
            <a:r>
              <a:t>1. embed every document chunk;</a:t>
            </a:r>
          </a:p>
          <a:p xmlns:a="http://schemas.openxmlformats.org/drawingml/2006/main">
            <a:r>
              <a:t>2. store chunk vector plus text and metadata;</a:t>
            </a:r>
          </a:p>
          <a:p xmlns:a="http://schemas.openxmlformats.org/drawingml/2006/main">
            <a:r>
              <a:t>3. embed the user query with the same compatible model;</a:t>
            </a:r>
          </a:p>
          <a:p xmlns:a="http://schemas.openxmlformats.org/drawingml/2006/main">
            <a:r>
              <a:t>4. compare the query vector with chunk vectors;</a:t>
            </a:r>
          </a:p>
          <a:p xmlns:a="http://schemas.openxmlformats.org/drawingml/2006/main">
            <a:r>
              <a:t>5. return the highest-ranked allowed chunks.</a:t>
            </a:r>
          </a:p>
          <a:p xmlns:a="http://schemas.openxmlformats.org/drawingml/2006/main">
            <a:r>
              <a:t/>
            </a:r>
          </a:p>
          <a:p xmlns:a="http://schemas.openxmlformats.org/drawingml/2006/main">
            <a:r>
              <a:t>Changing embedding model usually requires rebuilding the stored index.</a:t>
            </a:r>
          </a:p>
          <a:p xmlns:a="http://schemas.openxmlformats.org/drawingml/2006/main">
            <a:r>
              <a:t/>
            </a:r>
          </a:p>
          <a:p xmlns:a="http://schemas.openxmlformats.org/drawingml/2006/main">
            <a:r>
              <a:t>[Worked Example]</a:t>
            </a:r>
          </a:p>
          <a:p xmlns:a="http://schemas.openxmlformats.org/drawingml/2006/main">
            <a:r>
              <a:t>Three chunks become 768-dimensional vectors. The query also becomes a 768-dimensional vector.</a:t>
            </a:r>
          </a:p>
          <a:p xmlns:a="http://schemas.openxmlformats.org/drawingml/2006/main">
            <a:r>
              <a:t/>
            </a:r>
          </a:p>
          <a:p xmlns:a="http://schemas.openxmlformats.org/drawingml/2006/main">
            <a:r>
              <a:t>The shapes match, allowing similarity comparison. A 384-dimensional query from another model cannot be compared directly.</a:t>
            </a:r>
          </a:p>
          <a:p xmlns:a="http://schemas.openxmlformats.org/drawingml/2006/main">
            <a:r>
              <a:t/>
            </a:r>
          </a:p>
          <a:p xmlns:a="http://schemas.openxmlformats.org/drawingml/2006/main">
            <a:r>
              <a:t>[Visual Brief]</a:t>
            </a:r>
          </a:p>
          <a:p xmlns:a="http://schemas.openxmlformats.org/drawingml/2006/main">
            <a:r>
              <a:t>Chunks and query enter the same embedding model and appear as points in one vector space.</a:t>
            </a:r>
          </a:p>
          <a:p xmlns:a="http://schemas.openxmlformats.org/drawingml/2006/main">
            <a:r>
              <a:t/>
            </a:r>
          </a:p>
          <a:p xmlns:a="http://schemas.openxmlformats.org/drawingml/2006/main">
            <a:r>
              <a:t>[Instructor Notes]</a:t>
            </a:r>
          </a:p>
          <a:p xmlns:a="http://schemas.openxmlformats.org/drawingml/2006/main">
            <a:r>
              <a:t>Explain that “semantic” similarity reflects model training and may fail on identifiers, numbers, or domain language.</a:t>
            </a:r>
          </a:p>
          <a:p xmlns:a="http://schemas.openxmlformats.org/drawingml/2006/main">
            <a:r>
              <a:t/>
            </a:r>
          </a:p>
          <a:p xmlns:a="http://schemas.openxmlformats.org/drawingml/2006/main">
            <a:r>
              <a:t>[Notebook Connection]</a:t>
            </a:r>
          </a:p>
          <a:p xmlns:a="http://schemas.openxmlformats.org/drawingml/2006/main">
            <a:r>
              <a:t>Both RAG notebooks create document and query embeddings before search.</a:t>
            </a:r>
          </a:p>
          <a:p xmlns:a="http://schemas.openxmlformats.org/drawingml/2006/main">
            <a:r>
              <a:t/>
            </a:r>
          </a:p>
          <a:p xmlns:a="http://schemas.openxmlformats.org/drawingml/2006/main">
            <a:r>
              <a:t>[Sources]</a:t>
            </a:r>
          </a:p>
          <a:p xmlns:a="http://schemas.openxmlformats.org/drawingml/2006/main">
            <a:r>
              <a:t>- https://docs.langchain.com/oss/python/integrations/text_embedding</a:t>
            </a:r>
          </a:p>
          <a:p xmlns:a="http://schemas.openxmlformats.org/drawingml/2006/main">
            <a:r>
              <a:t>- https://github.com/curiousily/AI-Bootcamp/blob/master/06.build-rag.ipynb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Cosine similarity:</a:t>
            </a:r>
          </a:p>
          <a:p xmlns:a="http://schemas.openxmlformats.org/drawingml/2006/main">
            <a:r>
              <a:t/>
            </a:r>
          </a:p>
          <a:p xmlns:a="http://schemas.openxmlformats.org/drawingml/2006/main">
            <a:r>
              <a:t>`cos(a,b) = (a · b) / (||a|| ||b||)`</a:t>
            </a:r>
          </a:p>
          <a:p xmlns:a="http://schemas.openxmlformats.org/drawingml/2006/main">
            <a:r>
              <a:t/>
            </a:r>
          </a:p>
          <a:p xmlns:a="http://schemas.openxmlformats.org/drawingml/2006/main">
            <a:r>
              <a:t>- `a · b`: dot product</a:t>
            </a:r>
          </a:p>
          <a:p xmlns:a="http://schemas.openxmlformats.org/drawingml/2006/main">
            <a:r>
              <a:t>- `||a||`: length of vector `a`</a:t>
            </a:r>
          </a:p>
          <a:p xmlns:a="http://schemas.openxmlformats.org/drawingml/2006/main">
            <a:r>
              <a:t>- denominator normalizes vector magnitudes</a:t>
            </a:r>
          </a:p>
          <a:p xmlns:a="http://schemas.openxmlformats.org/drawingml/2006/main">
            <a:r>
              <a:t>- result is commonly between `-1` and `1`</a:t>
            </a:r>
          </a:p>
          <a:p xmlns:a="http://schemas.openxmlformats.org/drawingml/2006/main">
            <a:r>
              <a:t/>
            </a:r>
          </a:p>
          <a:p xmlns:a="http://schemas.openxmlformats.org/drawingml/2006/main">
            <a:r>
              <a:t>Higher cosine similarity means vector directions are more aligned. Whether higher means more relevant must be tested for the task.</a:t>
            </a:r>
          </a:p>
          <a:p xmlns:a="http://schemas.openxmlformats.org/drawingml/2006/main">
            <a:r>
              <a:t/>
            </a:r>
          </a:p>
          <a:p xmlns:a="http://schemas.openxmlformats.org/drawingml/2006/main">
            <a:r>
              <a:t>[Worked Example]</a:t>
            </a:r>
          </a:p>
          <a:p xmlns:a="http://schemas.openxmlformats.org/drawingml/2006/main">
            <a:r>
              <a:t>`a=[1,0]`, `b=[1,1]`</a:t>
            </a:r>
          </a:p>
          <a:p xmlns:a="http://schemas.openxmlformats.org/drawingml/2006/main">
            <a:r>
              <a:t/>
            </a:r>
          </a:p>
          <a:p xmlns:a="http://schemas.openxmlformats.org/drawingml/2006/main">
            <a:r>
              <a:t>Dot product `= 1`  </a:t>
            </a:r>
          </a:p>
          <a:p xmlns:a="http://schemas.openxmlformats.org/drawingml/2006/main">
            <a:r>
              <a:t>`||a|| = 1`  </a:t>
            </a:r>
          </a:p>
          <a:p xmlns:a="http://schemas.openxmlformats.org/drawingml/2006/main">
            <a:r>
              <a:t>`||b|| = sqrt(2)`  </a:t>
            </a:r>
          </a:p>
          <a:p xmlns:a="http://schemas.openxmlformats.org/drawingml/2006/main">
            <a:r>
              <a:t>Cosine `= 1/sqrt(2) ≈ 0.707`</a:t>
            </a:r>
          </a:p>
          <a:p xmlns:a="http://schemas.openxmlformats.org/drawingml/2006/main">
            <a:r>
              <a:t/>
            </a:r>
          </a:p>
          <a:p xmlns:a="http://schemas.openxmlformats.org/drawingml/2006/main">
            <a:r>
              <a:t>[Visual Brief]</a:t>
            </a:r>
          </a:p>
          <a:p xmlns:a="http://schemas.openxmlformats.org/drawingml/2006/main">
            <a:r>
              <a:t>Two arrows form a 45-degree angle; dot product, lengths, and cosine calculation appear beside them.</a:t>
            </a:r>
          </a:p>
          <a:p xmlns:a="http://schemas.openxmlformats.org/drawingml/2006/main">
            <a:r>
              <a:t/>
            </a:r>
          </a:p>
          <a:p xmlns:a="http://schemas.openxmlformats.org/drawingml/2006/main">
            <a:r>
              <a:t>[Instructor Notes]</a:t>
            </a:r>
          </a:p>
          <a:p xmlns:a="http://schemas.openxmlformats.org/drawingml/2006/main">
            <a:r>
              <a:t>Explain that database APIs may return distance rather than similarity, so score direction must be checked.</a:t>
            </a:r>
          </a:p>
          <a:p xmlns:a="http://schemas.openxmlformats.org/drawingml/2006/main">
            <a:r>
              <a:t/>
            </a:r>
          </a:p>
          <a:p xmlns:a="http://schemas.openxmlformats.org/drawingml/2006/main">
            <a:r>
              <a:t>[Notebook Connection]</a:t>
            </a:r>
          </a:p>
          <a:p xmlns:a="http://schemas.openxmlformats.org/drawingml/2006/main">
            <a:r>
              <a:t>The from-scratch notebook calculates similarity before relying on a vector database.</a:t>
            </a:r>
          </a:p>
          <a:p xmlns:a="http://schemas.openxmlformats.org/drawingml/2006/main">
            <a:r>
              <a:t/>
            </a:r>
          </a:p>
          <a:p xmlns:a="http://schemas.openxmlformats.org/drawingml/2006/main">
            <a:r>
              <a:t>[Sources]</a:t>
            </a:r>
          </a:p>
          <a:p xmlns:a="http://schemas.openxmlformats.org/drawingml/2006/main">
            <a:r>
              <a:t>- https://scikit-learn.org/stable/modules/generated/sklearn.metrics.pairwise.cosine_similarity.html</a:t>
            </a:r>
          </a:p>
          <a:p xmlns:a="http://schemas.openxmlformats.org/drawingml/2006/main">
            <a:r>
              <a:t>- https://github.com/curiousily/AI-Bootcamp/blob/master/17.rag-from-scratch.ipynb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**vector store** keeps:</a:t>
            </a:r>
          </a:p>
          <a:p xmlns:a="http://schemas.openxmlformats.org/drawingml/2006/main">
            <a:r>
              <a:t/>
            </a:r>
          </a:p>
          <a:p xmlns:a="http://schemas.openxmlformats.org/drawingml/2006/main">
            <a:r>
              <a:t>- embedding vector;</a:t>
            </a:r>
          </a:p>
          <a:p xmlns:a="http://schemas.openxmlformats.org/drawingml/2006/main">
            <a:r>
              <a:t>- chunk text or reference;</a:t>
            </a:r>
          </a:p>
          <a:p xmlns:a="http://schemas.openxmlformats.org/drawingml/2006/main">
            <a:r>
              <a:t>- source metadata;</a:t>
            </a:r>
          </a:p>
          <a:p xmlns:a="http://schemas.openxmlformats.org/drawingml/2006/main">
            <a:r>
              <a:t>- access metadata;</a:t>
            </a:r>
          </a:p>
          <a:p xmlns:a="http://schemas.openxmlformats.org/drawingml/2006/main">
            <a:r>
              <a:t>- stable chunk ID.</a:t>
            </a:r>
          </a:p>
          <a:p xmlns:a="http://schemas.openxmlformats.org/drawingml/2006/main">
            <a:r>
              <a:t/>
            </a:r>
          </a:p>
          <a:p xmlns:a="http://schemas.openxmlformats.org/drawingml/2006/main">
            <a:r>
              <a:t>An exact search compares all vectors. Approximate indexes trade some recall for lower latency at scale.</a:t>
            </a:r>
          </a:p>
          <a:p xmlns:a="http://schemas.openxmlformats.org/drawingml/2006/main">
            <a:r>
              <a:t/>
            </a:r>
          </a:p>
          <a:p xmlns:a="http://schemas.openxmlformats.org/drawingml/2006/main">
            <a:r>
              <a:t>Apply authorization filters before or during retrieval. Filtering after retrieval can leak whether protected documents exist and waste candidate slots.</a:t>
            </a:r>
          </a:p>
          <a:p xmlns:a="http://schemas.openxmlformats.org/drawingml/2006/main">
            <a:r>
              <a:t/>
            </a:r>
          </a:p>
          <a:p xmlns:a="http://schemas.openxmlformats.org/drawingml/2006/main">
            <a:r>
              <a:t>[Worked Example]</a:t>
            </a:r>
          </a:p>
          <a:p xmlns:a="http://schemas.openxmlformats.org/drawingml/2006/main">
            <a:r>
              <a:t>User belongs to tenant `A`.</a:t>
            </a:r>
          </a:p>
          <a:p xmlns:a="http://schemas.openxmlformats.org/drawingml/2006/main">
            <a:r>
              <a:t/>
            </a:r>
          </a:p>
          <a:p xmlns:a="http://schemas.openxmlformats.org/drawingml/2006/main">
            <a:r>
              <a:t>Search condition:</a:t>
            </a:r>
          </a:p>
          <a:p xmlns:a="http://schemas.openxmlformats.org/drawingml/2006/main">
            <a:r>
              <a:t/>
            </a:r>
          </a:p>
          <a:p xmlns:a="http://schemas.openxmlformats.org/drawingml/2006/main">
            <a:r>
              <a:t>`tenant_id = A AND document_status = published`</a:t>
            </a:r>
          </a:p>
          <a:p xmlns:a="http://schemas.openxmlformats.org/drawingml/2006/main">
            <a:r>
              <a:t/>
            </a:r>
          </a:p>
          <a:p xmlns:a="http://schemas.openxmlformats.org/drawingml/2006/main">
            <a:r>
              <a:t>Only vectors satisfying both conditions may compete for top-k ranking.</a:t>
            </a:r>
          </a:p>
          <a:p xmlns:a="http://schemas.openxmlformats.org/drawingml/2006/main">
            <a:r>
              <a:t/>
            </a:r>
          </a:p>
          <a:p xmlns:a="http://schemas.openxmlformats.org/drawingml/2006/main">
            <a:r>
              <a:t>[Visual Brief]</a:t>
            </a:r>
          </a:p>
          <a:p xmlns:a="http://schemas.openxmlformats.org/drawingml/2006/main">
            <a:r>
              <a:t>An index contains multiple tenants; an authorization filter creates a permitted subset before ranking.</a:t>
            </a:r>
          </a:p>
          <a:p xmlns:a="http://schemas.openxmlformats.org/drawingml/2006/main">
            <a:r>
              <a:t/>
            </a:r>
          </a:p>
          <a:p xmlns:a="http://schemas.openxmlformats.org/drawingml/2006/main">
            <a:r>
              <a:t>[Instructor Notes]</a:t>
            </a:r>
          </a:p>
          <a:p xmlns:a="http://schemas.openxmlformats.org/drawingml/2006/main">
            <a:r>
              <a:t>Treat access control as a retrieval requirement, not a prompt instruction.</a:t>
            </a:r>
          </a:p>
          <a:p xmlns:a="http://schemas.openxmlformats.org/drawingml/2006/main">
            <a:r>
              <a:t/>
            </a:r>
          </a:p>
          <a:p xmlns:a="http://schemas.openxmlformats.org/drawingml/2006/main">
            <a:r>
              <a:t>[Notebook Connection]</a:t>
            </a:r>
          </a:p>
          <a:p xmlns:a="http://schemas.openxmlformats.org/drawingml/2006/main">
            <a:r>
              <a:t>Learners store text and metadata together and test a denied cross-tenant query.</a:t>
            </a:r>
          </a:p>
          <a:p xmlns:a="http://schemas.openxmlformats.org/drawingml/2006/main">
            <a:r>
              <a:t/>
            </a:r>
          </a:p>
          <a:p xmlns:a="http://schemas.openxmlformats.org/drawingml/2006/main">
            <a:r>
              <a:t>[Sources]</a:t>
            </a:r>
          </a:p>
          <a:p xmlns:a="http://schemas.openxmlformats.org/drawingml/2006/main">
            <a:r>
              <a:t>- https://docs.langchain.com/oss/python/integrations/vectorstores</a:t>
            </a:r>
          </a:p>
          <a:p xmlns:a="http://schemas.openxmlformats.org/drawingml/2006/main">
            <a:r>
              <a:t>- https://github.com/pgvector/pgvector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**retriever** turns a question into an ordered list of chunks.</a:t>
            </a:r>
          </a:p>
          <a:p xmlns:a="http://schemas.openxmlformats.org/drawingml/2006/main">
            <a:r>
              <a:t/>
            </a:r>
          </a:p>
          <a:p xmlns:a="http://schemas.openxmlformats.org/drawingml/2006/main">
            <a:r>
              <a:t>`top-k` is the maximum number returned.</a:t>
            </a:r>
          </a:p>
          <a:p xmlns:a="http://schemas.openxmlformats.org/drawingml/2006/main">
            <a:r>
              <a:t/>
            </a:r>
          </a:p>
          <a:p xmlns:a="http://schemas.openxmlformats.org/drawingml/2006/main">
            <a:r>
              <a:t>Larger `k` may improve coverage but adds irrelevant or duplicated context. Smaller `k` is focused but may miss necessary evidence.</a:t>
            </a:r>
          </a:p>
          <a:p xmlns:a="http://schemas.openxmlformats.org/drawingml/2006/main">
            <a:r>
              <a:t/>
            </a:r>
          </a:p>
          <a:p xmlns:a="http://schemas.openxmlformats.org/drawingml/2006/main">
            <a:r>
              <a:t>Inspect:</a:t>
            </a:r>
          </a:p>
          <a:p xmlns:a="http://schemas.openxmlformats.org/drawingml/2006/main">
            <a:r>
              <a:t/>
            </a:r>
          </a:p>
          <a:p xmlns:a="http://schemas.openxmlformats.org/drawingml/2006/main">
            <a:r>
              <a:t>- query;</a:t>
            </a:r>
          </a:p>
          <a:p xmlns:a="http://schemas.openxmlformats.org/drawingml/2006/main">
            <a:r>
              <a:t>- returned text;</a:t>
            </a:r>
          </a:p>
          <a:p xmlns:a="http://schemas.openxmlformats.org/drawingml/2006/main">
            <a:r>
              <a:t>- scores and score direction;</a:t>
            </a:r>
          </a:p>
          <a:p xmlns:a="http://schemas.openxmlformats.org/drawingml/2006/main">
            <a:r>
              <a:t>- source diversity;</a:t>
            </a:r>
          </a:p>
          <a:p xmlns:a="http://schemas.openxmlformats.org/drawingml/2006/main">
            <a:r>
              <a:t>- metadata filters;</a:t>
            </a:r>
          </a:p>
          <a:p xmlns:a="http://schemas.openxmlformats.org/drawingml/2006/main">
            <a:r>
              <a:t>- whether the answer requires multiple chunks.</a:t>
            </a:r>
          </a:p>
          <a:p xmlns:a="http://schemas.openxmlformats.org/drawingml/2006/main">
            <a:r>
              <a:t/>
            </a:r>
          </a:p>
          <a:p xmlns:a="http://schemas.openxmlformats.org/drawingml/2006/main">
            <a:r>
              <a:t>[Worked Example]</a:t>
            </a:r>
          </a:p>
          <a:p xmlns:a="http://schemas.openxmlformats.org/drawingml/2006/main">
            <a:r>
              <a:t>Relevant policy appears at rank `4`.</a:t>
            </a:r>
          </a:p>
          <a:p xmlns:a="http://schemas.openxmlformats.org/drawingml/2006/main">
            <a:r>
              <a:t/>
            </a:r>
          </a:p>
          <a:p xmlns:a="http://schemas.openxmlformats.org/drawingml/2006/main">
            <a:r>
              <a:t>With `k=3`, it is missed.  </a:t>
            </a:r>
          </a:p>
          <a:p xmlns:a="http://schemas.openxmlformats.org/drawingml/2006/main">
            <a:r>
              <a:t>With `k=5`, it is included alongside two irrelevant chunks.</a:t>
            </a:r>
          </a:p>
          <a:p xmlns:a="http://schemas.openxmlformats.org/drawingml/2006/main">
            <a:r>
              <a:t/>
            </a:r>
          </a:p>
          <a:p xmlns:a="http://schemas.openxmlformats.org/drawingml/2006/main">
            <a:r>
              <a:t>The choice must be evaluated across a query dataset, not one example.</a:t>
            </a:r>
          </a:p>
          <a:p xmlns:a="http://schemas.openxmlformats.org/drawingml/2006/main">
            <a:r>
              <a:t/>
            </a:r>
          </a:p>
          <a:p xmlns:a="http://schemas.openxmlformats.org/drawingml/2006/main">
            <a:r>
              <a:t>[Visual Brief]</a:t>
            </a:r>
          </a:p>
          <a:p xmlns:a="http://schemas.openxmlformats.org/drawingml/2006/main">
            <a:r>
              <a:t>A ranked result list shows relevant, irrelevant, and duplicate chunks under different k cutoffs.</a:t>
            </a:r>
          </a:p>
          <a:p xmlns:a="http://schemas.openxmlformats.org/drawingml/2006/main">
            <a:r>
              <a:t/>
            </a:r>
          </a:p>
          <a:p xmlns:a="http://schemas.openxmlformats.org/drawingml/2006/main">
            <a:r>
              <a:t>[Instructor Notes]</a:t>
            </a:r>
          </a:p>
          <a:p xmlns:a="http://schemas.openxmlformats.org/drawingml/2006/main">
            <a:r>
              <a:t>Require learners to evaluate retrieval before reading the generated answer.</a:t>
            </a:r>
          </a:p>
          <a:p xmlns:a="http://schemas.openxmlformats.org/drawingml/2006/main">
            <a:r>
              <a:t/>
            </a:r>
          </a:p>
          <a:p xmlns:a="http://schemas.openxmlformats.org/drawingml/2006/main">
            <a:r>
              <a:t>[Notebook Connection]</a:t>
            </a:r>
          </a:p>
          <a:p xmlns:a="http://schemas.openxmlformats.org/drawingml/2006/main">
            <a:r>
              <a:t>The notebook's nearest-neighbour results become an explicit retrieval report.</a:t>
            </a:r>
          </a:p>
          <a:p xmlns:a="http://schemas.openxmlformats.org/drawingml/2006/main">
            <a:r>
              <a:t/>
            </a:r>
          </a:p>
          <a:p xmlns:a="http://schemas.openxmlformats.org/drawingml/2006/main">
            <a:r>
              <a:t>[Sources]</a:t>
            </a:r>
          </a:p>
          <a:p xmlns:a="http://schemas.openxmlformats.org/drawingml/2006/main">
            <a:r>
              <a:t>- https://python.langchain.com/docs/concepts/retrievers/</a:t>
            </a:r>
          </a:p>
          <a:p xmlns:a="http://schemas.openxmlformats.org/drawingml/2006/main">
            <a:r>
              <a:t>- https://github.com/curiousily/AI-Bootcamp/blob/master/17.rag-from-scratch.ipynb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assembly** converts retrieved chunks into a model-ready evidence packet.</a:t>
            </a:r>
          </a:p>
          <a:p xmlns:a="http://schemas.openxmlformats.org/drawingml/2006/main">
            <a:r>
              <a:t/>
            </a:r>
          </a:p>
          <a:p xmlns:a="http://schemas.openxmlformats.org/drawingml/2006/main">
            <a:r>
              <a:t>It should:</a:t>
            </a:r>
          </a:p>
          <a:p xmlns:a="http://schemas.openxmlformats.org/drawingml/2006/main">
            <a:r>
              <a:t/>
            </a:r>
          </a:p>
          <a:p xmlns:a="http://schemas.openxmlformats.org/drawingml/2006/main">
            <a:r>
              <a:t>- remove duplicates;</a:t>
            </a:r>
          </a:p>
          <a:p xmlns:a="http://schemas.openxmlformats.org/drawingml/2006/main">
            <a:r>
              <a:t>- preserve source IDs and locations;</a:t>
            </a:r>
          </a:p>
          <a:p xmlns:a="http://schemas.openxmlformats.org/drawingml/2006/main">
            <a:r>
              <a:t>- order chunks deliberately;</a:t>
            </a:r>
          </a:p>
          <a:p xmlns:a="http://schemas.openxmlformats.org/drawingml/2006/main">
            <a:r>
              <a:t>- separate evidence from instructions;</a:t>
            </a:r>
          </a:p>
          <a:p xmlns:a="http://schemas.openxmlformats.org/drawingml/2006/main">
            <a:r>
              <a:t>- trim to the token budget;</a:t>
            </a:r>
          </a:p>
          <a:p xmlns:a="http://schemas.openxmlformats.org/drawingml/2006/main">
            <a:r>
              <a:t>- include only authorized content;</a:t>
            </a:r>
          </a:p>
          <a:p xmlns:a="http://schemas.openxmlformats.org/drawingml/2006/main">
            <a:r>
              <a:t>- avoid splitting a citation from its text.</a:t>
            </a:r>
          </a:p>
          <a:p xmlns:a="http://schemas.openxmlformats.org/drawingml/2006/main">
            <a:r>
              <a:t/>
            </a:r>
          </a:p>
          <a:p xmlns:a="http://schemas.openxmlformats.org/drawingml/2006/main">
            <a:r>
              <a:t>The model should be told that retrieved content is untrusted evidence, not new instructions.</a:t>
            </a:r>
          </a:p>
          <a:p xmlns:a="http://schemas.openxmlformats.org/drawingml/2006/main">
            <a:r>
              <a:t/>
            </a:r>
          </a:p>
          <a:p xmlns:a="http://schemas.openxmlformats.org/drawingml/2006/main">
            <a:r>
              <a:t>[Worked Example]</a:t>
            </a:r>
          </a:p>
          <a:p xmlns:a="http://schemas.openxmlformats.org/drawingml/2006/main">
            <a:r>
              <a:t>Five chunks consume `3,200` tokens, but evidence budget is `2,000`.</a:t>
            </a:r>
          </a:p>
          <a:p xmlns:a="http://schemas.openxmlformats.org/drawingml/2006/main">
            <a:r>
              <a:t/>
            </a:r>
          </a:p>
          <a:p xmlns:a="http://schemas.openxmlformats.org/drawingml/2006/main">
            <a:r>
              <a:t>After deduplication, four chunks consume `2,500`. The assembler selects the highest-value set under `2,000` while retaining at least one chunk from each required source.</a:t>
            </a:r>
          </a:p>
          <a:p xmlns:a="http://schemas.openxmlformats.org/drawingml/2006/main">
            <a:r>
              <a:t/>
            </a:r>
          </a:p>
          <a:p xmlns:a="http://schemas.openxmlformats.org/drawingml/2006/main">
            <a:r>
              <a:t>[Visual Brief]</a:t>
            </a:r>
          </a:p>
          <a:p xmlns:a="http://schemas.openxmlformats.org/drawingml/2006/main">
            <a:r>
              <a:t>Ranked chunks pass through deduplicate, authorize, budget, label, and order stages.</a:t>
            </a:r>
          </a:p>
          <a:p xmlns:a="http://schemas.openxmlformats.org/drawingml/2006/main">
            <a:r>
              <a:t/>
            </a:r>
          </a:p>
          <a:p xmlns:a="http://schemas.openxmlformats.org/drawingml/2006/main">
            <a:r>
              <a:t>[Instructor Notes]</a:t>
            </a:r>
          </a:p>
          <a:p xmlns:a="http://schemas.openxmlformats.org/drawingml/2006/main">
            <a:r>
              <a:t>Explain why simply joining all top-k text can overweight duplicates and exceed context limits.</a:t>
            </a:r>
          </a:p>
          <a:p xmlns:a="http://schemas.openxmlformats.org/drawingml/2006/main">
            <a:r>
              <a:t/>
            </a:r>
          </a:p>
          <a:p xmlns:a="http://schemas.openxmlformats.org/drawingml/2006/main">
            <a:r>
              <a:t>[Notebook Connection]</a:t>
            </a:r>
          </a:p>
          <a:p xmlns:a="http://schemas.openxmlformats.org/drawingml/2006/main">
            <a:r>
              <a:t>Learners build context explicitly before the generation call.</a:t>
            </a:r>
          </a:p>
          <a:p xmlns:a="http://schemas.openxmlformats.org/drawingml/2006/main">
            <a:r>
              <a:t/>
            </a:r>
          </a:p>
          <a:p xmlns:a="http://schemas.openxmlformats.org/drawingml/2006/main">
            <a:r>
              <a:t>[Sources]</a:t>
            </a:r>
          </a:p>
          <a:p xmlns:a="http://schemas.openxmlformats.org/drawingml/2006/main">
            <a:r>
              <a:t>- https://docs.langchain.com/oss/python/langchain/rag</a:t>
            </a:r>
          </a:p>
          <a:p xmlns:a="http://schemas.openxmlformats.org/drawingml/2006/main">
            <a:r>
              <a:t>- https://github.com/curiousily/AI-Bootcamp/blob/master/06.build-rag.ipynb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answer is **grounded** when its factual claims are supported by the supplied evidence.</a:t>
            </a:r>
          </a:p>
          <a:p xmlns:a="http://schemas.openxmlformats.org/drawingml/2006/main">
            <a:r>
              <a:t/>
            </a:r>
          </a:p>
          <a:p xmlns:a="http://schemas.openxmlformats.org/drawingml/2006/main">
            <a:r>
              <a:t>A **citation** identifies the exact source and location supporting a claim.</a:t>
            </a:r>
          </a:p>
          <a:p xmlns:a="http://schemas.openxmlformats.org/drawingml/2006/main">
            <a:r>
              <a:t/>
            </a:r>
          </a:p>
          <a:p xmlns:a="http://schemas.openxmlformats.org/drawingml/2006/main">
            <a:r>
              <a:t>Validation should check:</a:t>
            </a:r>
          </a:p>
          <a:p xmlns:a="http://schemas.openxmlformats.org/drawingml/2006/main">
            <a:r>
              <a:t/>
            </a:r>
          </a:p>
          <a:p xmlns:a="http://schemas.openxmlformats.org/drawingml/2006/main">
            <a:r>
              <a:t>- cited source was retrieved;</a:t>
            </a:r>
          </a:p>
          <a:p xmlns:a="http://schemas.openxmlformats.org/drawingml/2006/main">
            <a:r>
              <a:t>- cited passage supports the nearby claim;</a:t>
            </a:r>
          </a:p>
          <a:p xmlns:a="http://schemas.openxmlformats.org/drawingml/2006/main">
            <a:r>
              <a:t>- no unsupported claims were added;</a:t>
            </a:r>
          </a:p>
          <a:p xmlns:a="http://schemas.openxmlformats.org/drawingml/2006/main">
            <a:r>
              <a:t>- quotation and numbers match;</a:t>
            </a:r>
          </a:p>
          <a:p xmlns:a="http://schemas.openxmlformats.org/drawingml/2006/main">
            <a:r>
              <a:t>- insufficient evidence produces refusal or qualification.</a:t>
            </a:r>
          </a:p>
          <a:p xmlns:a="http://schemas.openxmlformats.org/drawingml/2006/main">
            <a:r>
              <a:t/>
            </a:r>
          </a:p>
          <a:p xmlns:a="http://schemas.openxmlformats.org/drawingml/2006/main">
            <a:r>
              <a:t>A citation string generated by the model is not proof by itself.</a:t>
            </a:r>
          </a:p>
          <a:p xmlns:a="http://schemas.openxmlformats.org/drawingml/2006/main">
            <a:r>
              <a:t/>
            </a:r>
          </a:p>
          <a:p xmlns:a="http://schemas.openxmlformats.org/drawingml/2006/main">
            <a:r>
              <a:t>[Worked Example]</a:t>
            </a:r>
          </a:p>
          <a:p xmlns:a="http://schemas.openxmlformats.org/drawingml/2006/main">
            <a:r>
              <a:t>Evidence: `[policy-v3 p.7] Refund requests are accepted within 14 days.`</a:t>
            </a:r>
          </a:p>
          <a:p xmlns:a="http://schemas.openxmlformats.org/drawingml/2006/main">
            <a:r>
              <a:t/>
            </a:r>
          </a:p>
          <a:p xmlns:a="http://schemas.openxmlformats.org/drawingml/2006/main">
            <a:r>
              <a:t>Supported answer: `Refund requests are accepted within 14 days [policy-v3 p.7].`</a:t>
            </a:r>
          </a:p>
          <a:p xmlns:a="http://schemas.openxmlformats.org/drawingml/2006/main">
            <a:r>
              <a:t/>
            </a:r>
          </a:p>
          <a:p xmlns:a="http://schemas.openxmlformats.org/drawingml/2006/main">
            <a:r>
              <a:t>Unsupported addition: `A full refund is guaranteed.` The passage does not support that claim.</a:t>
            </a:r>
          </a:p>
          <a:p xmlns:a="http://schemas.openxmlformats.org/drawingml/2006/main">
            <a:r>
              <a:t/>
            </a:r>
          </a:p>
          <a:p xmlns:a="http://schemas.openxmlformats.org/drawingml/2006/main">
            <a:r>
              <a:t>[Visual Brief]</a:t>
            </a:r>
          </a:p>
          <a:p xmlns:a="http://schemas.openxmlformats.org/drawingml/2006/main">
            <a:r>
              <a:t>Each answer claim connects to a supporting passage. One unsupported claim has no connection and is rejected.</a:t>
            </a:r>
          </a:p>
          <a:p xmlns:a="http://schemas.openxmlformats.org/drawingml/2006/main">
            <a:r>
              <a:t/>
            </a:r>
          </a:p>
          <a:p xmlns:a="http://schemas.openxmlformats.org/drawingml/2006/main">
            <a:r>
              <a:t>[Instructor Notes]</a:t>
            </a:r>
          </a:p>
          <a:p xmlns:a="http://schemas.openxmlformats.org/drawingml/2006/main">
            <a:r>
              <a:t>Citation existence and citation support are separate checks.</a:t>
            </a:r>
          </a:p>
          <a:p xmlns:a="http://schemas.openxmlformats.org/drawingml/2006/main">
            <a:r>
              <a:t/>
            </a:r>
          </a:p>
          <a:p xmlns:a="http://schemas.openxmlformats.org/drawingml/2006/main">
            <a:r>
              <a:t>[Notebook Connection]</a:t>
            </a:r>
          </a:p>
          <a:p xmlns:a="http://schemas.openxmlformats.org/drawingml/2006/main">
            <a:r>
              <a:t>Learners add stable chunk IDs to the answer schema and verify them.</a:t>
            </a:r>
          </a:p>
          <a:p xmlns:a="http://schemas.openxmlformats.org/drawingml/2006/main">
            <a:r>
              <a:t/>
            </a:r>
          </a:p>
          <a:p xmlns:a="http://schemas.openxmlformats.org/drawingml/2006/main">
            <a:r>
              <a:t>[Sources]</a:t>
            </a:r>
          </a:p>
          <a:p xmlns:a="http://schemas.openxmlformats.org/drawingml/2006/main">
            <a:r>
              <a:t>- https://docs.langchain.com/langsmith/evaluate-rag-tutorial</a:t>
            </a:r>
          </a:p>
          <a:p xmlns:a="http://schemas.openxmlformats.org/drawingml/2006/main">
            <a:r>
              <a:t>- https://github.com/curiousily/AI-Bootcamp/blob/master/06.build-rag.ipynb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Common failure boundaries:</a:t>
            </a:r>
          </a:p>
          <a:p xmlns:a="http://schemas.openxmlformats.org/drawingml/2006/main">
            <a:r>
              <a:t/>
            </a:r>
          </a:p>
          <a:p xmlns:a="http://schemas.openxmlformats.org/drawingml/2006/main">
            <a:r>
              <a:t>- parsing lost text;</a:t>
            </a:r>
          </a:p>
          <a:p xmlns:a="http://schemas.openxmlformats.org/drawingml/2006/main">
            <a:r>
              <a:t>- cleaning changed meaning;</a:t>
            </a:r>
          </a:p>
          <a:p xmlns:a="http://schemas.openxmlformats.org/drawingml/2006/main">
            <a:r>
              <a:t>- chunk boundary split evidence;</a:t>
            </a:r>
          </a:p>
          <a:p xmlns:a="http://schemas.openxmlformats.org/drawingml/2006/main">
            <a:r>
              <a:t>- embedding failed on domain terms;</a:t>
            </a:r>
          </a:p>
          <a:p xmlns:a="http://schemas.openxmlformats.org/drawingml/2006/main">
            <a:r>
              <a:t>- filter excluded the source;</a:t>
            </a:r>
          </a:p>
          <a:p xmlns:a="http://schemas.openxmlformats.org/drawingml/2006/main">
            <a:r>
              <a:t>- top-k missed the relevant chunk;</a:t>
            </a:r>
          </a:p>
          <a:p xmlns:a="http://schemas.openxmlformats.org/drawingml/2006/main">
            <a:r>
              <a:t>- context assembly removed or duplicated evidence;</a:t>
            </a:r>
          </a:p>
          <a:p xmlns:a="http://schemas.openxmlformats.org/drawingml/2006/main">
            <a:r>
              <a:t>- generator ignored evidence;</a:t>
            </a:r>
          </a:p>
          <a:p xmlns:a="http://schemas.openxmlformats.org/drawingml/2006/main">
            <a:r>
              <a:t>- citation did not support the claim.</a:t>
            </a:r>
          </a:p>
          <a:p xmlns:a="http://schemas.openxmlformats.org/drawingml/2006/main">
            <a:r>
              <a:t/>
            </a:r>
          </a:p>
          <a:p xmlns:a="http://schemas.openxmlformats.org/drawingml/2006/main">
            <a:r>
              <a:t>Fix the owning stage. Prompt changes cannot restore text that ingestion lost.</a:t>
            </a:r>
          </a:p>
          <a:p xmlns:a="http://schemas.openxmlformats.org/drawingml/2006/main">
            <a:r>
              <a:t/>
            </a:r>
          </a:p>
          <a:p xmlns:a="http://schemas.openxmlformats.org/drawingml/2006/main">
            <a:r>
              <a:t>[Worked Example]</a:t>
            </a:r>
          </a:p>
          <a:p xmlns:a="http://schemas.openxmlformats.org/drawingml/2006/main">
            <a:r>
              <a:t>Answer misses the refund period.</a:t>
            </a:r>
          </a:p>
          <a:p xmlns:a="http://schemas.openxmlformats.org/drawingml/2006/main">
            <a:r>
              <a:t/>
            </a:r>
          </a:p>
          <a:p xmlns:a="http://schemas.openxmlformats.org/drawingml/2006/main">
            <a:r>
              <a:t>Diagnosis:</a:t>
            </a:r>
          </a:p>
          <a:p xmlns:a="http://schemas.openxmlformats.org/drawingml/2006/main">
            <a:r>
              <a:t/>
            </a:r>
          </a:p>
          <a:p xmlns:a="http://schemas.openxmlformats.org/drawingml/2006/main">
            <a:r>
              <a:t>1. source PDF contains `14 days`;</a:t>
            </a:r>
          </a:p>
          <a:p xmlns:a="http://schemas.openxmlformats.org/drawingml/2006/main">
            <a:r>
              <a:t>2. parsed text contains it;</a:t>
            </a:r>
          </a:p>
          <a:p xmlns:a="http://schemas.openxmlformats.org/drawingml/2006/main">
            <a:r>
              <a:t>3. chunk index contains it;</a:t>
            </a:r>
          </a:p>
          <a:p xmlns:a="http://schemas.openxmlformats.org/drawingml/2006/main">
            <a:r>
              <a:t>4. retriever ranks it `12`;</a:t>
            </a:r>
          </a:p>
          <a:p xmlns:a="http://schemas.openxmlformats.org/drawingml/2006/main">
            <a:r>
              <a:t>5. top-k is `5`.</a:t>
            </a:r>
          </a:p>
          <a:p xmlns:a="http://schemas.openxmlformats.org/drawingml/2006/main">
            <a:r>
              <a:t/>
            </a:r>
          </a:p>
          <a:p xmlns:a="http://schemas.openxmlformats.org/drawingml/2006/main">
            <a:r>
              <a:t>Owning failure is retrieval ranking, not generation.</a:t>
            </a:r>
          </a:p>
          <a:p xmlns:a="http://schemas.openxmlformats.org/drawingml/2006/main">
            <a:r>
              <a:t/>
            </a:r>
          </a:p>
          <a:p xmlns:a="http://schemas.openxmlformats.org/drawingml/2006/main">
            <a:r>
              <a:t>[Visual Brief]</a:t>
            </a:r>
          </a:p>
          <a:p xmlns:a="http://schemas.openxmlformats.org/drawingml/2006/main">
            <a:r>
              <a:t>The RAG pipeline has diagnostic checkpoints; a failure marker sits at retrieval rank.</a:t>
            </a:r>
          </a:p>
          <a:p xmlns:a="http://schemas.openxmlformats.org/drawingml/2006/main">
            <a:r>
              <a:t/>
            </a:r>
          </a:p>
          <a:p xmlns:a="http://schemas.openxmlformats.org/drawingml/2006/main">
            <a:r>
              <a:t>[Instructor Notes]</a:t>
            </a:r>
          </a:p>
          <a:p xmlns:a="http://schemas.openxmlformats.org/drawingml/2006/main">
            <a:r>
              <a:t>Ask learners to prove every upstream stage before changing the model prompt.</a:t>
            </a:r>
          </a:p>
          <a:p xmlns:a="http://schemas.openxmlformats.org/drawingml/2006/main">
            <a:r>
              <a:t/>
            </a:r>
          </a:p>
          <a:p xmlns:a="http://schemas.openxmlformats.org/drawingml/2006/main">
            <a:r>
              <a:t>[Notebook Connection]</a:t>
            </a:r>
          </a:p>
          <a:p xmlns:a="http://schemas.openxmlformats.org/drawingml/2006/main">
            <a:r>
              <a:t>The lab records intermediate artifacts for each query.</a:t>
            </a:r>
          </a:p>
          <a:p xmlns:a="http://schemas.openxmlformats.org/drawingml/2006/main">
            <a:r>
              <a:t/>
            </a:r>
          </a:p>
          <a:p xmlns:a="http://schemas.openxmlformats.org/drawingml/2006/main">
            <a:r>
              <a:t>[Sources]</a:t>
            </a:r>
          </a:p>
          <a:p xmlns:a="http://schemas.openxmlformats.org/drawingml/2006/main">
            <a:r>
              <a:t>- https://docs.langchain.com/langsmith/evaluation-concepts</a:t>
            </a:r>
          </a:p>
          <a:p xmlns:a="http://schemas.openxmlformats.org/drawingml/2006/main">
            <a:r>
              <a:t>- https://docs.langchain.com/langsmith/evaluate-rag-tutorial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a small policy assistant:</a:t>
            </a:r>
          </a:p>
          <a:p xmlns:a="http://schemas.openxmlformats.org/drawingml/2006/main">
            <a:r>
              <a:t/>
            </a:r>
          </a:p>
          <a:p xmlns:a="http://schemas.openxmlformats.org/drawingml/2006/main">
            <a:r>
              <a:t>1. parse and visually verify source pages;</a:t>
            </a:r>
          </a:p>
          <a:p xmlns:a="http://schemas.openxmlformats.org/drawingml/2006/main">
            <a:r>
              <a:t>2. preserve source, page, section, and access metadata;</a:t>
            </a:r>
          </a:p>
          <a:p xmlns:a="http://schemas.openxmlformats.org/drawingml/2006/main">
            <a:r>
              <a:t>3. compare two chunking strategies;</a:t>
            </a:r>
          </a:p>
          <a:p xmlns:a="http://schemas.openxmlformats.org/drawingml/2006/main">
            <a:r>
              <a:t>4. embed chunks and queries with one model;</a:t>
            </a:r>
          </a:p>
          <a:p xmlns:a="http://schemas.openxmlformats.org/drawingml/2006/main">
            <a:r>
              <a:t>5. calculate one cosine similarity by hand;</a:t>
            </a:r>
          </a:p>
          <a:p xmlns:a="http://schemas.openxmlformats.org/drawingml/2006/main">
            <a:r>
              <a:t>6. store vectors and metadata;</a:t>
            </a:r>
          </a:p>
          <a:p xmlns:a="http://schemas.openxmlformats.org/drawingml/2006/main">
            <a:r>
              <a:t>7. retrieve authorized top-k chunks;</a:t>
            </a:r>
          </a:p>
          <a:p xmlns:a="http://schemas.openxmlformats.org/drawingml/2006/main">
            <a:r>
              <a:t>8. inspect ranks before generation;</a:t>
            </a:r>
          </a:p>
          <a:p xmlns:a="http://schemas.openxmlformats.org/drawingml/2006/main">
            <a:r>
              <a:t>9. assemble deduplicated labelled context;</a:t>
            </a:r>
          </a:p>
          <a:p xmlns:a="http://schemas.openxmlformats.org/drawingml/2006/main">
            <a:r>
              <a:t>10. return structured answer and citation IDs;</a:t>
            </a:r>
          </a:p>
          <a:p xmlns:a="http://schemas.openxmlformats.org/drawingml/2006/main">
            <a:r>
              <a:t>11. verify citation support;</a:t>
            </a:r>
          </a:p>
          <a:p xmlns:a="http://schemas.openxmlformats.org/drawingml/2006/main">
            <a:r>
              <a:t>12. refuse an unsupported question.</a:t>
            </a:r>
          </a:p>
          <a:p xmlns:a="http://schemas.openxmlformats.org/drawingml/2006/main">
            <a:r>
              <a:t/>
            </a:r>
          </a:p>
          <a:p xmlns:a="http://schemas.openxmlformats.org/drawingml/2006/main">
            <a:r>
              <a:t>[Worked Example]</a:t>
            </a:r>
          </a:p>
          <a:p xmlns:a="http://schemas.openxmlformats.org/drawingml/2006/main">
            <a:r>
              <a:t>Required test:</a:t>
            </a:r>
          </a:p>
          <a:p xmlns:a="http://schemas.openxmlformats.org/drawingml/2006/main">
            <a:r>
              <a:t/>
            </a:r>
          </a:p>
          <a:p xmlns:a="http://schemas.openxmlformats.org/drawingml/2006/main">
            <a:r>
              <a:t>Question whose answer exists, question requiring two chunks, exact identifier query, unsupported question, and unauthorized-document query.</a:t>
            </a:r>
          </a:p>
          <a:p xmlns:a="http://schemas.openxmlformats.org/drawingml/2006/main">
            <a:r>
              <a:t/>
            </a:r>
          </a:p>
          <a:p xmlns:a="http://schemas.openxmlformats.org/drawingml/2006/main">
            <a:r>
              <a:t>Each failure must identify its owning stage.</a:t>
            </a:r>
          </a:p>
          <a:p xmlns:a="http://schemas.openxmlformats.org/drawingml/2006/main">
            <a:r>
              <a:t/>
            </a:r>
          </a:p>
          <a:p xmlns:a="http://schemas.openxmlformats.org/drawingml/2006/main">
            <a:r>
              <a:t>[Visual Brief]</a:t>
            </a:r>
          </a:p>
          <a:p xmlns:a="http://schemas.openxmlformats.org/drawingml/2006/main">
            <a:r>
              <a:t>An end-to-end lab checklist spans source verification through citation support and refusal.</a:t>
            </a:r>
          </a:p>
          <a:p xmlns:a="http://schemas.openxmlformats.org/drawingml/2006/main">
            <a:r>
              <a:t/>
            </a:r>
          </a:p>
          <a:p xmlns:a="http://schemas.openxmlformats.org/drawingml/2006/main">
            <a:r>
              <a:t>[Instructor Notes]</a:t>
            </a:r>
          </a:p>
          <a:p xmlns:a="http://schemas.openxmlformats.org/drawingml/2006/main">
            <a:r>
              <a:t>Require retrieval inspection before judging answer quality. Do not hide the mechanism behind a framework-only call.</a:t>
            </a:r>
          </a:p>
          <a:p xmlns:a="http://schemas.openxmlformats.org/drawingml/2006/main">
            <a:r>
              <a:t/>
            </a:r>
          </a:p>
          <a:p xmlns:a="http://schemas.openxmlformats.org/drawingml/2006/main">
            <a:r>
              <a:t>[Notebook Connection]</a:t>
            </a:r>
          </a:p>
          <a:p xmlns:a="http://schemas.openxmlformats.org/drawingml/2006/main">
            <a:r>
              <a:t>Complete `17.rag-from-scratch.ipynb` and `06.build-rag.ipynb`.</a:t>
            </a:r>
          </a:p>
          <a:p xmlns:a="http://schemas.openxmlformats.org/drawingml/2006/main">
            <a:r>
              <a:t/>
            </a:r>
          </a:p>
          <a:p xmlns:a="http://schemas.openxmlformats.org/drawingml/2006/main">
            <a:r>
              <a:t>[Sources]</a:t>
            </a:r>
          </a:p>
          <a:p xmlns:a="http://schemas.openxmlformats.org/drawingml/2006/main">
            <a:r>
              <a:t>- https://github.com/curiousily/AI-Bootcamp/blob/master/17.rag-from-scratch.ipynb</a:t>
            </a:r>
          </a:p>
          <a:p xmlns:a="http://schemas.openxmlformats.org/drawingml/2006/main">
            <a:r>
              <a:t>- https://github.com/curiousily/AI-Bootcamp/blob/master/06.build-rag.ipynb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972384748e45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e2dc6de9364953" /><Relationship Type="http://schemas.openxmlformats.org/officeDocument/2006/relationships/slideLayout" Target="/ppt/slideLayouts/slideLayout1.xml" Id="Rd0e2383047b04a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e2383047b04a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a54383f0794839" /><Relationship Type="http://schemas.openxmlformats.org/officeDocument/2006/relationships/image" Target="/ppt/media/image.png" Id="R3e19ce9201234e39" /><Relationship Type="http://schemas.openxmlformats.org/officeDocument/2006/relationships/image" Target="/ppt/media/image2.png" Id="R1695a56ae4f14410" /><Relationship Type="http://schemas.openxmlformats.org/officeDocument/2006/relationships/notesSlide" Target="/ppt/notesSlides/notesSlide1.xml" Id="R70ff97c162264f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12356a9cf140f4" /><Relationship Type="http://schemas.openxmlformats.org/officeDocument/2006/relationships/notesSlide" Target="/ppt/notesSlides/notesSlide2.xml" Id="Rbc694bdbe3d648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ffa311acb54cd3" /><Relationship Type="http://schemas.openxmlformats.org/officeDocument/2006/relationships/notesSlide" Target="/ppt/notesSlides/notesSlide3.xml" Id="Re5ccf64f3ada45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36e3ddc73344e9" /><Relationship Type="http://schemas.openxmlformats.org/officeDocument/2006/relationships/notesSlide" Target="/ppt/notesSlides/notesSlide4.xml" Id="R6dbdde3cebc04b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aa0b5036b24b3d" /><Relationship Type="http://schemas.openxmlformats.org/officeDocument/2006/relationships/notesSlide" Target="/ppt/notesSlides/notesSlide5.xml" Id="R2c9f7c058c5446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f4c75010b14f35" /><Relationship Type="http://schemas.openxmlformats.org/officeDocument/2006/relationships/notesSlide" Target="/ppt/notesSlides/notesSlide6.xml" Id="Rb48eb311aeaa46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ed878b7b9794a22" /><Relationship Type="http://schemas.openxmlformats.org/officeDocument/2006/relationships/notesSlide" Target="/ppt/notesSlides/notesSlide7.xml" Id="R034cb5a75c394e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e0bef4069b4e2b" /><Relationship Type="http://schemas.openxmlformats.org/officeDocument/2006/relationships/notesSlide" Target="/ppt/notesSlides/notesSlide8.xml" Id="R98034deb8fa645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2c78439fba84ff8" /><Relationship Type="http://schemas.openxmlformats.org/officeDocument/2006/relationships/notesSlide" Target="/ppt/notesSlides/notesSlide9.xml" Id="Rc6d01117df4b44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51b28ef537d4e7b" /><Relationship Type="http://schemas.openxmlformats.org/officeDocument/2006/relationships/notesSlide" Target="/ppt/notesSlides/notesSlide10.xml" Id="Rc95b9272cafb4c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cc6de35c204d40" /><Relationship Type="http://schemas.openxmlformats.org/officeDocument/2006/relationships/notesSlide" Target="/ppt/notesSlides/notesSlide11.xml" Id="R6ff972da7995481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72df806587f4541" /><Relationship Type="http://schemas.openxmlformats.org/officeDocument/2006/relationships/notesSlide" Target="/ppt/notesSlides/notesSlide12.xml" Id="R9cb43b3ebdf0438c" /></Relationships>
</file>

<file path=ppt/slides/slide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933640-39C5-413F-9A77-FE9124E48C5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e19ce9201234e39"/>
          <a:srcRect xmlns:a="http://schemas.openxmlformats.org/drawingml/2006/main" l="28270" t="0" r="28270" b="0"/>
          <a:stretch xmlns:a="http://schemas.openxmlformats.org/drawingml/2006/main">
            <a:fillRect l="0" t="0" r="0" b="0"/>
          </a:stretch>
        </p:blipFill>
        <p:spPr>
          <a:xfrm xmlns:a="http://schemas.openxmlformats.org/drawingml/2006/main">
            <a:off x="6896100" y="0"/>
            <a:ext cx="5295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135E7AE-FADF-4824-9F8B-C1964E581C40}"/>
              </a:ext>
            </a:extLst>
          </p:cNvPr>
          <p:cNvSpPr>
            <a:spLocks xmlns:a="http://schemas.openxmlformats.org/drawingml/2006/main" noGrp="1"/>
          </p:cNvSpPr>
          <p:nvPr/>
        </p:nvSpPr>
        <p:spPr>
          <a:xfrm xmlns:a="http://schemas.openxmlformats.org/drawingml/2006/main">
            <a:off x="6591300" y="0"/>
            <a:ext cx="304800" cy="68580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4E41290-7834-4E78-A32F-281394F3CCD3}"/>
              </a:ext>
            </a:extLst>
          </p:cNvPr>
          <p:cNvSpPr>
            <a:spLocks xmlns:a="http://schemas.openxmlformats.org/drawingml/2006/main" noGrp="1"/>
          </p:cNvSpPr>
          <p:nvPr/>
        </p:nvSpPr>
        <p:spPr>
          <a:xfrm xmlns:a="http://schemas.openxmlformats.org/drawingml/2006/main">
            <a:off x="666750" y="6667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MODULE 15  /  LESSON 01</a:t>
            </a:r>
          </a:p>
        </p:txBody>
      </p:sp>
      <p:sp>
        <p:nvSpPr>
          <p:cNvPr id="5" name="">
            <a:extLst xmlns:a="http://schemas.openxmlformats.org/drawingml/2006/main">
              <a:ext uri="{FF2B5EF4-FFF2-40B4-BE49-F238E27FC236}">
                <a16:creationId xmlns:a16="http://schemas.microsoft.com/office/drawing/2014/main" id="{E0D4BD1A-DBB0-4AFD-BCA3-BE58A61AD6A6}"/>
              </a:ext>
            </a:extLst>
          </p:cNvPr>
          <p:cNvSpPr>
            <a:spLocks xmlns:a="http://schemas.openxmlformats.org/drawingml/2006/main" noGrp="1"/>
          </p:cNvSpPr>
          <p:nvPr/>
        </p:nvSpPr>
        <p:spPr>
          <a:xfrm xmlns:a="http://schemas.openxmlformats.org/drawingml/2006/main">
            <a:off x="666750" y="1409700"/>
            <a:ext cx="5219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FFFFFF"/>
                </a:solidFill>
              </a:defRPr>
            </a:pPr>
            <a:r>
              <a:rPr sz="3600" b="1">
                <a:solidFill>
                  <a:srgbClr val="FFFFFF"/>
                </a:solidFill>
              </a:rPr>
              <a:t>RAG Supplies Evidence at Request Time</a:t>
            </a:r>
          </a:p>
        </p:txBody>
      </p:sp>
      <p:sp>
        <p:nvSpPr>
          <p:cNvPr id="6" name="">
            <a:extLst xmlns:a="http://schemas.openxmlformats.org/drawingml/2006/main">
              <a:ext uri="{FF2B5EF4-FFF2-40B4-BE49-F238E27FC236}">
                <a16:creationId xmlns:a16="http://schemas.microsoft.com/office/drawing/2014/main" id="{4FB41BF0-1732-4B5B-A1F9-B1A917FA6D65}"/>
              </a:ext>
            </a:extLst>
          </p:cNvPr>
          <p:cNvSpPr>
            <a:spLocks xmlns:a="http://schemas.openxmlformats.org/drawingml/2006/main" noGrp="1"/>
          </p:cNvSpPr>
          <p:nvPr/>
        </p:nvSpPr>
        <p:spPr>
          <a:xfrm xmlns:a="http://schemas.openxmlformats.org/drawingml/2006/main">
            <a:off x="666750" y="4095750"/>
            <a:ext cx="91440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EB8534B-E59C-4BEE-BCE1-4EC5ABD89658}"/>
              </a:ext>
            </a:extLst>
          </p:cNvPr>
          <p:cNvSpPr>
            <a:spLocks xmlns:a="http://schemas.openxmlformats.org/drawingml/2006/main" noGrp="1"/>
          </p:cNvSpPr>
          <p:nvPr/>
        </p:nvSpPr>
        <p:spPr>
          <a:xfrm xmlns:a="http://schemas.openxmlformats.org/drawingml/2006/main">
            <a:off x="666750" y="4495800"/>
            <a:ext cx="5048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D5E2EC"/>
                </a:solidFill>
              </a:defRPr>
            </a:pPr>
            <a:r>
              <a:rPr sz="1650">
                <a:solidFill>
                  <a:srgbClr val="D5E2EC"/>
                </a:solidFill>
              </a:rPr>
              <a:t>Retrieval-augmented generation (RAG) finds relevant evidence and includes it in the model context before generation.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695a56ae4f14410"/>
          <a:stretch xmlns:a="http://schemas.openxmlformats.org/drawingml/2006/main"/>
        </p:blipFill>
        <p:spPr>
          <a:xfrm xmlns:a="http://schemas.openxmlformats.org/drawingml/2006/main">
            <a:off x="790575" y="5905500"/>
            <a:ext cx="1485900" cy="495300"/>
          </a:xfrm>
          <a:prstGeom xmlns:a="http://schemas.openxmlformats.org/drawingml/2006/main" prst="rect">
            <a:avLst/>
          </a:prstGeom>
        </p:spPr>
      </p:pic>
    </p:spTree>
    <p:extLst>
      <p:ext uri="{BB962C8B-B14F-4D97-AF65-F5344CB8AC3E}">
        <p14:creationId xmlns:p14="http://schemas.microsoft.com/office/powerpoint/2010/main" val="14182082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59FD429-1FB5-4836-93BB-B5D0C28D734B}"/>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M15 / L01</a:t>
            </a:r>
          </a:p>
        </p:txBody>
      </p:sp>
      <p:sp>
        <p:nvSpPr>
          <p:cNvPr id="2" name="">
            <a:extLst xmlns:a="http://schemas.openxmlformats.org/drawingml/2006/main">
              <a:ext uri="{FF2B5EF4-FFF2-40B4-BE49-F238E27FC236}">
                <a16:creationId xmlns:a16="http://schemas.microsoft.com/office/drawing/2014/main" id="{98929049-D2B6-4087-9C69-9D224A1A2557}"/>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RAG Supplies Evidence at Request Time</a:t>
            </a:r>
          </a:p>
        </p:txBody>
      </p:sp>
      <p:sp>
        <p:nvSpPr>
          <p:cNvPr id="3" name="">
            <a:extLst xmlns:a="http://schemas.openxmlformats.org/drawingml/2006/main">
              <a:ext uri="{FF2B5EF4-FFF2-40B4-BE49-F238E27FC236}">
                <a16:creationId xmlns:a16="http://schemas.microsoft.com/office/drawing/2014/main" id="{2622EAB5-6DE6-4865-8548-06C64DC2884A}"/>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02</a:t>
            </a:r>
          </a:p>
        </p:txBody>
      </p:sp>
      <p:sp>
        <p:nvSpPr>
          <p:cNvPr id="4" name="">
            <a:extLst xmlns:a="http://schemas.openxmlformats.org/drawingml/2006/main">
              <a:ext uri="{FF2B5EF4-FFF2-40B4-BE49-F238E27FC236}">
                <a16:creationId xmlns:a16="http://schemas.microsoft.com/office/drawing/2014/main" id="{9190D24F-5D1D-4139-8BDB-02A38F75E29D}"/>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84B4F2EF-808E-4340-B3FC-A5206E1DAF21}"/>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Parsing Recovers Content from Source Files</a:t>
            </a:r>
          </a:p>
        </p:txBody>
      </p:sp>
      <p:sp>
        <p:nvSpPr>
          <p:cNvPr id="6" name="">
            <a:extLst xmlns:a="http://schemas.openxmlformats.org/drawingml/2006/main">
              <a:ext uri="{FF2B5EF4-FFF2-40B4-BE49-F238E27FC236}">
                <a16:creationId xmlns:a16="http://schemas.microsoft.com/office/drawing/2014/main" id="{71F9B929-9910-401A-B5A8-234BAC5B9496}"/>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98FCE27-C7F0-40FD-919F-65968D275361}"/>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243244"/>
                </a:solidFill>
              </a:defRPr>
            </a:pPr>
            <a:r>
              <a:rPr sz="1575">
                <a:solidFill>
                  <a:srgbClr val="243244"/>
                </a:solidFill>
              </a:rPr>
              <a:t>Document parsing converts a source format into structured text and metadata. A parser may need to recover:</a:t>
            </a:r>
          </a:p>
        </p:txBody>
      </p:sp>
      <p:sp>
        <p:nvSpPr>
          <p:cNvPr id="8" name="">
            <a:extLst xmlns:a="http://schemas.openxmlformats.org/drawingml/2006/main">
              <a:ext uri="{FF2B5EF4-FFF2-40B4-BE49-F238E27FC236}">
                <a16:creationId xmlns:a16="http://schemas.microsoft.com/office/drawing/2014/main" id="{64742A58-12A1-4389-AB3C-C24C30B0A671}"/>
              </a:ext>
            </a:extLst>
          </p:cNvPr>
          <p:cNvSpPr>
            <a:spLocks xmlns:a="http://schemas.openxmlformats.org/drawingml/2006/main" noGrp="1"/>
          </p:cNvSpPr>
          <p:nvPr/>
        </p:nvSpPr>
        <p:spPr>
          <a:xfrm xmlns:a="http://schemas.openxmlformats.org/drawingml/2006/main">
            <a:off x="609600" y="37147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DCFA2A6-0B97-432D-8CD1-10FF36B032D1}"/>
              </a:ext>
            </a:extLst>
          </p:cNvPr>
          <p:cNvSpPr>
            <a:spLocks xmlns:a="http://schemas.openxmlformats.org/drawingml/2006/main" noGrp="1"/>
          </p:cNvSpPr>
          <p:nvPr/>
        </p:nvSpPr>
        <p:spPr>
          <a:xfrm xmlns:a="http://schemas.openxmlformats.org/drawingml/2006/main">
            <a:off x="7810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headings and paragraphs;</a:t>
            </a:r>
          </a:p>
        </p:txBody>
      </p:sp>
      <p:sp>
        <p:nvSpPr>
          <p:cNvPr id="10" name="">
            <a:extLst xmlns:a="http://schemas.openxmlformats.org/drawingml/2006/main">
              <a:ext uri="{FF2B5EF4-FFF2-40B4-BE49-F238E27FC236}">
                <a16:creationId xmlns:a16="http://schemas.microsoft.com/office/drawing/2014/main" id="{5C84BF28-8EFE-40F5-8E4B-3B6A3962272A}"/>
              </a:ext>
            </a:extLst>
          </p:cNvPr>
          <p:cNvSpPr>
            <a:spLocks xmlns:a="http://schemas.openxmlformats.org/drawingml/2006/main" noGrp="1"/>
          </p:cNvSpPr>
          <p:nvPr/>
        </p:nvSpPr>
        <p:spPr>
          <a:xfrm xmlns:a="http://schemas.openxmlformats.org/drawingml/2006/main">
            <a:off x="4114800" y="37147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2A8EC42-6431-4F6D-A90A-D5C19633438B}"/>
              </a:ext>
            </a:extLst>
          </p:cNvPr>
          <p:cNvSpPr>
            <a:spLocks xmlns:a="http://schemas.openxmlformats.org/drawingml/2006/main" noGrp="1"/>
          </p:cNvSpPr>
          <p:nvPr/>
        </p:nvSpPr>
        <p:spPr>
          <a:xfrm xmlns:a="http://schemas.openxmlformats.org/drawingml/2006/main">
            <a:off x="42862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tables;</a:t>
            </a:r>
          </a:p>
        </p:txBody>
      </p:sp>
      <p:sp>
        <p:nvSpPr>
          <p:cNvPr id="12" name="">
            <a:extLst xmlns:a="http://schemas.openxmlformats.org/drawingml/2006/main">
              <a:ext uri="{FF2B5EF4-FFF2-40B4-BE49-F238E27FC236}">
                <a16:creationId xmlns:a16="http://schemas.microsoft.com/office/drawing/2014/main" id="{A2E680F7-B7D9-48AF-BA2A-0701B908D2FD}"/>
              </a:ext>
            </a:extLst>
          </p:cNvPr>
          <p:cNvSpPr>
            <a:spLocks xmlns:a="http://schemas.openxmlformats.org/drawingml/2006/main" noGrp="1"/>
          </p:cNvSpPr>
          <p:nvPr/>
        </p:nvSpPr>
        <p:spPr>
          <a:xfrm xmlns:a="http://schemas.openxmlformats.org/drawingml/2006/main">
            <a:off x="7620000" y="37147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07E0A4F-0979-47D0-B04A-EFBA03162841}"/>
              </a:ext>
            </a:extLst>
          </p:cNvPr>
          <p:cNvSpPr>
            <a:spLocks xmlns:a="http://schemas.openxmlformats.org/drawingml/2006/main" noGrp="1"/>
          </p:cNvSpPr>
          <p:nvPr/>
        </p:nvSpPr>
        <p:spPr>
          <a:xfrm xmlns:a="http://schemas.openxmlformats.org/drawingml/2006/main">
            <a:off x="77914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page numbers;</a:t>
            </a:r>
          </a:p>
        </p:txBody>
      </p:sp>
      <p:sp>
        <p:nvSpPr>
          <p:cNvPr id="14" name="">
            <a:extLst xmlns:a="http://schemas.openxmlformats.org/drawingml/2006/main">
              <a:ext uri="{FF2B5EF4-FFF2-40B4-BE49-F238E27FC236}">
                <a16:creationId xmlns:a16="http://schemas.microsoft.com/office/drawing/2014/main" id="{00F1B84F-333F-45A1-9A8F-8729D448C783}"/>
              </a:ext>
            </a:extLst>
          </p:cNvPr>
          <p:cNvSpPr>
            <a:spLocks xmlns:a="http://schemas.openxmlformats.org/drawingml/2006/main" noGrp="1"/>
          </p:cNvSpPr>
          <p:nvPr/>
        </p:nvSpPr>
        <p:spPr>
          <a:xfrm xmlns:a="http://schemas.openxmlformats.org/drawingml/2006/main">
            <a:off x="609600" y="48196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DA0415A-CBFB-4634-AF89-E63E3B604A28}"/>
              </a:ext>
            </a:extLst>
          </p:cNvPr>
          <p:cNvSpPr>
            <a:spLocks xmlns:a="http://schemas.openxmlformats.org/drawingml/2006/main" noGrp="1"/>
          </p:cNvSpPr>
          <p:nvPr/>
        </p:nvSpPr>
        <p:spPr>
          <a:xfrm xmlns:a="http://schemas.openxmlformats.org/drawingml/2006/main">
            <a:off x="7810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lists and reading order;</a:t>
            </a:r>
          </a:p>
        </p:txBody>
      </p:sp>
      <p:sp>
        <p:nvSpPr>
          <p:cNvPr id="16" name="">
            <a:extLst xmlns:a="http://schemas.openxmlformats.org/drawingml/2006/main">
              <a:ext uri="{FF2B5EF4-FFF2-40B4-BE49-F238E27FC236}">
                <a16:creationId xmlns:a16="http://schemas.microsoft.com/office/drawing/2014/main" id="{B0A32CA0-EFDF-41DC-A097-689ED64D5835}"/>
              </a:ext>
            </a:extLst>
          </p:cNvPr>
          <p:cNvSpPr>
            <a:spLocks xmlns:a="http://schemas.openxmlformats.org/drawingml/2006/main" noGrp="1"/>
          </p:cNvSpPr>
          <p:nvPr/>
        </p:nvSpPr>
        <p:spPr>
          <a:xfrm xmlns:a="http://schemas.openxmlformats.org/drawingml/2006/main">
            <a:off x="4114800" y="48196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068A6A6-F5D8-4A3B-99A3-7E3034CBA582}"/>
              </a:ext>
            </a:extLst>
          </p:cNvPr>
          <p:cNvSpPr>
            <a:spLocks xmlns:a="http://schemas.openxmlformats.org/drawingml/2006/main" noGrp="1"/>
          </p:cNvSpPr>
          <p:nvPr/>
        </p:nvSpPr>
        <p:spPr>
          <a:xfrm xmlns:a="http://schemas.openxmlformats.org/drawingml/2006/main">
            <a:off x="42862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captions;</a:t>
            </a:r>
          </a:p>
        </p:txBody>
      </p:sp>
      <p:sp>
        <p:nvSpPr>
          <p:cNvPr id="18" name="">
            <a:extLst xmlns:a="http://schemas.openxmlformats.org/drawingml/2006/main">
              <a:ext uri="{FF2B5EF4-FFF2-40B4-BE49-F238E27FC236}">
                <a16:creationId xmlns:a16="http://schemas.microsoft.com/office/drawing/2014/main" id="{BB48329A-F851-4C5A-B1B5-D6FDDFCF46AD}"/>
              </a:ext>
            </a:extLst>
          </p:cNvPr>
          <p:cNvSpPr>
            <a:spLocks xmlns:a="http://schemas.openxmlformats.org/drawingml/2006/main" noGrp="1"/>
          </p:cNvSpPr>
          <p:nvPr/>
        </p:nvSpPr>
        <p:spPr>
          <a:xfrm xmlns:a="http://schemas.openxmlformats.org/drawingml/2006/main">
            <a:off x="7620000" y="48196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5C1CB18-19FB-4D4F-ADF4-5B21A0325BBD}"/>
              </a:ext>
            </a:extLst>
          </p:cNvPr>
          <p:cNvSpPr>
            <a:spLocks xmlns:a="http://schemas.openxmlformats.org/drawingml/2006/main" noGrp="1"/>
          </p:cNvSpPr>
          <p:nvPr/>
        </p:nvSpPr>
        <p:spPr>
          <a:xfrm xmlns:a="http://schemas.openxmlformats.org/drawingml/2006/main">
            <a:off x="77914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document identifiers.</a:t>
            </a:r>
          </a:p>
        </p:txBody>
      </p:sp>
    </p:spTree>
    <p:extLst>
      <p:ext uri="{BB962C8B-B14F-4D97-AF65-F5344CB8AC3E}">
        <p14:creationId xmlns:p14="http://schemas.microsoft.com/office/powerpoint/2010/main" val="114637471"/>
      </p:ext>
    </p:extLst>
  </p:cSld>
</p:sld>
</file>

<file path=ppt/slides/slide3.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4AED0AD-D0AC-44DC-A3C1-44FA2161C2D3}"/>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M15 / L01</a:t>
            </a:r>
          </a:p>
        </p:txBody>
      </p:sp>
      <p:sp>
        <p:nvSpPr>
          <p:cNvPr id="2" name="">
            <a:extLst xmlns:a="http://schemas.openxmlformats.org/drawingml/2006/main">
              <a:ext uri="{FF2B5EF4-FFF2-40B4-BE49-F238E27FC236}">
                <a16:creationId xmlns:a16="http://schemas.microsoft.com/office/drawing/2014/main" id="{4934AF10-BD81-441C-BF7D-D7509AC379A0}"/>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RAG Supplies Evidence at Request Time</a:t>
            </a:r>
          </a:p>
        </p:txBody>
      </p:sp>
      <p:sp>
        <p:nvSpPr>
          <p:cNvPr id="3" name="">
            <a:extLst xmlns:a="http://schemas.openxmlformats.org/drawingml/2006/main">
              <a:ext uri="{FF2B5EF4-FFF2-40B4-BE49-F238E27FC236}">
                <a16:creationId xmlns:a16="http://schemas.microsoft.com/office/drawing/2014/main" id="{DD15618C-04FC-4B1C-9BFA-B04EDB8789E6}"/>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03</a:t>
            </a:r>
          </a:p>
        </p:txBody>
      </p:sp>
      <p:sp>
        <p:nvSpPr>
          <p:cNvPr id="4" name="">
            <a:extLst xmlns:a="http://schemas.openxmlformats.org/drawingml/2006/main">
              <a:ext uri="{FF2B5EF4-FFF2-40B4-BE49-F238E27FC236}">
                <a16:creationId xmlns:a16="http://schemas.microsoft.com/office/drawing/2014/main" id="{DF35F1A5-8D88-4A01-B691-FCC5648A1AF5}"/>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32C1D44A-A803-478F-A422-4FDA74670A56}"/>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Cleaning Must Preserve Provenance</a:t>
            </a:r>
          </a:p>
        </p:txBody>
      </p:sp>
      <p:sp>
        <p:nvSpPr>
          <p:cNvPr id="6" name="">
            <a:extLst xmlns:a="http://schemas.openxmlformats.org/drawingml/2006/main">
              <a:ext uri="{FF2B5EF4-FFF2-40B4-BE49-F238E27FC236}">
                <a16:creationId xmlns:a16="http://schemas.microsoft.com/office/drawing/2014/main" id="{BFC98A41-EEA9-470E-99AF-AE2AF5A4D0C5}"/>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0487715-3A21-48F6-B841-29EB5C7CFC84}"/>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5D2F6E4-C129-40EA-B8A4-1BA1B240BFB2}"/>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6B04D3E-261A-4677-A1CE-463E6BCEE874}"/>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E5249DA-EA2C-40F3-B8CF-3A818440A4FB}"/>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A904926-251B-4263-BA0E-0F720E62E473}"/>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chunk.metadata = {</a:t>
            </a:r>
          </a:p>
          <a:p xmlns:a="http://schemas.openxmlformats.org/drawingml/2006/main">
            <a:pPr>
              <a:defRPr sz="1125">
                <a:solidFill>
                  <a:srgbClr val="E8F1F7"/>
                </a:solidFill>
              </a:defRPr>
            </a:pPr>
            <a:r>
              <a:rPr sz="1125">
                <a:solidFill>
                  <a:srgbClr val="E8F1F7"/>
                </a:solidFill>
              </a:rPr>
              <a:t>    "source_id": "policy-2026-v3",</a:t>
            </a:r>
          </a:p>
          <a:p xmlns:a="http://schemas.openxmlformats.org/drawingml/2006/main">
            <a:pPr>
              <a:defRPr sz="1125">
                <a:solidFill>
                  <a:srgbClr val="E8F1F7"/>
                </a:solidFill>
              </a:defRPr>
            </a:pPr>
            <a:r>
              <a:rPr sz="1125">
                <a:solidFill>
                  <a:srgbClr val="E8F1F7"/>
                </a:solidFill>
              </a:rPr>
              <a:t>    "page": 7,</a:t>
            </a:r>
          </a:p>
          <a:p xmlns:a="http://schemas.openxmlformats.org/drawingml/2006/main">
            <a:pPr>
              <a:defRPr sz="1125">
                <a:solidFill>
                  <a:srgbClr val="E8F1F7"/>
                </a:solidFill>
              </a:defRPr>
            </a:pPr>
            <a:r>
              <a:rPr sz="1125">
                <a:solidFill>
                  <a:srgbClr val="E8F1F7"/>
                </a:solidFill>
              </a:rPr>
              <a:t>    "section": "Refunds",</a:t>
            </a:r>
          </a:p>
          <a:p xmlns:a="http://schemas.openxmlformats.org/drawingml/2006/main">
            <a:pPr>
              <a:defRPr sz="1125">
                <a:solidFill>
                  <a:srgbClr val="E8F1F7"/>
                </a:solidFill>
              </a:defRPr>
            </a:pPr>
            <a:r>
              <a:rPr sz="1125">
                <a:solidFill>
                  <a:srgbClr val="E8F1F7"/>
                </a:solidFill>
              </a:rPr>
              <a:t>}</a:t>
            </a:r>
          </a:p>
        </p:txBody>
      </p:sp>
      <p:sp>
        <p:nvSpPr>
          <p:cNvPr id="12" name="">
            <a:extLst xmlns:a="http://schemas.openxmlformats.org/drawingml/2006/main">
              <a:ext uri="{FF2B5EF4-FFF2-40B4-BE49-F238E27FC236}">
                <a16:creationId xmlns:a16="http://schemas.microsoft.com/office/drawing/2014/main" id="{3BAF65F7-56EE-4583-99D0-A25AAA03B82F}"/>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D7EA25AB-E52A-4182-AFF0-8BB3F41D7871}"/>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DAB278E4-46AC-411C-9AC9-FF6D8489AC86}"/>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Each future retrieval result can identify its exact source location.</a:t>
            </a:r>
          </a:p>
        </p:txBody>
      </p:sp>
      <p:sp>
        <p:nvSpPr>
          <p:cNvPr id="15" name="">
            <a:extLst xmlns:a="http://schemas.openxmlformats.org/drawingml/2006/main">
              <a:ext uri="{FF2B5EF4-FFF2-40B4-BE49-F238E27FC236}">
                <a16:creationId xmlns:a16="http://schemas.microsoft.com/office/drawing/2014/main" id="{53F886EB-EC5D-4520-BDEC-3D724145D5A7}"/>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7BDDCCE-4D79-473A-B81D-AA1353E0610C}"/>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Removing exact repeated headers is reasonable. Removing every line containing Policy may delete real content. Record the cleaning rule and compare before/after counts.</a:t>
            </a:r>
          </a:p>
        </p:txBody>
      </p:sp>
    </p:spTree>
    <p:extLst>
      <p:ext uri="{BB962C8B-B14F-4D97-AF65-F5344CB8AC3E}">
        <p14:creationId xmlns:p14="http://schemas.microsoft.com/office/powerpoint/2010/main" val="1349697443"/>
      </p:ext>
    </p:extLst>
  </p:cSld>
</p:sld>
</file>

<file path=ppt/slides/slide4.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FB965E6-4A36-4313-94E0-0B1D7C2553E0}"/>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M15 / L01</a:t>
            </a:r>
          </a:p>
        </p:txBody>
      </p:sp>
      <p:sp>
        <p:nvSpPr>
          <p:cNvPr id="2" name="">
            <a:extLst xmlns:a="http://schemas.openxmlformats.org/drawingml/2006/main">
              <a:ext uri="{FF2B5EF4-FFF2-40B4-BE49-F238E27FC236}">
                <a16:creationId xmlns:a16="http://schemas.microsoft.com/office/drawing/2014/main" id="{E6766A1B-7560-4B6B-8993-0D5412CD64FB}"/>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RAG Supplies Evidence at Request Time</a:t>
            </a:r>
          </a:p>
        </p:txBody>
      </p:sp>
      <p:sp>
        <p:nvSpPr>
          <p:cNvPr id="3" name="">
            <a:extLst xmlns:a="http://schemas.openxmlformats.org/drawingml/2006/main">
              <a:ext uri="{FF2B5EF4-FFF2-40B4-BE49-F238E27FC236}">
                <a16:creationId xmlns:a16="http://schemas.microsoft.com/office/drawing/2014/main" id="{6654772C-EA23-46E3-BE99-72D511549D99}"/>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04</a:t>
            </a:r>
          </a:p>
        </p:txBody>
      </p:sp>
      <p:sp>
        <p:nvSpPr>
          <p:cNvPr id="4" name="">
            <a:extLst xmlns:a="http://schemas.openxmlformats.org/drawingml/2006/main">
              <a:ext uri="{FF2B5EF4-FFF2-40B4-BE49-F238E27FC236}">
                <a16:creationId xmlns:a16="http://schemas.microsoft.com/office/drawing/2014/main" id="{02606E9D-CDFA-4CC4-A1E3-7675F9B0CB47}"/>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REASONING SEQUENCE</a:t>
            </a:r>
          </a:p>
        </p:txBody>
      </p:sp>
      <p:sp>
        <p:nvSpPr>
          <p:cNvPr id="5" name="">
            <a:extLst xmlns:a="http://schemas.openxmlformats.org/drawingml/2006/main">
              <a:ext uri="{FF2B5EF4-FFF2-40B4-BE49-F238E27FC236}">
                <a16:creationId xmlns:a16="http://schemas.microsoft.com/office/drawing/2014/main" id="{2C6F7DBD-5833-4540-AD2F-809FD522480E}"/>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Chunking Defines the Unit of Retrieval</a:t>
            </a:r>
          </a:p>
        </p:txBody>
      </p:sp>
      <p:sp>
        <p:nvSpPr>
          <p:cNvPr id="6" name="">
            <a:extLst xmlns:a="http://schemas.openxmlformats.org/drawingml/2006/main">
              <a:ext uri="{FF2B5EF4-FFF2-40B4-BE49-F238E27FC236}">
                <a16:creationId xmlns:a16="http://schemas.microsoft.com/office/drawing/2014/main" id="{8C806E8A-6482-463B-959E-40CB90BCD043}"/>
              </a:ext>
            </a:extLst>
          </p:cNvPr>
          <p:cNvSpPr>
            <a:spLocks xmlns:a="http://schemas.openxmlformats.org/drawingml/2006/main" noGrp="1"/>
          </p:cNvSpPr>
          <p:nvPr/>
        </p:nvSpPr>
        <p:spPr>
          <a:xfrm xmlns:a="http://schemas.openxmlformats.org/drawingml/2006/main">
            <a:off x="5905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Frame</a:t>
            </a:r>
          </a:p>
        </p:txBody>
      </p:sp>
      <p:sp>
        <p:nvSpPr>
          <p:cNvPr id="7" name="">
            <a:extLst xmlns:a="http://schemas.openxmlformats.org/drawingml/2006/main">
              <a:ext uri="{FF2B5EF4-FFF2-40B4-BE49-F238E27FC236}">
                <a16:creationId xmlns:a16="http://schemas.microsoft.com/office/drawing/2014/main" id="{85DD8321-94A2-4D05-B2F3-51A630B52FA2}"/>
              </a:ext>
            </a:extLst>
          </p:cNvPr>
          <p:cNvSpPr>
            <a:spLocks xmlns:a="http://schemas.openxmlformats.org/drawingml/2006/main" noGrp="1"/>
          </p:cNvSpPr>
          <p:nvPr/>
        </p:nvSpPr>
        <p:spPr>
          <a:xfrm xmlns:a="http://schemas.openxmlformats.org/drawingml/2006/main">
            <a:off x="5905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whether a complete idea stays together;</a:t>
            </a:r>
          </a:p>
        </p:txBody>
      </p:sp>
      <p:sp>
        <p:nvSpPr>
          <p:cNvPr id="8" name="">
            <a:extLst xmlns:a="http://schemas.openxmlformats.org/drawingml/2006/main">
              <a:ext uri="{FF2B5EF4-FFF2-40B4-BE49-F238E27FC236}">
                <a16:creationId xmlns:a16="http://schemas.microsoft.com/office/drawing/2014/main" id="{A6E8DB66-D795-4EA9-B7F6-F4BED002C0CA}"/>
              </a:ext>
            </a:extLst>
          </p:cNvPr>
          <p:cNvSpPr>
            <a:spLocks xmlns:a="http://schemas.openxmlformats.org/drawingml/2006/main" noGrp="1"/>
          </p:cNvSpPr>
          <p:nvPr/>
        </p:nvSpPr>
        <p:spPr>
          <a:xfrm xmlns:a="http://schemas.openxmlformats.org/drawingml/2006/main">
            <a:off x="5905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33166A6-1C9E-4A94-8F47-81B4027741D3}"/>
              </a:ext>
            </a:extLst>
          </p:cNvPr>
          <p:cNvSpPr>
            <a:spLocks xmlns:a="http://schemas.openxmlformats.org/drawingml/2006/main" noGrp="1"/>
          </p:cNvSpPr>
          <p:nvPr/>
        </p:nvSpPr>
        <p:spPr>
          <a:xfrm xmlns:a="http://schemas.openxmlformats.org/drawingml/2006/main">
            <a:off x="5905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1</a:t>
            </a:r>
          </a:p>
        </p:txBody>
      </p:sp>
      <p:sp>
        <p:nvSpPr>
          <p:cNvPr id="10" name="">
            <a:extLst xmlns:a="http://schemas.openxmlformats.org/drawingml/2006/main">
              <a:ext uri="{FF2B5EF4-FFF2-40B4-BE49-F238E27FC236}">
                <a16:creationId xmlns:a16="http://schemas.microsoft.com/office/drawing/2014/main" id="{7714D9DD-BDD1-43BB-BC3E-C9A6FBB3A0F8}"/>
              </a:ext>
            </a:extLst>
          </p:cNvPr>
          <p:cNvSpPr>
            <a:spLocks xmlns:a="http://schemas.openxmlformats.org/drawingml/2006/main" noGrp="1"/>
          </p:cNvSpPr>
          <p:nvPr/>
        </p:nvSpPr>
        <p:spPr>
          <a:xfrm xmlns:a="http://schemas.openxmlformats.org/drawingml/2006/main">
            <a:off x="34099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Transform</a:t>
            </a:r>
          </a:p>
        </p:txBody>
      </p:sp>
      <p:sp>
        <p:nvSpPr>
          <p:cNvPr id="11" name="">
            <a:extLst xmlns:a="http://schemas.openxmlformats.org/drawingml/2006/main">
              <a:ext uri="{FF2B5EF4-FFF2-40B4-BE49-F238E27FC236}">
                <a16:creationId xmlns:a16="http://schemas.microsoft.com/office/drawing/2014/main" id="{C34E0EFC-3FDB-4E4C-8EB4-3C93813B8C00}"/>
              </a:ext>
            </a:extLst>
          </p:cNvPr>
          <p:cNvSpPr>
            <a:spLocks xmlns:a="http://schemas.openxmlformats.org/drawingml/2006/main" noGrp="1"/>
          </p:cNvSpPr>
          <p:nvPr/>
        </p:nvSpPr>
        <p:spPr>
          <a:xfrm xmlns:a="http://schemas.openxmlformats.org/drawingml/2006/main">
            <a:off x="34099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embedding specificity;</a:t>
            </a:r>
          </a:p>
        </p:txBody>
      </p:sp>
      <p:sp>
        <p:nvSpPr>
          <p:cNvPr id="12" name="">
            <a:extLst xmlns:a="http://schemas.openxmlformats.org/drawingml/2006/main">
              <a:ext uri="{FF2B5EF4-FFF2-40B4-BE49-F238E27FC236}">
                <a16:creationId xmlns:a16="http://schemas.microsoft.com/office/drawing/2014/main" id="{15A4742C-26DD-4972-9F90-7BD2047181D1}"/>
              </a:ext>
            </a:extLst>
          </p:cNvPr>
          <p:cNvSpPr>
            <a:spLocks xmlns:a="http://schemas.openxmlformats.org/drawingml/2006/main" noGrp="1"/>
          </p:cNvSpPr>
          <p:nvPr/>
        </p:nvSpPr>
        <p:spPr>
          <a:xfrm xmlns:a="http://schemas.openxmlformats.org/drawingml/2006/main">
            <a:off x="34099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676AC70-7732-43A5-9F4B-3CDEDFFA987F}"/>
              </a:ext>
            </a:extLst>
          </p:cNvPr>
          <p:cNvSpPr>
            <a:spLocks xmlns:a="http://schemas.openxmlformats.org/drawingml/2006/main" noGrp="1"/>
          </p:cNvSpPr>
          <p:nvPr/>
        </p:nvSpPr>
        <p:spPr>
          <a:xfrm xmlns:a="http://schemas.openxmlformats.org/drawingml/2006/main">
            <a:off x="34099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2</a:t>
            </a:r>
          </a:p>
        </p:txBody>
      </p:sp>
      <p:sp>
        <p:nvSpPr>
          <p:cNvPr id="14" name="">
            <a:extLst xmlns:a="http://schemas.openxmlformats.org/drawingml/2006/main">
              <a:ext uri="{FF2B5EF4-FFF2-40B4-BE49-F238E27FC236}">
                <a16:creationId xmlns:a16="http://schemas.microsoft.com/office/drawing/2014/main" id="{BDCD568C-8264-4A8F-B344-F98AEE75BF1A}"/>
              </a:ext>
            </a:extLst>
          </p:cNvPr>
          <p:cNvSpPr>
            <a:spLocks xmlns:a="http://schemas.openxmlformats.org/drawingml/2006/main" noGrp="1"/>
          </p:cNvSpPr>
          <p:nvPr/>
        </p:nvSpPr>
        <p:spPr>
          <a:xfrm xmlns:a="http://schemas.openxmlformats.org/drawingml/2006/main">
            <a:off x="62293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Validate</a:t>
            </a:r>
          </a:p>
        </p:txBody>
      </p:sp>
      <p:sp>
        <p:nvSpPr>
          <p:cNvPr id="15" name="">
            <a:extLst xmlns:a="http://schemas.openxmlformats.org/drawingml/2006/main">
              <a:ext uri="{FF2B5EF4-FFF2-40B4-BE49-F238E27FC236}">
                <a16:creationId xmlns:a16="http://schemas.microsoft.com/office/drawing/2014/main" id="{5AAEB677-1768-4BBF-83EA-5421010DC525}"/>
              </a:ext>
            </a:extLst>
          </p:cNvPr>
          <p:cNvSpPr>
            <a:spLocks xmlns:a="http://schemas.openxmlformats.org/drawingml/2006/main" noGrp="1"/>
          </p:cNvSpPr>
          <p:nvPr/>
        </p:nvSpPr>
        <p:spPr>
          <a:xfrm xmlns:a="http://schemas.openxmlformats.org/drawingml/2006/main">
            <a:off x="62293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retrieval recall;</a:t>
            </a:r>
          </a:p>
        </p:txBody>
      </p:sp>
      <p:sp>
        <p:nvSpPr>
          <p:cNvPr id="16" name="">
            <a:extLst xmlns:a="http://schemas.openxmlformats.org/drawingml/2006/main">
              <a:ext uri="{FF2B5EF4-FFF2-40B4-BE49-F238E27FC236}">
                <a16:creationId xmlns:a16="http://schemas.microsoft.com/office/drawing/2014/main" id="{F8B17AD9-AA3D-431A-8ADD-0E7C0B118470}"/>
              </a:ext>
            </a:extLst>
          </p:cNvPr>
          <p:cNvSpPr>
            <a:spLocks xmlns:a="http://schemas.openxmlformats.org/drawingml/2006/main" noGrp="1"/>
          </p:cNvSpPr>
          <p:nvPr/>
        </p:nvSpPr>
        <p:spPr>
          <a:xfrm xmlns:a="http://schemas.openxmlformats.org/drawingml/2006/main">
            <a:off x="62293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BAE123E-D593-41A6-9656-E8B806AB772D}"/>
              </a:ext>
            </a:extLst>
          </p:cNvPr>
          <p:cNvSpPr>
            <a:spLocks xmlns:a="http://schemas.openxmlformats.org/drawingml/2006/main" noGrp="1"/>
          </p:cNvSpPr>
          <p:nvPr/>
        </p:nvSpPr>
        <p:spPr>
          <a:xfrm xmlns:a="http://schemas.openxmlformats.org/drawingml/2006/main">
            <a:off x="62293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3</a:t>
            </a:r>
          </a:p>
        </p:txBody>
      </p:sp>
      <p:sp>
        <p:nvSpPr>
          <p:cNvPr id="18" name="">
            <a:extLst xmlns:a="http://schemas.openxmlformats.org/drawingml/2006/main">
              <a:ext uri="{FF2B5EF4-FFF2-40B4-BE49-F238E27FC236}">
                <a16:creationId xmlns:a16="http://schemas.microsoft.com/office/drawing/2014/main" id="{C80F974E-D8DE-4063-82B1-91302600B017}"/>
              </a:ext>
            </a:extLst>
          </p:cNvPr>
          <p:cNvSpPr>
            <a:spLocks xmlns:a="http://schemas.openxmlformats.org/drawingml/2006/main" noGrp="1"/>
          </p:cNvSpPr>
          <p:nvPr/>
        </p:nvSpPr>
        <p:spPr>
          <a:xfrm xmlns:a="http://schemas.openxmlformats.org/drawingml/2006/main">
            <a:off x="90487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F06B5F"/>
                </a:solidFill>
              </a:defRPr>
            </a:pPr>
            <a:r>
              <a:rPr sz="2025" b="1">
                <a:solidFill>
                  <a:srgbClr val="F06B5F"/>
                </a:solidFill>
              </a:rPr>
              <a:t>Explain</a:t>
            </a:r>
          </a:p>
        </p:txBody>
      </p:sp>
      <p:sp>
        <p:nvSpPr>
          <p:cNvPr id="19" name="">
            <a:extLst xmlns:a="http://schemas.openxmlformats.org/drawingml/2006/main">
              <a:ext uri="{FF2B5EF4-FFF2-40B4-BE49-F238E27FC236}">
                <a16:creationId xmlns:a16="http://schemas.microsoft.com/office/drawing/2014/main" id="{5F04887B-B46A-4083-8487-C3053A750438}"/>
              </a:ext>
            </a:extLst>
          </p:cNvPr>
          <p:cNvSpPr>
            <a:spLocks xmlns:a="http://schemas.openxmlformats.org/drawingml/2006/main" noGrp="1"/>
          </p:cNvSpPr>
          <p:nvPr/>
        </p:nvSpPr>
        <p:spPr>
          <a:xfrm xmlns:a="http://schemas.openxmlformats.org/drawingml/2006/main">
            <a:off x="90487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prompt size;</a:t>
            </a:r>
          </a:p>
        </p:txBody>
      </p:sp>
      <p:sp>
        <p:nvSpPr>
          <p:cNvPr id="20" name="">
            <a:extLst xmlns:a="http://schemas.openxmlformats.org/drawingml/2006/main">
              <a:ext uri="{FF2B5EF4-FFF2-40B4-BE49-F238E27FC236}">
                <a16:creationId xmlns:a16="http://schemas.microsoft.com/office/drawing/2014/main" id="{8924BB66-78DA-4632-81DB-6E2530C764B2}"/>
              </a:ext>
            </a:extLst>
          </p:cNvPr>
          <p:cNvSpPr>
            <a:spLocks xmlns:a="http://schemas.openxmlformats.org/drawingml/2006/main" noGrp="1"/>
          </p:cNvSpPr>
          <p:nvPr/>
        </p:nvSpPr>
        <p:spPr>
          <a:xfrm xmlns:a="http://schemas.openxmlformats.org/drawingml/2006/main">
            <a:off x="9048750" y="3752850"/>
            <a:ext cx="2190750" cy="381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8C65B67-B491-4D5C-97D5-6070C9952A6F}"/>
              </a:ext>
            </a:extLst>
          </p:cNvPr>
          <p:cNvSpPr>
            <a:spLocks xmlns:a="http://schemas.openxmlformats.org/drawingml/2006/main" noGrp="1"/>
          </p:cNvSpPr>
          <p:nvPr/>
        </p:nvSpPr>
        <p:spPr>
          <a:xfrm xmlns:a="http://schemas.openxmlformats.org/drawingml/2006/main">
            <a:off x="90487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4</a:t>
            </a:r>
          </a:p>
        </p:txBody>
      </p:sp>
      <p:sp>
        <p:nvSpPr>
          <p:cNvPr id="22" name="">
            <a:extLst xmlns:a="http://schemas.openxmlformats.org/drawingml/2006/main">
              <a:ext uri="{FF2B5EF4-FFF2-40B4-BE49-F238E27FC236}">
                <a16:creationId xmlns:a16="http://schemas.microsoft.com/office/drawing/2014/main" id="{6443B93E-3FA3-4A1C-8E83-D7420FF72CAF}"/>
              </a:ext>
            </a:extLst>
          </p:cNvPr>
          <p:cNvSpPr>
            <a:spLocks xmlns:a="http://schemas.openxmlformats.org/drawingml/2006/main" noGrp="1"/>
          </p:cNvSpPr>
          <p:nvPr/>
        </p:nvSpPr>
        <p:spPr>
          <a:xfrm xmlns:a="http://schemas.openxmlformats.org/drawingml/2006/main">
            <a:off x="590550" y="5181600"/>
            <a:ext cx="1057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D1DEE8"/>
                </a:solidFill>
              </a:defRPr>
            </a:pPr>
            <a:r>
              <a:rPr sz="1500">
                <a:solidFill>
                  <a:srgbClr val="D1DEE8"/>
                </a:solidFill>
              </a:rPr>
              <a:t>A 900-token section becomes: The second keeps boundary context but may retrieve repeated statements.</a:t>
            </a:r>
          </a:p>
        </p:txBody>
      </p:sp>
    </p:spTree>
    <p:extLst>
      <p:ext uri="{BB962C8B-B14F-4D97-AF65-F5344CB8AC3E}">
        <p14:creationId xmlns:p14="http://schemas.microsoft.com/office/powerpoint/2010/main" val="1887546669"/>
      </p:ext>
    </p:extLst>
  </p:cSld>
</p:sld>
</file>

<file path=ppt/slides/slide5.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D138C63-5AC2-4D3A-915A-026F5FE07C87}"/>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M15 / L01</a:t>
            </a:r>
          </a:p>
        </p:txBody>
      </p:sp>
      <p:sp>
        <p:nvSpPr>
          <p:cNvPr id="2" name="">
            <a:extLst xmlns:a="http://schemas.openxmlformats.org/drawingml/2006/main">
              <a:ext uri="{FF2B5EF4-FFF2-40B4-BE49-F238E27FC236}">
                <a16:creationId xmlns:a16="http://schemas.microsoft.com/office/drawing/2014/main" id="{69BFDB79-501F-4D89-9516-6B753E9256EB}"/>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RAG Supplies Evidence at Request Time</a:t>
            </a:r>
          </a:p>
        </p:txBody>
      </p:sp>
      <p:sp>
        <p:nvSpPr>
          <p:cNvPr id="3" name="">
            <a:extLst xmlns:a="http://schemas.openxmlformats.org/drawingml/2006/main">
              <a:ext uri="{FF2B5EF4-FFF2-40B4-BE49-F238E27FC236}">
                <a16:creationId xmlns:a16="http://schemas.microsoft.com/office/drawing/2014/main" id="{CDC17094-CAEC-41DB-9245-78CAABEEF0F3}"/>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05</a:t>
            </a:r>
          </a:p>
        </p:txBody>
      </p:sp>
      <p:sp>
        <p:nvSpPr>
          <p:cNvPr id="4" name="">
            <a:extLst xmlns:a="http://schemas.openxmlformats.org/drawingml/2006/main">
              <a:ext uri="{FF2B5EF4-FFF2-40B4-BE49-F238E27FC236}">
                <a16:creationId xmlns:a16="http://schemas.microsoft.com/office/drawing/2014/main" id="{C31C0D77-547C-43A8-B07F-F16EE75F0499}"/>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CORE CONCEPT</a:t>
            </a:r>
          </a:p>
        </p:txBody>
      </p:sp>
      <p:sp>
        <p:nvSpPr>
          <p:cNvPr id="5" name="">
            <a:extLst xmlns:a="http://schemas.openxmlformats.org/drawingml/2006/main">
              <a:ext uri="{FF2B5EF4-FFF2-40B4-BE49-F238E27FC236}">
                <a16:creationId xmlns:a16="http://schemas.microsoft.com/office/drawing/2014/main" id="{23221286-61C6-4458-828A-DE59680DE48E}"/>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Embeddings Place Chunks and Queries in One Vector Space</a:t>
            </a:r>
          </a:p>
        </p:txBody>
      </p:sp>
      <p:sp>
        <p:nvSpPr>
          <p:cNvPr id="6" name="">
            <a:extLst xmlns:a="http://schemas.openxmlformats.org/drawingml/2006/main">
              <a:ext uri="{FF2B5EF4-FFF2-40B4-BE49-F238E27FC236}">
                <a16:creationId xmlns:a16="http://schemas.microsoft.com/office/drawing/2014/main" id="{B3AEBA35-8D0B-45A7-ACEC-D531DB9E8679}"/>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F8859B9-AA68-437C-B68D-3FF945BF8B0D}"/>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D6E2EB"/>
                </a:solidFill>
              </a:defRPr>
            </a:pPr>
            <a:r>
              <a:rPr sz="1575">
                <a:solidFill>
                  <a:srgbClr val="D6E2EB"/>
                </a:solidFill>
              </a:rPr>
              <a:t>An embedding model maps text into a fixed-length vector. For vector retrieval: Changing embedding model usually requires rebuilding the stored index.</a:t>
            </a:r>
          </a:p>
        </p:txBody>
      </p:sp>
      <p:sp>
        <p:nvSpPr>
          <p:cNvPr id="8" name="">
            <a:extLst xmlns:a="http://schemas.openxmlformats.org/drawingml/2006/main">
              <a:ext uri="{FF2B5EF4-FFF2-40B4-BE49-F238E27FC236}">
                <a16:creationId xmlns:a16="http://schemas.microsoft.com/office/drawing/2014/main" id="{9496F984-2B62-4127-83DD-29913E6CA714}"/>
              </a:ext>
            </a:extLst>
          </p:cNvPr>
          <p:cNvSpPr>
            <a:spLocks xmlns:a="http://schemas.openxmlformats.org/drawingml/2006/main" noGrp="1"/>
          </p:cNvSpPr>
          <p:nvPr/>
        </p:nvSpPr>
        <p:spPr>
          <a:xfrm xmlns:a="http://schemas.openxmlformats.org/drawingml/2006/main">
            <a:off x="6096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787564E-0288-4959-9782-AD7D3058993C}"/>
              </a:ext>
            </a:extLst>
          </p:cNvPr>
          <p:cNvSpPr>
            <a:spLocks xmlns:a="http://schemas.openxmlformats.org/drawingml/2006/main" noGrp="1"/>
          </p:cNvSpPr>
          <p:nvPr/>
        </p:nvSpPr>
        <p:spPr>
          <a:xfrm xmlns:a="http://schemas.openxmlformats.org/drawingml/2006/main">
            <a:off x="7810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embed every document chunk;</a:t>
            </a:r>
          </a:p>
        </p:txBody>
      </p:sp>
      <p:sp>
        <p:nvSpPr>
          <p:cNvPr id="10" name="">
            <a:extLst xmlns:a="http://schemas.openxmlformats.org/drawingml/2006/main">
              <a:ext uri="{FF2B5EF4-FFF2-40B4-BE49-F238E27FC236}">
                <a16:creationId xmlns:a16="http://schemas.microsoft.com/office/drawing/2014/main" id="{58711F2D-06FB-43D1-B330-B00A7A34564A}"/>
              </a:ext>
            </a:extLst>
          </p:cNvPr>
          <p:cNvSpPr>
            <a:spLocks xmlns:a="http://schemas.openxmlformats.org/drawingml/2006/main" noGrp="1"/>
          </p:cNvSpPr>
          <p:nvPr/>
        </p:nvSpPr>
        <p:spPr>
          <a:xfrm xmlns:a="http://schemas.openxmlformats.org/drawingml/2006/main">
            <a:off x="41148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3B5071-F40E-4F72-94F7-335BD621D107}"/>
              </a:ext>
            </a:extLst>
          </p:cNvPr>
          <p:cNvSpPr>
            <a:spLocks xmlns:a="http://schemas.openxmlformats.org/drawingml/2006/main" noGrp="1"/>
          </p:cNvSpPr>
          <p:nvPr/>
        </p:nvSpPr>
        <p:spPr>
          <a:xfrm xmlns:a="http://schemas.openxmlformats.org/drawingml/2006/main">
            <a:off x="42862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store chunk vector plus text and metadata;</a:t>
            </a:r>
          </a:p>
        </p:txBody>
      </p:sp>
      <p:sp>
        <p:nvSpPr>
          <p:cNvPr id="12" name="">
            <a:extLst xmlns:a="http://schemas.openxmlformats.org/drawingml/2006/main">
              <a:ext uri="{FF2B5EF4-FFF2-40B4-BE49-F238E27FC236}">
                <a16:creationId xmlns:a16="http://schemas.microsoft.com/office/drawing/2014/main" id="{1BC4DAEC-EFD5-46AA-AD3C-302BE1CC4E7B}"/>
              </a:ext>
            </a:extLst>
          </p:cNvPr>
          <p:cNvSpPr>
            <a:spLocks xmlns:a="http://schemas.openxmlformats.org/drawingml/2006/main" noGrp="1"/>
          </p:cNvSpPr>
          <p:nvPr/>
        </p:nvSpPr>
        <p:spPr>
          <a:xfrm xmlns:a="http://schemas.openxmlformats.org/drawingml/2006/main">
            <a:off x="76200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FF13FB2-1C4D-4614-A656-1D226167CD2F}"/>
              </a:ext>
            </a:extLst>
          </p:cNvPr>
          <p:cNvSpPr>
            <a:spLocks xmlns:a="http://schemas.openxmlformats.org/drawingml/2006/main" noGrp="1"/>
          </p:cNvSpPr>
          <p:nvPr/>
        </p:nvSpPr>
        <p:spPr>
          <a:xfrm xmlns:a="http://schemas.openxmlformats.org/drawingml/2006/main">
            <a:off x="77914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embed the user query with the same compatible model;</a:t>
            </a:r>
          </a:p>
        </p:txBody>
      </p:sp>
      <p:sp>
        <p:nvSpPr>
          <p:cNvPr id="14" name="">
            <a:extLst xmlns:a="http://schemas.openxmlformats.org/drawingml/2006/main">
              <a:ext uri="{FF2B5EF4-FFF2-40B4-BE49-F238E27FC236}">
                <a16:creationId xmlns:a16="http://schemas.microsoft.com/office/drawing/2014/main" id="{B0723957-B7ED-4878-8537-C1DEF8D5AF9F}"/>
              </a:ext>
            </a:extLst>
          </p:cNvPr>
          <p:cNvSpPr>
            <a:spLocks xmlns:a="http://schemas.openxmlformats.org/drawingml/2006/main" noGrp="1"/>
          </p:cNvSpPr>
          <p:nvPr/>
        </p:nvSpPr>
        <p:spPr>
          <a:xfrm xmlns:a="http://schemas.openxmlformats.org/drawingml/2006/main">
            <a:off x="6096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D903E35-7405-4E07-AA77-572C8DCF29DE}"/>
              </a:ext>
            </a:extLst>
          </p:cNvPr>
          <p:cNvSpPr>
            <a:spLocks xmlns:a="http://schemas.openxmlformats.org/drawingml/2006/main" noGrp="1"/>
          </p:cNvSpPr>
          <p:nvPr/>
        </p:nvSpPr>
        <p:spPr>
          <a:xfrm xmlns:a="http://schemas.openxmlformats.org/drawingml/2006/main">
            <a:off x="7810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compare the query vector with chunk vectors;</a:t>
            </a:r>
          </a:p>
        </p:txBody>
      </p:sp>
      <p:sp>
        <p:nvSpPr>
          <p:cNvPr id="16" name="">
            <a:extLst xmlns:a="http://schemas.openxmlformats.org/drawingml/2006/main">
              <a:ext uri="{FF2B5EF4-FFF2-40B4-BE49-F238E27FC236}">
                <a16:creationId xmlns:a16="http://schemas.microsoft.com/office/drawing/2014/main" id="{7F3A920A-D10D-46CA-BDBF-80934C554E04}"/>
              </a:ext>
            </a:extLst>
          </p:cNvPr>
          <p:cNvSpPr>
            <a:spLocks xmlns:a="http://schemas.openxmlformats.org/drawingml/2006/main" noGrp="1"/>
          </p:cNvSpPr>
          <p:nvPr/>
        </p:nvSpPr>
        <p:spPr>
          <a:xfrm xmlns:a="http://schemas.openxmlformats.org/drawingml/2006/main">
            <a:off x="41148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0F58165-931D-4499-8E0B-6E8D15134E62}"/>
              </a:ext>
            </a:extLst>
          </p:cNvPr>
          <p:cNvSpPr>
            <a:spLocks xmlns:a="http://schemas.openxmlformats.org/drawingml/2006/main" noGrp="1"/>
          </p:cNvSpPr>
          <p:nvPr/>
        </p:nvSpPr>
        <p:spPr>
          <a:xfrm xmlns:a="http://schemas.openxmlformats.org/drawingml/2006/main">
            <a:off x="42862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return the highest-ranked allowed chunks.</a:t>
            </a:r>
          </a:p>
        </p:txBody>
      </p:sp>
    </p:spTree>
    <p:extLst>
      <p:ext uri="{BB962C8B-B14F-4D97-AF65-F5344CB8AC3E}">
        <p14:creationId xmlns:p14="http://schemas.microsoft.com/office/powerpoint/2010/main" val="226262506"/>
      </p:ext>
    </p:extLst>
  </p:cSld>
</p:sld>
</file>

<file path=ppt/slides/slide6.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8B66F98-7CB5-4323-A084-EED12CF32E9B}"/>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M15 / L01</a:t>
            </a:r>
          </a:p>
        </p:txBody>
      </p:sp>
      <p:sp>
        <p:nvSpPr>
          <p:cNvPr id="2" name="">
            <a:extLst xmlns:a="http://schemas.openxmlformats.org/drawingml/2006/main">
              <a:ext uri="{FF2B5EF4-FFF2-40B4-BE49-F238E27FC236}">
                <a16:creationId xmlns:a16="http://schemas.microsoft.com/office/drawing/2014/main" id="{4FB0D925-3053-4AD7-9406-96C6EF3B0851}"/>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RAG Supplies Evidence at Request Time</a:t>
            </a:r>
          </a:p>
        </p:txBody>
      </p:sp>
      <p:sp>
        <p:nvSpPr>
          <p:cNvPr id="3" name="">
            <a:extLst xmlns:a="http://schemas.openxmlformats.org/drawingml/2006/main">
              <a:ext uri="{FF2B5EF4-FFF2-40B4-BE49-F238E27FC236}">
                <a16:creationId xmlns:a16="http://schemas.microsoft.com/office/drawing/2014/main" id="{9E821E40-CEBA-49E6-B015-A4FDB2BCEE1C}"/>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06</a:t>
            </a:r>
          </a:p>
        </p:txBody>
      </p:sp>
      <p:sp>
        <p:nvSpPr>
          <p:cNvPr id="4" name="">
            <a:extLst xmlns:a="http://schemas.openxmlformats.org/drawingml/2006/main">
              <a:ext uri="{FF2B5EF4-FFF2-40B4-BE49-F238E27FC236}">
                <a16:creationId xmlns:a16="http://schemas.microsoft.com/office/drawing/2014/main" id="{F16B79C6-D9EA-4ED8-8EE5-41B1B6AD8937}"/>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9D6190A8-9A42-4E3B-BF71-A361CF5828B9}"/>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Cosine Similarity Compares Vector Direction</a:t>
            </a:r>
          </a:p>
        </p:txBody>
      </p:sp>
      <p:sp>
        <p:nvSpPr>
          <p:cNvPr id="6" name="">
            <a:extLst xmlns:a="http://schemas.openxmlformats.org/drawingml/2006/main">
              <a:ext uri="{FF2B5EF4-FFF2-40B4-BE49-F238E27FC236}">
                <a16:creationId xmlns:a16="http://schemas.microsoft.com/office/drawing/2014/main" id="{25104B20-D86A-4EE2-9393-A474534B42D9}"/>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64A9DDD-75A8-42F7-9851-139BD72D8B24}"/>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D2E6C6E-2B70-480E-A5FA-9E93CA74118F}"/>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EDF7793-04F0-43E4-8BEF-0E01AAE11A2B}"/>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515DF45-C4B0-4E2B-ACFC-9CF78CC1D14B}"/>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A80BD77-BA84-414F-A83F-A4D454E13E7A}"/>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import numpy as np</a:t>
            </a:r>
          </a:p>
          <a:p xmlns:a="http://schemas.openxmlformats.org/drawingml/2006/main">
            <a:r>
              <a:t/>
            </a:r>
          </a:p>
          <a:p xmlns:a="http://schemas.openxmlformats.org/drawingml/2006/main">
            <a:pPr>
              <a:defRPr sz="1125">
                <a:solidFill>
                  <a:srgbClr val="E8F1F7"/>
                </a:solidFill>
              </a:defRPr>
            </a:pPr>
            <a:r>
              <a:rPr sz="1125">
                <a:solidFill>
                  <a:srgbClr val="E8F1F7"/>
                </a:solidFill>
              </a:rPr>
              <a:t>a = np.array([1.0, 0.0])</a:t>
            </a:r>
          </a:p>
          <a:p xmlns:a="http://schemas.openxmlformats.org/drawingml/2006/main">
            <a:pPr>
              <a:defRPr sz="1125">
                <a:solidFill>
                  <a:srgbClr val="E8F1F7"/>
                </a:solidFill>
              </a:defRPr>
            </a:pPr>
            <a:r>
              <a:rPr sz="1125">
                <a:solidFill>
                  <a:srgbClr val="E8F1F7"/>
                </a:solidFill>
              </a:rPr>
              <a:t>b = np.array([1.0, 1.0])</a:t>
            </a:r>
          </a:p>
          <a:p xmlns:a="http://schemas.openxmlformats.org/drawingml/2006/main">
            <a:pPr>
              <a:defRPr sz="1125">
                <a:solidFill>
                  <a:srgbClr val="E8F1F7"/>
                </a:solidFill>
              </a:defRPr>
            </a:pPr>
            <a:r>
              <a:rPr sz="1125">
                <a:solidFill>
                  <a:srgbClr val="E8F1F7"/>
                </a:solidFill>
              </a:rPr>
              <a:t>similarity = a @ b / (np.linalg.norm(a) * np.linalg.norm(b))</a:t>
            </a:r>
          </a:p>
          <a:p xmlns:a="http://schemas.openxmlformats.org/drawingml/2006/main">
            <a:pPr>
              <a:defRPr sz="1125">
                <a:solidFill>
                  <a:srgbClr val="E8F1F7"/>
                </a:solidFill>
              </a:defRPr>
            </a:pPr>
            <a:r>
              <a:rPr sz="1125">
                <a:solidFill>
                  <a:srgbClr val="E8F1F7"/>
                </a:solidFill>
              </a:rPr>
              <a:t>print(round(similarity, 3))</a:t>
            </a:r>
          </a:p>
        </p:txBody>
      </p:sp>
      <p:sp>
        <p:nvSpPr>
          <p:cNvPr id="12" name="">
            <a:extLst xmlns:a="http://schemas.openxmlformats.org/drawingml/2006/main">
              <a:ext uri="{FF2B5EF4-FFF2-40B4-BE49-F238E27FC236}">
                <a16:creationId xmlns:a16="http://schemas.microsoft.com/office/drawing/2014/main" id="{55A73C01-9942-4B1D-A605-4975085A19C5}"/>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C09F72C9-CFBB-463F-9474-51FC946BBFE5}"/>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129A9A38-E5EF-4BA3-84A9-CD77A472D2A6}"/>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0.707</a:t>
            </a:r>
          </a:p>
        </p:txBody>
      </p:sp>
      <p:sp>
        <p:nvSpPr>
          <p:cNvPr id="15" name="">
            <a:extLst xmlns:a="http://schemas.openxmlformats.org/drawingml/2006/main">
              <a:ext uri="{FF2B5EF4-FFF2-40B4-BE49-F238E27FC236}">
                <a16:creationId xmlns:a16="http://schemas.microsoft.com/office/drawing/2014/main" id="{EEB47CE2-4DED-47F6-906C-9A940ED73D38}"/>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740F613-3E95-4853-B2A2-3C31840D9B3D}"/>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Dot product = 1 ||a|| = 1 ||b|| = sqrt(2) Cosine = 1/sqrt(2) ≈ 0.707</a:t>
            </a:r>
          </a:p>
        </p:txBody>
      </p:sp>
    </p:spTree>
    <p:extLst>
      <p:ext uri="{BB962C8B-B14F-4D97-AF65-F5344CB8AC3E}">
        <p14:creationId xmlns:p14="http://schemas.microsoft.com/office/powerpoint/2010/main" val="338297617"/>
      </p:ext>
    </p:extLst>
  </p:cSld>
</p:sld>
</file>

<file path=ppt/slides/slide7.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264392C-CF7A-4997-9030-3AC24DFCC57C}"/>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M15 / L01</a:t>
            </a:r>
          </a:p>
        </p:txBody>
      </p:sp>
      <p:sp>
        <p:nvSpPr>
          <p:cNvPr id="2" name="">
            <a:extLst xmlns:a="http://schemas.openxmlformats.org/drawingml/2006/main">
              <a:ext uri="{FF2B5EF4-FFF2-40B4-BE49-F238E27FC236}">
                <a16:creationId xmlns:a16="http://schemas.microsoft.com/office/drawing/2014/main" id="{5A5E10B1-E677-4051-8D1A-042BF4733D3A}"/>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RAG Supplies Evidence at Request Time</a:t>
            </a:r>
          </a:p>
        </p:txBody>
      </p:sp>
      <p:sp>
        <p:nvSpPr>
          <p:cNvPr id="3" name="">
            <a:extLst xmlns:a="http://schemas.openxmlformats.org/drawingml/2006/main">
              <a:ext uri="{FF2B5EF4-FFF2-40B4-BE49-F238E27FC236}">
                <a16:creationId xmlns:a16="http://schemas.microsoft.com/office/drawing/2014/main" id="{1BA70CCF-B992-4253-94F3-287220B5043A}"/>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07</a:t>
            </a:r>
          </a:p>
        </p:txBody>
      </p:sp>
      <p:sp>
        <p:nvSpPr>
          <p:cNvPr id="4" name="">
            <a:extLst xmlns:a="http://schemas.openxmlformats.org/drawingml/2006/main">
              <a:ext uri="{FF2B5EF4-FFF2-40B4-BE49-F238E27FC236}">
                <a16:creationId xmlns:a16="http://schemas.microsoft.com/office/drawing/2014/main" id="{D345FFBF-2B42-4F7A-B058-3B31F5ABCE51}"/>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CORE CONCEPT</a:t>
            </a:r>
          </a:p>
        </p:txBody>
      </p:sp>
      <p:sp>
        <p:nvSpPr>
          <p:cNvPr id="5" name="">
            <a:extLst xmlns:a="http://schemas.openxmlformats.org/drawingml/2006/main">
              <a:ext uri="{FF2B5EF4-FFF2-40B4-BE49-F238E27FC236}">
                <a16:creationId xmlns:a16="http://schemas.microsoft.com/office/drawing/2014/main" id="{89215DBA-49E4-46E7-8943-C194C5FEBBF7}"/>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A Vector Store Connects Vectors to Evidence</a:t>
            </a:r>
          </a:p>
        </p:txBody>
      </p:sp>
      <p:sp>
        <p:nvSpPr>
          <p:cNvPr id="6" name="">
            <a:extLst xmlns:a="http://schemas.openxmlformats.org/drawingml/2006/main">
              <a:ext uri="{FF2B5EF4-FFF2-40B4-BE49-F238E27FC236}">
                <a16:creationId xmlns:a16="http://schemas.microsoft.com/office/drawing/2014/main" id="{F4A0EE50-A3B8-45BF-9AC9-1FF8183A2477}"/>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16BAC54-7BFD-47F3-BA34-577727DE1FF0}"/>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D6E2EB"/>
                </a:solidFill>
              </a:defRPr>
            </a:pPr>
            <a:r>
              <a:rPr sz="1275">
                <a:solidFill>
                  <a:srgbClr val="D6E2EB"/>
                </a:solidFill>
              </a:rPr>
              <a:t>A vector store keeps: An exact search compares all vectors. Approximate indexes trade some recall for lower latency at scale. Apply authorization filters before or during retrieval. Filtering after retrieval can leak whether protected documents exist and waste candidate slots.</a:t>
            </a:r>
          </a:p>
        </p:txBody>
      </p:sp>
      <p:sp>
        <p:nvSpPr>
          <p:cNvPr id="8" name="">
            <a:extLst xmlns:a="http://schemas.openxmlformats.org/drawingml/2006/main">
              <a:ext uri="{FF2B5EF4-FFF2-40B4-BE49-F238E27FC236}">
                <a16:creationId xmlns:a16="http://schemas.microsoft.com/office/drawing/2014/main" id="{DB080418-C332-4C20-9EFA-C9494F0FC0F9}"/>
              </a:ext>
            </a:extLst>
          </p:cNvPr>
          <p:cNvSpPr>
            <a:spLocks xmlns:a="http://schemas.openxmlformats.org/drawingml/2006/main" noGrp="1"/>
          </p:cNvSpPr>
          <p:nvPr/>
        </p:nvSpPr>
        <p:spPr>
          <a:xfrm xmlns:a="http://schemas.openxmlformats.org/drawingml/2006/main">
            <a:off x="6096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A90E682-3D68-4F46-89A2-457C7A2A46C3}"/>
              </a:ext>
            </a:extLst>
          </p:cNvPr>
          <p:cNvSpPr>
            <a:spLocks xmlns:a="http://schemas.openxmlformats.org/drawingml/2006/main" noGrp="1"/>
          </p:cNvSpPr>
          <p:nvPr/>
        </p:nvSpPr>
        <p:spPr>
          <a:xfrm xmlns:a="http://schemas.openxmlformats.org/drawingml/2006/main">
            <a:off x="7810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embedding vector;</a:t>
            </a:r>
          </a:p>
        </p:txBody>
      </p:sp>
      <p:sp>
        <p:nvSpPr>
          <p:cNvPr id="10" name="">
            <a:extLst xmlns:a="http://schemas.openxmlformats.org/drawingml/2006/main">
              <a:ext uri="{FF2B5EF4-FFF2-40B4-BE49-F238E27FC236}">
                <a16:creationId xmlns:a16="http://schemas.microsoft.com/office/drawing/2014/main" id="{3A58D8F6-F66E-4EED-9AFA-C98FD18A7D42}"/>
              </a:ext>
            </a:extLst>
          </p:cNvPr>
          <p:cNvSpPr>
            <a:spLocks xmlns:a="http://schemas.openxmlformats.org/drawingml/2006/main" noGrp="1"/>
          </p:cNvSpPr>
          <p:nvPr/>
        </p:nvSpPr>
        <p:spPr>
          <a:xfrm xmlns:a="http://schemas.openxmlformats.org/drawingml/2006/main">
            <a:off x="41148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C1C5CED-30A9-409D-881F-2D006FBF4E20}"/>
              </a:ext>
            </a:extLst>
          </p:cNvPr>
          <p:cNvSpPr>
            <a:spLocks xmlns:a="http://schemas.openxmlformats.org/drawingml/2006/main" noGrp="1"/>
          </p:cNvSpPr>
          <p:nvPr/>
        </p:nvSpPr>
        <p:spPr>
          <a:xfrm xmlns:a="http://schemas.openxmlformats.org/drawingml/2006/main">
            <a:off x="42862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chunk text or reference;</a:t>
            </a:r>
          </a:p>
        </p:txBody>
      </p:sp>
      <p:sp>
        <p:nvSpPr>
          <p:cNvPr id="12" name="">
            <a:extLst xmlns:a="http://schemas.openxmlformats.org/drawingml/2006/main">
              <a:ext uri="{FF2B5EF4-FFF2-40B4-BE49-F238E27FC236}">
                <a16:creationId xmlns:a16="http://schemas.microsoft.com/office/drawing/2014/main" id="{61FE15DF-4BCF-49AB-B846-B7A71F4D3D41}"/>
              </a:ext>
            </a:extLst>
          </p:cNvPr>
          <p:cNvSpPr>
            <a:spLocks xmlns:a="http://schemas.openxmlformats.org/drawingml/2006/main" noGrp="1"/>
          </p:cNvSpPr>
          <p:nvPr/>
        </p:nvSpPr>
        <p:spPr>
          <a:xfrm xmlns:a="http://schemas.openxmlformats.org/drawingml/2006/main">
            <a:off x="76200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71FB03B-09B5-4725-B329-0B9060E36283}"/>
              </a:ext>
            </a:extLst>
          </p:cNvPr>
          <p:cNvSpPr>
            <a:spLocks xmlns:a="http://schemas.openxmlformats.org/drawingml/2006/main" noGrp="1"/>
          </p:cNvSpPr>
          <p:nvPr/>
        </p:nvSpPr>
        <p:spPr>
          <a:xfrm xmlns:a="http://schemas.openxmlformats.org/drawingml/2006/main">
            <a:off x="77914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source metadata;</a:t>
            </a:r>
          </a:p>
        </p:txBody>
      </p:sp>
      <p:sp>
        <p:nvSpPr>
          <p:cNvPr id="14" name="">
            <a:extLst xmlns:a="http://schemas.openxmlformats.org/drawingml/2006/main">
              <a:ext uri="{FF2B5EF4-FFF2-40B4-BE49-F238E27FC236}">
                <a16:creationId xmlns:a16="http://schemas.microsoft.com/office/drawing/2014/main" id="{448E5DCA-2F46-48DA-8769-6A19EDA218BF}"/>
              </a:ext>
            </a:extLst>
          </p:cNvPr>
          <p:cNvSpPr>
            <a:spLocks xmlns:a="http://schemas.openxmlformats.org/drawingml/2006/main" noGrp="1"/>
          </p:cNvSpPr>
          <p:nvPr/>
        </p:nvSpPr>
        <p:spPr>
          <a:xfrm xmlns:a="http://schemas.openxmlformats.org/drawingml/2006/main">
            <a:off x="6096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CB39039-2E7F-4C22-89B4-D8EF8D93B277}"/>
              </a:ext>
            </a:extLst>
          </p:cNvPr>
          <p:cNvSpPr>
            <a:spLocks xmlns:a="http://schemas.openxmlformats.org/drawingml/2006/main" noGrp="1"/>
          </p:cNvSpPr>
          <p:nvPr/>
        </p:nvSpPr>
        <p:spPr>
          <a:xfrm xmlns:a="http://schemas.openxmlformats.org/drawingml/2006/main">
            <a:off x="7810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access metadata;</a:t>
            </a:r>
          </a:p>
        </p:txBody>
      </p:sp>
      <p:sp>
        <p:nvSpPr>
          <p:cNvPr id="16" name="">
            <a:extLst xmlns:a="http://schemas.openxmlformats.org/drawingml/2006/main">
              <a:ext uri="{FF2B5EF4-FFF2-40B4-BE49-F238E27FC236}">
                <a16:creationId xmlns:a16="http://schemas.microsoft.com/office/drawing/2014/main" id="{6A6F0244-973D-4622-92CF-E69223E28BC6}"/>
              </a:ext>
            </a:extLst>
          </p:cNvPr>
          <p:cNvSpPr>
            <a:spLocks xmlns:a="http://schemas.openxmlformats.org/drawingml/2006/main" noGrp="1"/>
          </p:cNvSpPr>
          <p:nvPr/>
        </p:nvSpPr>
        <p:spPr>
          <a:xfrm xmlns:a="http://schemas.openxmlformats.org/drawingml/2006/main">
            <a:off x="41148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10C3E82-1E0F-43E3-919C-BB0CE83F29EE}"/>
              </a:ext>
            </a:extLst>
          </p:cNvPr>
          <p:cNvSpPr>
            <a:spLocks xmlns:a="http://schemas.openxmlformats.org/drawingml/2006/main" noGrp="1"/>
          </p:cNvSpPr>
          <p:nvPr/>
        </p:nvSpPr>
        <p:spPr>
          <a:xfrm xmlns:a="http://schemas.openxmlformats.org/drawingml/2006/main">
            <a:off x="42862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stable chunk ID.</a:t>
            </a:r>
          </a:p>
        </p:txBody>
      </p:sp>
    </p:spTree>
    <p:extLst>
      <p:ext uri="{BB962C8B-B14F-4D97-AF65-F5344CB8AC3E}">
        <p14:creationId xmlns:p14="http://schemas.microsoft.com/office/powerpoint/2010/main" val="1423175650"/>
      </p:ext>
    </p:extLst>
  </p:cSld>
</p:sld>
</file>

<file path=ppt/slides/slide8.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4489312-C4D2-4891-85AD-32ADA29876A2}"/>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M15 / L01</a:t>
            </a:r>
          </a:p>
        </p:txBody>
      </p:sp>
      <p:sp>
        <p:nvSpPr>
          <p:cNvPr id="2" name="">
            <a:extLst xmlns:a="http://schemas.openxmlformats.org/drawingml/2006/main">
              <a:ext uri="{FF2B5EF4-FFF2-40B4-BE49-F238E27FC236}">
                <a16:creationId xmlns:a16="http://schemas.microsoft.com/office/drawing/2014/main" id="{E7EAE349-E9A0-411A-A5D8-52D64779BA90}"/>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RAG Supplies Evidence at Request Time</a:t>
            </a:r>
          </a:p>
        </p:txBody>
      </p:sp>
      <p:sp>
        <p:nvSpPr>
          <p:cNvPr id="3" name="">
            <a:extLst xmlns:a="http://schemas.openxmlformats.org/drawingml/2006/main">
              <a:ext uri="{FF2B5EF4-FFF2-40B4-BE49-F238E27FC236}">
                <a16:creationId xmlns:a16="http://schemas.microsoft.com/office/drawing/2014/main" id="{03C0C16A-0F93-45E2-965D-D923A47ABCA2}"/>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08</a:t>
            </a:r>
          </a:p>
        </p:txBody>
      </p:sp>
      <p:sp>
        <p:nvSpPr>
          <p:cNvPr id="4" name="">
            <a:extLst xmlns:a="http://schemas.openxmlformats.org/drawingml/2006/main">
              <a:ext uri="{FF2B5EF4-FFF2-40B4-BE49-F238E27FC236}">
                <a16:creationId xmlns:a16="http://schemas.microsoft.com/office/drawing/2014/main" id="{4CC67F87-9920-4CE3-8E4F-83A9FBAAE4F8}"/>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REASONING SEQUENCE</a:t>
            </a:r>
          </a:p>
        </p:txBody>
      </p:sp>
      <p:sp>
        <p:nvSpPr>
          <p:cNvPr id="5" name="">
            <a:extLst xmlns:a="http://schemas.openxmlformats.org/drawingml/2006/main">
              <a:ext uri="{FF2B5EF4-FFF2-40B4-BE49-F238E27FC236}">
                <a16:creationId xmlns:a16="http://schemas.microsoft.com/office/drawing/2014/main" id="{FEC51DDD-F6E6-4CD1-AB25-BC20E963F6E6}"/>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Retrieval Selects Top-k Evidence</a:t>
            </a:r>
          </a:p>
        </p:txBody>
      </p:sp>
      <p:sp>
        <p:nvSpPr>
          <p:cNvPr id="6" name="">
            <a:extLst xmlns:a="http://schemas.openxmlformats.org/drawingml/2006/main">
              <a:ext uri="{FF2B5EF4-FFF2-40B4-BE49-F238E27FC236}">
                <a16:creationId xmlns:a16="http://schemas.microsoft.com/office/drawing/2014/main" id="{59163ADB-2613-4744-A3B7-4D36E5362AF5}"/>
              </a:ext>
            </a:extLst>
          </p:cNvPr>
          <p:cNvSpPr>
            <a:spLocks xmlns:a="http://schemas.openxmlformats.org/drawingml/2006/main" noGrp="1"/>
          </p:cNvSpPr>
          <p:nvPr/>
        </p:nvSpPr>
        <p:spPr>
          <a:xfrm xmlns:a="http://schemas.openxmlformats.org/drawingml/2006/main">
            <a:off x="5905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Frame</a:t>
            </a:r>
          </a:p>
        </p:txBody>
      </p:sp>
      <p:sp>
        <p:nvSpPr>
          <p:cNvPr id="7" name="">
            <a:extLst xmlns:a="http://schemas.openxmlformats.org/drawingml/2006/main">
              <a:ext uri="{FF2B5EF4-FFF2-40B4-BE49-F238E27FC236}">
                <a16:creationId xmlns:a16="http://schemas.microsoft.com/office/drawing/2014/main" id="{A25B37CD-F4A3-46B1-9230-44FA94DCA8C9}"/>
              </a:ext>
            </a:extLst>
          </p:cNvPr>
          <p:cNvSpPr>
            <a:spLocks xmlns:a="http://schemas.openxmlformats.org/drawingml/2006/main" noGrp="1"/>
          </p:cNvSpPr>
          <p:nvPr/>
        </p:nvSpPr>
        <p:spPr>
          <a:xfrm xmlns:a="http://schemas.openxmlformats.org/drawingml/2006/main">
            <a:off x="5905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query;</a:t>
            </a:r>
          </a:p>
        </p:txBody>
      </p:sp>
      <p:sp>
        <p:nvSpPr>
          <p:cNvPr id="8" name="">
            <a:extLst xmlns:a="http://schemas.openxmlformats.org/drawingml/2006/main">
              <a:ext uri="{FF2B5EF4-FFF2-40B4-BE49-F238E27FC236}">
                <a16:creationId xmlns:a16="http://schemas.microsoft.com/office/drawing/2014/main" id="{B94C2E6B-7B70-49D5-B3BC-FBD6BDA725DE}"/>
              </a:ext>
            </a:extLst>
          </p:cNvPr>
          <p:cNvSpPr>
            <a:spLocks xmlns:a="http://schemas.openxmlformats.org/drawingml/2006/main" noGrp="1"/>
          </p:cNvSpPr>
          <p:nvPr/>
        </p:nvSpPr>
        <p:spPr>
          <a:xfrm xmlns:a="http://schemas.openxmlformats.org/drawingml/2006/main">
            <a:off x="5905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C0CAD37-F3CA-4AC1-945B-051672F9E5DB}"/>
              </a:ext>
            </a:extLst>
          </p:cNvPr>
          <p:cNvSpPr>
            <a:spLocks xmlns:a="http://schemas.openxmlformats.org/drawingml/2006/main" noGrp="1"/>
          </p:cNvSpPr>
          <p:nvPr/>
        </p:nvSpPr>
        <p:spPr>
          <a:xfrm xmlns:a="http://schemas.openxmlformats.org/drawingml/2006/main">
            <a:off x="5905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1</a:t>
            </a:r>
          </a:p>
        </p:txBody>
      </p:sp>
      <p:sp>
        <p:nvSpPr>
          <p:cNvPr id="10" name="">
            <a:extLst xmlns:a="http://schemas.openxmlformats.org/drawingml/2006/main">
              <a:ext uri="{FF2B5EF4-FFF2-40B4-BE49-F238E27FC236}">
                <a16:creationId xmlns:a16="http://schemas.microsoft.com/office/drawing/2014/main" id="{845CFD65-48EA-4444-AD6E-C54E33F1B844}"/>
              </a:ext>
            </a:extLst>
          </p:cNvPr>
          <p:cNvSpPr>
            <a:spLocks xmlns:a="http://schemas.openxmlformats.org/drawingml/2006/main" noGrp="1"/>
          </p:cNvSpPr>
          <p:nvPr/>
        </p:nvSpPr>
        <p:spPr>
          <a:xfrm xmlns:a="http://schemas.openxmlformats.org/drawingml/2006/main">
            <a:off x="34099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Transform</a:t>
            </a:r>
          </a:p>
        </p:txBody>
      </p:sp>
      <p:sp>
        <p:nvSpPr>
          <p:cNvPr id="11" name="">
            <a:extLst xmlns:a="http://schemas.openxmlformats.org/drawingml/2006/main">
              <a:ext uri="{FF2B5EF4-FFF2-40B4-BE49-F238E27FC236}">
                <a16:creationId xmlns:a16="http://schemas.microsoft.com/office/drawing/2014/main" id="{A37FE48E-53DE-40B7-92ED-02608A126484}"/>
              </a:ext>
            </a:extLst>
          </p:cNvPr>
          <p:cNvSpPr>
            <a:spLocks xmlns:a="http://schemas.openxmlformats.org/drawingml/2006/main" noGrp="1"/>
          </p:cNvSpPr>
          <p:nvPr/>
        </p:nvSpPr>
        <p:spPr>
          <a:xfrm xmlns:a="http://schemas.openxmlformats.org/drawingml/2006/main">
            <a:off x="34099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returned text;</a:t>
            </a:r>
          </a:p>
        </p:txBody>
      </p:sp>
      <p:sp>
        <p:nvSpPr>
          <p:cNvPr id="12" name="">
            <a:extLst xmlns:a="http://schemas.openxmlformats.org/drawingml/2006/main">
              <a:ext uri="{FF2B5EF4-FFF2-40B4-BE49-F238E27FC236}">
                <a16:creationId xmlns:a16="http://schemas.microsoft.com/office/drawing/2014/main" id="{62A7E8B5-9424-41DA-AF17-BDA4563F5B5C}"/>
              </a:ext>
            </a:extLst>
          </p:cNvPr>
          <p:cNvSpPr>
            <a:spLocks xmlns:a="http://schemas.openxmlformats.org/drawingml/2006/main" noGrp="1"/>
          </p:cNvSpPr>
          <p:nvPr/>
        </p:nvSpPr>
        <p:spPr>
          <a:xfrm xmlns:a="http://schemas.openxmlformats.org/drawingml/2006/main">
            <a:off x="34099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2286154-50A7-41BA-808E-6686EAA9943F}"/>
              </a:ext>
            </a:extLst>
          </p:cNvPr>
          <p:cNvSpPr>
            <a:spLocks xmlns:a="http://schemas.openxmlformats.org/drawingml/2006/main" noGrp="1"/>
          </p:cNvSpPr>
          <p:nvPr/>
        </p:nvSpPr>
        <p:spPr>
          <a:xfrm xmlns:a="http://schemas.openxmlformats.org/drawingml/2006/main">
            <a:off x="34099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2</a:t>
            </a:r>
          </a:p>
        </p:txBody>
      </p:sp>
      <p:sp>
        <p:nvSpPr>
          <p:cNvPr id="14" name="">
            <a:extLst xmlns:a="http://schemas.openxmlformats.org/drawingml/2006/main">
              <a:ext uri="{FF2B5EF4-FFF2-40B4-BE49-F238E27FC236}">
                <a16:creationId xmlns:a16="http://schemas.microsoft.com/office/drawing/2014/main" id="{5358FD72-7012-48DD-B603-7245EDC8E3B5}"/>
              </a:ext>
            </a:extLst>
          </p:cNvPr>
          <p:cNvSpPr>
            <a:spLocks xmlns:a="http://schemas.openxmlformats.org/drawingml/2006/main" noGrp="1"/>
          </p:cNvSpPr>
          <p:nvPr/>
        </p:nvSpPr>
        <p:spPr>
          <a:xfrm xmlns:a="http://schemas.openxmlformats.org/drawingml/2006/main">
            <a:off x="62293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Validate</a:t>
            </a:r>
          </a:p>
        </p:txBody>
      </p:sp>
      <p:sp>
        <p:nvSpPr>
          <p:cNvPr id="15" name="">
            <a:extLst xmlns:a="http://schemas.openxmlformats.org/drawingml/2006/main">
              <a:ext uri="{FF2B5EF4-FFF2-40B4-BE49-F238E27FC236}">
                <a16:creationId xmlns:a16="http://schemas.microsoft.com/office/drawing/2014/main" id="{047826C3-5FCA-480E-AF85-0573C9271D89}"/>
              </a:ext>
            </a:extLst>
          </p:cNvPr>
          <p:cNvSpPr>
            <a:spLocks xmlns:a="http://schemas.openxmlformats.org/drawingml/2006/main" noGrp="1"/>
          </p:cNvSpPr>
          <p:nvPr/>
        </p:nvSpPr>
        <p:spPr>
          <a:xfrm xmlns:a="http://schemas.openxmlformats.org/drawingml/2006/main">
            <a:off x="62293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scores and score direction;</a:t>
            </a:r>
          </a:p>
        </p:txBody>
      </p:sp>
      <p:sp>
        <p:nvSpPr>
          <p:cNvPr id="16" name="">
            <a:extLst xmlns:a="http://schemas.openxmlformats.org/drawingml/2006/main">
              <a:ext uri="{FF2B5EF4-FFF2-40B4-BE49-F238E27FC236}">
                <a16:creationId xmlns:a16="http://schemas.microsoft.com/office/drawing/2014/main" id="{C6E1D59E-24B0-4FE3-86B4-3C9FF1B31DD4}"/>
              </a:ext>
            </a:extLst>
          </p:cNvPr>
          <p:cNvSpPr>
            <a:spLocks xmlns:a="http://schemas.openxmlformats.org/drawingml/2006/main" noGrp="1"/>
          </p:cNvSpPr>
          <p:nvPr/>
        </p:nvSpPr>
        <p:spPr>
          <a:xfrm xmlns:a="http://schemas.openxmlformats.org/drawingml/2006/main">
            <a:off x="62293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0B87B21-8047-46B3-A1A2-8A654BDB1D77}"/>
              </a:ext>
            </a:extLst>
          </p:cNvPr>
          <p:cNvSpPr>
            <a:spLocks xmlns:a="http://schemas.openxmlformats.org/drawingml/2006/main" noGrp="1"/>
          </p:cNvSpPr>
          <p:nvPr/>
        </p:nvSpPr>
        <p:spPr>
          <a:xfrm xmlns:a="http://schemas.openxmlformats.org/drawingml/2006/main">
            <a:off x="62293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3</a:t>
            </a:r>
          </a:p>
        </p:txBody>
      </p:sp>
      <p:sp>
        <p:nvSpPr>
          <p:cNvPr id="18" name="">
            <a:extLst xmlns:a="http://schemas.openxmlformats.org/drawingml/2006/main">
              <a:ext uri="{FF2B5EF4-FFF2-40B4-BE49-F238E27FC236}">
                <a16:creationId xmlns:a16="http://schemas.microsoft.com/office/drawing/2014/main" id="{21AE2B78-958E-4935-BBA3-7026A699A357}"/>
              </a:ext>
            </a:extLst>
          </p:cNvPr>
          <p:cNvSpPr>
            <a:spLocks xmlns:a="http://schemas.openxmlformats.org/drawingml/2006/main" noGrp="1"/>
          </p:cNvSpPr>
          <p:nvPr/>
        </p:nvSpPr>
        <p:spPr>
          <a:xfrm xmlns:a="http://schemas.openxmlformats.org/drawingml/2006/main">
            <a:off x="90487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F06B5F"/>
                </a:solidFill>
              </a:defRPr>
            </a:pPr>
            <a:r>
              <a:rPr sz="2025" b="1">
                <a:solidFill>
                  <a:srgbClr val="F06B5F"/>
                </a:solidFill>
              </a:rPr>
              <a:t>Explain</a:t>
            </a:r>
          </a:p>
        </p:txBody>
      </p:sp>
      <p:sp>
        <p:nvSpPr>
          <p:cNvPr id="19" name="">
            <a:extLst xmlns:a="http://schemas.openxmlformats.org/drawingml/2006/main">
              <a:ext uri="{FF2B5EF4-FFF2-40B4-BE49-F238E27FC236}">
                <a16:creationId xmlns:a16="http://schemas.microsoft.com/office/drawing/2014/main" id="{A1D4D3E0-A964-4FCF-9274-681036B65901}"/>
              </a:ext>
            </a:extLst>
          </p:cNvPr>
          <p:cNvSpPr>
            <a:spLocks xmlns:a="http://schemas.openxmlformats.org/drawingml/2006/main" noGrp="1"/>
          </p:cNvSpPr>
          <p:nvPr/>
        </p:nvSpPr>
        <p:spPr>
          <a:xfrm xmlns:a="http://schemas.openxmlformats.org/drawingml/2006/main">
            <a:off x="90487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source diversity;</a:t>
            </a:r>
          </a:p>
        </p:txBody>
      </p:sp>
      <p:sp>
        <p:nvSpPr>
          <p:cNvPr id="20" name="">
            <a:extLst xmlns:a="http://schemas.openxmlformats.org/drawingml/2006/main">
              <a:ext uri="{FF2B5EF4-FFF2-40B4-BE49-F238E27FC236}">
                <a16:creationId xmlns:a16="http://schemas.microsoft.com/office/drawing/2014/main" id="{81D3F0BD-F7D9-43DF-8F9C-E8AA2265D7E3}"/>
              </a:ext>
            </a:extLst>
          </p:cNvPr>
          <p:cNvSpPr>
            <a:spLocks xmlns:a="http://schemas.openxmlformats.org/drawingml/2006/main" noGrp="1"/>
          </p:cNvSpPr>
          <p:nvPr/>
        </p:nvSpPr>
        <p:spPr>
          <a:xfrm xmlns:a="http://schemas.openxmlformats.org/drawingml/2006/main">
            <a:off x="9048750" y="3752850"/>
            <a:ext cx="2190750" cy="381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009BCD6-0739-4CD6-B728-6151294441D8}"/>
              </a:ext>
            </a:extLst>
          </p:cNvPr>
          <p:cNvSpPr>
            <a:spLocks xmlns:a="http://schemas.openxmlformats.org/drawingml/2006/main" noGrp="1"/>
          </p:cNvSpPr>
          <p:nvPr/>
        </p:nvSpPr>
        <p:spPr>
          <a:xfrm xmlns:a="http://schemas.openxmlformats.org/drawingml/2006/main">
            <a:off x="90487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4</a:t>
            </a:r>
          </a:p>
        </p:txBody>
      </p:sp>
      <p:sp>
        <p:nvSpPr>
          <p:cNvPr id="22" name="">
            <a:extLst xmlns:a="http://schemas.openxmlformats.org/drawingml/2006/main">
              <a:ext uri="{FF2B5EF4-FFF2-40B4-BE49-F238E27FC236}">
                <a16:creationId xmlns:a16="http://schemas.microsoft.com/office/drawing/2014/main" id="{E29A5D09-3005-463F-85A8-7E553111ED5A}"/>
              </a:ext>
            </a:extLst>
          </p:cNvPr>
          <p:cNvSpPr>
            <a:spLocks xmlns:a="http://schemas.openxmlformats.org/drawingml/2006/main" noGrp="1"/>
          </p:cNvSpPr>
          <p:nvPr/>
        </p:nvSpPr>
        <p:spPr>
          <a:xfrm xmlns:a="http://schemas.openxmlformats.org/drawingml/2006/main">
            <a:off x="590550" y="5181600"/>
            <a:ext cx="1057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D1DEE8"/>
                </a:solidFill>
              </a:defRPr>
            </a:pPr>
            <a:r>
              <a:rPr sz="1350">
                <a:solidFill>
                  <a:srgbClr val="D1DEE8"/>
                </a:solidFill>
              </a:rPr>
              <a:t>Relevant policy appears at rank 4. With k=3, it is missed. With k=5, it is included alongside two irrelevant chunks. The choice must be evaluated across a query dataset, not one example.</a:t>
            </a:r>
          </a:p>
        </p:txBody>
      </p:sp>
    </p:spTree>
    <p:extLst>
      <p:ext uri="{BB962C8B-B14F-4D97-AF65-F5344CB8AC3E}">
        <p14:creationId xmlns:p14="http://schemas.microsoft.com/office/powerpoint/2010/main" val="1775964305"/>
      </p:ext>
    </p:extLst>
  </p:cSld>
</p:sld>
</file>

<file path=ppt/slides/slide9.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623DA49-E192-4A81-8FF0-3CD6150DB8DB}"/>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M15 / L01</a:t>
            </a:r>
          </a:p>
        </p:txBody>
      </p:sp>
      <p:sp>
        <p:nvSpPr>
          <p:cNvPr id="2" name="">
            <a:extLst xmlns:a="http://schemas.openxmlformats.org/drawingml/2006/main">
              <a:ext uri="{FF2B5EF4-FFF2-40B4-BE49-F238E27FC236}">
                <a16:creationId xmlns:a16="http://schemas.microsoft.com/office/drawing/2014/main" id="{D88E483F-72F0-4B79-BB24-F204546D5B04}"/>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RAG Supplies Evidence at Request Time</a:t>
            </a:r>
          </a:p>
        </p:txBody>
      </p:sp>
      <p:sp>
        <p:nvSpPr>
          <p:cNvPr id="3" name="">
            <a:extLst xmlns:a="http://schemas.openxmlformats.org/drawingml/2006/main">
              <a:ext uri="{FF2B5EF4-FFF2-40B4-BE49-F238E27FC236}">
                <a16:creationId xmlns:a16="http://schemas.microsoft.com/office/drawing/2014/main" id="{4217024C-48E7-4BED-ADC5-A7BF1C05FDE5}"/>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09</a:t>
            </a:r>
          </a:p>
        </p:txBody>
      </p:sp>
      <p:sp>
        <p:nvSpPr>
          <p:cNvPr id="4" name="">
            <a:extLst xmlns:a="http://schemas.openxmlformats.org/drawingml/2006/main">
              <a:ext uri="{FF2B5EF4-FFF2-40B4-BE49-F238E27FC236}">
                <a16:creationId xmlns:a16="http://schemas.microsoft.com/office/drawing/2014/main" id="{59DD68E6-2FFD-4BBA-9B61-C7A620427D66}"/>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C596812B-46A2-4597-A289-3D1B740DF5BF}"/>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Context Assembly Builds the Evidence Packet</a:t>
            </a:r>
          </a:p>
        </p:txBody>
      </p:sp>
      <p:sp>
        <p:nvSpPr>
          <p:cNvPr id="6" name="">
            <a:extLst xmlns:a="http://schemas.openxmlformats.org/drawingml/2006/main">
              <a:ext uri="{FF2B5EF4-FFF2-40B4-BE49-F238E27FC236}">
                <a16:creationId xmlns:a16="http://schemas.microsoft.com/office/drawing/2014/main" id="{D775F6AA-78F8-4007-9BD0-7D115442964F}"/>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67767FC-E03B-40C0-BB03-794EE93383E5}"/>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D97D403-C514-42B7-8B93-E3BE311C1480}"/>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DA8952F-A1C4-4BC6-80F8-397B900FC448}"/>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F681C46-5462-4D2A-A440-D6D1EB89E853}"/>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54AC900-3BEB-4261-8738-4560D5DACE4F}"/>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context = "\n\n".join(</a:t>
            </a:r>
          </a:p>
          <a:p xmlns:a="http://schemas.openxmlformats.org/drawingml/2006/main">
            <a:pPr>
              <a:defRPr sz="1125">
                <a:solidFill>
                  <a:srgbClr val="E8F1F7"/>
                </a:solidFill>
              </a:defRPr>
            </a:pPr>
            <a:r>
              <a:rPr sz="1125">
                <a:solidFill>
                  <a:srgbClr val="E8F1F7"/>
                </a:solidFill>
              </a:rPr>
              <a:t>    f"[{doc.metadata['source_id']} p.{doc.metadata['page']}]\n{doc.page_content}"</a:t>
            </a:r>
          </a:p>
          <a:p xmlns:a="http://schemas.openxmlformats.org/drawingml/2006/main">
            <a:pPr>
              <a:defRPr sz="1125">
                <a:solidFill>
                  <a:srgbClr val="E8F1F7"/>
                </a:solidFill>
              </a:defRPr>
            </a:pPr>
            <a:r>
              <a:rPr sz="1125">
                <a:solidFill>
                  <a:srgbClr val="E8F1F7"/>
                </a:solidFill>
              </a:rPr>
              <a:t>    for doc in selected_docs</a:t>
            </a:r>
          </a:p>
          <a:p xmlns:a="http://schemas.openxmlformats.org/drawingml/2006/main">
            <a:pPr>
              <a:defRPr sz="1125">
                <a:solidFill>
                  <a:srgbClr val="E8F1F7"/>
                </a:solidFill>
              </a:defRPr>
            </a:pPr>
            <a:r>
              <a:rPr sz="1125">
                <a:solidFill>
                  <a:srgbClr val="E8F1F7"/>
                </a:solidFill>
              </a:rPr>
              <a:t>)</a:t>
            </a:r>
          </a:p>
        </p:txBody>
      </p:sp>
      <p:sp>
        <p:nvSpPr>
          <p:cNvPr id="12" name="">
            <a:extLst xmlns:a="http://schemas.openxmlformats.org/drawingml/2006/main">
              <a:ext uri="{FF2B5EF4-FFF2-40B4-BE49-F238E27FC236}">
                <a16:creationId xmlns:a16="http://schemas.microsoft.com/office/drawing/2014/main" id="{F1B40755-27A9-434C-B7E1-4317C3A4915A}"/>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61FB5B64-793E-4C34-9BB0-A09DE6E7E6F3}"/>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03E458BB-B58A-49B1-A934-D3D0FB5E2689}"/>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A labelled context packet whose citations can map back to retrieved documents.</a:t>
            </a:r>
          </a:p>
        </p:txBody>
      </p:sp>
      <p:sp>
        <p:nvSpPr>
          <p:cNvPr id="15" name="">
            <a:extLst xmlns:a="http://schemas.openxmlformats.org/drawingml/2006/main">
              <a:ext uri="{FF2B5EF4-FFF2-40B4-BE49-F238E27FC236}">
                <a16:creationId xmlns:a16="http://schemas.microsoft.com/office/drawing/2014/main" id="{AE34531A-B96C-4E1E-8E60-07DBF0C1BFA3}"/>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512CC14-2A02-4946-BD78-1FB6725BBF19}"/>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After deduplication, four chunks consume 2,500. The assembler selects the highest-value set under 2,000 while retaining at least one chunk from each required source.</a:t>
            </a:r>
          </a:p>
        </p:txBody>
      </p:sp>
    </p:spTree>
    <p:extLst>
      <p:ext uri="{BB962C8B-B14F-4D97-AF65-F5344CB8AC3E}">
        <p14:creationId xmlns:p14="http://schemas.microsoft.com/office/powerpoint/2010/main" val="15187554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66B57CF-BDEA-4B8E-BE69-53A420DB8A59}"/>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M15 / L01</a:t>
            </a:r>
          </a:p>
        </p:txBody>
      </p:sp>
      <p:sp>
        <p:nvSpPr>
          <p:cNvPr id="2" name="">
            <a:extLst xmlns:a="http://schemas.openxmlformats.org/drawingml/2006/main">
              <a:ext uri="{FF2B5EF4-FFF2-40B4-BE49-F238E27FC236}">
                <a16:creationId xmlns:a16="http://schemas.microsoft.com/office/drawing/2014/main" id="{AB34EBBD-A5A3-4098-A507-8E768CE5FCB4}"/>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RAG Supplies Evidence at Request Time</a:t>
            </a:r>
          </a:p>
        </p:txBody>
      </p:sp>
      <p:sp>
        <p:nvSpPr>
          <p:cNvPr id="3" name="">
            <a:extLst xmlns:a="http://schemas.openxmlformats.org/drawingml/2006/main">
              <a:ext uri="{FF2B5EF4-FFF2-40B4-BE49-F238E27FC236}">
                <a16:creationId xmlns:a16="http://schemas.microsoft.com/office/drawing/2014/main" id="{59DFC4CF-3188-495A-A57A-6C4435E35F8D}"/>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10</a:t>
            </a:r>
          </a:p>
        </p:txBody>
      </p:sp>
      <p:sp>
        <p:nvSpPr>
          <p:cNvPr id="4" name="">
            <a:extLst xmlns:a="http://schemas.openxmlformats.org/drawingml/2006/main">
              <a:ext uri="{FF2B5EF4-FFF2-40B4-BE49-F238E27FC236}">
                <a16:creationId xmlns:a16="http://schemas.microsoft.com/office/drawing/2014/main" id="{43131FD5-C4E9-451D-8F81-1710CB580897}"/>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5" name="">
            <a:extLst xmlns:a="http://schemas.openxmlformats.org/drawingml/2006/main">
              <a:ext uri="{FF2B5EF4-FFF2-40B4-BE49-F238E27FC236}">
                <a16:creationId xmlns:a16="http://schemas.microsoft.com/office/drawing/2014/main" id="{0E1402B3-10A2-440F-94A1-968534E8C610}"/>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Grounded Answers Need Verifiable Citations</a:t>
            </a:r>
          </a:p>
        </p:txBody>
      </p:sp>
      <p:sp>
        <p:nvSpPr>
          <p:cNvPr id="6" name="">
            <a:extLst xmlns:a="http://schemas.openxmlformats.org/drawingml/2006/main">
              <a:ext uri="{FF2B5EF4-FFF2-40B4-BE49-F238E27FC236}">
                <a16:creationId xmlns:a16="http://schemas.microsoft.com/office/drawing/2014/main" id="{3CC0CD9B-395B-4137-8A7E-61BA7FF0B6CC}"/>
              </a:ext>
            </a:extLst>
          </p:cNvPr>
          <p:cNvSpPr>
            <a:spLocks xmlns:a="http://schemas.openxmlformats.org/drawingml/2006/main" noGrp="1"/>
          </p:cNvSpPr>
          <p:nvPr/>
        </p:nvSpPr>
        <p:spPr>
          <a:xfrm xmlns:a="http://schemas.openxmlformats.org/drawingml/2006/main">
            <a:off x="685800" y="17621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7" name="">
            <a:extLst xmlns:a="http://schemas.openxmlformats.org/drawingml/2006/main">
              <a:ext uri="{FF2B5EF4-FFF2-40B4-BE49-F238E27FC236}">
                <a16:creationId xmlns:a16="http://schemas.microsoft.com/office/drawing/2014/main" id="{A7E5FC19-1E17-4F2B-83F1-DBD8E3226EEE}"/>
              </a:ext>
            </a:extLst>
          </p:cNvPr>
          <p:cNvSpPr>
            <a:spLocks xmlns:a="http://schemas.openxmlformats.org/drawingml/2006/main" noGrp="1"/>
          </p:cNvSpPr>
          <p:nvPr/>
        </p:nvSpPr>
        <p:spPr>
          <a:xfrm xmlns:a="http://schemas.openxmlformats.org/drawingml/2006/main">
            <a:off x="695325" y="17430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8" name="">
            <a:extLst xmlns:a="http://schemas.openxmlformats.org/drawingml/2006/main">
              <a:ext uri="{FF2B5EF4-FFF2-40B4-BE49-F238E27FC236}">
                <a16:creationId xmlns:a16="http://schemas.microsoft.com/office/drawing/2014/main" id="{D508B24E-89D2-4EE7-831E-EC5A25692807}"/>
              </a:ext>
            </a:extLst>
          </p:cNvPr>
          <p:cNvSpPr>
            <a:spLocks xmlns:a="http://schemas.openxmlformats.org/drawingml/2006/main" noGrp="1"/>
          </p:cNvSpPr>
          <p:nvPr/>
        </p:nvSpPr>
        <p:spPr>
          <a:xfrm xmlns:a="http://schemas.openxmlformats.org/drawingml/2006/main">
            <a:off x="1390650" y="16954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cited source was retrieved;</a:t>
            </a:r>
          </a:p>
        </p:txBody>
      </p:sp>
      <p:sp>
        <p:nvSpPr>
          <p:cNvPr id="9" name="">
            <a:extLst xmlns:a="http://schemas.openxmlformats.org/drawingml/2006/main">
              <a:ext uri="{FF2B5EF4-FFF2-40B4-BE49-F238E27FC236}">
                <a16:creationId xmlns:a16="http://schemas.microsoft.com/office/drawing/2014/main" id="{2079B733-8B95-47E0-A1D9-CCEFE00A9FDC}"/>
              </a:ext>
            </a:extLst>
          </p:cNvPr>
          <p:cNvSpPr>
            <a:spLocks xmlns:a="http://schemas.openxmlformats.org/drawingml/2006/main" noGrp="1"/>
          </p:cNvSpPr>
          <p:nvPr/>
        </p:nvSpPr>
        <p:spPr>
          <a:xfrm xmlns:a="http://schemas.openxmlformats.org/drawingml/2006/main">
            <a:off x="1390650" y="24574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0AA2D5A-203B-4E20-BC3D-42302BF2677C}"/>
              </a:ext>
            </a:extLst>
          </p:cNvPr>
          <p:cNvSpPr>
            <a:spLocks xmlns:a="http://schemas.openxmlformats.org/drawingml/2006/main" noGrp="1"/>
          </p:cNvSpPr>
          <p:nvPr/>
        </p:nvSpPr>
        <p:spPr>
          <a:xfrm xmlns:a="http://schemas.openxmlformats.org/drawingml/2006/main">
            <a:off x="685800" y="28289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1" name="">
            <a:extLst xmlns:a="http://schemas.openxmlformats.org/drawingml/2006/main">
              <a:ext uri="{FF2B5EF4-FFF2-40B4-BE49-F238E27FC236}">
                <a16:creationId xmlns:a16="http://schemas.microsoft.com/office/drawing/2014/main" id="{F19077F6-B33D-41E6-8A28-08692691C88E}"/>
              </a:ext>
            </a:extLst>
          </p:cNvPr>
          <p:cNvSpPr>
            <a:spLocks xmlns:a="http://schemas.openxmlformats.org/drawingml/2006/main" noGrp="1"/>
          </p:cNvSpPr>
          <p:nvPr/>
        </p:nvSpPr>
        <p:spPr>
          <a:xfrm xmlns:a="http://schemas.openxmlformats.org/drawingml/2006/main">
            <a:off x="695325" y="28098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2" name="">
            <a:extLst xmlns:a="http://schemas.openxmlformats.org/drawingml/2006/main">
              <a:ext uri="{FF2B5EF4-FFF2-40B4-BE49-F238E27FC236}">
                <a16:creationId xmlns:a16="http://schemas.microsoft.com/office/drawing/2014/main" id="{CBC63346-6966-4CA9-B91D-47C962ABC692}"/>
              </a:ext>
            </a:extLst>
          </p:cNvPr>
          <p:cNvSpPr>
            <a:spLocks xmlns:a="http://schemas.openxmlformats.org/drawingml/2006/main" noGrp="1"/>
          </p:cNvSpPr>
          <p:nvPr/>
        </p:nvSpPr>
        <p:spPr>
          <a:xfrm xmlns:a="http://schemas.openxmlformats.org/drawingml/2006/main">
            <a:off x="1390650" y="27622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cited passage supports the nearby claim;</a:t>
            </a:r>
          </a:p>
        </p:txBody>
      </p:sp>
      <p:sp>
        <p:nvSpPr>
          <p:cNvPr id="13" name="">
            <a:extLst xmlns:a="http://schemas.openxmlformats.org/drawingml/2006/main">
              <a:ext uri="{FF2B5EF4-FFF2-40B4-BE49-F238E27FC236}">
                <a16:creationId xmlns:a16="http://schemas.microsoft.com/office/drawing/2014/main" id="{713FD73D-3FD4-4566-8DBA-BB292FBB6E29}"/>
              </a:ext>
            </a:extLst>
          </p:cNvPr>
          <p:cNvSpPr>
            <a:spLocks xmlns:a="http://schemas.openxmlformats.org/drawingml/2006/main" noGrp="1"/>
          </p:cNvSpPr>
          <p:nvPr/>
        </p:nvSpPr>
        <p:spPr>
          <a:xfrm xmlns:a="http://schemas.openxmlformats.org/drawingml/2006/main">
            <a:off x="1390650" y="35242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60679DD-6D08-445C-844A-0880FCBF826D}"/>
              </a:ext>
            </a:extLst>
          </p:cNvPr>
          <p:cNvSpPr>
            <a:spLocks xmlns:a="http://schemas.openxmlformats.org/drawingml/2006/main" noGrp="1"/>
          </p:cNvSpPr>
          <p:nvPr/>
        </p:nvSpPr>
        <p:spPr>
          <a:xfrm xmlns:a="http://schemas.openxmlformats.org/drawingml/2006/main">
            <a:off x="685800" y="38957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5" name="">
            <a:extLst xmlns:a="http://schemas.openxmlformats.org/drawingml/2006/main">
              <a:ext uri="{FF2B5EF4-FFF2-40B4-BE49-F238E27FC236}">
                <a16:creationId xmlns:a16="http://schemas.microsoft.com/office/drawing/2014/main" id="{9874DAB7-9555-47FC-A37F-A079984B528A}"/>
              </a:ext>
            </a:extLst>
          </p:cNvPr>
          <p:cNvSpPr>
            <a:spLocks xmlns:a="http://schemas.openxmlformats.org/drawingml/2006/main" noGrp="1"/>
          </p:cNvSpPr>
          <p:nvPr/>
        </p:nvSpPr>
        <p:spPr>
          <a:xfrm xmlns:a="http://schemas.openxmlformats.org/drawingml/2006/main">
            <a:off x="695325" y="38766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6" name="">
            <a:extLst xmlns:a="http://schemas.openxmlformats.org/drawingml/2006/main">
              <a:ext uri="{FF2B5EF4-FFF2-40B4-BE49-F238E27FC236}">
                <a16:creationId xmlns:a16="http://schemas.microsoft.com/office/drawing/2014/main" id="{86EF55BC-B580-4E30-A2FA-7C6FEDBD4F2F}"/>
              </a:ext>
            </a:extLst>
          </p:cNvPr>
          <p:cNvSpPr>
            <a:spLocks xmlns:a="http://schemas.openxmlformats.org/drawingml/2006/main" noGrp="1"/>
          </p:cNvSpPr>
          <p:nvPr/>
        </p:nvSpPr>
        <p:spPr>
          <a:xfrm xmlns:a="http://schemas.openxmlformats.org/drawingml/2006/main">
            <a:off x="1390650" y="38290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no unsupported claims were added;</a:t>
            </a:r>
          </a:p>
        </p:txBody>
      </p:sp>
      <p:sp>
        <p:nvSpPr>
          <p:cNvPr id="17" name="">
            <a:extLst xmlns:a="http://schemas.openxmlformats.org/drawingml/2006/main">
              <a:ext uri="{FF2B5EF4-FFF2-40B4-BE49-F238E27FC236}">
                <a16:creationId xmlns:a16="http://schemas.microsoft.com/office/drawing/2014/main" id="{8A7EFC57-4E33-4222-B211-0E1A58867A66}"/>
              </a:ext>
            </a:extLst>
          </p:cNvPr>
          <p:cNvSpPr>
            <a:spLocks xmlns:a="http://schemas.openxmlformats.org/drawingml/2006/main" noGrp="1"/>
          </p:cNvSpPr>
          <p:nvPr/>
        </p:nvSpPr>
        <p:spPr>
          <a:xfrm xmlns:a="http://schemas.openxmlformats.org/drawingml/2006/main">
            <a:off x="1390650" y="45910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316519A-EF10-4B87-A2C8-A11C6458ED82}"/>
              </a:ext>
            </a:extLst>
          </p:cNvPr>
          <p:cNvSpPr>
            <a:spLocks xmlns:a="http://schemas.openxmlformats.org/drawingml/2006/main" noGrp="1"/>
          </p:cNvSpPr>
          <p:nvPr/>
        </p:nvSpPr>
        <p:spPr>
          <a:xfrm xmlns:a="http://schemas.openxmlformats.org/drawingml/2006/main">
            <a:off x="685800" y="49625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9" name="">
            <a:extLst xmlns:a="http://schemas.openxmlformats.org/drawingml/2006/main">
              <a:ext uri="{FF2B5EF4-FFF2-40B4-BE49-F238E27FC236}">
                <a16:creationId xmlns:a16="http://schemas.microsoft.com/office/drawing/2014/main" id="{6AE098F9-B4B5-4C11-8CE4-B53FDC6632D1}"/>
              </a:ext>
            </a:extLst>
          </p:cNvPr>
          <p:cNvSpPr>
            <a:spLocks xmlns:a="http://schemas.openxmlformats.org/drawingml/2006/main" noGrp="1"/>
          </p:cNvSpPr>
          <p:nvPr/>
        </p:nvSpPr>
        <p:spPr>
          <a:xfrm xmlns:a="http://schemas.openxmlformats.org/drawingml/2006/main">
            <a:off x="695325" y="49434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20" name="">
            <a:extLst xmlns:a="http://schemas.openxmlformats.org/drawingml/2006/main">
              <a:ext uri="{FF2B5EF4-FFF2-40B4-BE49-F238E27FC236}">
                <a16:creationId xmlns:a16="http://schemas.microsoft.com/office/drawing/2014/main" id="{9EA48965-6769-4598-B131-D254D94DE721}"/>
              </a:ext>
            </a:extLst>
          </p:cNvPr>
          <p:cNvSpPr>
            <a:spLocks xmlns:a="http://schemas.openxmlformats.org/drawingml/2006/main" noGrp="1"/>
          </p:cNvSpPr>
          <p:nvPr/>
        </p:nvSpPr>
        <p:spPr>
          <a:xfrm xmlns:a="http://schemas.openxmlformats.org/drawingml/2006/main">
            <a:off x="1390650" y="48958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quotation and numbers match;</a:t>
            </a:r>
          </a:p>
        </p:txBody>
      </p:sp>
      <p:sp>
        <p:nvSpPr>
          <p:cNvPr id="21" name="">
            <a:extLst xmlns:a="http://schemas.openxmlformats.org/drawingml/2006/main">
              <a:ext uri="{FF2B5EF4-FFF2-40B4-BE49-F238E27FC236}">
                <a16:creationId xmlns:a16="http://schemas.microsoft.com/office/drawing/2014/main" id="{A5DBBA60-5DAC-4CAA-A006-BD3F447EDBB0}"/>
              </a:ext>
            </a:extLst>
          </p:cNvPr>
          <p:cNvSpPr>
            <a:spLocks xmlns:a="http://schemas.openxmlformats.org/drawingml/2006/main" noGrp="1"/>
          </p:cNvSpPr>
          <p:nvPr/>
        </p:nvSpPr>
        <p:spPr>
          <a:xfrm xmlns:a="http://schemas.openxmlformats.org/drawingml/2006/main">
            <a:off x="1390650" y="56578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Tree>
    <p:extLst>
      <p:ext uri="{BB962C8B-B14F-4D97-AF65-F5344CB8AC3E}">
        <p14:creationId xmlns:p14="http://schemas.microsoft.com/office/powerpoint/2010/main" val="1300188348"/>
      </p:ext>
    </p:extLst>
  </p:cSld>
</p:sld>
</file>

<file path=ppt/slides/slide11.xml><?xml version="1.0" encoding="utf-8"?>
<p:sld xmlns:p="http://schemas.openxmlformats.org/presentationml/2006/main">
  <p:cSld>
    <p:bg>
      <p:bgPr>
        <a:solidFill xmlns:a="http://schemas.openxmlformats.org/drawingml/2006/main">
          <a:srgbClr val="FFF8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57153C9-B719-4397-83E6-C873CCCD7A75}"/>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M15 / L01</a:t>
            </a:r>
          </a:p>
        </p:txBody>
      </p:sp>
      <p:sp>
        <p:nvSpPr>
          <p:cNvPr id="2" name="">
            <a:extLst xmlns:a="http://schemas.openxmlformats.org/drawingml/2006/main">
              <a:ext uri="{FF2B5EF4-FFF2-40B4-BE49-F238E27FC236}">
                <a16:creationId xmlns:a16="http://schemas.microsoft.com/office/drawing/2014/main" id="{D6E4B08E-EB4A-42EA-8540-7BD2667BB2BE}"/>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RAG Supplies Evidence at Request Time</a:t>
            </a:r>
          </a:p>
        </p:txBody>
      </p:sp>
      <p:sp>
        <p:nvSpPr>
          <p:cNvPr id="3" name="">
            <a:extLst xmlns:a="http://schemas.openxmlformats.org/drawingml/2006/main">
              <a:ext uri="{FF2B5EF4-FFF2-40B4-BE49-F238E27FC236}">
                <a16:creationId xmlns:a16="http://schemas.microsoft.com/office/drawing/2014/main" id="{46AD90E1-FCFF-4422-A430-CA11450E71CF}"/>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11</a:t>
            </a:r>
          </a:p>
        </p:txBody>
      </p:sp>
      <p:sp>
        <p:nvSpPr>
          <p:cNvPr id="4" name="">
            <a:extLst xmlns:a="http://schemas.openxmlformats.org/drawingml/2006/main">
              <a:ext uri="{FF2B5EF4-FFF2-40B4-BE49-F238E27FC236}">
                <a16:creationId xmlns:a16="http://schemas.microsoft.com/office/drawing/2014/main" id="{03AE8D0A-4CE3-4CF8-9BE2-A72ECFD896BC}"/>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RISK REVIEW</a:t>
            </a:r>
          </a:p>
        </p:txBody>
      </p:sp>
      <p:sp>
        <p:nvSpPr>
          <p:cNvPr id="5" name="">
            <a:extLst xmlns:a="http://schemas.openxmlformats.org/drawingml/2006/main">
              <a:ext uri="{FF2B5EF4-FFF2-40B4-BE49-F238E27FC236}">
                <a16:creationId xmlns:a16="http://schemas.microsoft.com/office/drawing/2014/main" id="{99B7E6D9-6EA7-4C87-819C-F07FDD4F8AFB}"/>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A RAG Failure Has an Owning Stage</a:t>
            </a:r>
          </a:p>
        </p:txBody>
      </p:sp>
      <p:sp>
        <p:nvSpPr>
          <p:cNvPr id="6" name="">
            <a:extLst xmlns:a="http://schemas.openxmlformats.org/drawingml/2006/main">
              <a:ext uri="{FF2B5EF4-FFF2-40B4-BE49-F238E27FC236}">
                <a16:creationId xmlns:a16="http://schemas.microsoft.com/office/drawing/2014/main" id="{7D4A3BF6-0C25-4FEB-ABCD-102756EE7B1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58515EF-D4AD-43A9-B626-2631F8F8DEC8}"/>
              </a:ext>
            </a:extLst>
          </p:cNvPr>
          <p:cNvSpPr>
            <a:spLocks xmlns:a="http://schemas.openxmlformats.org/drawingml/2006/main" noGrp="1"/>
          </p:cNvSpPr>
          <p:nvPr/>
        </p:nvSpPr>
        <p:spPr>
          <a:xfrm xmlns:a="http://schemas.openxmlformats.org/drawingml/2006/main">
            <a:off x="704850" y="18669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01</a:t>
            </a:r>
          </a:p>
        </p:txBody>
      </p:sp>
      <p:sp>
        <p:nvSpPr>
          <p:cNvPr id="8" name="">
            <a:extLst xmlns:a="http://schemas.openxmlformats.org/drawingml/2006/main">
              <a:ext uri="{FF2B5EF4-FFF2-40B4-BE49-F238E27FC236}">
                <a16:creationId xmlns:a16="http://schemas.microsoft.com/office/drawing/2014/main" id="{DD4595AB-BEB2-4D40-8536-CA8F285CA24C}"/>
              </a:ext>
            </a:extLst>
          </p:cNvPr>
          <p:cNvSpPr>
            <a:spLocks xmlns:a="http://schemas.openxmlformats.org/drawingml/2006/main" noGrp="1"/>
          </p:cNvSpPr>
          <p:nvPr/>
        </p:nvSpPr>
        <p:spPr>
          <a:xfrm xmlns:a="http://schemas.openxmlformats.org/drawingml/2006/main">
            <a:off x="1809750" y="17907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parsing lost text;</a:t>
            </a:r>
          </a:p>
        </p:txBody>
      </p:sp>
      <p:sp>
        <p:nvSpPr>
          <p:cNvPr id="9" name="">
            <a:extLst xmlns:a="http://schemas.openxmlformats.org/drawingml/2006/main">
              <a:ext uri="{FF2B5EF4-FFF2-40B4-BE49-F238E27FC236}">
                <a16:creationId xmlns:a16="http://schemas.microsoft.com/office/drawing/2014/main" id="{75AADB0E-06DC-47BC-9CAA-71B37487DFAA}"/>
              </a:ext>
            </a:extLst>
          </p:cNvPr>
          <p:cNvSpPr>
            <a:spLocks xmlns:a="http://schemas.openxmlformats.org/drawingml/2006/main" noGrp="1"/>
          </p:cNvSpPr>
          <p:nvPr/>
        </p:nvSpPr>
        <p:spPr>
          <a:xfrm xmlns:a="http://schemas.openxmlformats.org/drawingml/2006/main">
            <a:off x="704850" y="28670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E1B55A4-8996-41DF-A938-19B3358D9109}"/>
              </a:ext>
            </a:extLst>
          </p:cNvPr>
          <p:cNvSpPr>
            <a:spLocks xmlns:a="http://schemas.openxmlformats.org/drawingml/2006/main" noGrp="1"/>
          </p:cNvSpPr>
          <p:nvPr/>
        </p:nvSpPr>
        <p:spPr>
          <a:xfrm xmlns:a="http://schemas.openxmlformats.org/drawingml/2006/main">
            <a:off x="704850" y="32766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02</a:t>
            </a:r>
          </a:p>
        </p:txBody>
      </p:sp>
      <p:sp>
        <p:nvSpPr>
          <p:cNvPr id="11" name="">
            <a:extLst xmlns:a="http://schemas.openxmlformats.org/drawingml/2006/main">
              <a:ext uri="{FF2B5EF4-FFF2-40B4-BE49-F238E27FC236}">
                <a16:creationId xmlns:a16="http://schemas.microsoft.com/office/drawing/2014/main" id="{F66AAE2D-6AD2-4DAA-B1AF-AEDF4A780F5C}"/>
              </a:ext>
            </a:extLst>
          </p:cNvPr>
          <p:cNvSpPr>
            <a:spLocks xmlns:a="http://schemas.openxmlformats.org/drawingml/2006/main" noGrp="1"/>
          </p:cNvSpPr>
          <p:nvPr/>
        </p:nvSpPr>
        <p:spPr>
          <a:xfrm xmlns:a="http://schemas.openxmlformats.org/drawingml/2006/main">
            <a:off x="1809750" y="32004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cleaning changed meaning;</a:t>
            </a:r>
          </a:p>
        </p:txBody>
      </p:sp>
      <p:sp>
        <p:nvSpPr>
          <p:cNvPr id="12" name="">
            <a:extLst xmlns:a="http://schemas.openxmlformats.org/drawingml/2006/main">
              <a:ext uri="{FF2B5EF4-FFF2-40B4-BE49-F238E27FC236}">
                <a16:creationId xmlns:a16="http://schemas.microsoft.com/office/drawing/2014/main" id="{AF3DAEF8-E366-472F-ABBC-408736BD17FB}"/>
              </a:ext>
            </a:extLst>
          </p:cNvPr>
          <p:cNvSpPr>
            <a:spLocks xmlns:a="http://schemas.openxmlformats.org/drawingml/2006/main" noGrp="1"/>
          </p:cNvSpPr>
          <p:nvPr/>
        </p:nvSpPr>
        <p:spPr>
          <a:xfrm xmlns:a="http://schemas.openxmlformats.org/drawingml/2006/main">
            <a:off x="704850" y="42767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E109751-C06D-41A3-BC98-AF068FE8015F}"/>
              </a:ext>
            </a:extLst>
          </p:cNvPr>
          <p:cNvSpPr>
            <a:spLocks xmlns:a="http://schemas.openxmlformats.org/drawingml/2006/main" noGrp="1"/>
          </p:cNvSpPr>
          <p:nvPr/>
        </p:nvSpPr>
        <p:spPr>
          <a:xfrm xmlns:a="http://schemas.openxmlformats.org/drawingml/2006/main">
            <a:off x="704850" y="46863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03</a:t>
            </a:r>
          </a:p>
        </p:txBody>
      </p:sp>
      <p:sp>
        <p:nvSpPr>
          <p:cNvPr id="14" name="">
            <a:extLst xmlns:a="http://schemas.openxmlformats.org/drawingml/2006/main">
              <a:ext uri="{FF2B5EF4-FFF2-40B4-BE49-F238E27FC236}">
                <a16:creationId xmlns:a16="http://schemas.microsoft.com/office/drawing/2014/main" id="{A00633FC-942A-411F-A9B8-DE960E538AAB}"/>
              </a:ext>
            </a:extLst>
          </p:cNvPr>
          <p:cNvSpPr>
            <a:spLocks xmlns:a="http://schemas.openxmlformats.org/drawingml/2006/main" noGrp="1"/>
          </p:cNvSpPr>
          <p:nvPr/>
        </p:nvSpPr>
        <p:spPr>
          <a:xfrm xmlns:a="http://schemas.openxmlformats.org/drawingml/2006/main">
            <a:off x="1809750" y="46101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chunk boundary split evidence;</a:t>
            </a:r>
          </a:p>
        </p:txBody>
      </p:sp>
      <p:sp>
        <p:nvSpPr>
          <p:cNvPr id="15" name="">
            <a:extLst xmlns:a="http://schemas.openxmlformats.org/drawingml/2006/main">
              <a:ext uri="{FF2B5EF4-FFF2-40B4-BE49-F238E27FC236}">
                <a16:creationId xmlns:a16="http://schemas.microsoft.com/office/drawing/2014/main" id="{067FFA3C-7FB9-4842-B4B1-FC95F110915A}"/>
              </a:ext>
            </a:extLst>
          </p:cNvPr>
          <p:cNvSpPr>
            <a:spLocks xmlns:a="http://schemas.openxmlformats.org/drawingml/2006/main" noGrp="1"/>
          </p:cNvSpPr>
          <p:nvPr/>
        </p:nvSpPr>
        <p:spPr>
          <a:xfrm xmlns:a="http://schemas.openxmlformats.org/drawingml/2006/main">
            <a:off x="704850" y="56864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Tree>
    <p:extLst>
      <p:ext uri="{BB962C8B-B14F-4D97-AF65-F5344CB8AC3E}">
        <p14:creationId xmlns:p14="http://schemas.microsoft.com/office/powerpoint/2010/main" val="960974380"/>
      </p:ext>
    </p:extLst>
  </p:cSld>
</p:sld>
</file>

<file path=ppt/slides/slide12.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CF2EE65-05D7-4870-BF1D-53122F0A869F}"/>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M15 / L01</a:t>
            </a:r>
          </a:p>
        </p:txBody>
      </p:sp>
      <p:sp>
        <p:nvSpPr>
          <p:cNvPr id="2" name="">
            <a:extLst xmlns:a="http://schemas.openxmlformats.org/drawingml/2006/main">
              <a:ext uri="{FF2B5EF4-FFF2-40B4-BE49-F238E27FC236}">
                <a16:creationId xmlns:a16="http://schemas.microsoft.com/office/drawing/2014/main" id="{16AE0AD6-9943-4987-97F5-1F0B94C09459}"/>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RAG Supplies Evidence at Request Time</a:t>
            </a:r>
          </a:p>
        </p:txBody>
      </p:sp>
      <p:sp>
        <p:nvSpPr>
          <p:cNvPr id="3" name="">
            <a:extLst xmlns:a="http://schemas.openxmlformats.org/drawingml/2006/main">
              <a:ext uri="{FF2B5EF4-FFF2-40B4-BE49-F238E27FC236}">
                <a16:creationId xmlns:a16="http://schemas.microsoft.com/office/drawing/2014/main" id="{1715FB9E-2E24-4C8F-9CF8-C3CDA0A2EA89}"/>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12</a:t>
            </a:r>
          </a:p>
        </p:txBody>
      </p:sp>
      <p:sp>
        <p:nvSpPr>
          <p:cNvPr id="4" name="">
            <a:extLst xmlns:a="http://schemas.openxmlformats.org/drawingml/2006/main">
              <a:ext uri="{FF2B5EF4-FFF2-40B4-BE49-F238E27FC236}">
                <a16:creationId xmlns:a16="http://schemas.microsoft.com/office/drawing/2014/main" id="{2531CDFA-461E-4D25-AD7D-E054F8BD412D}"/>
              </a:ext>
            </a:extLst>
          </p:cNvPr>
          <p:cNvSpPr>
            <a:spLocks xmlns:a="http://schemas.openxmlformats.org/drawingml/2006/main" noGrp="1"/>
          </p:cNvSpPr>
          <p:nvPr/>
        </p:nvSpPr>
        <p:spPr>
          <a:xfrm xmlns:a="http://schemas.openxmlformats.org/drawingml/2006/main">
            <a:off x="609600" y="876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GUIDED LAB</a:t>
            </a:r>
          </a:p>
        </p:txBody>
      </p:sp>
      <p:sp>
        <p:nvSpPr>
          <p:cNvPr id="5" name="">
            <a:extLst xmlns:a="http://schemas.openxmlformats.org/drawingml/2006/main">
              <a:ext uri="{FF2B5EF4-FFF2-40B4-BE49-F238E27FC236}">
                <a16:creationId xmlns:a16="http://schemas.microsoft.com/office/drawing/2014/main" id="{F175311F-80F8-4216-AB23-EF1446E50BEC}"/>
              </a:ext>
            </a:extLst>
          </p:cNvPr>
          <p:cNvSpPr>
            <a:spLocks xmlns:a="http://schemas.openxmlformats.org/drawingml/2006/main" noGrp="1"/>
          </p:cNvSpPr>
          <p:nvPr/>
        </p:nvSpPr>
        <p:spPr>
          <a:xfrm xmlns:a="http://schemas.openxmlformats.org/drawingml/2006/main">
            <a:off x="609600" y="1466850"/>
            <a:ext cx="10477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75" b="1">
                <a:solidFill>
                  <a:srgbClr val="FFFFFF"/>
                </a:solidFill>
              </a:defRPr>
            </a:pPr>
            <a:r>
              <a:rPr sz="2775" b="1">
                <a:solidFill>
                  <a:srgbClr val="FFFFFF"/>
                </a:solidFill>
              </a:rPr>
              <a:t>Guided Lab: Build RAG from Scratch</a:t>
            </a:r>
          </a:p>
        </p:txBody>
      </p:sp>
      <p:sp>
        <p:nvSpPr>
          <p:cNvPr id="6" name="">
            <a:extLst xmlns:a="http://schemas.openxmlformats.org/drawingml/2006/main">
              <a:ext uri="{FF2B5EF4-FFF2-40B4-BE49-F238E27FC236}">
                <a16:creationId xmlns:a16="http://schemas.microsoft.com/office/drawing/2014/main" id="{BCEC7AC9-43BD-4E9D-A0C4-CC51F1A85150}"/>
              </a:ext>
            </a:extLst>
          </p:cNvPr>
          <p:cNvSpPr>
            <a:spLocks xmlns:a="http://schemas.openxmlformats.org/drawingml/2006/main" noGrp="1"/>
          </p:cNvSpPr>
          <p:nvPr/>
        </p:nvSpPr>
        <p:spPr>
          <a:xfrm xmlns:a="http://schemas.openxmlformats.org/drawingml/2006/main">
            <a:off x="6096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72A4AE84-AF3C-4386-B6AE-F5E9A5D54DA6}"/>
              </a:ext>
            </a:extLst>
          </p:cNvPr>
          <p:cNvSpPr>
            <a:spLocks xmlns:a="http://schemas.openxmlformats.org/drawingml/2006/main" noGrp="1"/>
          </p:cNvSpPr>
          <p:nvPr/>
        </p:nvSpPr>
        <p:spPr>
          <a:xfrm xmlns:a="http://schemas.openxmlformats.org/drawingml/2006/main">
            <a:off x="6096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58CE05B-8DFA-498A-8579-E93B0D65F7AC}"/>
              </a:ext>
            </a:extLst>
          </p:cNvPr>
          <p:cNvSpPr>
            <a:spLocks xmlns:a="http://schemas.openxmlformats.org/drawingml/2006/main" noGrp="1"/>
          </p:cNvSpPr>
          <p:nvPr/>
        </p:nvSpPr>
        <p:spPr>
          <a:xfrm xmlns:a="http://schemas.openxmlformats.org/drawingml/2006/main">
            <a:off x="6096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FFFFFF"/>
                </a:solidFill>
              </a:defRPr>
            </a:pPr>
            <a:r>
              <a:rPr sz="1650" b="1">
                <a:solidFill>
                  <a:srgbClr val="FFFFFF"/>
                </a:solidFill>
              </a:rPr>
              <a:t>parse and visually verify source pages</a:t>
            </a:r>
          </a:p>
        </p:txBody>
      </p:sp>
      <p:sp>
        <p:nvSpPr>
          <p:cNvPr id="9" name="">
            <a:extLst xmlns:a="http://schemas.openxmlformats.org/drawingml/2006/main">
              <a:ext uri="{FF2B5EF4-FFF2-40B4-BE49-F238E27FC236}">
                <a16:creationId xmlns:a16="http://schemas.microsoft.com/office/drawing/2014/main" id="{B1A3C95E-1C74-4F22-8841-D5C300A21088}"/>
              </a:ext>
            </a:extLst>
          </p:cNvPr>
          <p:cNvSpPr>
            <a:spLocks xmlns:a="http://schemas.openxmlformats.org/drawingml/2006/main" noGrp="1"/>
          </p:cNvSpPr>
          <p:nvPr/>
        </p:nvSpPr>
        <p:spPr>
          <a:xfrm xmlns:a="http://schemas.openxmlformats.org/drawingml/2006/main">
            <a:off x="33718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0" name="">
            <a:extLst xmlns:a="http://schemas.openxmlformats.org/drawingml/2006/main">
              <a:ext uri="{FF2B5EF4-FFF2-40B4-BE49-F238E27FC236}">
                <a16:creationId xmlns:a16="http://schemas.microsoft.com/office/drawing/2014/main" id="{DE10378A-2446-49CA-8DC6-106314656883}"/>
              </a:ext>
            </a:extLst>
          </p:cNvPr>
          <p:cNvSpPr>
            <a:spLocks xmlns:a="http://schemas.openxmlformats.org/drawingml/2006/main" noGrp="1"/>
          </p:cNvSpPr>
          <p:nvPr/>
        </p:nvSpPr>
        <p:spPr>
          <a:xfrm xmlns:a="http://schemas.openxmlformats.org/drawingml/2006/main">
            <a:off x="337185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1019B88-44FC-47EE-B653-9BC53A1DAA8A}"/>
              </a:ext>
            </a:extLst>
          </p:cNvPr>
          <p:cNvSpPr>
            <a:spLocks xmlns:a="http://schemas.openxmlformats.org/drawingml/2006/main" noGrp="1"/>
          </p:cNvSpPr>
          <p:nvPr/>
        </p:nvSpPr>
        <p:spPr>
          <a:xfrm xmlns:a="http://schemas.openxmlformats.org/drawingml/2006/main">
            <a:off x="33718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FFFFFF"/>
                </a:solidFill>
              </a:defRPr>
            </a:pPr>
            <a:r>
              <a:rPr sz="1425" b="1">
                <a:solidFill>
                  <a:srgbClr val="FFFFFF"/>
                </a:solidFill>
              </a:rPr>
              <a:t>preserve source, page, section, and access metadata</a:t>
            </a:r>
          </a:p>
        </p:txBody>
      </p:sp>
      <p:sp>
        <p:nvSpPr>
          <p:cNvPr id="12" name="">
            <a:extLst xmlns:a="http://schemas.openxmlformats.org/drawingml/2006/main">
              <a:ext uri="{FF2B5EF4-FFF2-40B4-BE49-F238E27FC236}">
                <a16:creationId xmlns:a16="http://schemas.microsoft.com/office/drawing/2014/main" id="{793366CB-7CDE-4B15-BDF8-B1101A5BD3F4}"/>
              </a:ext>
            </a:extLst>
          </p:cNvPr>
          <p:cNvSpPr>
            <a:spLocks xmlns:a="http://schemas.openxmlformats.org/drawingml/2006/main" noGrp="1"/>
          </p:cNvSpPr>
          <p:nvPr/>
        </p:nvSpPr>
        <p:spPr>
          <a:xfrm xmlns:a="http://schemas.openxmlformats.org/drawingml/2006/main">
            <a:off x="61341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3" name="">
            <a:extLst xmlns:a="http://schemas.openxmlformats.org/drawingml/2006/main">
              <a:ext uri="{FF2B5EF4-FFF2-40B4-BE49-F238E27FC236}">
                <a16:creationId xmlns:a16="http://schemas.microsoft.com/office/drawing/2014/main" id="{9FBD443B-63C0-4C81-AB84-E87E88DC8FE4}"/>
              </a:ext>
            </a:extLst>
          </p:cNvPr>
          <p:cNvSpPr>
            <a:spLocks xmlns:a="http://schemas.openxmlformats.org/drawingml/2006/main" noGrp="1"/>
          </p:cNvSpPr>
          <p:nvPr/>
        </p:nvSpPr>
        <p:spPr>
          <a:xfrm xmlns:a="http://schemas.openxmlformats.org/drawingml/2006/main">
            <a:off x="61341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3017FA2-C86A-4DA9-9372-8B4758C43F9B}"/>
              </a:ext>
            </a:extLst>
          </p:cNvPr>
          <p:cNvSpPr>
            <a:spLocks xmlns:a="http://schemas.openxmlformats.org/drawingml/2006/main" noGrp="1"/>
          </p:cNvSpPr>
          <p:nvPr/>
        </p:nvSpPr>
        <p:spPr>
          <a:xfrm xmlns:a="http://schemas.openxmlformats.org/drawingml/2006/main">
            <a:off x="61341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FFFFFF"/>
                </a:solidFill>
              </a:defRPr>
            </a:pPr>
            <a:r>
              <a:rPr sz="1650" b="1">
                <a:solidFill>
                  <a:srgbClr val="FFFFFF"/>
                </a:solidFill>
              </a:rPr>
              <a:t>compare two chunking strategies</a:t>
            </a:r>
          </a:p>
        </p:txBody>
      </p:sp>
      <p:sp>
        <p:nvSpPr>
          <p:cNvPr id="15" name="">
            <a:extLst xmlns:a="http://schemas.openxmlformats.org/drawingml/2006/main">
              <a:ext uri="{FF2B5EF4-FFF2-40B4-BE49-F238E27FC236}">
                <a16:creationId xmlns:a16="http://schemas.microsoft.com/office/drawing/2014/main" id="{29CC1602-0656-4C12-8418-4E00DE1130D3}"/>
              </a:ext>
            </a:extLst>
          </p:cNvPr>
          <p:cNvSpPr>
            <a:spLocks xmlns:a="http://schemas.openxmlformats.org/drawingml/2006/main" noGrp="1"/>
          </p:cNvSpPr>
          <p:nvPr/>
        </p:nvSpPr>
        <p:spPr>
          <a:xfrm xmlns:a="http://schemas.openxmlformats.org/drawingml/2006/main">
            <a:off x="88963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6" name="">
            <a:extLst xmlns:a="http://schemas.openxmlformats.org/drawingml/2006/main">
              <a:ext uri="{FF2B5EF4-FFF2-40B4-BE49-F238E27FC236}">
                <a16:creationId xmlns:a16="http://schemas.microsoft.com/office/drawing/2014/main" id="{A292A211-A3AD-4777-B4F8-037AE81129BD}"/>
              </a:ext>
            </a:extLst>
          </p:cNvPr>
          <p:cNvSpPr>
            <a:spLocks xmlns:a="http://schemas.openxmlformats.org/drawingml/2006/main" noGrp="1"/>
          </p:cNvSpPr>
          <p:nvPr/>
        </p:nvSpPr>
        <p:spPr>
          <a:xfrm xmlns:a="http://schemas.openxmlformats.org/drawingml/2006/main">
            <a:off x="8896350" y="4400550"/>
            <a:ext cx="203835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B6DD7D8-AFB7-411C-B6A2-1262B4C6C7F3}"/>
              </a:ext>
            </a:extLst>
          </p:cNvPr>
          <p:cNvSpPr>
            <a:spLocks xmlns:a="http://schemas.openxmlformats.org/drawingml/2006/main" noGrp="1"/>
          </p:cNvSpPr>
          <p:nvPr/>
        </p:nvSpPr>
        <p:spPr>
          <a:xfrm xmlns:a="http://schemas.openxmlformats.org/drawingml/2006/main">
            <a:off x="88963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FFFFFF"/>
                </a:solidFill>
              </a:defRPr>
            </a:pPr>
            <a:r>
              <a:rPr sz="1425" b="1">
                <a:solidFill>
                  <a:srgbClr val="FFFFFF"/>
                </a:solidFill>
              </a:rPr>
              <a:t>embed chunks and queries with one model</a:t>
            </a:r>
          </a:p>
        </p:txBody>
      </p:sp>
    </p:spTree>
    <p:extLst>
      <p:ext uri="{BB962C8B-B14F-4D97-AF65-F5344CB8AC3E}">
        <p14:creationId xmlns:p14="http://schemas.microsoft.com/office/powerpoint/2010/main" val="10782155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2026-07-28T19:29:24.4500000Z</dcterms:created>
  <dcterms:modified xsi:type="dcterms:W3CDTF">2026-07-28T19:29:24.4500000Z</dcterms:modified>
</coreProperties>
</file>