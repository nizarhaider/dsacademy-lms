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043dcddac94a5b" /><Relationship Type="http://schemas.openxmlformats.org/officeDocument/2006/relationships/extended-properties" Target="/docProps/app.xml" Id="R1386766c5e7d483f" /><Relationship Type="http://schemas.openxmlformats.org/officeDocument/2006/relationships/officeDocument" Target="/ppt/presentation.xml" Id="Ra135767d2a9c41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9a3124512c4398"/>
  </p:sldMasterIdLst>
  <p:notesMasterIdLst>
    <p:notesMasterId xmlns:r="http://schemas.openxmlformats.org/officeDocument/2006/relationships" r:id="Re497a196a3404b64"/>
  </p:notesMasterIdLst>
  <p:sldIdLst>
    <p:sldId xmlns:r="http://schemas.openxmlformats.org/officeDocument/2006/relationships" id="256" r:id="R8f145d00e8e0457d"/>
    <p:sldId xmlns:r="http://schemas.openxmlformats.org/officeDocument/2006/relationships" id="257" r:id="R272d3188beeb468f"/>
    <p:sldId xmlns:r="http://schemas.openxmlformats.org/officeDocument/2006/relationships" id="258" r:id="Rcf0063f0b51444ad"/>
    <p:sldId xmlns:r="http://schemas.openxmlformats.org/officeDocument/2006/relationships" id="259" r:id="Rf0980d5d3d2b4128"/>
    <p:sldId xmlns:r="http://schemas.openxmlformats.org/officeDocument/2006/relationships" id="260" r:id="R295d7c83421e48f6"/>
    <p:sldId xmlns:r="http://schemas.openxmlformats.org/officeDocument/2006/relationships" id="261" r:id="Rd47a866460c04df8"/>
    <p:sldId xmlns:r="http://schemas.openxmlformats.org/officeDocument/2006/relationships" id="262" r:id="Re0734afa1fbc40fd"/>
    <p:sldId xmlns:r="http://schemas.openxmlformats.org/officeDocument/2006/relationships" id="263" r:id="R5e7fcfb43aa34787"/>
    <p:sldId xmlns:r="http://schemas.openxmlformats.org/officeDocument/2006/relationships" id="264" r:id="Rcb0d2cdddad14ecf"/>
    <p:sldId xmlns:r="http://schemas.openxmlformats.org/officeDocument/2006/relationships" id="265" r:id="R06c9cf27b0a745d5"/>
    <p:sldId xmlns:r="http://schemas.openxmlformats.org/officeDocument/2006/relationships" id="266" r:id="R3c359ee6f70d435c"/>
    <p:sldId xmlns:r="http://schemas.openxmlformats.org/officeDocument/2006/relationships" id="267" r:id="R31dad0d5429b42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6014db23014973" /><Relationship Type="http://schemas.openxmlformats.org/officeDocument/2006/relationships/slideMaster" Target="/ppt/slideMasters/slideMaster1.xml" Id="R4e9a3124512c4398" /><Relationship Type="http://schemas.openxmlformats.org/officeDocument/2006/relationships/notesMaster" Target="/ppt/notesMasters/notesMaster1.xml" Id="Re497a196a3404b64" /><Relationship Type="http://schemas.openxmlformats.org/officeDocument/2006/relationships/presProps" Target="/ppt/presProps.xml" Id="Rd5baec871ef8497b" /><Relationship Type="http://schemas.openxmlformats.org/officeDocument/2006/relationships/tableStyles" Target="/ppt/tableStyles.xml" Id="Ra581421ff74b4304" /><Relationship Type="http://schemas.openxmlformats.org/officeDocument/2006/relationships/slide" Target="/ppt/slides/slide1.xml" Id="R8f145d00e8e0457d" /><Relationship Type="http://schemas.openxmlformats.org/officeDocument/2006/relationships/slide" Target="/ppt/slides/slide2.xml" Id="R272d3188beeb468f" /><Relationship Type="http://schemas.openxmlformats.org/officeDocument/2006/relationships/slide" Target="/ppt/slides/slide3.xml" Id="Rcf0063f0b51444ad" /><Relationship Type="http://schemas.openxmlformats.org/officeDocument/2006/relationships/slide" Target="/ppt/slides/slide4.xml" Id="Rf0980d5d3d2b4128" /><Relationship Type="http://schemas.openxmlformats.org/officeDocument/2006/relationships/slide" Target="/ppt/slides/slide5.xml" Id="R295d7c83421e48f6" /><Relationship Type="http://schemas.openxmlformats.org/officeDocument/2006/relationships/slide" Target="/ppt/slides/slide6.xml" Id="Rd47a866460c04df8" /><Relationship Type="http://schemas.openxmlformats.org/officeDocument/2006/relationships/slide" Target="/ppt/slides/slide7.xml" Id="Re0734afa1fbc40fd" /><Relationship Type="http://schemas.openxmlformats.org/officeDocument/2006/relationships/slide" Target="/ppt/slides/slide8.xml" Id="R5e7fcfb43aa34787" /><Relationship Type="http://schemas.openxmlformats.org/officeDocument/2006/relationships/slide" Target="/ppt/slides/slide9.xml" Id="Rcb0d2cdddad14ecf" /><Relationship Type="http://schemas.openxmlformats.org/officeDocument/2006/relationships/slide" Target="/ppt/slides/slide10.xml" Id="R06c9cf27b0a745d5" /><Relationship Type="http://schemas.openxmlformats.org/officeDocument/2006/relationships/slide" Target="/ppt/slides/slide11.xml" Id="R3c359ee6f70d435c" /><Relationship Type="http://schemas.openxmlformats.org/officeDocument/2006/relationships/slide" Target="/ppt/slides/slide12.xml" Id="R31dad0d5429b42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28ccb8010140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d19a1b5e6d48a5" /><Relationship Type="http://schemas.openxmlformats.org/officeDocument/2006/relationships/notesMaster" Target="/ppt/notesMasters/notesMaster1.xml" Id="Rfd9aebf0997e40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fa84ec73244bd4" /><Relationship Type="http://schemas.openxmlformats.org/officeDocument/2006/relationships/notesMaster" Target="/ppt/notesMasters/notesMaster1.xml" Id="R21f380d9bd4c4a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578729954843e7" /><Relationship Type="http://schemas.openxmlformats.org/officeDocument/2006/relationships/notesMaster" Target="/ppt/notesMasters/notesMaster1.xml" Id="Rb86001af45a249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dc7697e22a4b1f" /><Relationship Type="http://schemas.openxmlformats.org/officeDocument/2006/relationships/notesMaster" Target="/ppt/notesMasters/notesMaster1.xml" Id="Rc03b8e9e48354b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dcdb20a3514fad" /><Relationship Type="http://schemas.openxmlformats.org/officeDocument/2006/relationships/notesMaster" Target="/ppt/notesMasters/notesMaster1.xml" Id="Re63b011bed1042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391fd4a583462e" /><Relationship Type="http://schemas.openxmlformats.org/officeDocument/2006/relationships/notesMaster" Target="/ppt/notesMasters/notesMaster1.xml" Id="R7da33bba1f0a4a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3f9fd927bf4d71" /><Relationship Type="http://schemas.openxmlformats.org/officeDocument/2006/relationships/notesMaster" Target="/ppt/notesMasters/notesMaster1.xml" Id="R5dd5278d504349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f0594070954f66" /><Relationship Type="http://schemas.openxmlformats.org/officeDocument/2006/relationships/notesMaster" Target="/ppt/notesMasters/notesMaster1.xml" Id="R0ab58f24c1a246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03227a050842c3" /><Relationship Type="http://schemas.openxmlformats.org/officeDocument/2006/relationships/notesMaster" Target="/ppt/notesMasters/notesMaster1.xml" Id="Rf7da7d16957144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524881c9bd4f09" /><Relationship Type="http://schemas.openxmlformats.org/officeDocument/2006/relationships/notesMaster" Target="/ppt/notesMasters/notesMaster1.xml" Id="Ra254f4d3554f4e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16ccb3ee074a57" /><Relationship Type="http://schemas.openxmlformats.org/officeDocument/2006/relationships/notesMaster" Target="/ppt/notesMasters/notesMaster1.xml" Id="Rff6ab8ea5f224b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7c71a7a37244cf" /><Relationship Type="http://schemas.openxmlformats.org/officeDocument/2006/relationships/notesMaster" Target="/ppt/notesMasters/notesMaster1.xml" Id="R20da31f714c946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**workflow** follows declared steps and branches.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**agent** uses a model to choose among allowed actions based on state and observations.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deterministic code when the next step is known. Grant model choice only where it adds value, such as choosing which read-only search tool can answer an unfamiliar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More autonomy increases evaluation, permission, cost, and stopping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Invoice processing: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`validate -&gt; extract -&gt; human review -&gt; save`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steps are known, so a workflow is appropriate.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assistant: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model may choose policy search or product search based on the question, within a bounded tool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fixed workflow and a bounded agent loop appear side by side with increasing autonomy and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Challenge every proposed agent: which choice cannot be written as a clear rule?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LangGraph quickstart shows both a workflow and a tool-using 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https://github.com/curiousily/AI-Bootcamp/blob/master/29.langgraph-quickstart.ipynb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**State** is the typed record describing the current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**node** is a function that reads state and returns state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**edge** determines which node runs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`START` represents graph input and `END` represents termination.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Store raw, reusable data in state rather than only formatted prose. Every field should have an owner and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State: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question, retrieved_docs, draft, approved, attempts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Node `retrieve` adds documents. Node `draft` adds an answer. An edge routes to review if approval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state record moves through nodes; each node highlights only the fields it reads and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that state is application memory for the run, not hidden model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defines state before adding nodes and edges.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https://docs.langchain.com/oss/python/langgraph/graph-api</a:t>
            </a:r>
          </a:p>
          <a:p xmlns:a="http://schemas.openxmlformats.org/drawingml/2006/main">
            <a:r>
              <a:t>- https://docs.langchain.com/oss/python/langgraph/thinking-in-langgraph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good node has: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declared state inputs;</a:t>
            </a:r>
          </a:p>
          <a:p xmlns:a="http://schemas.openxmlformats.org/drawingml/2006/main">
            <a:r>
              <a:t>- one responsibility;</a:t>
            </a:r>
          </a:p>
          <a:p xmlns:a="http://schemas.openxmlformats.org/drawingml/2006/main">
            <a:r>
              <a:t>- typed outputs;</a:t>
            </a:r>
          </a:p>
          <a:p xmlns:a="http://schemas.openxmlformats.org/drawingml/2006/main">
            <a:r>
              <a:t>- bounded external calls;</a:t>
            </a:r>
          </a:p>
          <a:p xmlns:a="http://schemas.openxmlformats.org/drawingml/2006/main">
            <a:r>
              <a:t>- visible errors;</a:t>
            </a:r>
          </a:p>
          <a:p xmlns:a="http://schemas.openxmlformats.org/drawingml/2006/main">
            <a:r>
              <a:t>- trace span;</a:t>
            </a:r>
          </a:p>
          <a:p xmlns:a="http://schemas.openxmlformats.org/drawingml/2006/main">
            <a:r>
              <a:t>- retry policy only when appropriate.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Small nodes make failures and approvals easier to locate. Do not place retrieval, generation, tool execution, and database write inside one opaque 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Node `retrieve_policy`: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Input: question and user authorization  </a:t>
            </a:r>
          </a:p>
          <a:p xmlns:a="http://schemas.openxmlformats.org/drawingml/2006/main">
            <a:r>
              <a:t>Action: authorized retrieval  </a:t>
            </a:r>
          </a:p>
          <a:p xmlns:a="http://schemas.openxmlformats.org/drawingml/2006/main">
            <a:r>
              <a:t>Output: ranked documents and retrieval metadata  </a:t>
            </a:r>
          </a:p>
          <a:p xmlns:a="http://schemas.openxmlformats.org/drawingml/2006/main">
            <a:r>
              <a:t>Failure: denied, timeout, or no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does not generate an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One oversized node is decomposed into validate, retrieve, draft, review, and publish nodes.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what evidence proves each node succeeded.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inspect each quickstart node as a state transformation.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https://docs.langchain.com/oss/python/langgraph/thinking-in-langgraph</a:t>
            </a:r>
          </a:p>
          <a:p xmlns:a="http://schemas.openxmlformats.org/drawingml/2006/main">
            <a:r>
              <a:t>- https://github.com/curiousily/AI-Bootcamp/blob/master/29.langgraph-quickstart.ipynb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fixed edge always routes to the same 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**conditional edge** inspects state and chooses from declared destinations.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Routing functions should return only allowed routes and should be tested independently. Important policy decisions, such as whether a user can write data, should be deterministic code rather than model preference.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After retrieval: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documents found -&gt; `draft_answer`</a:t>
            </a:r>
          </a:p>
          <a:p xmlns:a="http://schemas.openxmlformats.org/drawingml/2006/main">
            <a:r>
              <a:t>- no documents -&gt; `insufficient_evidence`</a:t>
            </a:r>
          </a:p>
          <a:p xmlns:a="http://schemas.openxmlformats.org/drawingml/2006/main">
            <a:r>
              <a:t>- authorization denied -&gt; `denied`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three outcomes are explicit terminal or next states.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retrieval node branches into draft, insufficient, and denied paths with labelled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Separate a model classification used as evidence from the code that enforces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quickstart workflow adds conditional edges after node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https://docs.langchain.com/oss/python/langgraph/use-graph-api</a:t>
            </a:r>
          </a:p>
          <a:p xmlns:a="http://schemas.openxmlformats.org/drawingml/2006/main">
            <a:r>
              <a:t>- https://docs.langchain.com/oss/python/langgraph/graph-api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agent model may propose: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tool name;</a:t>
            </a:r>
          </a:p>
          <a:p xmlns:a="http://schemas.openxmlformats.org/drawingml/2006/main">
            <a:r>
              <a:t>- structured arguments;</a:t>
            </a:r>
          </a:p>
          <a:p xmlns:a="http://schemas.openxmlformats.org/drawingml/2006/main">
            <a:r>
              <a:t>- reason reflected in its current messages.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application: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parses arguments;</a:t>
            </a:r>
          </a:p>
          <a:p xmlns:a="http://schemas.openxmlformats.org/drawingml/2006/main">
            <a:r>
              <a:t>2. authorizes the tool and scope;</a:t>
            </a:r>
          </a:p>
          <a:p xmlns:a="http://schemas.openxmlformats.org/drawingml/2006/main">
            <a:r>
              <a:t>3. applies time and resource limits;</a:t>
            </a:r>
          </a:p>
          <a:p xmlns:a="http://schemas.openxmlformats.org/drawingml/2006/main">
            <a:r>
              <a:t>4. executes;</a:t>
            </a:r>
          </a:p>
          <a:p xmlns:a="http://schemas.openxmlformats.org/drawingml/2006/main">
            <a:r>
              <a:t>5. records the observation in state;</a:t>
            </a:r>
          </a:p>
          <a:p xmlns:a="http://schemas.openxmlformats.org/drawingml/2006/main">
            <a:r>
              <a:t>6. routes to the next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 results are untrusted external data and may contain errors or injection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Agent proposes `search_policy(query="refund annual plan")`.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Application checks that search is read-only and tenant-filtered, then stores returned chunks and provenance. It rejects a proposed `delete_policy` because that tool is not in the allowed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Model proposal passes through schema, authorization, execution, and observation stages before re-entering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Repeat that tool schemas describe valid shape but do not grant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agent quickstart alternates a model node with a tool 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https://docs.langchain.com/oss/python/langgraph/agentic-rag</a:t>
            </a:r>
          </a:p>
          <a:p xmlns:a="http://schemas.openxmlformats.org/drawingml/2006/main">
            <a:r>
              <a:t>- https://modelcontextprotocol.io/docs/concepts/tools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tool-using agent loop: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inspect goal and current state;</a:t>
            </a:r>
          </a:p>
          <a:p xmlns:a="http://schemas.openxmlformats.org/drawingml/2006/main">
            <a:r>
              <a:t>2. choose an allowed action or finish;</a:t>
            </a:r>
          </a:p>
          <a:p xmlns:a="http://schemas.openxmlformats.org/drawingml/2006/main">
            <a:r>
              <a:t>3. execute through application controls;</a:t>
            </a:r>
          </a:p>
          <a:p xmlns:a="http://schemas.openxmlformats.org/drawingml/2006/main">
            <a:r>
              <a:t>4. receive an observation;</a:t>
            </a:r>
          </a:p>
          <a:p xmlns:a="http://schemas.openxmlformats.org/drawingml/2006/main">
            <a:r>
              <a:t>5. update state;</a:t>
            </a:r>
          </a:p>
          <a:p xmlns:a="http://schemas.openxmlformats.org/drawingml/2006/main">
            <a:r>
              <a:t>6. choose again.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observation may resolve the question, reveal missing information, or produce an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loop needs an explicit route to `END`.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Step 1: search policy -&gt; no matching chunk  </a:t>
            </a:r>
          </a:p>
          <a:p xmlns:a="http://schemas.openxmlformats.org/drawingml/2006/main">
            <a:r>
              <a:t>Step 2: search product documentation -&gt; supporting chunk found  </a:t>
            </a:r>
          </a:p>
          <a:p xmlns:a="http://schemas.openxmlformats.org/drawingml/2006/main">
            <a:r>
              <a:t>Step 3: answer with citation -&gt; finish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Total tool calls `2`, model decisions `3`.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bounded loop connects model decision, tool execution, observation, and finish.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what state proves the task is complete. Do not rely on token exhaustion.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trace every loop iteration in the LangGraph agent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https://docs.langchain.com/oss/python/langgraph/use-graph-api</a:t>
            </a:r>
          </a:p>
          <a:p xmlns:a="http://schemas.openxmlformats.org/drawingml/2006/main">
            <a:r>
              <a:t>- https://github.com/curiousily/AI-Bootcamp/blob/master/29.langgraph-quickstart.ipynb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**checkpoint** is a saved snapshot of graph state at an execution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Checkpoints support: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recovery after failure;</a:t>
            </a:r>
          </a:p>
          <a:p xmlns:a="http://schemas.openxmlformats.org/drawingml/2006/main">
            <a:r>
              <a:t>- multi-turn memory;</a:t>
            </a:r>
          </a:p>
          <a:p xmlns:a="http://schemas.openxmlformats.org/drawingml/2006/main">
            <a:r>
              <a:t>- human approval pauses;</a:t>
            </a:r>
          </a:p>
          <a:p xmlns:a="http://schemas.openxmlformats.org/drawingml/2006/main">
            <a:r>
              <a:t>- replay and debugging;</a:t>
            </a:r>
          </a:p>
          <a:p xmlns:a="http://schemas.openxmlformats.org/drawingml/2006/main">
            <a:r>
              <a:t>- resuming long-running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**thread ID** identifies which persisted state to load. Access to checkpoints must be authorized because state may contain sensitive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Graph completes retrieve and draft, then pauses for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Checkpoint stores question, documents, draft, and status. The process can restart and resume from that state instead of rerunning retrieval and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Graph steps leave checkpoint markers. A restart resumes from the latest successful marker.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retention, encryption, and tenant isolation for persisted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add an in-memory checkpointer for the lab and document production storage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Retry only a node whose operation can safely be repeated.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**Idempotent** means repeating the same operation has the same intended effect as running it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read-only search is often retryable;</a:t>
            </a:r>
          </a:p>
          <a:p xmlns:a="http://schemas.openxmlformats.org/drawingml/2006/main">
            <a:r>
              <a:t>- charging a card or sending an email may duplicate side effects;</a:t>
            </a:r>
          </a:p>
          <a:p xmlns:a="http://schemas.openxmlformats.org/drawingml/2006/main">
            <a:r>
              <a:t>- model calls may produce different outputs on retry;</a:t>
            </a:r>
          </a:p>
          <a:p xmlns:a="http://schemas.openxmlformats.org/drawingml/2006/main">
            <a:r>
              <a:t>- validation failures need correction, not blind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attempts and cap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Search times out: retry up to `3` attempts.  </a:t>
            </a:r>
          </a:p>
          <a:p xmlns:a="http://schemas.openxmlformats.org/drawingml/2006/main">
            <a:r>
              <a:t>Email send times out after the server may have accepted it: check an idempotency key or delivery status before retrying.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Read-only search has a retry loop; write action has an idempotency and confirmation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what observable state distinguishes “failed before action” from “response lost after action.”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lab simulates a transient search failure and confirms attempt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https://docs.langchain.com/oss/python/langgraph/fault-tolerance</a:t>
            </a:r>
          </a:p>
          <a:p xmlns:a="http://schemas.openxmlformats.org/drawingml/2006/main">
            <a:r>
              <a:t>- https://docs.aws.amazon.com/prescriptive-guidance/latest/cloud-design-patterns/retry-backoff.html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human approval before high-impact or uncertain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graph should: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prepare a proposal;</a:t>
            </a:r>
          </a:p>
          <a:p xmlns:a="http://schemas.openxmlformats.org/drawingml/2006/main">
            <a:r>
              <a:t>2. persist state;</a:t>
            </a:r>
          </a:p>
          <a:p xmlns:a="http://schemas.openxmlformats.org/drawingml/2006/main">
            <a:r>
              <a:t>3. interrupt;</a:t>
            </a:r>
          </a:p>
          <a:p xmlns:a="http://schemas.openxmlformats.org/drawingml/2006/main">
            <a:r>
              <a:t>4. show evidence and proposed action;</a:t>
            </a:r>
          </a:p>
          <a:p xmlns:a="http://schemas.openxmlformats.org/drawingml/2006/main">
            <a:r>
              <a:t>5. accept approve, reject, or edited input;</a:t>
            </a:r>
          </a:p>
          <a:p xmlns:a="http://schemas.openxmlformats.org/drawingml/2006/main">
            <a:r>
              <a:t>6. validate human input;</a:t>
            </a:r>
          </a:p>
          <a:p xmlns:a="http://schemas.openxmlformats.org/drawingml/2006/main">
            <a:r>
              <a:t>7. resume from the checkpoint;</a:t>
            </a:r>
          </a:p>
          <a:p xmlns:a="http://schemas.openxmlformats.org/drawingml/2006/main">
            <a:r>
              <a:t>8. record reviewer and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Approval must occur before the side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Agent drafts an email and proposed recipients. The graph pauses. Reviewer removes one recipient and approves the edited draft. Only then may the send node execute.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workflow stops at a human-review gate and resumes along approved, edited, or rejected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why side effects before an interrupt can be repeated on resume.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add one approval interrupt to a write-capable mock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https://docs.langchain.com/oss/python/langgraph/thinking-in-langgraph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maximum graph steps;</a:t>
            </a:r>
          </a:p>
          <a:p xmlns:a="http://schemas.openxmlformats.org/drawingml/2006/main">
            <a:r>
              <a:t>- maximum attempts per node;</a:t>
            </a:r>
          </a:p>
          <a:p xmlns:a="http://schemas.openxmlformats.org/drawingml/2006/main">
            <a:r>
              <a:t>- maximum tool calls;</a:t>
            </a:r>
          </a:p>
          <a:p xmlns:a="http://schemas.openxmlformats.org/drawingml/2006/main">
            <a:r>
              <a:t>- wall-clock timeout;</a:t>
            </a:r>
          </a:p>
          <a:p xmlns:a="http://schemas.openxmlformats.org/drawingml/2006/main">
            <a:r>
              <a:t>- token and cost budget;</a:t>
            </a:r>
          </a:p>
          <a:p xmlns:a="http://schemas.openxmlformats.org/drawingml/2006/main">
            <a:r>
              <a:t>- allowed tool set;</a:t>
            </a:r>
          </a:p>
          <a:p xmlns:a="http://schemas.openxmlformats.org/drawingml/2006/main">
            <a:r>
              <a:t>- argument and result-size limits;</a:t>
            </a:r>
          </a:p>
          <a:p xmlns:a="http://schemas.openxmlformats.org/drawingml/2006/main">
            <a:r>
              <a:t>- terminal conditions for success, denial, insufficient evidence, and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agent must be able to stop without producing a successful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Limits: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`max_steps=8`, `max_tool_calls=3`, `budget=$0.05`, `timeout=30s`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After three searches with no supporting evidence, route to `insufficient_evidence` rather than search indefinitely.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The agent loop is surrounded by step, call, time, token, cost, and permission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Treat recursion limits as a final guard, not the only meaningful stopping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lab tests successful, insufficient, denied, timeout, and budget-exhausted endings.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https://docs.langchain.com/oss/python/langgraph/use-graph-api#create-and-control-loops</a:t>
            </a:r>
          </a:p>
          <a:p xmlns:a="http://schemas.openxmlformats.org/drawingml/2006/main">
            <a:r>
              <a:t>- https://docs.langchain.com/oss/python/langgraph/graph-api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order: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define typed state;</a:t>
            </a:r>
          </a:p>
          <a:p xmlns:a="http://schemas.openxmlformats.org/drawingml/2006/main">
            <a:r>
              <a:t>2. implement small node functions;</a:t>
            </a:r>
          </a:p>
          <a:p xmlns:a="http://schemas.openxmlformats.org/drawingml/2006/main">
            <a:r>
              <a:t>3. add nodes;</a:t>
            </a:r>
          </a:p>
          <a:p xmlns:a="http://schemas.openxmlformats.org/drawingml/2006/main">
            <a:r>
              <a:t>4. add fixed and conditional edges;</a:t>
            </a:r>
          </a:p>
          <a:p xmlns:a="http://schemas.openxmlformats.org/drawingml/2006/main">
            <a:r>
              <a:t>5. compile with runtime controls;</a:t>
            </a:r>
          </a:p>
          <a:p xmlns:a="http://schemas.openxmlformats.org/drawingml/2006/main">
            <a:r>
              <a:t>6. invoke with initial state and configuration;</a:t>
            </a:r>
          </a:p>
          <a:p xmlns:a="http://schemas.openxmlformats.org/drawingml/2006/main">
            <a:r>
              <a:t>7. inspect final state and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Compilation checks graph structure. It does not prove node logic or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`START -&gt; retrieve -&gt; route`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documents -&gt; answer -&gt; END</a:t>
            </a:r>
          </a:p>
          <a:p xmlns:a="http://schemas.openxmlformats.org/drawingml/2006/main">
            <a:r>
              <a:t>- no documents -&gt; insufficient -&gt; 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 is no loop because one retrieval is enough for this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The code lines map directly to a small graph diagram and typed state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Have learners draw the graph before writing builder calls.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prepares learners to read the quickstart workflow and agent 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https://docs.langchain.com/oss/python/langgraph/graph-api</a:t>
            </a:r>
          </a:p>
          <a:p xmlns:a="http://schemas.openxmlformats.org/drawingml/2006/main">
            <a:r>
              <a:t>- https://github.com/curiousily/AI-Bootcamp/blob/master/29.langgraph-quickstart.ipynb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a policy-research graph with: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typed state;</a:t>
            </a:r>
          </a:p>
          <a:p xmlns:a="http://schemas.openxmlformats.org/drawingml/2006/main">
            <a:r>
              <a:t>2. validate, route, retrieve, answer, and finish nodes;</a:t>
            </a:r>
          </a:p>
          <a:p xmlns:a="http://schemas.openxmlformats.org/drawingml/2006/main">
            <a:r>
              <a:t>3. one deterministic route;</a:t>
            </a:r>
          </a:p>
          <a:p xmlns:a="http://schemas.openxmlformats.org/drawingml/2006/main">
            <a:r>
              <a:t>4. one model-selected read-only tool;</a:t>
            </a:r>
          </a:p>
          <a:p xmlns:a="http://schemas.openxmlformats.org/drawingml/2006/main">
            <a:r>
              <a:t>5. argument validation and authorization;</a:t>
            </a:r>
          </a:p>
          <a:p xmlns:a="http://schemas.openxmlformats.org/drawingml/2006/main">
            <a:r>
              <a:t>6. observations stored with provenance;</a:t>
            </a:r>
          </a:p>
          <a:p xmlns:a="http://schemas.openxmlformats.org/drawingml/2006/main">
            <a:r>
              <a:t>7. checkpoint persistence;</a:t>
            </a:r>
          </a:p>
          <a:p xmlns:a="http://schemas.openxmlformats.org/drawingml/2006/main">
            <a:r>
              <a:t>8. bounded retries for transient search failure;</a:t>
            </a:r>
          </a:p>
          <a:p xmlns:a="http://schemas.openxmlformats.org/drawingml/2006/main">
            <a:r>
              <a:t>9. human approval before a mock publish action;</a:t>
            </a:r>
          </a:p>
          <a:p xmlns:a="http://schemas.openxmlformats.org/drawingml/2006/main">
            <a:r>
              <a:t>10. maximum steps, calls, time, and cost;</a:t>
            </a:r>
          </a:p>
          <a:p xmlns:a="http://schemas.openxmlformats.org/drawingml/2006/main">
            <a:r>
              <a:t>11. complete tracing;</a:t>
            </a:r>
          </a:p>
          <a:p xmlns:a="http://schemas.openxmlformats.org/drawingml/2006/main">
            <a:r>
              <a:t>12. tests for success, insufficient evidence, denial, timeout, and rejected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Trace: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`validate -&gt; retrieve -&gt; answer -&gt; review -&gt; rejected -&gt; END`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final status is `rejected`; no publish side effect occurs.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The final graph diagram labels state, branches, tool loop, checkpoint, approval, and terminal statuses.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Require failure-path demonstrations before accepting the success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Complete `29.langgraph-quickstart.ipynb`; use `18.langgraph-basics.ipynb` only as an optional secondary exercise.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https://github.com/curiousily/AI-Bootcamp/blob/master/29.langgraph-quickstart.ipynb</a:t>
            </a:r>
          </a:p>
          <a:p xmlns:a="http://schemas.openxmlformats.org/drawingml/2006/main">
            <a:r>
              <a:t>- https://github.com/curiousily/AI-Bootcamp/blob/master/18.langgraph-basics.ipynb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207ee51144b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21e142fa164058" /><Relationship Type="http://schemas.openxmlformats.org/officeDocument/2006/relationships/slideLayout" Target="/ppt/slideLayouts/slideLayout1.xml" Id="R4b0ff270e60e41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0ff270e60e41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e2f09dba14c63" /><Relationship Type="http://schemas.openxmlformats.org/officeDocument/2006/relationships/image" Target="/ppt/media/image.png" Id="R1df696bc6fe34eef" /><Relationship Type="http://schemas.openxmlformats.org/officeDocument/2006/relationships/image" Target="/ppt/media/image2.png" Id="R99ce2b6d0671472e" /><Relationship Type="http://schemas.openxmlformats.org/officeDocument/2006/relationships/notesSlide" Target="/ppt/notesSlides/notesSlide1.xml" Id="Rc1bf6439acce41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48937ac224caf" /><Relationship Type="http://schemas.openxmlformats.org/officeDocument/2006/relationships/notesSlide" Target="/ppt/notesSlides/notesSlide2.xml" Id="R5937231f4cf44a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970e54cd64e6a" /><Relationship Type="http://schemas.openxmlformats.org/officeDocument/2006/relationships/notesSlide" Target="/ppt/notesSlides/notesSlide3.xml" Id="R5787773a5d9e49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c1b8ac49c4935" /><Relationship Type="http://schemas.openxmlformats.org/officeDocument/2006/relationships/notesSlide" Target="/ppt/notesSlides/notesSlide4.xml" Id="Rcd51f5c89aff48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e293edba44e1f" /><Relationship Type="http://schemas.openxmlformats.org/officeDocument/2006/relationships/notesSlide" Target="/ppt/notesSlides/notesSlide5.xml" Id="R3b4f1904211b45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729f663544154" /><Relationship Type="http://schemas.openxmlformats.org/officeDocument/2006/relationships/notesSlide" Target="/ppt/notesSlides/notesSlide6.xml" Id="Raa125b8c8f474d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fb752b33d4172" /><Relationship Type="http://schemas.openxmlformats.org/officeDocument/2006/relationships/notesSlide" Target="/ppt/notesSlides/notesSlide7.xml" Id="R41e001e99edf42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3d145c5f74282" /><Relationship Type="http://schemas.openxmlformats.org/officeDocument/2006/relationships/notesSlide" Target="/ppt/notesSlides/notesSlide8.xml" Id="Rc99ecdaabe864d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d592f3a134986" /><Relationship Type="http://schemas.openxmlformats.org/officeDocument/2006/relationships/notesSlide" Target="/ppt/notesSlides/notesSlide9.xml" Id="Radea9aa8206447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efd031b274351" /><Relationship Type="http://schemas.openxmlformats.org/officeDocument/2006/relationships/notesSlide" Target="/ppt/notesSlides/notesSlide10.xml" Id="Ra50d9f2a84924a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b264cb0544e81" /><Relationship Type="http://schemas.openxmlformats.org/officeDocument/2006/relationships/notesSlide" Target="/ppt/notesSlides/notesSlide11.xml" Id="Rc3d6bdcd6b2d4f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d68fc26044af3" /><Relationship Type="http://schemas.openxmlformats.org/officeDocument/2006/relationships/notesSlide" Target="/ppt/notesSlides/notesSlide12.xml" Id="R609fd9faf64f43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A530B-9EE6-467B-9A10-76B089A3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696bc6fe34eef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112A2-A509-42FA-A66A-1DD0AE39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F67D8-107D-4D83-A7A4-50D5EC31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17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F86AF-30F9-4D59-A845-E9BFD86A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Use a Workflow When the Steps Are 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E77FA-0322-4049-ADAE-F9BBE324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373FC-E394-4880-912E-B54E3722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A workflow follows declared steps and branches.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e2b6d0671472e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61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CFC2D-2B04-42AA-A478-A55A6E20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C1C5B-DEC3-4EC9-939C-469045BA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Use a Workflow When the Steps Are 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30D9B-39B8-40AB-94CF-C3BD3328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7B752-61E5-445C-9C4A-C270BEC9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FCD27-13D7-4BF0-9C59-A47BA06A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State, Nodes, and Edges Define a 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98671-AA58-4478-B5ED-CA3E290F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701C9-3FF3-4D30-BEBB-788E0193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State is the typed record describing the current run. A node is a function that reads state and returns state updates. An edge determines which node runs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C4EA2-E6EF-43E2-BE86-87A74EA6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6D5BE-2BA2-4AAB-9E4A-E24BC60C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State is the typed record describing the current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6320A-E58A-4349-891F-8125F7A8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A11EE-AFF7-49EB-90C9-2E682E2C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A node is a function that reads state and returns state updates.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DBD59-F498-449A-A090-52AEAFD8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0E8FB-8562-4CB8-9D61-BBD8F82B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An edge determines which node runs next.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77379-ED07-418A-9033-3E50EA7B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2DE82-34F3-4AC1-A6A2-51E6C08D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START represents graph input and END represents termination.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EC0B6-9332-411A-9822-C54F26B5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0052F-6863-47DA-9ECF-CC758046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Store raw, reusable data in state rather than only formatted prose.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5CD03-D59B-4BE0-8132-4BE415B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B4B71-1F67-471E-9090-EBB4D172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Every field should have an owner and meaning.</a:t>
            </a:r>
          </a:p>
        </p:txBody>
      </p:sp>
    </p:spTree>
    <p:extLst>
      <p:ext uri="{BB962C8B-B14F-4D97-AF65-F5344CB8AC3E}">
        <p14:creationId xmlns:p14="http://schemas.microsoft.com/office/powerpoint/2010/main" val="16714672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2310F-2603-459A-8447-F1684A45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3825A-A0DC-4D2D-A1F1-BCA8B7DA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Use a Workflow When the Steps Are 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A8D39-69D7-40EF-8A2F-EC0D52C4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F3338-6106-4036-A728-A665247E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C87D7-AD56-4D59-A694-323816FC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 Node Should Perform One Inspectable Job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B3A0D-E673-43D3-A31A-87045F8A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E60AB-12EA-4436-8C75-64AD2010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9B459-4151-4E96-8822-D479E0D0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C7E09-E37A-4B32-9368-5362DC79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41FFF-ECE1-4008-A340-25159CD0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14581-1E6E-4467-A0FB-7FBCEAE7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def retrieve_policy(state: State):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docs = retriever.invoke(state["question"])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return {"documents": docs}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6A022-8F78-4A35-BC59-30E7C6AA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4888C-12F7-42CD-9534-78223DE4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97757-E622-4BB9-9C54-1D96449C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 state update containing documents while preserving other state fields.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850F9-47D4-401D-B170-C847ACA8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1F6AE-7E33-4CC5-8C0E-788E71A6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It does not generate an answer.</a:t>
            </a:r>
          </a:p>
        </p:txBody>
      </p:sp>
    </p:spTree>
    <p:extLst>
      <p:ext uri="{BB962C8B-B14F-4D97-AF65-F5344CB8AC3E}">
        <p14:creationId xmlns:p14="http://schemas.microsoft.com/office/powerpoint/2010/main" val="907019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D45C3-B6F9-4DC2-A1CE-E0C4E9B3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31186-A33F-42CA-9AED-79E5CBB2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Use a Workflow When the Steps Are 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C86E6-EA44-4C36-B61E-D83269E8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35979-B13C-478A-9855-1D64247B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388B7-9B35-4DBA-A4DD-9E3DEA5F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Edges Make Routing Explicit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9BE42-7EA9-408A-8C18-6A3AACA9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F8CA8-D5DF-4AFB-A63E-A038D840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 fixed edge always routes to the same node.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ABABC-253D-4E69-AB6A-6D7CD8E9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0203B-809B-4605-9F25-97766B68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537D4-05DB-479D-918A-41AAB251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319D8-DFE9-49C3-B277-4B1D10AA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 conditional edge inspects state and chooses from declared destinations.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C38C9-9C5A-4905-B730-4E1EA07A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65F50-4B78-41B9-A1F4-1B986ADD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3E763-8B53-4A01-BA5C-CB1E77CF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6C670-84E7-4E72-969B-8741BD35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Routing functions should return only allowed routes and should be tested independently.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0EBA1-A27E-4086-95F0-0ECBF6B5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BE3CD-B3E2-43BA-BDAD-36F6EFD1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D7382-57DF-468C-ADC2-A84350E9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1DEE8"/>
                </a:solidFill>
              </a:defRPr>
            </a:pPr>
            <a:r>
              <a:rPr sz="1500">
                <a:solidFill>
                  <a:srgbClr val="D1DEE8"/>
                </a:solidFill>
              </a:rPr>
              <a:t>After retrieval: All three outcomes are explicit terminal or next states.</a:t>
            </a:r>
          </a:p>
        </p:txBody>
      </p:sp>
    </p:spTree>
    <p:extLst>
      <p:ext uri="{BB962C8B-B14F-4D97-AF65-F5344CB8AC3E}">
        <p14:creationId xmlns:p14="http://schemas.microsoft.com/office/powerpoint/2010/main" val="804219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C44B8-958A-480A-894E-578D56EF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1BB88-DAED-4308-BB6C-FFC5677A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Use a Workflow When the Steps Are 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09BC5-9C88-4110-A9D0-78734F0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2F03E-CE59-4569-8186-C417D46D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97630-4C77-4587-AC7A-78C3A280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Tools Turn Model Choices into Proposed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BC518-E681-4292-84AE-B0C82991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D1EBD-E83C-4A84-8C62-F6E59488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6E2EB"/>
                </a:solidFill>
              </a:defRPr>
            </a:pPr>
            <a:r>
              <a:rPr sz="1575">
                <a:solidFill>
                  <a:srgbClr val="D6E2EB"/>
                </a:solidFill>
              </a:rPr>
              <a:t>An agent model may propose: The application: Tool results are untrusted external data and may contain errors or injection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C3756-3554-4E9D-9CF7-5F8FD1E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B611A-8BBD-4FEA-A77C-AA1847B7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tool name;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A771D-84CE-4FFF-B1BD-6C8FE0A7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91651-0337-479A-92C5-5C168522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structured arguments;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2AA05-F8D9-4F6B-8921-6D171C77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B6521-5175-4DAB-A788-808339B9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reason reflected in its current messages.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A826C-3377-4862-B61B-E8426448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CFC74-FDDE-4240-83BB-B48781A3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parses arguments;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96B69-0BCD-4774-B937-E497131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C14D7-83C4-4AF8-8F1C-3F520556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authorizes the tool and scope;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303E1-5176-4EC5-B266-78DCA102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E686F-09DE-4181-AF47-A0CE7C6D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applies time and resource limits;</a:t>
            </a:r>
          </a:p>
        </p:txBody>
      </p:sp>
    </p:spTree>
    <p:extLst>
      <p:ext uri="{BB962C8B-B14F-4D97-AF65-F5344CB8AC3E}">
        <p14:creationId xmlns:p14="http://schemas.microsoft.com/office/powerpoint/2010/main" val="2627404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11350-ABA2-4CF9-9145-ABB2E161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74512-CCC9-46F9-9F85-C8F32359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Use a Workflow When the Steps Are 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B982D-80EE-44B1-94DA-F426BA24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754B3-7409-4DB8-8FA7-793D308C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429B3-6FE8-40CB-85D6-BC9AC32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The Agent Loop Is Action, Observation, and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C94CC-DDD8-4D4D-A2D7-DD783F98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88B3B-E441-46AC-9957-284A8824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2AD1C-69C1-46D1-B77E-12007B02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96976-E15E-45E0-833A-8B14911A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9F940-D820-4A2C-80AD-15DE2157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F20B8-43F7-40FB-8DAF-AF679BBB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def should_continue(state):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last = state["messages"][-1]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return "tools" if last.tool_calls else 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65F91-3DFC-4A8D-8200-D7605B13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4CC67-5C83-4786-A605-6B723B49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58C29-D470-491A-9342-5F294041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The graph routes to tools only when the latest model output proposes a call.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F71F0-6E5E-49A9-BE1C-94BDA278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FE2C5-582E-4850-A83A-E6EF410B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Total tool calls 2, model decisions 3.</a:t>
            </a:r>
          </a:p>
        </p:txBody>
      </p:sp>
    </p:spTree>
    <p:extLst>
      <p:ext uri="{BB962C8B-B14F-4D97-AF65-F5344CB8AC3E}">
        <p14:creationId xmlns:p14="http://schemas.microsoft.com/office/powerpoint/2010/main" val="10469733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B57E3-B902-40BD-A5CD-5FE63783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100E5-4198-4266-A505-9B7EFDCC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Use a Workflow When the Steps Are 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AF1E6-C8C9-4474-B0FE-7A5B4BF3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74BDC-44FC-4617-928E-9B737EAE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9768C-C4EC-4B66-89F1-CDBC8BCC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Checkpoints Make State Durable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94583-D691-488D-8055-EA036B24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6D202-98B1-4CB9-8D4E-14F08D16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6E2EB"/>
                </a:solidFill>
              </a:defRPr>
            </a:pPr>
            <a:r>
              <a:rPr sz="1425">
                <a:solidFill>
                  <a:srgbClr val="D6E2EB"/>
                </a:solidFill>
              </a:rPr>
              <a:t>A checkpoint is a saved snapshot of graph state at an execution boundary. Checkpoints support: A thread ID identifies which persisted state to load. Access to checkpoints must be authorized because state may contain sensitive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DC833-B7AE-4D46-A688-13057C49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1B7EF-FA1D-44F9-8107-22A4583E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recovery after failure;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9FF7D-F0FD-4C8C-8709-28B2B39A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46577-424D-4E48-80F7-551791D3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multi-turn memory;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C5A23-F09F-4438-9BFF-C593A5DE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F6F8B-84AD-43EF-83A2-DE9B864C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human approval pauses;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91C2F-1830-4119-9965-02BC3468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00559-EEF7-4011-80C4-EF69F83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replay and debugging;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5AC78-34BB-41AD-89C6-BCBD74D8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A120A-A21D-4F80-B840-00242063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resuming long-running work.</a:t>
            </a:r>
          </a:p>
        </p:txBody>
      </p:sp>
    </p:spTree>
    <p:extLst>
      <p:ext uri="{BB962C8B-B14F-4D97-AF65-F5344CB8AC3E}">
        <p14:creationId xmlns:p14="http://schemas.microsoft.com/office/powerpoint/2010/main" val="8225618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74E5A-2095-4284-BFE4-3F0C4069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8B112-6C31-4E94-A6FE-5C9FA203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Use a Workflow When the Steps Are 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55B8E-3944-4F4B-A210-B46912C5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A46F1-D8E9-4DE6-AFEE-71E4CE29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F5B6C-A660-4E93-80E4-B6B6BE45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Retries Must Be Node-Specific and Resume-Safe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F50F6-A913-49D3-9322-56A15AB4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8123C-381E-46D9-934E-53F88442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read-only search is often retryable;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767E3-DBAB-4AEF-9319-E703EAB9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AF591-060B-4585-9F8F-2EC631F6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F4BD9-FB45-4724-A67F-B4D8D447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8F99B-EC8C-4C6C-92F6-085468A9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charging a card or sending an email may duplicate side effects;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7B307-9D46-45CE-BD64-114B5FD5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CE50C-FDD6-4F92-B8CF-B4F63614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E08E9-9240-4C6C-96F1-48D4CE5A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1DDAA-861C-4A17-987E-D8A6E607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model calls may produce different outputs on retry;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C2AEE-9B54-4EDC-9C93-DDA0CF62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E09E2-4847-46C6-8EC0-B6DCB4B2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0B6BC-C5A8-4314-98DE-06BABE64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505F6-5ED7-4398-BC2B-E7471B51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validation failures need correction, not blind retry.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DB526-8088-4853-9DEA-9A9993D5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275CA-B608-401F-8D2E-C72CC021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18871-21BA-42D2-BCDC-999FCD22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EE8"/>
                </a:solidFill>
              </a:defRPr>
            </a:pPr>
            <a:r>
              <a:rPr sz="1350">
                <a:solidFill>
                  <a:srgbClr val="D1DEE8"/>
                </a:solidFill>
              </a:rPr>
              <a:t>Search times out: retry up to 3 attempts. Email send times out after the server may have accepted it: check an idempotency key or delivery status before retrying.</a:t>
            </a:r>
          </a:p>
        </p:txBody>
      </p:sp>
    </p:spTree>
    <p:extLst>
      <p:ext uri="{BB962C8B-B14F-4D97-AF65-F5344CB8AC3E}">
        <p14:creationId xmlns:p14="http://schemas.microsoft.com/office/powerpoint/2010/main" val="3711985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F88DD-A3FD-46E9-9CFD-185ECF74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59038-3482-4099-A2C5-688625F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Use a Workflow When the Steps Are 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5F124-8EBE-4C6C-810F-C17FA8AF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4ED51-E4DF-40A8-AFCA-EA5FF3AF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B68A0-A726-4D76-B57A-6BEE3146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Human Approval Is a State Transition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DC47C-1A4F-4CCA-ADA0-6557B90C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08999-04AF-4AE4-9258-C8348F66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7F185-78B3-44C6-9A61-9234BE31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7FB1E-65ED-4146-94B1-FEAEAFEE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DA068-E032-464D-AA59-A2F4D877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9E96D-86E4-40B0-B6A7-4F5EB831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decision = interrupt({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"draft": state["draft"],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"recipients": state["recipients"],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})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3CC61-96AF-40E2-A665-6F133904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98CFD-4A45-4999-B29B-C83C992C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639BB-F4A7-47F7-A358-8AD6F67E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The graph pauses with JSON-serializable review data until resumed.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648A2-A6C1-4F30-AF29-42D3303E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8B1D8-FF0A-4AE3-8477-7AB043F2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Agent drafts an email and proposed recipients. The graph pauses. Reviewer removes one recipient and approves the edited draft. Only then may the send node execute.</a:t>
            </a:r>
          </a:p>
        </p:txBody>
      </p:sp>
    </p:spTree>
    <p:extLst>
      <p:ext uri="{BB962C8B-B14F-4D97-AF65-F5344CB8AC3E}">
        <p14:creationId xmlns:p14="http://schemas.microsoft.com/office/powerpoint/2010/main" val="15243310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598D5-CA72-4DC5-8654-E6E50BDF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66CFA-930E-4062-AB48-2B862B5A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Use a Workflow When the Steps Are 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C55CC-46DE-4B0E-BB4C-E44883E6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C35DC-0876-423D-80B8-D1DA9B4E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0E603-E978-4DA6-B171-4A67776F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Stopping Conditions Bound Time, Cost, and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F8D03-ADAC-44CC-8DBC-0C73D016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04D48-3955-40E7-981C-A54E2CEB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3E157-C519-4764-9B5D-D60B08A9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maximum graph steps;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5C4EC-C997-4504-9328-7918ED57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623C0-C534-42D2-9FFF-CB61AEDA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12CD2-3FC0-41FA-852D-6E745145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D5E56-D22D-4AFA-9C14-5FB59FB7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maximum attempts per node;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0F652-50A6-4EC0-9B15-263E8369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A88E3-DB11-4334-ABEC-FFAAF9EF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D0474-F923-46E0-8340-EC961868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165C8-C7A3-45B8-B75C-E42C7AD1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maximum tool calls;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DACF4-6206-464F-B835-214C8673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FFBA4-C85B-4FF7-BF8F-BC4119A7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613EA-5B75-43CB-885E-DC1F9721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8416F-6DA5-4642-8649-42AF11B9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wall-clock timeout;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85803-3779-46D9-A9B5-5F8A6A46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54579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3163A-37B0-4B00-84DE-246467D9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88412-E78C-4BA6-BB14-2DEB59C2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Use a Workflow When the Steps Are 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922A0-BCC2-40EA-A5FE-971F77BE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B01B3-86E6-472E-ABFF-ED4B57D8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194FD-3D59-4D30-848C-69350760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 Minimal LangGraph Is Explicit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E1676-B68B-4B00-9732-F936EA4F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BD2ED-C30F-4365-ABB0-48923C27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373CB-915F-4E62-860B-999EE626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define typed state;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A67B5-8826-4B2B-AB27-81918EA0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E594B-86A8-4365-8877-7D51DB99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36B95-D701-4955-BA59-B2B1F786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D3075-8508-4374-984B-2F98DA99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implement small node functions;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D4DC7-E63E-4291-B75F-2522474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64A6E-68D7-4A19-A0C8-84FAE56A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C774F-1395-4DA6-A2F5-6FD35886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9A7A2-1649-47F4-A972-1468655A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add nodes;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BFB14-27EA-4124-8A62-89641A72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00749-25AE-4F20-A704-EEE84744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E10E0-539B-452F-9204-916339EC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CD3BA-3376-465D-802E-13CA12DA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add fixed and conditional edges;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044BB-3736-4FB9-AAA7-BDD875DC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05037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12475-B1E5-4FA3-B70F-66C37D39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EBC8B-F26F-40A1-8B9C-10901F79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Use a Workflow When the Steps Are 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E62FD-FFF9-4F21-8296-06B4C40A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4602F-5D95-4172-8574-0EA8CEEB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7473F-8473-4140-BEE5-1A2D9F10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Guided Lab: Build a Bounded Research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1A85E-E3B8-4C81-98E0-3098B398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FB778-588E-4062-9A1F-04E4F4A3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8F12C-33D7-417A-892F-9332FDC5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typed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CA15E-D587-48B1-847E-BD4B11D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2DD7A-2FF8-4BA6-9919-4ACD8B25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AE001-6893-4C18-B2D6-1D5C4FC9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validate, route, retrieve, answer, and finish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19408-3A9E-4602-84E0-DC478339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B5404-0D02-49F4-AA47-67AB46BA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00833-4C19-4012-A206-97217F2A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one deterministic 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75B69-C4DC-46F0-850C-5912D7EA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5BC89-4FE4-4721-909C-B651E1E4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A21F5-9A0D-433E-B9DF-5F0AACD2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one model-selected read-only tool</a:t>
            </a:r>
          </a:p>
        </p:txBody>
      </p:sp>
    </p:spTree>
    <p:extLst>
      <p:ext uri="{BB962C8B-B14F-4D97-AF65-F5344CB8AC3E}">
        <p14:creationId xmlns:p14="http://schemas.microsoft.com/office/powerpoint/2010/main" val="1273340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2026-07-28T19:29:51.1860000Z</dcterms:created>
  <dcterms:modified xsi:type="dcterms:W3CDTF">2026-07-28T19:29:51.1870000Z</dcterms:modified>
</coreProperties>
</file>