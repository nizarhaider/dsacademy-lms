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d78f88b9a14ec0" /><Relationship Type="http://schemas.openxmlformats.org/officeDocument/2006/relationships/extended-properties" Target="/docProps/app.xml" Id="R1cbaa35ebe134cf3" /><Relationship Type="http://schemas.openxmlformats.org/officeDocument/2006/relationships/officeDocument" Target="/ppt/presentation.xml" Id="R875d0d1bea9f43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8a21d2d1bb4bf6"/>
  </p:sldMasterIdLst>
  <p:notesMasterIdLst>
    <p:notesMasterId xmlns:r="http://schemas.openxmlformats.org/officeDocument/2006/relationships" r:id="R73648f494fd04124"/>
  </p:notesMasterIdLst>
  <p:sldIdLst>
    <p:sldId xmlns:r="http://schemas.openxmlformats.org/officeDocument/2006/relationships" id="256" r:id="Rcc38b9ffdd4e4b54"/>
    <p:sldId xmlns:r="http://schemas.openxmlformats.org/officeDocument/2006/relationships" id="257" r:id="R1f03933fe386433a"/>
    <p:sldId xmlns:r="http://schemas.openxmlformats.org/officeDocument/2006/relationships" id="258" r:id="R2efa0146f6144223"/>
    <p:sldId xmlns:r="http://schemas.openxmlformats.org/officeDocument/2006/relationships" id="259" r:id="R082c19d3469e4132"/>
    <p:sldId xmlns:r="http://schemas.openxmlformats.org/officeDocument/2006/relationships" id="260" r:id="Rb9c43b8abbc14c4c"/>
    <p:sldId xmlns:r="http://schemas.openxmlformats.org/officeDocument/2006/relationships" id="261" r:id="R85d3afdb3e424311"/>
    <p:sldId xmlns:r="http://schemas.openxmlformats.org/officeDocument/2006/relationships" id="262" r:id="Ra1d020de87fe47c1"/>
    <p:sldId xmlns:r="http://schemas.openxmlformats.org/officeDocument/2006/relationships" id="263" r:id="R206cfee00c31483d"/>
    <p:sldId xmlns:r="http://schemas.openxmlformats.org/officeDocument/2006/relationships" id="264" r:id="Recec1a29fe554d47"/>
    <p:sldId xmlns:r="http://schemas.openxmlformats.org/officeDocument/2006/relationships" id="265" r:id="Rf8019609700643ca"/>
    <p:sldId xmlns:r="http://schemas.openxmlformats.org/officeDocument/2006/relationships" id="266" r:id="Rd0b2a7eb1b724915"/>
    <p:sldId xmlns:r="http://schemas.openxmlformats.org/officeDocument/2006/relationships" id="267" r:id="R70b19de6ece24b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28001a316b4dc3" /><Relationship Type="http://schemas.openxmlformats.org/officeDocument/2006/relationships/slideMaster" Target="/ppt/slideMasters/slideMaster1.xml" Id="R1b8a21d2d1bb4bf6" /><Relationship Type="http://schemas.openxmlformats.org/officeDocument/2006/relationships/notesMaster" Target="/ppt/notesMasters/notesMaster1.xml" Id="R73648f494fd04124" /><Relationship Type="http://schemas.openxmlformats.org/officeDocument/2006/relationships/presProps" Target="/ppt/presProps.xml" Id="Raf6189f8f7454df7" /><Relationship Type="http://schemas.openxmlformats.org/officeDocument/2006/relationships/tableStyles" Target="/ppt/tableStyles.xml" Id="Re786d647c3a64213" /><Relationship Type="http://schemas.openxmlformats.org/officeDocument/2006/relationships/slide" Target="/ppt/slides/slide1.xml" Id="Rcc38b9ffdd4e4b54" /><Relationship Type="http://schemas.openxmlformats.org/officeDocument/2006/relationships/slide" Target="/ppt/slides/slide2.xml" Id="R1f03933fe386433a" /><Relationship Type="http://schemas.openxmlformats.org/officeDocument/2006/relationships/slide" Target="/ppt/slides/slide3.xml" Id="R2efa0146f6144223" /><Relationship Type="http://schemas.openxmlformats.org/officeDocument/2006/relationships/slide" Target="/ppt/slides/slide4.xml" Id="R082c19d3469e4132" /><Relationship Type="http://schemas.openxmlformats.org/officeDocument/2006/relationships/slide" Target="/ppt/slides/slide5.xml" Id="Rb9c43b8abbc14c4c" /><Relationship Type="http://schemas.openxmlformats.org/officeDocument/2006/relationships/slide" Target="/ppt/slides/slide6.xml" Id="R85d3afdb3e424311" /><Relationship Type="http://schemas.openxmlformats.org/officeDocument/2006/relationships/slide" Target="/ppt/slides/slide7.xml" Id="Ra1d020de87fe47c1" /><Relationship Type="http://schemas.openxmlformats.org/officeDocument/2006/relationships/slide" Target="/ppt/slides/slide8.xml" Id="R206cfee00c31483d" /><Relationship Type="http://schemas.openxmlformats.org/officeDocument/2006/relationships/slide" Target="/ppt/slides/slide9.xml" Id="Recec1a29fe554d47" /><Relationship Type="http://schemas.openxmlformats.org/officeDocument/2006/relationships/slide" Target="/ppt/slides/slide10.xml" Id="Rf8019609700643ca" /><Relationship Type="http://schemas.openxmlformats.org/officeDocument/2006/relationships/slide" Target="/ppt/slides/slide11.xml" Id="Rd0b2a7eb1b724915" /><Relationship Type="http://schemas.openxmlformats.org/officeDocument/2006/relationships/slide" Target="/ppt/slides/slide12.xml" Id="R70b19de6ece24b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4a9eefb6a340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55ee2353b5452d" /><Relationship Type="http://schemas.openxmlformats.org/officeDocument/2006/relationships/notesMaster" Target="/ppt/notesMasters/notesMaster1.xml" Id="R9b6368a79bae43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e7a4fda15d4f9e" /><Relationship Type="http://schemas.openxmlformats.org/officeDocument/2006/relationships/notesMaster" Target="/ppt/notesMasters/notesMaster1.xml" Id="R0000bf30c35545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6af9ac307344f5" /><Relationship Type="http://schemas.openxmlformats.org/officeDocument/2006/relationships/notesMaster" Target="/ppt/notesMasters/notesMaster1.xml" Id="R8d7cd4c7ce874b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c329c3493f46b3" /><Relationship Type="http://schemas.openxmlformats.org/officeDocument/2006/relationships/notesMaster" Target="/ppt/notesMasters/notesMaster1.xml" Id="R567b45a8c5984a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2e90872e104cd5" /><Relationship Type="http://schemas.openxmlformats.org/officeDocument/2006/relationships/notesMaster" Target="/ppt/notesMasters/notesMaster1.xml" Id="Rb9b716b8a9f54b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ba0279c17f466c" /><Relationship Type="http://schemas.openxmlformats.org/officeDocument/2006/relationships/notesMaster" Target="/ppt/notesMasters/notesMaster1.xml" Id="Rd1653d30018945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b2ecb6ccf94f0f" /><Relationship Type="http://schemas.openxmlformats.org/officeDocument/2006/relationships/notesMaster" Target="/ppt/notesMasters/notesMaster1.xml" Id="R2e92334eceba45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472bfd54814c9e" /><Relationship Type="http://schemas.openxmlformats.org/officeDocument/2006/relationships/notesMaster" Target="/ppt/notesMasters/notesMaster1.xml" Id="R74e0b1919c0441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6d4a8e97fd482e" /><Relationship Type="http://schemas.openxmlformats.org/officeDocument/2006/relationships/notesMaster" Target="/ppt/notesMasters/notesMaster1.xml" Id="Rbbdc1e32c34648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b564fef82049ed" /><Relationship Type="http://schemas.openxmlformats.org/officeDocument/2006/relationships/notesMaster" Target="/ppt/notesMasters/notesMaster1.xml" Id="R57e06fd7b39341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8d46c4a2c144a2" /><Relationship Type="http://schemas.openxmlformats.org/officeDocument/2006/relationships/notesMaster" Target="/ppt/notesMasters/notesMaster1.xml" Id="R9e02fc51a7c04b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79413332604915" /><Relationship Type="http://schemas.openxmlformats.org/officeDocument/2006/relationships/notesMaster" Target="/ppt/notesMasters/notesMaster1.xml" Id="Rb345cb64e80b44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**Linear regression** is a supervised algorithm for predicting a continuous numerical target with a weighted sum of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Examples include price, duration, demand, and energy use. It is not a classification algorithm: its direct output is a number on a continuous scale, not a class probability.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word **linear** means the prediction is linear in the model's coefficients. Each coefficient contributes through multiplication and addition.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Question: predict delivery time in minutes from distance in kilometres.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`x`: distance  </a:t>
            </a:r>
          </a:p>
          <a:p xmlns:a="http://schemas.openxmlformats.org/drawingml/2006/main">
            <a:r>
              <a:t>Target `y`: actual delivery time  </a:t>
            </a:r>
          </a:p>
          <a:p xmlns:a="http://schemas.openxmlformats.org/drawingml/2006/main">
            <a:r>
              <a:t>Prediction `ŷ`: estimated delivery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 model predicts `42` for an actual time of `45`, the residual is `45 - 42 = 3`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task map places linear regression under supervised learning, then regression, beside a continuous number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learners why yes/no late delivery would be classification while delivery minutes is regression.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model-development notebook fits estimators to numerical targets; this week explains the first model equation.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https://scikit-learn.org/stable/modules/linear_model.html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`n` features: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`ŷ = β0 + β1x1 + β2x2 + ... + βnxn`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`ŷ` (y-hat): predicted target</a:t>
            </a:r>
          </a:p>
          <a:p xmlns:a="http://schemas.openxmlformats.org/drawingml/2006/main">
            <a:r>
              <a:t>- `β0`: intercept, the prediction when all features equal zero</a:t>
            </a:r>
          </a:p>
          <a:p xmlns:a="http://schemas.openxmlformats.org/drawingml/2006/main">
            <a:r>
              <a:t>- `xi`: value of feature `i`</a:t>
            </a:r>
          </a:p>
          <a:p xmlns:a="http://schemas.openxmlformats.org/drawingml/2006/main">
            <a:r>
              <a:t>- `βi`: coefficient for feature `i`</a:t>
            </a:r>
          </a:p>
          <a:p xmlns:a="http://schemas.openxmlformats.org/drawingml/2006/main">
            <a:r>
              <a:t>- `n`: number of features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term `βixi` is one feature's contribution. The model adds all contributions and the intercept.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`ŷ = 10 + 4x`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distance `x = 5`: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`ŷ = 10 + 4(5)`  </a:t>
            </a:r>
          </a:p>
          <a:p xmlns:a="http://schemas.openxmlformats.org/drawingml/2006/main">
            <a:r>
              <a:t>`= 10 + 20`  </a:t>
            </a:r>
          </a:p>
          <a:p xmlns:a="http://schemas.openxmlformats.org/drawingml/2006/main">
            <a:r>
              <a:t>`= 30`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The equation is colour-coded so `ŷ`, `β0`, `β1`, and `x1` connect to their definitions and example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Read the equation in words before substituting values. Explain that coefficients and intercept are learned from training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Scikit-learn stores learned values in `intercept_` and `coef_`.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https://scikit-learn.org/stable/modules/linear_model.html#ordinary-least-squares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a one-feature model, the coefficient is the predicted change in `ŷ` for a one-unit increase in `x`.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 a multiple-feature model, coefficient `βi` is the predicted change for one unit of feature `xi` **while other model features are held constant**.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intercept may not have a practical interpretation if all features being zero is impossible or outside the observed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coefficient describes the fitted association in the model. It does not prove causation.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`price = 50,000 + 120 x area`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area is measured in square metres, the model associates one additional square metre with `120` more price units, holding other included features constant.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area `100`: `50,000 + 120(100) = 62,000`.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line shows intercept at `50,000` and a rise of `120` for one unit of area. A warning marks extrapolation beyond observed 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Require units in every interpretation. Avoid saying that area “causes” price.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should inspect coefficient signs, magnitudes, feature units, and preprocessing before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https://scikit-learn.org/stable/modules/linear_model.html</a:t>
            </a:r>
          </a:p>
          <a:p xmlns:a="http://schemas.openxmlformats.org/drawingml/2006/main">
            <a:r>
              <a:t>- https://openstax.org/books/college-algebra-2e/pages/2-1-linear-functions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 several features, linear regression can be written: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`ŷ = β0 + x · β`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`x · β` is the dot product: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`x1β1 + x2β2 + ... + xnβn`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order must match coefficient order. Changing units changes coefficient size, which is why raw coefficient magnitudes are not automatically comparable.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Model: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`ŷ = 20 + 3(distance) - 2(items)`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distance `5` and items `4`: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`ŷ = 20 + 3(5) - 2(4)`  </a:t>
            </a:r>
          </a:p>
          <a:p xmlns:a="http://schemas.openxmlformats.org/drawingml/2006/main">
            <a:r>
              <a:t>`= 20 + 15 - 8`  </a:t>
            </a:r>
          </a:p>
          <a:p xmlns:a="http://schemas.openxmlformats.org/drawingml/2006/main">
            <a:r>
              <a:t>`= 27`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Two feature-coefficient pairs produce contributions `+15` and `-8`; these join intercept `20` to make `27`.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learners to calculate each contribution separately and identify its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feature matrix has one column per coefficient and one row per prediction.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**residual** is actual minus predicted: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`ei = yi - ŷi`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positive residual: the model predicted too low;</a:t>
            </a:r>
          </a:p>
          <a:p xmlns:a="http://schemas.openxmlformats.org/drawingml/2006/main">
            <a:r>
              <a:t>- negative residual: the model predicted too high;</a:t>
            </a:r>
          </a:p>
          <a:p xmlns:a="http://schemas.openxmlformats.org/drawingml/2006/main">
            <a:r>
              <a:t>- zero residual: prediction matched the observed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Residual plots help reveal patterns that a single score hides. A useful linear fit usually leaves residuals scattered around zero without a clear curve or funnel shape.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Actual `[30, 40, 50]`  </a:t>
            </a:r>
          </a:p>
          <a:p xmlns:a="http://schemas.openxmlformats.org/drawingml/2006/main">
            <a:r>
              <a:t>Predicted `[28, 44, 49]`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Residuals: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`30 - 28 = 2`  </a:t>
            </a:r>
          </a:p>
          <a:p xmlns:a="http://schemas.openxmlformats.org/drawingml/2006/main">
            <a:r>
              <a:t>`40 - 44 = -4`  </a:t>
            </a:r>
          </a:p>
          <a:p xmlns:a="http://schemas.openxmlformats.org/drawingml/2006/main">
            <a:r>
              <a:t>`50 - 49 = 1`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Observed points and fitted points are connected by vertical residual lines; signs are labelled.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Keep the convention `actual - predicted` consistent. Some systems define error differently, so always state the formula.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evaluation notebook later plots and summarizes residuals for regression.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https://scikit-learn.org/stable/auto_examples/model_selection/plot_cv_predict.html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squared error: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`MSE = (1/n) Σ(yi - ŷi)^2`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mean squared error: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`RMSE = sqrt(MSE)`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Squaring makes all terms non-negative and gives larger residuals more influence. MSE is in squared target units; RMSE returns to the original target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Residuals `[2, -4, 1]`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Squared: `[4, 16, 1]`  </a:t>
            </a:r>
          </a:p>
          <a:p xmlns:a="http://schemas.openxmlformats.org/drawingml/2006/main">
            <a:r>
              <a:t>Sum: `21`  </a:t>
            </a:r>
          </a:p>
          <a:p xmlns:a="http://schemas.openxmlformats.org/drawingml/2006/main">
            <a:r>
              <a:t>`MSE = 21 / 3 = 7`  </a:t>
            </a:r>
          </a:p>
          <a:p xmlns:a="http://schemas.openxmlformats.org/drawingml/2006/main">
            <a:r>
              <a:t>`RMSE = sqrt(7) ≈ 2.65`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calculation table transforms residuals into squared residuals, mean, and square root with units shown at each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why RMSE is easier to communicate while MSE is convenient for optimization.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will compare regression models using held-out RMSE and other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https://scikit-learn.org/stable/modules/generated/sklearn.metrics.mean_squared_error.html</a:t>
            </a:r>
          </a:p>
          <a:p xmlns:a="http://schemas.openxmlformats.org/drawingml/2006/main">
            <a:r>
              <a:t>- https://scikit-learn.org/stable/modules/generated/sklearn.metrics.root_mean_squared_error.html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**Ordinary least squares (OLS)** chooses coefficients that minimize the sum of squared residuals: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`minβ Σ(yi - ŷi)^2`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candidate line produces residuals. Squaring and summing gives one cost. OLS selects the coefficients with the smallest cost among the candidates considered by the solver.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With one feature, the result is the fitted line. With many features, it is a fitted plane or higher-dimensional hyperplane.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Candidate A squared residuals: `[1, 4, 1]`, sum `6`  </a:t>
            </a:r>
          </a:p>
          <a:p xmlns:a="http://schemas.openxmlformats.org/drawingml/2006/main">
            <a:r>
              <a:t>Candidate B squared residuals: `[4, 9, 1]`, sum `14`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OLS prefers Candidate A because `6 &lt; 14`.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Two candidate lines appear over points; residual squares are totalled and the lower-cost line is selected.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Clarify that “best” means lowest squared error on training data, not automatically best generalization or causality.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notebook's `fit()` call invokes a solver for this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https://scikit-learn.org/stable/modules/linear_model.html#ordinary-least-squares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Instead of solving least squares directly, an iterative method can: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start with coefficient values;</a:t>
            </a:r>
          </a:p>
          <a:p xmlns:a="http://schemas.openxmlformats.org/drawingml/2006/main">
            <a:r>
              <a:t>2. predict training targets;</a:t>
            </a:r>
          </a:p>
          <a:p xmlns:a="http://schemas.openxmlformats.org/drawingml/2006/main">
            <a:r>
              <a:t>3. calculate MSE;</a:t>
            </a:r>
          </a:p>
          <a:p xmlns:a="http://schemas.openxmlformats.org/drawingml/2006/main">
            <a:r>
              <a:t>4. calculate gradients;</a:t>
            </a:r>
          </a:p>
          <a:p xmlns:a="http://schemas.openxmlformats.org/drawingml/2006/main">
            <a:r>
              <a:t>5. update coefficients opposite the gradients;</a:t>
            </a:r>
          </a:p>
          <a:p xmlns:a="http://schemas.openxmlformats.org/drawingml/2006/main">
            <a:r>
              <a:t>6. repeat.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Update: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`β_new = β_old - η ∂MSE/∂β`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OLS describes the objective. A closed-form or numerical solver and gradient descent are different procedures for reducing that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Current coefficient `β = 2`, gradient `-6`, learning rate `0.1`: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`β_new = 2 - 0.1(-6)`  </a:t>
            </a:r>
          </a:p>
          <a:p xmlns:a="http://schemas.openxmlformats.org/drawingml/2006/main">
            <a:r>
              <a:t>`= 2 + 0.6`  </a:t>
            </a:r>
          </a:p>
          <a:p xmlns:a="http://schemas.openxmlformats.org/drawingml/2006/main">
            <a:r>
              <a:t>`= 2.6`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negative gradient means increasing the coefficient locally reduces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coefficient point takes one labelled step down an MSE curve; the update equation is expanded beside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that gradients are recomputed after every step and convergence depends on scale and learning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mechanism reappears in PyTorch training, even when the model is nonlinear.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https://scikit-learn.org/stable/modules/generated/sklearn.linear_model.SGDRegressor.html</a:t>
            </a:r>
          </a:p>
          <a:p xmlns:a="http://schemas.openxmlformats.org/drawingml/2006/main">
            <a:r>
              <a:t>- https://d2l.ai/chapter_linear-regression/linear-regression-scratch.html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interpretation and uncertainty estimates, common linear-regression assumptions include: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the mean target relationship is reasonably linear in the included terms;</a:t>
            </a:r>
          </a:p>
          <a:p xmlns:a="http://schemas.openxmlformats.org/drawingml/2006/main">
            <a:r>
              <a:t>- residuals are independent under the sampling process;</a:t>
            </a:r>
          </a:p>
          <a:p xmlns:a="http://schemas.openxmlformats.org/drawingml/2006/main">
            <a:r>
              <a:t>- residual variance is roughly constant across fitted values;</a:t>
            </a:r>
          </a:p>
          <a:p xmlns:a="http://schemas.openxmlformats.org/drawingml/2006/main">
            <a:r>
              <a:t>- no observation has excessive influence;</a:t>
            </a:r>
          </a:p>
          <a:p xmlns:a="http://schemas.openxmlformats.org/drawingml/2006/main">
            <a:r>
              <a:t>- features do not contain perfect linear duplication.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Normal residuals matter mainly for some small-sample statistical inferences, not for calculating predictions.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If residual spread grows from about `±2` to `±20` as predictions increase, variance is not constant. One RMSE value hides that the model is much less reliable for large predictions.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Three residual plots show random scatter, curved pattern, and funnel-shaped variance.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Frame assumptions as questions to investigate, not boxes that make a model universally 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should inspect residuals and data collection before trusting coefficients.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https://www.itl.nist.gov/div898/handbook/pri/section2/pri24.htm</a:t>
            </a:r>
          </a:p>
          <a:p xmlns:a="http://schemas.openxmlformats.org/drawingml/2006/main">
            <a:r>
              <a:t>- https://www.statsmodels.org/stable/examples/notebooks/generated/regression_diagnostics.html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Fit coefficients on training data and evaluate once on held-out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mean baseline predicts the training-target mean for every new 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`R² = 1 - SSres / SStot`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`SSres`: squared residual sum for the model</a:t>
            </a:r>
          </a:p>
          <a:p xmlns:a="http://schemas.openxmlformats.org/drawingml/2006/main">
            <a:r>
              <a:t>- `SStot`: squared deviation sum from the target mean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`R² = 1` is perfect on that dataset, `0` matches the mean baseline under the formula, and negative values are worse.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If `SSres = 20` and `SStot = 80`: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`R² = 1 - 20/80 = 1 - 0.25 = 0.75`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model reduces squared error by 75% relative to the mean reference on these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Baseline and fitted-model predictions are compared on the same test rows with RMSE and R²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Do not describe R² as percentage accuracy. Explain it relative to squared variation around the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evaluation notebook calculates RMSE and R² for regression predictions.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https://scikit-learn.org/stable/modules/generated/sklearn.metrics.r2_score.html</a:t>
            </a:r>
          </a:p>
          <a:p xmlns:a="http://schemas.openxmlformats.org/drawingml/2006/main">
            <a:r>
              <a:t>- https://scikit-learn.org/stable/modules/generated/sklearn.dummy.DummyRegressor.html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**Regularization** adds a penalty for coefficient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Ridge: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`SSE + α Σβj²`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Lasso: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`SSE + α Σ|βj|`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`SSE`: sum of squared residuals</a:t>
            </a:r>
          </a:p>
          <a:p xmlns:a="http://schemas.openxmlformats.org/drawingml/2006/main">
            <a:r>
              <a:t>- `α`: penalty strength</a:t>
            </a:r>
          </a:p>
          <a:p xmlns:a="http://schemas.openxmlformats.org/drawingml/2006/main">
            <a:r>
              <a:t>- Ridge usually shrinks coefficients toward zero.</a:t>
            </a:r>
          </a:p>
          <a:p xmlns:a="http://schemas.openxmlformats.org/drawingml/2006/main">
            <a:r>
              <a:t>- Lasso can set some coefficients exactly to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Features should normally be scaled before comparing penalty effects. Choose `α` with validation evidence, not the test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Two models have equal SSE. Model A has coefficients `[10, 10]`; Model B has `[4, 5]`.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Ridge penalties: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A: `10² + 10² = 200`  </a:t>
            </a:r>
          </a:p>
          <a:p xmlns:a="http://schemas.openxmlformats.org/drawingml/2006/main">
            <a:r>
              <a:t>B: `4² + 5² = 41`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With `α &gt; 0`, the objective prefers the smaller coefficient norm.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OLS, Ridge, and Lasso coefficient bars show no penalty, shrinkage, and sparse zero coefficients.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Do not claim regularization always improves performance. It trades training fit for lower variance and must be validated.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Week 10 places scaling and regularized models inside leakage-safe pipelines.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https://scikit-learn.org/stable/modules/linear_model.html#ridge-regression-and-classification</a:t>
            </a:r>
          </a:p>
          <a:p xmlns:a="http://schemas.openxmlformats.org/drawingml/2006/main">
            <a:r>
              <a:t>- https://scikit-learn.org/stable/modules/linear_model.html#lasso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a small delivery-time regression and report: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observation, features, and continuous target;</a:t>
            </a:r>
          </a:p>
          <a:p xmlns:a="http://schemas.openxmlformats.org/drawingml/2006/main">
            <a:r>
              <a:t>2. baseline test RMSE;</a:t>
            </a:r>
          </a:p>
          <a:p xmlns:a="http://schemas.openxmlformats.org/drawingml/2006/main">
            <a:r>
              <a:t>3. fitted equation with units;</a:t>
            </a:r>
          </a:p>
          <a:p xmlns:a="http://schemas.openxmlformats.org/drawingml/2006/main">
            <a:r>
              <a:t>4. one prediction calculated by hand;</a:t>
            </a:r>
          </a:p>
          <a:p xmlns:a="http://schemas.openxmlformats.org/drawingml/2006/main">
            <a:r>
              <a:t>5. residuals, MSE, RMSE, and R²;</a:t>
            </a:r>
          </a:p>
          <a:p xmlns:a="http://schemas.openxmlformats.org/drawingml/2006/main">
            <a:r>
              <a:t>6. a residual plot;</a:t>
            </a:r>
          </a:p>
          <a:p xmlns:a="http://schemas.openxmlformats.org/drawingml/2006/main">
            <a:r>
              <a:t>7. one assumption concern;</a:t>
            </a:r>
          </a:p>
          <a:p xmlns:a="http://schemas.openxmlformats.org/drawingml/2006/main">
            <a:r>
              <a:t>8. one comparison with Ridge.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deliverable must explain what each coefficient means and what it does not prove.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`ŷ = 20 + 3(distance) - 2(items)` and `[5,4]`: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Prediction `27`; actual `30`; residual `3`; squared residual `9`.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lab checklist follows problem type, equation, hand prediction, fit, residuals, metrics, diagnostics, and regularization.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Require the regression/classification distinction before code and verify one prediction and one residual manually.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Continue into `03.model-development.ipynb`, then use the regression sections of `04.model-evaluation-techniques.ipynb`.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4f91c013845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78172d870a47b6" /><Relationship Type="http://schemas.openxmlformats.org/officeDocument/2006/relationships/slideLayout" Target="/ppt/slideLayouts/slideLayout1.xml" Id="R9216c999f12f44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16c999f12f44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590e9b94e4614" /><Relationship Type="http://schemas.openxmlformats.org/officeDocument/2006/relationships/image" Target="/ppt/media/image.png" Id="R4880f270ff3f4801" /><Relationship Type="http://schemas.openxmlformats.org/officeDocument/2006/relationships/image" Target="/ppt/media/image2.png" Id="R224b7d6b61d5495d" /><Relationship Type="http://schemas.openxmlformats.org/officeDocument/2006/relationships/notesSlide" Target="/ppt/notesSlides/notesSlide1.xml" Id="Re739e3e187f646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6e40dcd0b438d" /><Relationship Type="http://schemas.openxmlformats.org/officeDocument/2006/relationships/notesSlide" Target="/ppt/notesSlides/notesSlide2.xml" Id="R6cf58ed0cfae4c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8f698f6434d12" /><Relationship Type="http://schemas.openxmlformats.org/officeDocument/2006/relationships/notesSlide" Target="/ppt/notesSlides/notesSlide3.xml" Id="R865d4f05413a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0018ab9bc4481" /><Relationship Type="http://schemas.openxmlformats.org/officeDocument/2006/relationships/notesSlide" Target="/ppt/notesSlides/notesSlide4.xml" Id="R4f2c73cacc1342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7741d94a6402b" /><Relationship Type="http://schemas.openxmlformats.org/officeDocument/2006/relationships/notesSlide" Target="/ppt/notesSlides/notesSlide5.xml" Id="R6a7b211b81d844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5e2100e16469a" /><Relationship Type="http://schemas.openxmlformats.org/officeDocument/2006/relationships/notesSlide" Target="/ppt/notesSlides/notesSlide6.xml" Id="Rd28714026aee40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1f0c027d8480d" /><Relationship Type="http://schemas.openxmlformats.org/officeDocument/2006/relationships/notesSlide" Target="/ppt/notesSlides/notesSlide7.xml" Id="Raef7c373e01946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033ee580e4c3e" /><Relationship Type="http://schemas.openxmlformats.org/officeDocument/2006/relationships/notesSlide" Target="/ppt/notesSlides/notesSlide8.xml" Id="R19ce2fe8186541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9bc7f969d4a4b" /><Relationship Type="http://schemas.openxmlformats.org/officeDocument/2006/relationships/notesSlide" Target="/ppt/notesSlides/notesSlide9.xml" Id="Reeeb03f2d8fa41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ecc29fb3f4561" /><Relationship Type="http://schemas.openxmlformats.org/officeDocument/2006/relationships/notesSlide" Target="/ppt/notesSlides/notesSlide10.xml" Id="R9a8b75f98b8a43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674ffeced4245" /><Relationship Type="http://schemas.openxmlformats.org/officeDocument/2006/relationships/notesSlide" Target="/ppt/notesSlides/notesSlide11.xml" Id="R3dc0e2c42df142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8632853524026" /><Relationship Type="http://schemas.openxmlformats.org/officeDocument/2006/relationships/notesSlide" Target="/ppt/notesSlides/notesSlide12.xml" Id="Rb2d296a4e05547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EA477-0423-486A-989D-48200877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0f270ff3f4801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B5952-BC25-4E93-955A-282477EE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8FEF0-0946-4636-BC12-1584BFB7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07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71E7C-001F-4D1C-8D63-5E64840A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Linear Regression Predicts a Continuous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9410B-79E3-46EB-97BB-5EB23022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E90BC-2712-4DD2-AA3C-EBCC2239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Linear regression is a supervised algorithm for predicting a continuous numerical target with a weighted sum of features.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b7d6b61d5495d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1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F6E30-EB6C-42C2-85D2-CF5CFB7D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44E41-2ADD-4736-B0AC-CD0026FE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 Predicts a Continuous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2E8F0-CBD5-40AE-B95E-AE15425A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51CC5-692A-4CB7-9177-288AB8A6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CE85D-E0C5-4E20-AE1A-365E2F2B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Linear Regression Equation Has Four Parts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A7C63-0C92-4DD7-A049-0E479966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EE683-BE5F-4E8A-AA80-7DF9A409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For n features: ŷ = β0 + β1x1 + β2x2 + ... + βnxn Each term βixi is one feature's contribution. The model adds all contributions and the intercept.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A2B23-6B0D-423F-B016-497FAAE9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D5061-4DCB-438F-BDA1-575BC249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ŷ (y-hat): predicted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120A2-DC50-4C23-AA3D-FF99B3EC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A444C-BD49-4321-A874-420BB866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β0: intercept, the prediction when all features equal zero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2D0A1-5E96-49CC-ADFE-B44898DF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5455B-AEF6-419E-91A4-7C269084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xi: value of feature 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CB7D5-2A4A-479D-8410-5E478897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AFCB1-0502-4555-910D-7C681DD7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βi: coefficient for feature 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2171C-785D-485C-A598-B4E68DF7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C2D99-5382-4904-B7DC-5840E8B0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n: number of features</a:t>
            </a:r>
          </a:p>
        </p:txBody>
      </p:sp>
    </p:spTree>
    <p:extLst>
      <p:ext uri="{BB962C8B-B14F-4D97-AF65-F5344CB8AC3E}">
        <p14:creationId xmlns:p14="http://schemas.microsoft.com/office/powerpoint/2010/main" val="833522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D7199-1CAD-4071-AC0C-7A8E4406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65FC2-B7F8-447B-9015-3BDE1685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 Predicts a Continuous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D746A-161E-41B1-967E-E6B1354E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8B2B9-2A4F-4CC9-90A2-31CB72A7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85A74-784A-4FBA-87F3-B71438E4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 Coefficient Describes a Conditional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2A7DB-D8BA-4A84-A29D-4313B4E9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722DA-A063-41A2-9A61-EEB4C21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C4791-3200-48F9-BC17-14E6509B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5CB66-B2DE-4B5B-A4BD-7008CAFD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FA761-82F3-4A56-8247-FDAA1DA3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AE27B-2CF2-40FC-8197-9EE9DB3F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def predict_price(area):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return 50000 + 120 * area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print(predict_price(100))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4FB8D-632D-4921-89FD-A6AADC2A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8515D-C678-4FC5-85EC-28DF9282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C8907-B1BD-40E5-A802-792780A3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62000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93C86-A0C5-4119-AE1D-87BA1658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642A9-C366-4B8B-9F53-A65841E1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For area 100: 50,000 + 120(100) = 62,000.</a:t>
            </a:r>
          </a:p>
        </p:txBody>
      </p:sp>
    </p:spTree>
    <p:extLst>
      <p:ext uri="{BB962C8B-B14F-4D97-AF65-F5344CB8AC3E}">
        <p14:creationId xmlns:p14="http://schemas.microsoft.com/office/powerpoint/2010/main" val="1251163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61B38-244C-41E6-B260-84CEA6FC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16B0A-AF68-4127-823C-337E81FF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Linear Regression Predicts a Continuous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5B786-4069-4D3F-9323-FCBB5685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74A95-4BEE-46F8-BF11-6CAC7AA9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CBDE2-632E-42F4-8C8A-C01E7E05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Multiple Features Add Separate Contributions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B7B9A-DA81-4E6A-81F5-61F91F34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8F880-5C2C-4AAF-BC40-7F2B97A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With several features, linear regression can be written: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9AE8F-3160-4407-8591-1FC7F22B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2E9CE-6C3B-45F5-8F11-B23D35BB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17CC9-8A55-4E31-A68B-EA97D6B7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6ECCE-DA7B-453E-A257-15669545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x · β is the dot product: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64502-B133-44F6-BF86-9630B710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BA3AF-7334-41FC-99BF-BE02935B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64E48-9BDF-403F-AC5A-A2B099B0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E5888-09C3-4A15-9E78-E4E74B4C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Feature order must match coefficient order.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E9E84-DA70-4071-A06E-4570D7A2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BC375-4CA9-4E27-AF1A-DE145CBD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CA9E9-07A0-45D3-8EA6-457F5966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EBBFA-BC24-4E35-8DD9-7193BA15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Changing units changes coefficient size, which is why raw coefficient magnitudes are not automatically comparable.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CC89B-2520-43CF-AD95-A06299A3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B4776-3E87-4F87-95B6-E84C52CE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1EC63-143B-4315-A550-04BBAD43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1DEE8"/>
                </a:solidFill>
              </a:defRPr>
            </a:pPr>
            <a:r>
              <a:rPr sz="1500">
                <a:solidFill>
                  <a:srgbClr val="D1DEE8"/>
                </a:solidFill>
              </a:rPr>
              <a:t>Model: ŷ = 20 + 3(distance) - 2(items) For distance 5 and items 4: ŷ = 20 + 3(5) - 2(4) = 20 + 15 - 8 = 27 minutes</a:t>
            </a:r>
          </a:p>
        </p:txBody>
      </p:sp>
    </p:spTree>
    <p:extLst>
      <p:ext uri="{BB962C8B-B14F-4D97-AF65-F5344CB8AC3E}">
        <p14:creationId xmlns:p14="http://schemas.microsoft.com/office/powerpoint/2010/main" val="950458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E8F5F-17D1-466F-B732-F83EF3FB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246C7-7A59-4239-BF4A-51B56615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Linear Regression Predicts a Continuous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BB9FB-3C8A-49EE-BE6F-BF977DD4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19BD6-322C-4420-AA1E-1F3527FF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D481C-C093-429B-B1D1-D28324E3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Residuals Show Individual Prediction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EA173-703D-4B26-BD86-33BBC7C6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50533-78E4-4535-AD80-3D741ACE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6E2EB"/>
                </a:solidFill>
              </a:defRPr>
            </a:pPr>
            <a:r>
              <a:rPr sz="1425">
                <a:solidFill>
                  <a:srgbClr val="D6E2EB"/>
                </a:solidFill>
              </a:rPr>
              <a:t>A residual is actual minus predicted: ei = yi - ŷi Residual plots help reveal patterns that a single score hides. A useful linear fit usually leaves residuals scattered around zero without a clear curve or funnel shape.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2EEC4-7B4B-4616-B3ED-7FD0BB09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AB3DB-A36D-4537-BAA9-9A2AA374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positive residual: the model predicted too low;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CEBBE-D629-492F-A01B-A4B0FB10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E6D5D-B8DA-4159-99C3-9F8BC5A9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negative residual: the model predicted too high;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775FC-4B53-4857-93DD-59DB5AD9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418E3-8CD4-4A49-B6F7-A44D79A7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zero residual: prediction matched the observed target.</a:t>
            </a:r>
          </a:p>
        </p:txBody>
      </p:sp>
    </p:spTree>
    <p:extLst>
      <p:ext uri="{BB962C8B-B14F-4D97-AF65-F5344CB8AC3E}">
        <p14:creationId xmlns:p14="http://schemas.microsoft.com/office/powerpoint/2010/main" val="563842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6FCA4-D5D7-46DE-B4B5-3EFC1D65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93E22-68E1-4A20-8427-6E9F93E1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 Predicts a Continuous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A45A5-7FB5-4BAF-93CA-B4F9F2B1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07D14-959F-4E99-A542-040F0296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9189A-FD6C-4F1E-94E1-EBFA6A98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MSE and RMSE Summarize Residuals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34465-6FBC-4AEB-B9C9-E40EA85B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16EBD-4DF2-43D2-A5F0-A7940A4B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FCE19-F505-4DD7-9006-0D8BEF73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76A8C-9F91-4F42-82B7-4C29135B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449B3-DE07-4AC8-9DDA-0458B7F1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204E8-CC19-4E38-8D8C-66BC3853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from sklearn.metrics import mean_squared_error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mse = mean_squared_error(actual, predicted)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rmse = mse ** 0.5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print(mse, round(rmse, 2))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8AEFD-9CFA-4735-8DF2-9B961E63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B9C18-732A-44E1-9203-750058E7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8F771-AC5C-4FD4-8378-F4A29743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7.0 2.65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6585D-0C10-486B-924D-D000D212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2193B-6C6D-4D17-B0A8-FEA7A104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Squared: [4, 16, 1] Sum: 21 MSE = 21 / 3 = 7 RMSE = sqrt(7) ≈ 2.65</a:t>
            </a:r>
          </a:p>
        </p:txBody>
      </p:sp>
    </p:spTree>
    <p:extLst>
      <p:ext uri="{BB962C8B-B14F-4D97-AF65-F5344CB8AC3E}">
        <p14:creationId xmlns:p14="http://schemas.microsoft.com/office/powerpoint/2010/main" val="3656308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0F430-2C04-42A3-A7A4-D9AF1D8D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2257C-0987-457D-936A-C5956382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Linear Regression Predicts a Continuous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30673-D1F1-4D0E-8DFD-880C8900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F44C4-C1A1-4FBE-AFA5-3B390EE1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06E93-A5C2-4DB3-956D-309236F1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Ordinary Least Squares Chooses the Best Coefficients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9589B-E769-4833-BBDA-26D08E53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51EC6-14B4-4596-BA65-CF017208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6E2EB"/>
                </a:solidFill>
              </a:defRPr>
            </a:pPr>
            <a:r>
              <a:rPr sz="1275">
                <a:solidFill>
                  <a:srgbClr val="D6E2EB"/>
                </a:solidFill>
              </a:rPr>
              <a:t>Ordinary least squares (OLS) chooses coefficients that minimize the sum of squared residuals: minβ Σ(yi - ŷi)^2 Each candidate line produces residuals. Squaring and summing gives one cost. OLS selects the coefficients with the smallest cost among the candidates considered by the solver.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F71D4-8AB0-4DCD-94E8-F4C81370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03B9B-8123-4342-A982-046CEEA6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Ordinary least squares (OLS) chooses coefficients that minimize the sum of squared residuals: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F27B8-7F9B-410F-B371-91650810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B8A00-A210-41CA-A387-7EE92D27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Each candidate line produces residuals.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4FA86-A958-4193-B4C0-B14F3B16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146FD-7E6C-4FE2-9F98-62697FF2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Squaring and summing gives one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B26CB-C531-4191-B8C7-50C045AB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BBFD9-BB03-4835-8D3B-A712F30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OLS selects the coefficients with the smallest cost among the candidates considered by the solver.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99B18-1375-4545-8D1B-D476AD9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9F5BD-B920-435A-BC32-404E6F24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With one feature, the result is the fitted 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4D3AF-496C-4487-A921-D7188BE7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29738-27BF-48F6-862F-7564F05D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With many features, it is a fitted plane or higher-dimensional hyperplane.</a:t>
            </a:r>
          </a:p>
        </p:txBody>
      </p:sp>
    </p:spTree>
    <p:extLst>
      <p:ext uri="{BB962C8B-B14F-4D97-AF65-F5344CB8AC3E}">
        <p14:creationId xmlns:p14="http://schemas.microsoft.com/office/powerpoint/2010/main" val="2980001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E1DAB-49C0-4221-B6D0-7DAA6A02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014A9-3468-4694-A504-F3BFA024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Linear Regression Predicts a Continuous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B3382-5D00-48F1-9AB6-EA01333E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B50EE-FD97-47C9-90F1-6ABC2E2F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833C6-5984-46D8-8A3F-A951E82D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Gradient Descent Can Minimize the Same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5464F-5101-4914-9C13-CE8639F3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AEE7D-6E05-4BE5-99E3-E577AEC0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start with coefficient values;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2DA48-AD05-4401-833C-322A33DB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AAE9F-1EDD-415F-8465-7D9D0F6C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B16F9-2330-46DD-A1C1-D68DB02F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71AF4-C237-41E4-9C42-6E177A0D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predict training targets;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F2D9B-FBCE-4DA2-BE0A-76E848DB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C712A-609A-4A6E-92C9-C65DA12C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503F6-676B-47D7-84D4-4921A73C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D0119-76DA-42DD-A4E2-548F6637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calculate MSE;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7F163-7FD1-43BF-B779-CA33E75E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B5B1C-9ED4-4828-8673-F93F6647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DD0E4-999B-4986-8A0C-4BD32B57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A3D5E-EF61-4053-90B6-F2632D2D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calculate gradients;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57ED7-BA13-4DCE-A7B1-50B3CC58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E0C41-75B9-41D7-B2FF-5B514AD0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DCE001-B40A-4D0D-B9B1-7ADAAE4F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EE8"/>
                </a:solidFill>
              </a:defRPr>
            </a:pPr>
            <a:r>
              <a:rPr sz="1350">
                <a:solidFill>
                  <a:srgbClr val="D1DEE8"/>
                </a:solidFill>
              </a:rPr>
              <a:t>Current coefficient β = 2, gradient -6, learning rate 0.1: βnew = 2 - 0.1(-6) = 2 + 0.6 = 2.6 The negative gradient means increasing the coefficient locally reduces loss.</a:t>
            </a:r>
          </a:p>
        </p:txBody>
      </p:sp>
    </p:spTree>
    <p:extLst>
      <p:ext uri="{BB962C8B-B14F-4D97-AF65-F5344CB8AC3E}">
        <p14:creationId xmlns:p14="http://schemas.microsoft.com/office/powerpoint/2010/main" val="2987858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1F6A8-66A5-435E-9133-FE281A27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931B1-72F4-4DFE-B8C2-B11176BD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 Predicts a Continuous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2320D-D62A-418C-AABD-66FD3AD2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8A741-3154-43F1-98B3-033AC092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44E69-A159-4342-9A8E-B5E9A522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Assumptions Tell Us When the Model Is Credible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AB796-D454-4C30-A1DD-C8B822FB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5CC94-BA39-48D6-90DA-08D3E152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45A6F-F4DE-4918-AEB1-72F7848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40FF1-1C5F-4FA6-870E-C3E10F58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71FA1-3F5D-4733-B4F2-1E4C79DB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0E0A3-40B1-4CB7-832E-BEFF63CC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residuals = y_test - model.predict(X_test)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plt.scatter(model.predict(X_test), residuals)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plt.axhline(0, color="black")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70D61-AB6B-403A-A76B-A1978095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EE310-6BD0-48F4-886D-C0CF15C3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9794D-56B9-41F8-8E87-8B8C0423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 residual plot centred on a horizontal zero 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8C1E0-4358-48A3-B3CA-FB51D643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48F61-AC43-4DBF-B71F-347CF937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If residual spread grows from about ±2 to ±20 as predictions increase, variance is not constant. One RMSE value hides that the model is much less reliable for large predictions.</a:t>
            </a:r>
          </a:p>
        </p:txBody>
      </p:sp>
    </p:spTree>
    <p:extLst>
      <p:ext uri="{BB962C8B-B14F-4D97-AF65-F5344CB8AC3E}">
        <p14:creationId xmlns:p14="http://schemas.microsoft.com/office/powerpoint/2010/main" val="20436096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689A5-01D2-4977-B6C7-39CE804F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3161A-56BC-4202-AE24-8ABAB24A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 Predicts a Continuous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79D6D-EC7F-4437-9121-B1FB3F99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FEA1E-1BB7-4E56-B99F-AB72D68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E6021-9DBC-44CC-9D69-E03EBCEE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Evaluate Against a Mean Baseline on Unseen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74FB-B44B-47CF-A9AC-127A9AB8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C0649-6B8B-4A02-9F3A-97452064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74BA2-08D9-43ED-9EF5-E665C44A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SSres: squared residual sum for the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A29AA-7D9D-4080-A590-95CB3E6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3B17B-ED22-4F90-ACCA-3219C458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6FEFA-EDA1-4B54-8120-8A3A9B5E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EC951-210A-47F8-96F9-5DBE373F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SStot: squared deviation sum from the target mean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DDD8A-4318-4E2A-928D-B583D6CD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58808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F599E1-E5EE-4A74-AC45-E4D42595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6D1F5-F0E6-449B-88BF-54236A96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 Predicts a Continuous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4180C-76DF-4B91-B5B2-5C2A320C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4B0E4-2B3B-4FDE-B074-551173A0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3D710-AB70-4509-BE45-361CA6A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Ridge and Lasso Control Coefficient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5A0CC-1A04-4F43-8165-BCA29A8A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40DF1-6503-4818-BF1A-F1C72DBC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7C01F-353C-4522-8889-6A7B6115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SSE: sum of squared residuals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7437A-144F-4ADA-AE0D-C5C4A695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C3C9C-BA1D-453D-94C8-A3DB6E46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BFD19-DDEB-473E-8A15-D63E4137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D3FD4-9D4F-45C5-B04B-726FB68E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α: penalty strength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43F26-EB2B-4C20-BBE5-7C991FCD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6A21F-3294-45CD-8329-ED33AEA0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769D5-BD6D-4604-9228-20FCFF1F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97CEC-4D87-4749-92D8-DCA9ED0A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Ridge usually shrinks coefficients toward zero.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A39B3-1B2E-4132-9C73-61EDA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61EA3-E832-48A9-B9EB-5E6F8F7C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6801D-E2B8-4D00-BBD9-3014FD35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AADCA-DDAE-45B1-A19E-A404D4DD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Lasso can set some coefficients exactly to zero.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9D1A9F-3D37-4CA1-BB81-816B74CA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92038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DC1B2-2D80-4389-95FF-C4DD9DFA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470BC-3DF8-4034-B52C-EFF3FCB5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Linear Regression Predicts a Continuous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768B2-7165-4EBD-B596-46A5B5F4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9E2AE-BD75-4344-999B-9FE66446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6CAFA-B2B4-4DD1-8BBC-0BC1ED4E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Guided Lab: Explain Every Part of a Regression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ABA11-93A7-403F-84C3-E2D92CB4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286FA-44FB-4777-85C4-2FA86C85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093B8-7099-4EF7-AAB2-30B7E5F1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observation, features, and continuous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4F180-B5FC-4F0C-8776-F831754B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9790B-A997-4AAF-8CB8-B1D0C9DC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F76E0-F797-4D97-BEA0-C1B92124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baseline test 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76B43-61E1-4308-9DA9-DFC5CB9B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2F0DE-B2EE-413F-B25C-F8E0FF1F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8E421-E6B0-4948-AB0E-2830606E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fitted equation with units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C0019-6767-48D3-BABF-562E2A72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0A336-5EF7-41BF-A37A-571631FC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EDE1D-1638-451B-9248-D4C8A1FA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one prediction calculated by hand</a:t>
            </a:r>
          </a:p>
        </p:txBody>
      </p:sp>
    </p:spTree>
    <p:extLst>
      <p:ext uri="{BB962C8B-B14F-4D97-AF65-F5344CB8AC3E}">
        <p14:creationId xmlns:p14="http://schemas.microsoft.com/office/powerpoint/2010/main" val="694248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2026-07-28T19:27:37.8380000Z</dcterms:created>
  <dcterms:modified xsi:type="dcterms:W3CDTF">2026-07-28T19:27:37.8380000Z</dcterms:modified>
</coreProperties>
</file>