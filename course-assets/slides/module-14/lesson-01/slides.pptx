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72aa4a8fd4a88" /><Relationship Type="http://schemas.openxmlformats.org/officeDocument/2006/relationships/extended-properties" Target="/docProps/app.xml" Id="R927007a7c9554f6a" /><Relationship Type="http://schemas.openxmlformats.org/officeDocument/2006/relationships/officeDocument" Target="/ppt/presentation.xml" Id="R3fafabd8027a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c4b87a64b408d"/>
  </p:sldMasterIdLst>
  <p:notesMasterIdLst>
    <p:notesMasterId xmlns:r="http://schemas.openxmlformats.org/officeDocument/2006/relationships" r:id="Rb35b44a94b6b4667"/>
  </p:notesMasterIdLst>
  <p:sldIdLst>
    <p:sldId xmlns:r="http://schemas.openxmlformats.org/officeDocument/2006/relationships" id="256" r:id="R40eba33f5e1b43b3"/>
    <p:sldId xmlns:r="http://schemas.openxmlformats.org/officeDocument/2006/relationships" id="257" r:id="Ra630a16c4d994f23"/>
    <p:sldId xmlns:r="http://schemas.openxmlformats.org/officeDocument/2006/relationships" id="258" r:id="R02d22581c68746f4"/>
    <p:sldId xmlns:r="http://schemas.openxmlformats.org/officeDocument/2006/relationships" id="259" r:id="R4b720f9e3bd242cd"/>
    <p:sldId xmlns:r="http://schemas.openxmlformats.org/officeDocument/2006/relationships" id="260" r:id="R82cbd34833104e73"/>
    <p:sldId xmlns:r="http://schemas.openxmlformats.org/officeDocument/2006/relationships" id="261" r:id="R133edcb1f5d44277"/>
    <p:sldId xmlns:r="http://schemas.openxmlformats.org/officeDocument/2006/relationships" id="262" r:id="R70e5092cc9e34417"/>
    <p:sldId xmlns:r="http://schemas.openxmlformats.org/officeDocument/2006/relationships" id="263" r:id="R54d161726c4b45df"/>
    <p:sldId xmlns:r="http://schemas.openxmlformats.org/officeDocument/2006/relationships" id="264" r:id="R47ee9dc835424c92"/>
    <p:sldId xmlns:r="http://schemas.openxmlformats.org/officeDocument/2006/relationships" id="265" r:id="R99074631ec724647"/>
    <p:sldId xmlns:r="http://schemas.openxmlformats.org/officeDocument/2006/relationships" id="266" r:id="R84a5e8ab97734ef0"/>
    <p:sldId xmlns:r="http://schemas.openxmlformats.org/officeDocument/2006/relationships" id="267" r:id="R3cd9878be9f044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9d4c5bfbb94622" /><Relationship Type="http://schemas.openxmlformats.org/officeDocument/2006/relationships/slideMaster" Target="/ppt/slideMasters/slideMaster1.xml" Id="R8eac4b87a64b408d" /><Relationship Type="http://schemas.openxmlformats.org/officeDocument/2006/relationships/notesMaster" Target="/ppt/notesMasters/notesMaster1.xml" Id="Rb35b44a94b6b4667" /><Relationship Type="http://schemas.openxmlformats.org/officeDocument/2006/relationships/presProps" Target="/ppt/presProps.xml" Id="R3346caf13bfd4a3c" /><Relationship Type="http://schemas.openxmlformats.org/officeDocument/2006/relationships/tableStyles" Target="/ppt/tableStyles.xml" Id="Rb10e9ffb58a646a8" /><Relationship Type="http://schemas.openxmlformats.org/officeDocument/2006/relationships/slide" Target="/ppt/slides/slide1.xml" Id="R40eba33f5e1b43b3" /><Relationship Type="http://schemas.openxmlformats.org/officeDocument/2006/relationships/slide" Target="/ppt/slides/slide2.xml" Id="Ra630a16c4d994f23" /><Relationship Type="http://schemas.openxmlformats.org/officeDocument/2006/relationships/slide" Target="/ppt/slides/slide3.xml" Id="R02d22581c68746f4" /><Relationship Type="http://schemas.openxmlformats.org/officeDocument/2006/relationships/slide" Target="/ppt/slides/slide4.xml" Id="R4b720f9e3bd242cd" /><Relationship Type="http://schemas.openxmlformats.org/officeDocument/2006/relationships/slide" Target="/ppt/slides/slide5.xml" Id="R82cbd34833104e73" /><Relationship Type="http://schemas.openxmlformats.org/officeDocument/2006/relationships/slide" Target="/ppt/slides/slide6.xml" Id="R133edcb1f5d44277" /><Relationship Type="http://schemas.openxmlformats.org/officeDocument/2006/relationships/slide" Target="/ppt/slides/slide7.xml" Id="R70e5092cc9e34417" /><Relationship Type="http://schemas.openxmlformats.org/officeDocument/2006/relationships/slide" Target="/ppt/slides/slide8.xml" Id="R54d161726c4b45df" /><Relationship Type="http://schemas.openxmlformats.org/officeDocument/2006/relationships/slide" Target="/ppt/slides/slide9.xml" Id="R47ee9dc835424c92" /><Relationship Type="http://schemas.openxmlformats.org/officeDocument/2006/relationships/slide" Target="/ppt/slides/slide10.xml" Id="R99074631ec724647" /><Relationship Type="http://schemas.openxmlformats.org/officeDocument/2006/relationships/slide" Target="/ppt/slides/slide11.xml" Id="R84a5e8ab97734ef0" /><Relationship Type="http://schemas.openxmlformats.org/officeDocument/2006/relationships/slide" Target="/ppt/slides/slide12.xml" Id="R3cd9878be9f044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67211b1604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7e88949f542ae" /><Relationship Type="http://schemas.openxmlformats.org/officeDocument/2006/relationships/notesMaster" Target="/ppt/notesMasters/notesMaster1.xml" Id="R3b65f6321b47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90fa5b178486c" /><Relationship Type="http://schemas.openxmlformats.org/officeDocument/2006/relationships/notesMaster" Target="/ppt/notesMasters/notesMaster1.xml" Id="R1e6513a6885544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759a8971d4305" /><Relationship Type="http://schemas.openxmlformats.org/officeDocument/2006/relationships/notesMaster" Target="/ppt/notesMasters/notesMaster1.xml" Id="Rb2008a8c194242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64e2f4d0a149ab" /><Relationship Type="http://schemas.openxmlformats.org/officeDocument/2006/relationships/notesMaster" Target="/ppt/notesMasters/notesMaster1.xml" Id="R42eebf67048049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7a9b70b44c4bc8" /><Relationship Type="http://schemas.openxmlformats.org/officeDocument/2006/relationships/notesMaster" Target="/ppt/notesMasters/notesMaster1.xml" Id="Ra3ea293731a04f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a99f6024114e1f" /><Relationship Type="http://schemas.openxmlformats.org/officeDocument/2006/relationships/notesMaster" Target="/ppt/notesMasters/notesMaster1.xml" Id="R9914bcc0eb1343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3921316ba4b20" /><Relationship Type="http://schemas.openxmlformats.org/officeDocument/2006/relationships/notesMaster" Target="/ppt/notesMasters/notesMaster1.xml" Id="R033e803a139941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404929680e49b9" /><Relationship Type="http://schemas.openxmlformats.org/officeDocument/2006/relationships/notesMaster" Target="/ppt/notesMasters/notesMaster1.xml" Id="R0f087fca6afe4d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d8b6f6c5c2427d" /><Relationship Type="http://schemas.openxmlformats.org/officeDocument/2006/relationships/notesMaster" Target="/ppt/notesMasters/notesMaster1.xml" Id="R338889af80da4b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15475ca82445e9" /><Relationship Type="http://schemas.openxmlformats.org/officeDocument/2006/relationships/notesMaster" Target="/ppt/notesMasters/notesMaster1.xml" Id="Racaeac3524c140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c41bc1b4334317" /><Relationship Type="http://schemas.openxmlformats.org/officeDocument/2006/relationships/notesMaster" Target="/ppt/notesMasters/notesMaster1.xml" Id="R6a14e309d8da4d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3d50ab5d044928" /><Relationship Type="http://schemas.openxmlformats.org/officeDocument/2006/relationships/notesMaster" Target="/ppt/notesMasters/notesMaster1.xml" Id="Rcc6e8873df09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engineered LLM application includes: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request validation;</a:t>
            </a:r>
          </a:p>
          <a:p xmlns:a="http://schemas.openxmlformats.org/drawingml/2006/main">
            <a:r>
              <a:t>- prompt and schema versioning;</a:t>
            </a:r>
          </a:p>
          <a:p xmlns:a="http://schemas.openxmlformats.org/drawingml/2006/main">
            <a:r>
              <a:t>- provider client;</a:t>
            </a:r>
          </a:p>
          <a:p xmlns:a="http://schemas.openxmlformats.org/drawingml/2006/main">
            <a:r>
              <a:t>- model selection;</a:t>
            </a:r>
          </a:p>
          <a:p xmlns:a="http://schemas.openxmlformats.org/drawingml/2006/main">
            <a:r>
              <a:t>- retries and timeouts;</a:t>
            </a:r>
          </a:p>
          <a:p xmlns:a="http://schemas.openxmlformats.org/drawingml/2006/main">
            <a:r>
              <a:t>- structured-output validation;</a:t>
            </a:r>
          </a:p>
          <a:p xmlns:a="http://schemas.openxmlformats.org/drawingml/2006/main">
            <a:r>
              <a:t>- tool authorization;</a:t>
            </a:r>
          </a:p>
          <a:p xmlns:a="http://schemas.openxmlformats.org/drawingml/2006/main">
            <a:r>
              <a:t>- tracing and metrics;</a:t>
            </a:r>
          </a:p>
          <a:p xmlns:a="http://schemas.openxmlformats.org/drawingml/2006/main">
            <a:r>
              <a:t>- fallback and failure behaviour;</a:t>
            </a:r>
          </a:p>
          <a:p xmlns:a="http://schemas.openxmlformats.org/drawingml/2006/main">
            <a:r>
              <a:t>- cost and token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owns reliability and security. A provider response is untrusted input until validated.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User request flows through: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`API -&gt; validation -&gt; prompt -&gt; provider -&gt; schema check -&gt; policy check -&gt; response`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schema validation fails, the application returns a controlled error or bounded retry rather than storing malformed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model provider is one box inside a larger application boundary with validation, policy, observability, and cost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which responsibilities remain even when the provider advertises structured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LiteLLM and LangChain notebooks expose provider calls that this week wraps in application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Provider APIs require **authentication**, often through an API key or cloud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keep credentials outside source code and notebooks;</a:t>
            </a:r>
          </a:p>
          <a:p xmlns:a="http://schemas.openxmlformats.org/drawingml/2006/main">
            <a:r>
              <a:t>- use environment variables or a secret manager;</a:t>
            </a:r>
          </a:p>
          <a:p xmlns:a="http://schemas.openxmlformats.org/drawingml/2006/main">
            <a:r>
              <a:t>- separate development and production credentials;</a:t>
            </a:r>
          </a:p>
          <a:p xmlns:a="http://schemas.openxmlformats.org/drawingml/2006/main">
            <a:r>
              <a:t>- grant minimum required permissions and spend limits;</a:t>
            </a:r>
          </a:p>
          <a:p xmlns:a="http://schemas.openxmlformats.org/drawingml/2006/main">
            <a:r>
              <a:t>- rotate exposed keys;</a:t>
            </a:r>
          </a:p>
          <a:p xmlns:a="http://schemas.openxmlformats.org/drawingml/2006/main">
            <a:r>
              <a:t>- never log authorization headers;</a:t>
            </a:r>
          </a:p>
          <a:p xmlns:a="http://schemas.openxmlformats.org/drawingml/2006/main">
            <a:r>
              <a:t>- fail clearly when configuration is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Authentication identifies a caller. **Authorization** decides what that caller may 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Unsafe notebook: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`api_key = "live-key-value"`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Safer application: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`api_key = os.environ["PROVIDER_API_KEY"]`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deployment environment injects the secret; the repository never stores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secret manager injects a scoped key into runtime memory; repository, logs, and image layers remain key-free.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Remind learners that the root `.env` is local sensitive material and must remain ignored.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Provider notebooks should read keys from environment variables, never checked-in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https://cheatsheetseries.owasp.org/cheatsheets/Secrets_Management_Cheat_Sheet.html</a:t>
            </a:r>
          </a:p>
          <a:p xmlns:a="http://schemas.openxmlformats.org/drawingml/2006/main">
            <a:r>
              <a:t>- https://docs.aws.amazon.com/secretsmanager/latest/userguide/best-practices.html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a model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task quality on your evaluation set;</a:t>
            </a:r>
          </a:p>
          <a:p xmlns:a="http://schemas.openxmlformats.org/drawingml/2006/main">
            <a:r>
              <a:t>- required context length;</a:t>
            </a:r>
          </a:p>
          <a:p xmlns:a="http://schemas.openxmlformats.org/drawingml/2006/main">
            <a:r>
              <a:t>- structured-output and tool support;</a:t>
            </a:r>
          </a:p>
          <a:p xmlns:a="http://schemas.openxmlformats.org/drawingml/2006/main">
            <a:r>
              <a:t>- latency;</a:t>
            </a:r>
          </a:p>
          <a:p xmlns:a="http://schemas.openxmlformats.org/drawingml/2006/main">
            <a:r>
              <a:t>- input and output price;</a:t>
            </a:r>
          </a:p>
          <a:p xmlns:a="http://schemas.openxmlformats.org/drawingml/2006/main">
            <a:r>
              <a:t>- data location and retention terms;</a:t>
            </a:r>
          </a:p>
          <a:p xmlns:a="http://schemas.openxmlformats.org/drawingml/2006/main">
            <a:r>
              <a:t>- rate limits;</a:t>
            </a:r>
          </a:p>
          <a:p xmlns:a="http://schemas.openxmlformats.org/drawingml/2006/main">
            <a:r>
              <a:t>- language and modality support;</a:t>
            </a:r>
          </a:p>
          <a:p xmlns:a="http://schemas.openxmlformats.org/drawingml/2006/main">
            <a:r>
              <a:t>- deployment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names and capabilities change. Pin a model identifier where supported and record the observed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Task requires JSON extraction under `2`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A: 98% field accuracy, 4 seconds.  </a:t>
            </a:r>
          </a:p>
          <a:p xmlns:a="http://schemas.openxmlformats.org/drawingml/2006/main">
            <a:r>
              <a:t>Model B: 96% field accuracy, 1 second.  </a:t>
            </a:r>
          </a:p>
          <a:p xmlns:a="http://schemas.openxmlformats.org/drawingml/2006/main">
            <a:r>
              <a:t>Model C: 90% field accuracy, 0.5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Selection depends on the minimum accepted quality and latency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requirements table filters candidate models, then an evaluation set compares survivors.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make current vendor recommendations in the slides; learners must evaluate currently available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LiteLLM notebook sends the same task to several providers for controlled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https://docs.litellm.ai/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**Streaming** returns partial events while generation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Benefits: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faster time to first visible token;</a:t>
            </a:r>
          </a:p>
          <a:p xmlns:a="http://schemas.openxmlformats.org/drawingml/2006/main">
            <a:r>
              <a:t>- progressive user feedback;</a:t>
            </a:r>
          </a:p>
          <a:p xmlns:a="http://schemas.openxmlformats.org/drawingml/2006/main">
            <a:r>
              <a:t>- ability to cancel long generations.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Engineering requirements: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assemble chunks in order;</a:t>
            </a:r>
          </a:p>
          <a:p xmlns:a="http://schemas.openxmlformats.org/drawingml/2006/main">
            <a:r>
              <a:t>- handle disconnects and cancellation;</a:t>
            </a:r>
          </a:p>
          <a:p xmlns:a="http://schemas.openxmlformats.org/drawingml/2006/main">
            <a:r>
              <a:t>- avoid treating partial JSON as valid;</a:t>
            </a:r>
          </a:p>
          <a:p xmlns:a="http://schemas.openxmlformats.org/drawingml/2006/main">
            <a:r>
              <a:t>- record complete and failed streams;</a:t>
            </a:r>
          </a:p>
          <a:p xmlns:a="http://schemas.openxmlformats.org/drawingml/2006/main">
            <a:r>
              <a:t>- apply final validation after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Streaming improves perceived latency, not total generation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Chunks: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`"The "` -&gt; `"answer "` -&gt; `"is 42."`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interface can display text progressively. For JSON, buffer until the complete object arrives, then parse and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timeline shows request, first token, progressive chunks, complete response, and final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users must be warned or protected from acting on incomplete unvalidated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add streaming to one provider call and measure time to first token and total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https://docs.litellm.ai/docs/completion/stream</a:t>
            </a:r>
          </a:p>
          <a:p xmlns:a="http://schemas.openxmlformats.org/drawingml/2006/main">
            <a:r>
              <a:t>- https://docs.langchain.com/oss/python/langchain/streaming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Provider usage commonly separates: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input tokens;</a:t>
            </a:r>
          </a:p>
          <a:p xmlns:a="http://schemas.openxmlformats.org/drawingml/2006/main">
            <a:r>
              <a:t>- output tokens;</a:t>
            </a:r>
          </a:p>
          <a:p xmlns:a="http://schemas.openxmlformats.org/drawingml/2006/main">
            <a:r>
              <a:t>- sometimes cached or reasoning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Approximate request cost: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`input_tokens x input_rate + output_tokens x output_rate`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Rates must use the provider's current units, often price per million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limits on input size, retrieved context, output length, total request cost, and daily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Input `2,000` tokens at `$1` per million: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`2000 / 1,000,000 x $1 = $0.002`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`500` tokens at `$4` per million: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`500 / 1,000,000 x $4 = $0.002`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Estimated total `$0.004`.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context budget and cost equation connect input, output, limits, and daily aggregate.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Label prices as examples only. Never hardcode slides as a current pricing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lab logs token counts, latency, and estimated cost for each provider.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https://docs.litellm.ai/docs/completion/token_usage</a:t>
            </a:r>
          </a:p>
          <a:p xmlns:a="http://schemas.openxmlformats.org/drawingml/2006/main">
            <a:r>
              <a:t>- https://huggingface.co/docs/transformers/main_classes/text_generation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Retry only failures likely to be temporary, such as some timeouts, connection failures, `429` rate limits, or provider `5xx` 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retry invalid credentials, malformed requests, or permanent policy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per-attempt timeout;</a:t>
            </a:r>
          </a:p>
          <a:p xmlns:a="http://schemas.openxmlformats.org/drawingml/2006/main">
            <a:r>
              <a:t>- maximum attempts;</a:t>
            </a:r>
          </a:p>
          <a:p xmlns:a="http://schemas.openxmlformats.org/drawingml/2006/main">
            <a:r>
              <a:t>- exponential backoff;</a:t>
            </a:r>
          </a:p>
          <a:p xmlns:a="http://schemas.openxmlformats.org/drawingml/2006/main">
            <a:r>
              <a:t>- random jitter;</a:t>
            </a:r>
          </a:p>
          <a:p xmlns:a="http://schemas.openxmlformats.org/drawingml/2006/main">
            <a:r>
              <a:t>- total time budget;</a:t>
            </a:r>
          </a:p>
          <a:p xmlns:a="http://schemas.openxmlformats.org/drawingml/2006/main">
            <a:r>
              <a:t>- idempotency protections for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Backoff base `1` second: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attempt delays approximately `1`, `2`, and `4` seconds, plus jitter.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a three-attempt cap and ten-second total budget, the request cannot retry forever.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Transient errors enter a bounded backoff loop; permanent errors exit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duplicate side effects: retrying a generation is different from retrying “send email.”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provider wrapper adds bounded retries around transient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https://docs.aws.amazon.com/prescriptive-guidance/latest/cloud-design-patterns/retry-backoff.html</a:t>
            </a:r>
          </a:p>
          <a:p xmlns:a="http://schemas.openxmlformats.org/drawingml/2006/main">
            <a:r>
              <a:t>- https://docs.litellm.ai/docs/proxy/reliability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**provider adapter** gives application code one interface for several providers.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LiteLLM can normalize common request and response shapes, token usage, exceptions, routing, and fallbacks.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Capabilities still differ: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tool and schema formats;</a:t>
            </a:r>
          </a:p>
          <a:p xmlns:a="http://schemas.openxmlformats.org/drawingml/2006/main">
            <a:r>
              <a:t>- supported parameters;</a:t>
            </a:r>
          </a:p>
          <a:p xmlns:a="http://schemas.openxmlformats.org/drawingml/2006/main">
            <a:r>
              <a:t>- context limits;</a:t>
            </a:r>
          </a:p>
          <a:p xmlns:a="http://schemas.openxmlformats.org/drawingml/2006/main">
            <a:r>
              <a:t>- multimodal input;</a:t>
            </a:r>
          </a:p>
          <a:p xmlns:a="http://schemas.openxmlformats.org/drawingml/2006/main">
            <a:r>
              <a:t>- safety behaviour;</a:t>
            </a:r>
          </a:p>
          <a:p xmlns:a="http://schemas.openxmlformats.org/drawingml/2006/main">
            <a:r>
              <a:t>- streaming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application should check required capabilities instead of assuming every provider behaves identically.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Application call: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`complete(model_alias, messages, schema)`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Configuration maps `model_alias` to Provider A or B. If Provider B lacks strict schema support, the capability check blocks that route rather than silently weakening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application interface fans out to three providers; capability gates sit before each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abstraction leakage: normalized syntax does not mean identical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LiteLLM notebook compares text, structured output, and tool calls across providers.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https://docs.litellm.ai/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LangChain provides interfaces and composition tools for: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chat models;</a:t>
            </a:r>
          </a:p>
          <a:p xmlns:a="http://schemas.openxmlformats.org/drawingml/2006/main">
            <a:r>
              <a:t>- prompt templates;</a:t>
            </a:r>
          </a:p>
          <a:p xmlns:a="http://schemas.openxmlformats.org/drawingml/2006/main">
            <a:r>
              <a:t>- structured output;</a:t>
            </a:r>
          </a:p>
          <a:p xmlns:a="http://schemas.openxmlformats.org/drawingml/2006/main">
            <a:r>
              <a:t>- retrieval;</a:t>
            </a:r>
          </a:p>
          <a:p xmlns:a="http://schemas.openxmlformats.org/drawingml/2006/main">
            <a:r>
              <a:t>- tools;</a:t>
            </a:r>
          </a:p>
          <a:p xmlns:a="http://schemas.openxmlformats.org/drawingml/2006/main">
            <a:r>
              <a:t>- streaming;</a:t>
            </a:r>
          </a:p>
          <a:p xmlns:a="http://schemas.openxmlformats.org/drawingml/2006/main">
            <a:r>
              <a:t>- tracing.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framework reduces integration code but does not remove the need to understand message roles, schema validation, retries, permissions, or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Prefer small explicit chains whose inputs and outputs are typed and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Chain: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`validated request -&gt; prompt template -&gt; chat model -&gt; structured output model`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chain's input is a topic string. Its output is a validated `Summary` object, not unparsed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Four explicit components connect with typed arrows and visible trace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Expand the chain into its underlying model call and parser so learners know what the operator hides.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LangChain foundations notebook covers model calls, structured output, PDFs, tools, and tracing.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**trace** records one end-to-end application request. A **span** records one operation inside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Capture: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trace and request ID;</a:t>
            </a:r>
          </a:p>
          <a:p xmlns:a="http://schemas.openxmlformats.org/drawingml/2006/main">
            <a:r>
              <a:t>- prompt and schema version;</a:t>
            </a:r>
          </a:p>
          <a:p xmlns:a="http://schemas.openxmlformats.org/drawingml/2006/main">
            <a:r>
              <a:t>- provider and model;</a:t>
            </a:r>
          </a:p>
          <a:p xmlns:a="http://schemas.openxmlformats.org/drawingml/2006/main">
            <a:r>
              <a:t>- token usage and latency;</a:t>
            </a:r>
          </a:p>
          <a:p xmlns:a="http://schemas.openxmlformats.org/drawingml/2006/main">
            <a:r>
              <a:t>- retry count;</a:t>
            </a:r>
          </a:p>
          <a:p xmlns:a="http://schemas.openxmlformats.org/drawingml/2006/main">
            <a:r>
              <a:t>- tool proposals and results;</a:t>
            </a:r>
          </a:p>
          <a:p xmlns:a="http://schemas.openxmlformats.org/drawingml/2006/main">
            <a:r>
              <a:t>- validation outcomes;</a:t>
            </a:r>
          </a:p>
          <a:p xmlns:a="http://schemas.openxmlformats.org/drawingml/2006/main">
            <a:r>
              <a:t>- final status and error category;</a:t>
            </a:r>
          </a:p>
          <a:p xmlns:a="http://schemas.openxmlformats.org/drawingml/2006/main">
            <a:r>
              <a:t>- cost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personal data and secrets through redaction and retention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One request trace contains: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`validate 3ms -&gt; retrieve 80ms -&gt; model 1200ms -&gt; parse 4ms`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Total observed span time is approximately `1,287ms`, revealing that the model call dominates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waterfall trace shows validation, retrieval, model, parser, and tool spans on one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logging full prompts can create privacy and security risk; capture only what policy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enable tracing around the LangChain and LiteLLM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https://docs.langchain.com/langsmith/trace-litellm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**Model Context Protocol (MCP)** standardizes how an application connects to servers that expose: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**tools:** bounded operations the client may request;</a:t>
            </a:r>
          </a:p>
          <a:p xmlns:a="http://schemas.openxmlformats.org/drawingml/2006/main">
            <a:r>
              <a:t>- **resources:** readable context with stable identifiers;</a:t>
            </a:r>
          </a:p>
          <a:p xmlns:a="http://schemas.openxmlformats.org/drawingml/2006/main">
            <a:r>
              <a:t>- **prompts:** reusable prompt templates where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MCP client discovers capabilities and sends requests. The server still enforces authentication, authorization, input validation, path boundaries, timeouts, and output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does not make every connected capability safe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Filesystem MCP server: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resource: approved course handout;</a:t>
            </a:r>
          </a:p>
          <a:p xmlns:a="http://schemas.openxmlformats.org/drawingml/2006/main">
            <a:r>
              <a:t>- tool: search within approved course directory;</a:t>
            </a:r>
          </a:p>
          <a:p xmlns:a="http://schemas.openxmlformats.org/drawingml/2006/main">
            <a:r>
              <a:t>- forbidden: read arbitrary paths or write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server resolves and checks paths before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Host application and model connect through an MCP client to scoped servers; trust boundaries and permission gates are labelled.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Separate protocol interoperability from security policy. Use least privilege per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MCP is introduced conceptually before agent workflows use external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resilient request path defines: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validation failure;</a:t>
            </a:r>
          </a:p>
          <a:p xmlns:a="http://schemas.openxmlformats.org/drawingml/2006/main">
            <a:r>
              <a:t>- context-too-large handling;</a:t>
            </a:r>
          </a:p>
          <a:p xmlns:a="http://schemas.openxmlformats.org/drawingml/2006/main">
            <a:r>
              <a:t>- rate-limit and timeout behaviour;</a:t>
            </a:r>
          </a:p>
          <a:p xmlns:a="http://schemas.openxmlformats.org/drawingml/2006/main">
            <a:r>
              <a:t>- schema failure;</a:t>
            </a:r>
          </a:p>
          <a:p xmlns:a="http://schemas.openxmlformats.org/drawingml/2006/main">
            <a:r>
              <a:t>- provider outage;</a:t>
            </a:r>
          </a:p>
          <a:p xmlns:a="http://schemas.openxmlformats.org/drawingml/2006/main">
            <a:r>
              <a:t>- tool denial or timeout;</a:t>
            </a:r>
          </a:p>
          <a:p xmlns:a="http://schemas.openxmlformats.org/drawingml/2006/main">
            <a:r>
              <a:t>- fallback eligibility;</a:t>
            </a:r>
          </a:p>
          <a:p xmlns:a="http://schemas.openxmlformats.org/drawingml/2006/main">
            <a:r>
              <a:t>- user-visible error;</a:t>
            </a:r>
          </a:p>
          <a:p xmlns:a="http://schemas.openxmlformats.org/drawingml/2006/main">
            <a:r>
              <a:t>- trace and alert.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fallback model is acceptable only if it supports required capabilities and passes the task's quality threshold. Silent fallback can change output quality, data location, or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Primary provider times out twice.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request requires strict JSON and approved fallback supports it, route once to fallback and record the change. Otherwise return a controlled unavailable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Primary and fallback paths share capability, policy, validation, and observability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changes when data is sent to another provider. Require policy approval, not just technical availability.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LiteLLM lab tests one simulated timeout and one capability-incompatible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https://docs.litellm.ai/docs/proxy/reliability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a small extraction API that: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validates request input;</a:t>
            </a:r>
          </a:p>
          <a:p xmlns:a="http://schemas.openxmlformats.org/drawingml/2006/main">
            <a:r>
              <a:t>2. reads credentials from environment;</a:t>
            </a:r>
          </a:p>
          <a:p xmlns:a="http://schemas.openxmlformats.org/drawingml/2006/main">
            <a:r>
              <a:t>3. supports two provider configurations;</a:t>
            </a:r>
          </a:p>
          <a:p xmlns:a="http://schemas.openxmlformats.org/drawingml/2006/main">
            <a:r>
              <a:t>4. checks structured-output capability;</a:t>
            </a:r>
          </a:p>
          <a:p xmlns:a="http://schemas.openxmlformats.org/drawingml/2006/main">
            <a:r>
              <a:t>5. streams text only where partial output is safe;</a:t>
            </a:r>
          </a:p>
          <a:p xmlns:a="http://schemas.openxmlformats.org/drawingml/2006/main">
            <a:r>
              <a:t>6. limits input and output tokens;</a:t>
            </a:r>
          </a:p>
          <a:p xmlns:a="http://schemas.openxmlformats.org/drawingml/2006/main">
            <a:r>
              <a:t>7. records token use, latency, and estimated cost;</a:t>
            </a:r>
          </a:p>
          <a:p xmlns:a="http://schemas.openxmlformats.org/drawingml/2006/main">
            <a:r>
              <a:t>8. retries only transient failures;</a:t>
            </a:r>
          </a:p>
          <a:p xmlns:a="http://schemas.openxmlformats.org/drawingml/2006/main">
            <a:r>
              <a:t>9. validates every final object;</a:t>
            </a:r>
          </a:p>
          <a:p xmlns:a="http://schemas.openxmlformats.org/drawingml/2006/main">
            <a:r>
              <a:t>10. traces model and tool spans;</a:t>
            </a:r>
          </a:p>
          <a:p xmlns:a="http://schemas.openxmlformats.org/drawingml/2006/main">
            <a:r>
              <a:t>11. exposes one read-only tool or MCP resource;</a:t>
            </a:r>
          </a:p>
          <a:p xmlns:a="http://schemas.openxmlformats.org/drawingml/2006/main">
            <a:r>
              <a:t>12. demonstrates fallback and controlled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Test matrix: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valid request;</a:t>
            </a:r>
          </a:p>
          <a:p xmlns:a="http://schemas.openxmlformats.org/drawingml/2006/main">
            <a:r>
              <a:t>- invalid schema;</a:t>
            </a:r>
          </a:p>
          <a:p xmlns:a="http://schemas.openxmlformats.org/drawingml/2006/main">
            <a:r>
              <a:t>- provider timeout;</a:t>
            </a:r>
          </a:p>
          <a:p xmlns:a="http://schemas.openxmlformats.org/drawingml/2006/main">
            <a:r>
              <a:t>- rate limit;</a:t>
            </a:r>
          </a:p>
          <a:p xmlns:a="http://schemas.openxmlformats.org/drawingml/2006/main">
            <a:r>
              <a:t>- unsupported capability;</a:t>
            </a:r>
          </a:p>
          <a:p xmlns:a="http://schemas.openxmlformats.org/drawingml/2006/main">
            <a:r>
              <a:t>- tool permission denial;</a:t>
            </a:r>
          </a:p>
          <a:p xmlns:a="http://schemas.openxmlformats.org/drawingml/2006/main">
            <a:r>
              <a:t>- output over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case has an expected status and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end-to-end service diagram labels API, provider adapter, validation, tracing, tool/MCP, fallback, and cost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failure demonstrations, not only a successful provider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Complete `26.multiple-llm-providers-with-litellm.ipynb` and `27.langchain-foundations.ipynb`.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39497e17c41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ff9d15fe6f4ad0" /><Relationship Type="http://schemas.openxmlformats.org/officeDocument/2006/relationships/slideLayout" Target="/ppt/slideLayouts/slideLayout1.xml" Id="R3e0ef002b1994c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ef002b1994c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8b61d8c184b46" /><Relationship Type="http://schemas.openxmlformats.org/officeDocument/2006/relationships/image" Target="/ppt/media/image.png" Id="R089161b254b1491a" /><Relationship Type="http://schemas.openxmlformats.org/officeDocument/2006/relationships/image" Target="/ppt/media/image2.png" Id="R8bb2cbd7ce964396" /><Relationship Type="http://schemas.openxmlformats.org/officeDocument/2006/relationships/notesSlide" Target="/ppt/notesSlides/notesSlide1.xml" Id="R1a1bc4174a1c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e87b6c4104d43" /><Relationship Type="http://schemas.openxmlformats.org/officeDocument/2006/relationships/notesSlide" Target="/ppt/notesSlides/notesSlide2.xml" Id="R4164fa5867a64d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3e2fa1c1c4722" /><Relationship Type="http://schemas.openxmlformats.org/officeDocument/2006/relationships/notesSlide" Target="/ppt/notesSlides/notesSlide3.xml" Id="Rb1f414955be6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2330852ff4c47" /><Relationship Type="http://schemas.openxmlformats.org/officeDocument/2006/relationships/notesSlide" Target="/ppt/notesSlides/notesSlide4.xml" Id="R4246d3b5f80e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0edddb964090" /><Relationship Type="http://schemas.openxmlformats.org/officeDocument/2006/relationships/notesSlide" Target="/ppt/notesSlides/notesSlide5.xml" Id="Ref32628d92e445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a6f7dc18b4ac4" /><Relationship Type="http://schemas.openxmlformats.org/officeDocument/2006/relationships/notesSlide" Target="/ppt/notesSlides/notesSlide6.xml" Id="Raaeb19f2b6fd48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006eb1ad84b47" /><Relationship Type="http://schemas.openxmlformats.org/officeDocument/2006/relationships/notesSlide" Target="/ppt/notesSlides/notesSlide7.xml" Id="R727f4e1cf72b44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af19481f64339" /><Relationship Type="http://schemas.openxmlformats.org/officeDocument/2006/relationships/notesSlide" Target="/ppt/notesSlides/notesSlide8.xml" Id="Rfa28c9fc2a524f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4576adec24d74" /><Relationship Type="http://schemas.openxmlformats.org/officeDocument/2006/relationships/notesSlide" Target="/ppt/notesSlides/notesSlide9.xml" Id="Re37f6b656a3d4d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2f1c1d874ef4" /><Relationship Type="http://schemas.openxmlformats.org/officeDocument/2006/relationships/notesSlide" Target="/ppt/notesSlides/notesSlide10.xml" Id="Rb73c7207a73444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e7c4744cf4141" /><Relationship Type="http://schemas.openxmlformats.org/officeDocument/2006/relationships/notesSlide" Target="/ppt/notesSlides/notesSlide11.xml" Id="Rf8a2687f8e3d4b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c2d6ece74917" /><Relationship Type="http://schemas.openxmlformats.org/officeDocument/2006/relationships/notesSlide" Target="/ppt/notesSlides/notesSlide12.xml" Id="Rc44941dfd75740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E7A66-6D01-4333-A61F-31BDDDE1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161b254b1491a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520B4-0B9E-40A7-9F1B-DDD334A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C21A4-46BF-45F5-B5F0-0BD8D46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14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6D00-C968-45DD-BF96-F59C1F0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An LLM Application Is More Than a Model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801CA-1AF6-40F4-AB1F-8028534E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FA10F-3F4A-4E0D-BB06-676D6FBB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An engineered LLM application includes: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2cbd7ce964396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73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FB51E-3071-4CF7-9D2A-A229465F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D2658-24D2-435D-8962-2106C08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7ED86-F72A-4D2E-9693-CC991CD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3D0ED-36DB-4059-9E30-CBE8B49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F8955-6C00-4C45-A999-FE255D07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Authentication Proves Which Application Is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87091-A035-41BA-AD78-A75ABB95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2DB6-FD4A-46BD-A225-3D1E9EC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Provider APIs require authentication, often through an API key or cloud identity. Rules: Authentication identifies a caller. Authorization decides what that caller may 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AB1BA-AE5A-49A1-AF9E-5F57CF09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2EED8-93A4-4DC4-A5C5-B58400CC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keep credentials outside source code and notebooks;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2A993-6037-47B2-B932-7FA3A329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09FB4-87B5-4083-B073-28C42E7B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use environment variables or a secret manager;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CC1C8-0955-4273-B968-79476519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D70CE-5025-4340-8A82-159FE1E1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separate development and production credentials;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D6399-EE3C-4190-A6BE-698D8B4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374CF-3350-45F5-BED5-D6FDF2FB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grant minimum required permissions and spend limits;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4E77B-29BC-48D5-A38B-A75CE59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93027-3B6C-49D2-A2E3-7FD307E5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rotate exposed keys;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C356-AD9C-42D8-B526-1688D0C2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886DF-4A07-474F-B4A9-4BF6E4A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never log authorization headers;</a:t>
            </a:r>
          </a:p>
        </p:txBody>
      </p:sp>
    </p:spTree>
    <p:extLst>
      <p:ext uri="{BB962C8B-B14F-4D97-AF65-F5344CB8AC3E}">
        <p14:creationId xmlns:p14="http://schemas.microsoft.com/office/powerpoint/2010/main" val="462474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34AE1-8747-4867-829D-B4061D1A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ECD48-C187-4374-B5FA-56F3C901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C76BF-5BE1-4C1E-BAEC-18F48689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0F89B-907B-44BE-8A78-FE9D170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BAB73-3AB6-49CA-A6D9-2A83A5B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Model Selection Starts with Required Capabilities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CB489-35B0-43F0-BA4B-F53F2F05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BBB92-E237-4C61-A96B-AEEE2C6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BFDDD-B4E8-4D8C-8F01-1739DD78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D6286-F279-452F-8891-16E0E053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21FA7-B793-49F0-8456-E817B9FE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514EC-B52D-41A4-98BB-7FF7F2B2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requirements = {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"structured_output": True,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"p95_latency_ms": 2000,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"field_accuracy_min": 0.95,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9E9D4-F8B8-463F-AB8E-5A4BE33C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23C91-479B-4B64-AD30-D2F8870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E46B6-8E3C-4F9C-A593-9EE38716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capability and acceptance contract used to compare candidate models.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AD0BC-1706-4EBA-A955-B768FA3C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66C63-A34D-42CD-931E-96959F2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Selection depends on the minimum accepted quality and latency requirement.</a:t>
            </a:r>
          </a:p>
        </p:txBody>
      </p:sp>
    </p:spTree>
    <p:extLst>
      <p:ext uri="{BB962C8B-B14F-4D97-AF65-F5344CB8AC3E}">
        <p14:creationId xmlns:p14="http://schemas.microsoft.com/office/powerpoint/2010/main" val="337308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7783B-9588-4716-A033-41B34046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C6050-7CA4-4541-B4CB-7AFA21D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28E36-B1ED-4B46-A83B-F1FBC07B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EF217-C935-461E-B91E-292C61C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9FEA1-448F-4706-AD91-E373435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Streaming Delivers Partial Output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73EAF-D8A6-4CCE-9202-C5F0703D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841E7-D332-4DA3-93F4-250847D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faster time to first visible token;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189F7-D3D5-47F7-B23F-6FD5B184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A039E-8DF1-44DD-996B-845B743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8D0FB-E26D-4336-9BBA-88534E0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83CD2-7D05-49E7-BA8D-880D4AA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progressive user feedback;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C461E-123E-49FD-B994-0B7E376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85036-6B8F-4CC9-8188-8D352869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52BFA-6EAC-4C48-822A-9FDC9090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8CBCB-3507-454D-89F7-9824114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ability to cancel long generations.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1AC81-2F1C-4038-8635-B75C084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40332-DBB3-45ED-96FE-28D4EFDB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24F33-7382-42BE-B00D-8F329426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3C0EE-9249-4FFE-A11B-FB19156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assemble chunks in order;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AE101-69CB-4D73-BF0D-39B6D28F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7F25E-4B3C-43BD-8A42-AF07B088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4B286-9F3C-4515-A16D-D352D016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Chunks: "The " -&gt; "answer " -&gt; "is 42." The interface can display text progressively. For JSON, buffer until the complete object arrives, then parse and validate.</a:t>
            </a:r>
          </a:p>
        </p:txBody>
      </p:sp>
    </p:spTree>
    <p:extLst>
      <p:ext uri="{BB962C8B-B14F-4D97-AF65-F5344CB8AC3E}">
        <p14:creationId xmlns:p14="http://schemas.microsoft.com/office/powerpoint/2010/main" val="706758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9253F-B585-4D0E-897F-E3430A57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803CE-0073-4E5F-9B03-17731B7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6CE4B-39A1-4BCA-8A39-F945FE20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856DF-DA42-4E33-B2D5-D787566E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D7249-FBBD-4790-85FD-4528B3C5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Tokens Drive Context, Latency, and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520A1-2D47-4143-AF4A-8694EECC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780D2-B015-47EC-B86A-A5A2334B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Provider usage commonly separates: Approximate request cost: inputtokens x inputrate + outputtokens x outputrate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E5AE5-26F0-45A4-91F9-401BD307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53FA5-2034-4FCF-8306-70D44D20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input tokens;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A8B14-AB28-4100-AE8A-34D38B75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37073-50AB-47DA-A50D-F870A033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output tokens;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EF894-D06B-4839-BF25-1FF00D0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19B97-81A8-4EAE-ABB6-68D5559D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sometimes cached or reasoning tokens.</a:t>
            </a:r>
          </a:p>
        </p:txBody>
      </p:sp>
    </p:spTree>
    <p:extLst>
      <p:ext uri="{BB962C8B-B14F-4D97-AF65-F5344CB8AC3E}">
        <p14:creationId xmlns:p14="http://schemas.microsoft.com/office/powerpoint/2010/main" val="491215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BDB8C-4348-440B-A67A-2E5D50F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680D0-11F1-4A70-A001-31A0BF4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A358E-AEB5-4E8F-8465-1F3C0F23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5386A-08DB-4515-B651-3141C38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AB2B-6AC3-49F8-9AA8-CCA38ABC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Retries Handle Transient Failures, Not Every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980C8-44E9-4537-BFD1-5195BAD5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CD652-C5A2-427A-83E1-B706D61C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2FA3F-65F1-41EE-8508-A14BF9CD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462A1-C1BD-493B-AEA6-AE6FF09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A48F9-FD09-4DFB-82DC-661F42F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1E74F-9F6B-4B4A-A173-16CC01D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for attempt in range(3):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try: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    return call_provider(timeout=10)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except TransientError: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    sleep(2**attempt + random.random())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raise ProviderUnavailable()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99685-02F0-4202-8B6F-FCCDF0E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E344D-2DCD-4C7B-9F66-F35FD3C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6D4C0-7D21-4738-9EC0-14A82444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Success within the retry budget or one controlled unavailable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F7443-C582-4349-BB48-0759C0BE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D8906-87FC-4A60-AB6D-AA1315D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With a three-attempt cap and ten-second total budget, the request cannot retry forever.</a:t>
            </a:r>
          </a:p>
        </p:txBody>
      </p:sp>
    </p:spTree>
    <p:extLst>
      <p:ext uri="{BB962C8B-B14F-4D97-AF65-F5344CB8AC3E}">
        <p14:creationId xmlns:p14="http://schemas.microsoft.com/office/powerpoint/2010/main" val="689858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EE413-D83F-49C1-A0A5-4F2F42EF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65B05-24AE-4B74-83A3-813FB261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F3A18-4FDE-4C52-A8D2-3C3A3095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2A2B6-05F2-46C6-BE21-DAAF3B44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72B47-12FB-4239-B339-36719C4C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Provider Adapter Normalizes What Can Be Normalized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89E20-9315-4505-AE70-8D23AF46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5F9A1-E40C-4396-B5CA-CE1DF78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provider adapter gives application code one interface for several providers. LiteLLM can normalize common request and response shapes, token usage, exceptions, routing, and fallbacks. Capabilities still differ: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E00E0-708F-4492-A44A-E1AB8B28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459E2-88D0-4E9F-B002-4B9BE41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tool and schema formats;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A910C-A5B6-46EA-9AE7-F2C87269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0B146-4523-4D09-B131-DC4CB34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supported parameters;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3A5A2-B3EF-4909-8199-ADEF027B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65C3B-88B0-4D4C-87DC-06BDF682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context limits;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7BE8B-B31D-454E-990A-C3C6F77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D877D-299C-4DFC-88AD-11F3E3D5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multimodal input;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3D2A0-26F6-42A3-9497-F9F9015A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81EC8-A107-4B40-845A-DEE9F597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safety behaviour;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A79FE-078F-4158-A78F-7536F0E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D96CC-5922-433E-86B6-46E12ED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streaming events.</a:t>
            </a:r>
          </a:p>
        </p:txBody>
      </p:sp>
    </p:spTree>
    <p:extLst>
      <p:ext uri="{BB962C8B-B14F-4D97-AF65-F5344CB8AC3E}">
        <p14:creationId xmlns:p14="http://schemas.microsoft.com/office/powerpoint/2010/main" val="157946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30DE2-ECBB-4E0C-92A1-CBA815B3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2B215-20F3-4B75-9A53-8D5A717A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D150E-C2EF-4CB7-9D43-9BCAC5C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BA0E1-7563-415E-9D85-45524DB4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BE0D-31AD-4EA9-985A-EE0D6E61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LangChain Composes Models, Prompts, Parsers, and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7899-A5F2-49F9-8D46-A9B61B6F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D33A2-41F9-4BCD-9AF3-D6128E8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chat models;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16E95-E77B-4381-B0E1-04F10A26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F3818-2D95-4D76-A0BB-47037ACA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C5EEB-5E9C-4785-9BC1-918EFB32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E549-C1D4-46A7-9E62-D7876244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prompt templates;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32F69-0C35-4FEA-B30A-A0A0C170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6352B-575F-4092-97CB-9CD32FED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23CE3-C232-483A-A0F3-55FCC4F4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1CB3D-E20E-4B4B-AFF4-35AE3717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structured output;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986C8-9B78-485A-A3ED-49029755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E8C47-85AC-495A-96F3-ACC6F619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CE504-0A79-4B05-AF89-6A5A9A0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C9AEB-FE5C-458F-8A27-10951409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retrieval;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D660A-4ED3-48F6-9298-9F289B17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EE227-27D6-483F-8E88-1C17D3B7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9CE2A-E147-4115-89F4-5DEA3950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Chain: validated request -&gt; prompt template -&gt; chat model -&gt; structured output model The chain's input is a topic string. Its output is a validated Summary object, not unparsed prose.</a:t>
            </a:r>
          </a:p>
        </p:txBody>
      </p:sp>
    </p:spTree>
    <p:extLst>
      <p:ext uri="{BB962C8B-B14F-4D97-AF65-F5344CB8AC3E}">
        <p14:creationId xmlns:p14="http://schemas.microsoft.com/office/powerpoint/2010/main" val="2006969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EABEE-7D1E-4581-8305-683908C6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FA990-7F8C-42B0-B0F4-8889BE3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EDBCD-2A22-43F3-AE3D-D83FF49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DD5F0-557F-4175-88E1-09F06972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4A7D3-810E-46DE-AEB3-CF1C0E1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Tracing Records Every Important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405ED-A132-495F-A0D2-DF6AD95D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ACC5-E9B1-45CC-B236-F339965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E7E81-8775-4139-9BBA-D92171BB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4C762-1C97-45E4-98CF-A2CC1859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03A74-3103-4A4D-8F91-26297F1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7B3C5-9F6D-446B-94E7-1537FF20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with tracer.start_as_current_span("llm_request") as span: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span.set_attribute("model", model_id)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result = call_model()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A2224-311A-4139-BEE3-09BB9156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B7E08-8F1A-4EE3-A484-26D8FE05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B5801-96EE-4D83-8D24-602DDA29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One searchable trace connecting request metadata and nested operation timings.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865C6-1193-40FC-9F75-91F5E84C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6DB4D-F74D-4B48-A5A8-B8B68A4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Total observed span time is approximately 1,287ms, revealing that the model call dominates latency.</a:t>
            </a:r>
          </a:p>
        </p:txBody>
      </p:sp>
    </p:spTree>
    <p:extLst>
      <p:ext uri="{BB962C8B-B14F-4D97-AF65-F5344CB8AC3E}">
        <p14:creationId xmlns:p14="http://schemas.microsoft.com/office/powerpoint/2010/main" val="1149972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93201-023B-4BB2-953E-2EE6E8CC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6C029-9C63-4BC8-AC81-54795B86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349E9-B605-45C7-B97D-670FF01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54FD2-57B7-4D54-8679-F182108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5C0D-CA1C-4737-ABEA-5CFC1C9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MCP Standardizes Tools and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0D634-C646-45B3-9E55-D96CD461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573E7-D2A0-4A21-84D5-6AAD00F0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EDE04-4E5C-460E-806C-89261C50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tools: bounded operations the client may request;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874D3-4E18-4506-9A74-EF65C5D9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85C2C-318F-4C1A-A075-24C4F699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0DCF5-C657-443F-9962-B6A67B5F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97F79-8E3F-46A9-8D62-D7FA5B46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resources: readable context with stable identifiers;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59788-BF98-4FC3-A266-29F8EA3A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E9BD6-C064-4203-B1FA-FBB7F7D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A1B1A-C0DA-43A6-90F1-E0C05C98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EE4A6-E796-43A2-B91B-8F8F1885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prompts: reusable prompt templates where supported.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2C709-82AD-4596-AD32-E377BA42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9F437-4035-4182-AFF1-6AEC366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7E121-104E-4D1C-83BD-820F14EB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2B941-0005-4D89-88F2-A0C02B3D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resource: approved course handout;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4D0D0-5E83-4BF0-9363-5E829319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9381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2C7ED-E02F-4097-9110-5833D44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72A3A-EBF0-4D69-81D6-B8E86373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A594D-3ED4-445D-81B9-7215D98F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9A3F1-73FC-4184-BCA1-ADB3B4E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CCF4F-4900-4596-B82F-129C2B70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Resilience Needs Explicit Fallback Behaviour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92DF7-DC8B-4DC2-BAC4-366AFED6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BE828-1F6C-4639-A587-8281A91E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401EB-6E6A-414C-824E-5A891C0B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validation failure;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07DC1-3E2F-488F-B854-068DBB9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A36CF-A235-4443-A849-E4D5C8A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FAE1F-7E7E-4CD5-B73D-9A5F1E0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1AFC3-88DB-4643-B4E5-B2CB5A91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context-too-large handling;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46ED2-571D-42CA-ADE0-CD63941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7CB41-65CD-4C8E-86EE-953314C8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75347-A630-4F0F-9818-8A05FF7C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235B1-5758-48BC-BCC2-21180AD5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rate-limit and timeout behaviour;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A5C4B-661E-4186-BACA-62DE8E3B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25203-BB08-466F-8DCB-3876B6B2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2AF57-B154-4FFF-9BC4-72B5D702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20A8B-82EF-47BF-B451-AEA76DF2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schema failure;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730D0-F904-4DB7-A0AA-656A06B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0020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AF57C-AD1C-45A2-85DF-34CE5D44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7C828-FEC0-4370-9B8C-42C2110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An LLM Application Is More Than a Model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711FB-5C15-4021-A48D-3289135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F3299-7C00-4B33-A9CE-789EC88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FA195-8092-4E7D-8817-8088CEEC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Guided Lab: Build a Provider-Resilient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72EBD-5514-4F16-92A8-49E541C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3E440-1A44-4EFB-97B5-D45FB989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C1F5F-5547-431C-ADA1-FA2BDFA9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validates request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0033B-EA4B-4D10-878B-702CE24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EA8AD-9A3A-4AC6-A7B9-E66D1E53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B30C2-A191-45F6-921E-C63BDBD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reads credentials from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2F292-0B37-43E4-BD42-8D43733E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49C0-CC4E-4085-B894-3C037684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D0D77-9935-49BA-882D-EB585D4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supports two provider configurations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F7CFF-09CE-44F1-9741-1AC1B28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33450-4E5D-4F53-977F-405B3D3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AD05C-7149-44EF-B955-CC872A3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checks structured-output capability</a:t>
            </a:r>
          </a:p>
        </p:txBody>
      </p:sp>
    </p:spTree>
    <p:extLst>
      <p:ext uri="{BB962C8B-B14F-4D97-AF65-F5344CB8AC3E}">
        <p14:creationId xmlns:p14="http://schemas.microsoft.com/office/powerpoint/2010/main" val="150925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2026-07-28T19:29:10.8410000Z</dcterms:created>
  <dcterms:modified xsi:type="dcterms:W3CDTF">2026-07-28T19:29:10.8410000Z</dcterms:modified>
</coreProperties>
</file>