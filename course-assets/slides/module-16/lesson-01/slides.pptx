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c1ab572fba41a9" /><Relationship Type="http://schemas.openxmlformats.org/officeDocument/2006/relationships/extended-properties" Target="/docProps/app.xml" Id="R50643d88b7f84790" /><Relationship Type="http://schemas.openxmlformats.org/officeDocument/2006/relationships/officeDocument" Target="/ppt/presentation.xml" Id="Re857b004337b4f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c669d98e394a3e"/>
  </p:sldMasterIdLst>
  <p:notesMasterIdLst>
    <p:notesMasterId xmlns:r="http://schemas.openxmlformats.org/officeDocument/2006/relationships" r:id="R53a95777a78841b3"/>
  </p:notesMasterIdLst>
  <p:sldIdLst>
    <p:sldId xmlns:r="http://schemas.openxmlformats.org/officeDocument/2006/relationships" id="256" r:id="R317caccd6f8a40f5"/>
    <p:sldId xmlns:r="http://schemas.openxmlformats.org/officeDocument/2006/relationships" id="257" r:id="Rf4c6385e59f24b4d"/>
    <p:sldId xmlns:r="http://schemas.openxmlformats.org/officeDocument/2006/relationships" id="258" r:id="Re0618270f05741b4"/>
    <p:sldId xmlns:r="http://schemas.openxmlformats.org/officeDocument/2006/relationships" id="259" r:id="Reb09c7f9a0a74411"/>
    <p:sldId xmlns:r="http://schemas.openxmlformats.org/officeDocument/2006/relationships" id="260" r:id="R345073aebdd346ac"/>
    <p:sldId xmlns:r="http://schemas.openxmlformats.org/officeDocument/2006/relationships" id="261" r:id="Rdfb93801f29a4cf0"/>
    <p:sldId xmlns:r="http://schemas.openxmlformats.org/officeDocument/2006/relationships" id="262" r:id="R39c6e701a3a7453e"/>
    <p:sldId xmlns:r="http://schemas.openxmlformats.org/officeDocument/2006/relationships" id="263" r:id="R6dbd93e94a684ebc"/>
    <p:sldId xmlns:r="http://schemas.openxmlformats.org/officeDocument/2006/relationships" id="264" r:id="R1c005d37e5c04700"/>
    <p:sldId xmlns:r="http://schemas.openxmlformats.org/officeDocument/2006/relationships" id="265" r:id="R7622f4f9e85f49a8"/>
    <p:sldId xmlns:r="http://schemas.openxmlformats.org/officeDocument/2006/relationships" id="266" r:id="Rc0f8fdea591441f2"/>
    <p:sldId xmlns:r="http://schemas.openxmlformats.org/officeDocument/2006/relationships" id="267" r:id="Re8e6b842f06a4c9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04220a7004419b" /><Relationship Type="http://schemas.openxmlformats.org/officeDocument/2006/relationships/slideMaster" Target="/ppt/slideMasters/slideMaster1.xml" Id="R28c669d98e394a3e" /><Relationship Type="http://schemas.openxmlformats.org/officeDocument/2006/relationships/notesMaster" Target="/ppt/notesMasters/notesMaster1.xml" Id="R53a95777a78841b3" /><Relationship Type="http://schemas.openxmlformats.org/officeDocument/2006/relationships/presProps" Target="/ppt/presProps.xml" Id="R0b2ae140c6994687" /><Relationship Type="http://schemas.openxmlformats.org/officeDocument/2006/relationships/tableStyles" Target="/ppt/tableStyles.xml" Id="R7e8a1aa309c24709" /><Relationship Type="http://schemas.openxmlformats.org/officeDocument/2006/relationships/slide" Target="/ppt/slides/slide1.xml" Id="R317caccd6f8a40f5" /><Relationship Type="http://schemas.openxmlformats.org/officeDocument/2006/relationships/slide" Target="/ppt/slides/slide2.xml" Id="Rf4c6385e59f24b4d" /><Relationship Type="http://schemas.openxmlformats.org/officeDocument/2006/relationships/slide" Target="/ppt/slides/slide3.xml" Id="Re0618270f05741b4" /><Relationship Type="http://schemas.openxmlformats.org/officeDocument/2006/relationships/slide" Target="/ppt/slides/slide4.xml" Id="Reb09c7f9a0a74411" /><Relationship Type="http://schemas.openxmlformats.org/officeDocument/2006/relationships/slide" Target="/ppt/slides/slide5.xml" Id="R345073aebdd346ac" /><Relationship Type="http://schemas.openxmlformats.org/officeDocument/2006/relationships/slide" Target="/ppt/slides/slide6.xml" Id="Rdfb93801f29a4cf0" /><Relationship Type="http://schemas.openxmlformats.org/officeDocument/2006/relationships/slide" Target="/ppt/slides/slide7.xml" Id="R39c6e701a3a7453e" /><Relationship Type="http://schemas.openxmlformats.org/officeDocument/2006/relationships/slide" Target="/ppt/slides/slide8.xml" Id="R6dbd93e94a684ebc" /><Relationship Type="http://schemas.openxmlformats.org/officeDocument/2006/relationships/slide" Target="/ppt/slides/slide9.xml" Id="R1c005d37e5c04700" /><Relationship Type="http://schemas.openxmlformats.org/officeDocument/2006/relationships/slide" Target="/ppt/slides/slide10.xml" Id="R7622f4f9e85f49a8" /><Relationship Type="http://schemas.openxmlformats.org/officeDocument/2006/relationships/slide" Target="/ppt/slides/slide11.xml" Id="Rc0f8fdea591441f2" /><Relationship Type="http://schemas.openxmlformats.org/officeDocument/2006/relationships/slide" Target="/ppt/slides/slide12.xml" Id="Re8e6b842f06a4c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b55a1439b845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6b0e0e3fd04861" /><Relationship Type="http://schemas.openxmlformats.org/officeDocument/2006/relationships/notesMaster" Target="/ppt/notesMasters/notesMaster1.xml" Id="R5992363f63914d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a7f3b2e2044f7c" /><Relationship Type="http://schemas.openxmlformats.org/officeDocument/2006/relationships/notesMaster" Target="/ppt/notesMasters/notesMaster1.xml" Id="Rc075b316badd42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320fd9453044fa" /><Relationship Type="http://schemas.openxmlformats.org/officeDocument/2006/relationships/notesMaster" Target="/ppt/notesMasters/notesMaster1.xml" Id="R8b54a912cf374e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89df9498eb47de" /><Relationship Type="http://schemas.openxmlformats.org/officeDocument/2006/relationships/notesMaster" Target="/ppt/notesMasters/notesMaster1.xml" Id="Rfe45679ea6ff407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96893235f042f0" /><Relationship Type="http://schemas.openxmlformats.org/officeDocument/2006/relationships/notesMaster" Target="/ppt/notesMasters/notesMaster1.xml" Id="R05eca2518aa943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07475f98914790" /><Relationship Type="http://schemas.openxmlformats.org/officeDocument/2006/relationships/notesMaster" Target="/ppt/notesMasters/notesMaster1.xml" Id="R824286a1c0314e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f8b17cfc004580" /><Relationship Type="http://schemas.openxmlformats.org/officeDocument/2006/relationships/notesMaster" Target="/ppt/notesMasters/notesMaster1.xml" Id="R9bb8c44df46b4c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93cb3795774146" /><Relationship Type="http://schemas.openxmlformats.org/officeDocument/2006/relationships/notesMaster" Target="/ppt/notesMasters/notesMaster1.xml" Id="R80df64b536e445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563221775a404b" /><Relationship Type="http://schemas.openxmlformats.org/officeDocument/2006/relationships/notesMaster" Target="/ppt/notesMasters/notesMaster1.xml" Id="Rc23441135bf245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e660a086b14b6d" /><Relationship Type="http://schemas.openxmlformats.org/officeDocument/2006/relationships/notesMaster" Target="/ppt/notesMasters/notesMaster1.xml" Id="R835f2c1ff21243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5f56c33ed8b403f" /><Relationship Type="http://schemas.openxmlformats.org/officeDocument/2006/relationships/notesMaster" Target="/ppt/notesMasters/notesMaster1.xml" Id="R2b51a2282aa94c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d8e46faab046e7" /><Relationship Type="http://schemas.openxmlformats.org/officeDocument/2006/relationships/notesMaster" Target="/ppt/notesMasters/notesMaster1.xml" Id="R990e988c0db749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Evaluate at four boundaries: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**ingestion:** was source content recovered correctly?</a:t>
            </a:r>
          </a:p>
          <a:p xmlns:a="http://schemas.openxmlformats.org/drawingml/2006/main">
            <a:r>
              <a:t>2. **retrieval:** were relevant authorized chunks returned?</a:t>
            </a:r>
          </a:p>
          <a:p xmlns:a="http://schemas.openxmlformats.org/drawingml/2006/main">
            <a:r>
              <a:t>3. **context assembly:** was useful evidence preserved within budget?</a:t>
            </a:r>
          </a:p>
          <a:p xmlns:a="http://schemas.openxmlformats.org/drawingml/2006/main">
            <a:r>
              <a:t>4. **generation:** is the answer relevant, grounded, and correctly cited?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End-to-end correctness matters, but component metrics explain what to fix.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The answer is wrong because the required chunk ranked `8` and top-k was `5`.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Generation cannot use evidence it never received. The retrieval stage owns this failure even if the final answer is the visible symptom.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The RAG pipeline is divided into four independently scored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Ask learners to identify the earliest stage where the expected evidence disappears.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advanced RAG and evaluation notebooks provide candidate retrieval and generation experiments.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https://docs.langchain.com/langsmith/evaluate-rag-tutorial</a:t>
            </a:r>
          </a:p>
          <a:p xmlns:a="http://schemas.openxmlformats.org/drawingml/2006/main">
            <a:r>
              <a:t>- https://github.com/curiousily/AI-Bootcamp/blob/master/12.llm-evaluation.ipynb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RAG evaluation example should record: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question;</a:t>
            </a:r>
          </a:p>
          <a:p xmlns:a="http://schemas.openxmlformats.org/drawingml/2006/main">
            <a:r>
              <a:t>- user or tenant context;</a:t>
            </a:r>
          </a:p>
          <a:p xmlns:a="http://schemas.openxmlformats.org/drawingml/2006/main">
            <a:r>
              <a:t>- expected relevant chunk IDs;</a:t>
            </a:r>
          </a:p>
          <a:p xmlns:a="http://schemas.openxmlformats.org/drawingml/2006/main">
            <a:r>
              <a:t>- reference answer or required facts when available;</a:t>
            </a:r>
          </a:p>
          <a:p xmlns:a="http://schemas.openxmlformats.org/drawingml/2006/main">
            <a:r>
              <a:t>- unsupported or denied expectation;</a:t>
            </a:r>
          </a:p>
          <a:p xmlns:a="http://schemas.openxmlformats.org/drawingml/2006/main">
            <a:r>
              <a:t>- importance and category;</a:t>
            </a:r>
          </a:p>
          <a:p xmlns:a="http://schemas.openxmlformats.org/drawingml/2006/main">
            <a:r>
              <a:t>- notes about ambiguity.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Include normal, rare, multi-chunk, exact-term, paraphrase, unsupported, and access-control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Question: `How long do I have to request a refund?`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chunk: `policy-v3-refunds-p7`  </a:t>
            </a:r>
          </a:p>
          <a:p xmlns:a="http://schemas.openxmlformats.org/drawingml/2006/main">
            <a:r>
              <a:t>Required fact: `14 days`  </a:t>
            </a:r>
          </a:p>
          <a:p xmlns:a="http://schemas.openxmlformats.org/drawingml/2006/main">
            <a:r>
              <a:t>Allowed outcome: supported answer with that citation  </a:t>
            </a:r>
          </a:p>
          <a:p xmlns:a="http://schemas.openxmlformats.org/drawingml/2006/main">
            <a:r>
              <a:t>Denied outcome: any answer using another tenant's policy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An evaluation dataset table includes categories, expected evidence, facts, and access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Begin with manually reviewed cases. Production logs can suggest new cases only after privacy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construct a small fixed dataset before tuning retrieval parameters.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https://docs.langchain.com/langsmith/evaluation-concepts</a:t>
            </a:r>
          </a:p>
          <a:p xmlns:a="http://schemas.openxmlformats.org/drawingml/2006/main">
            <a:r>
              <a:t>- https://docs.langchain.com/langsmith/evaluate-rag-tutorial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one query: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`retrieval precision = relevant retrieved / retrieved`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`retrieval recall = relevant retrieved / all relevant`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Precision asks how focused the results are. Recall asks how much required evidence was found.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definition of relevant must come from labelled evidence, not from the retriever's own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Expected relevant chunks `{A,B,C}`.  </a:t>
            </a:r>
          </a:p>
          <a:p xmlns:a="http://schemas.openxmlformats.org/drawingml/2006/main">
            <a:r>
              <a:t>Retrieved chunks `{A,B,X,Y}`.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Relevant retrieved: `{A,B}` count `2`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Precision `= 2/4 = 0.50`  </a:t>
            </a:r>
          </a:p>
          <a:p xmlns:a="http://schemas.openxmlformats.org/drawingml/2006/main">
            <a:r>
              <a:t>Recall `= 2/3 = 0.667`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Two overlapping sets show expected and retrieved chunks; equations use the intersection.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Explain that some questions require several chunks while others require only 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calculate precision and recall at several k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https://nlp.stanford.edu/IR-book/html/htmledition/evaluation-of-unranked-retrieval-sets-1.html</a:t>
            </a:r>
          </a:p>
          <a:p xmlns:a="http://schemas.openxmlformats.org/drawingml/2006/main">
            <a:r>
              <a:t>- https://docs.langchain.com/langsmith/evaluate-rag-tutorial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`k` controls how many results enter the next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Metadata filters can restrict: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tenant or user access;</a:t>
            </a:r>
          </a:p>
          <a:p xmlns:a="http://schemas.openxmlformats.org/drawingml/2006/main">
            <a:r>
              <a:t>- document type;</a:t>
            </a:r>
          </a:p>
          <a:p xmlns:a="http://schemas.openxmlformats.org/drawingml/2006/main">
            <a:r>
              <a:t>- publication status;</a:t>
            </a:r>
          </a:p>
          <a:p xmlns:a="http://schemas.openxmlformats.org/drawingml/2006/main">
            <a:r>
              <a:t>- date;</a:t>
            </a:r>
          </a:p>
          <a:p xmlns:a="http://schemas.openxmlformats.org/drawingml/2006/main">
            <a:r>
              <a:t>- product or region.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Evaluate security filters as hard requirements. Tune relevance filters and k on the evaluation dataset, measuring quality, latency, token use, and duplicate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At `k=3`: precision `0.67`, recall `0.50`  </a:t>
            </a:r>
          </a:p>
          <a:p xmlns:a="http://schemas.openxmlformats.org/drawingml/2006/main">
            <a:r>
              <a:t>At `k=8`: precision `0.38`, recall `1.00`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Higher k recovers all evidence but adds more irrelevant chunks. Reranking or better queries may improve the tradeoff.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Precision, recall, latency, and context tokens change across k values; access filtering remains fixed.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Never tune security boundaries for higher recall.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run a small top-k experiment before changing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https://python.langchain.com/docs/concepts/retrievers/</a:t>
            </a:r>
          </a:p>
          <a:p xmlns:a="http://schemas.openxmlformats.org/drawingml/2006/main">
            <a:r>
              <a:t>- https://docs.langchain.com/langsmith/evaluation-concepts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**query rewrite** transforms a user's question into a search query.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Possible methods: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resolve conversation references;</a:t>
            </a:r>
          </a:p>
          <a:p xmlns:a="http://schemas.openxmlformats.org/drawingml/2006/main">
            <a:r>
              <a:t>- expand abbreviations;</a:t>
            </a:r>
          </a:p>
          <a:p xmlns:a="http://schemas.openxmlformats.org/drawingml/2006/main">
            <a:r>
              <a:t>- generate alternate wording;</a:t>
            </a:r>
          </a:p>
          <a:p xmlns:a="http://schemas.openxmlformats.org/drawingml/2006/main">
            <a:r>
              <a:t>- split a multi-part question;</a:t>
            </a:r>
          </a:p>
          <a:p xmlns:a="http://schemas.openxmlformats.org/drawingml/2006/main">
            <a:r>
              <a:t>- add domain identifiers.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Rewriting can improve recall but may change intent. Preserve the original question and record every rewritten query.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Conversation: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User: `What is the refund period?`  </a:t>
            </a:r>
          </a:p>
          <a:p xmlns:a="http://schemas.openxmlformats.org/drawingml/2006/main">
            <a:r>
              <a:t>Later: `Does it apply to annual plans?`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Standalone rewrite: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`Does the 14-day refund period apply to annual plans?`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rewrite should be checked against conversation state, not invented from unrelated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Original question and history enter a rewrite step; original and rewritten queries remain visible in the trace.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Evaluate whether rewrites preserve intent, not only whether retrieval scores rise.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Advanced RAG experiments can compare original and rewritten query retrieval.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https://python.langchain.com/docs/tutorials/rag/#query-analysis</a:t>
            </a:r>
          </a:p>
          <a:p xmlns:a="http://schemas.openxmlformats.org/drawingml/2006/main">
            <a:r>
              <a:t>- https://github.com/curiousily/AI-Bootcamp/blob/master/07.advanced-rag-with-llama-3-in-langchain.ipynb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Lexical search such as **BM25** is strong for exact terms, names, codes, and rare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Vector search is strong for semantic similarity and paraphrases.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**Hybrid search** combines candidate lists from both systems.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Raw lexical and vector scores have different meanings. **Reciprocal rank fusion (RRF)** combines ranks: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`RRF(d) = Σ 1 / (c + rank_i(d))`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Document A ranks `1` lexical and `4` vector.  </a:t>
            </a:r>
          </a:p>
          <a:p xmlns:a="http://schemas.openxmlformats.org/drawingml/2006/main">
            <a:r>
              <a:t>With `c=60`: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`1/61 + 1/64 ≈ 0.01639 + 0.01563 = 0.03202`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Documents found by both methods gain combined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Lexical and vector ranked lists merge through RRF into one fused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Do not claim hybrid always wins. Evaluate it on exact-term and paraphrase subsets.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add a lexical candidate list before reranking.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https://www.elastic.co/docs/reference/elasticsearch/rest-apis/reciprocal-rank-fusion</a:t>
            </a:r>
          </a:p>
          <a:p xmlns:a="http://schemas.openxmlformats.org/drawingml/2006/main">
            <a:r>
              <a:t>- https://nlp.stanford.edu/IR-book/html/htmledition/okapi-bm25-a-non-binary-model-1.html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**reranker** scores query-document pairs using a model more expensive than first-stage retrieval.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Pipeline: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retrieve a broader candidate set quickly;</a:t>
            </a:r>
          </a:p>
          <a:p xmlns:a="http://schemas.openxmlformats.org/drawingml/2006/main">
            <a:r>
              <a:t>2. rerank those candidates;</a:t>
            </a:r>
          </a:p>
          <a:p xmlns:a="http://schemas.openxmlformats.org/drawingml/2006/main">
            <a:r>
              <a:t>3. keep the best few for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Reranking can improve ordering but adds latency and cost. It cannot recover a relevant chunk missing from the candidate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Vector search retrieves `20` candidates. Relevant chunk ranks `11`.  </a:t>
            </a:r>
          </a:p>
          <a:p xmlns:a="http://schemas.openxmlformats.org/drawingml/2006/main">
            <a:r>
              <a:t>Reranker moves it to rank `2`.  </a:t>
            </a:r>
          </a:p>
          <a:p xmlns:a="http://schemas.openxmlformats.org/drawingml/2006/main">
            <a:r>
              <a:t>Final context keeps top `5`, so the evidence is now included.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the chunk was not in the first `20`, reranking could not help.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wide candidate funnel narrows through a reranker into a focused context set.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Measure first-stage recall before blaming reranking.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advanced RAG notebook includes a reranking stage before question answering.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https://github.com/curiousily/AI-Bootcamp/blob/master/07.advanced-rag-with-llama-3-in-langchain.ipynb</a:t>
            </a:r>
          </a:p>
          <a:p xmlns:a="http://schemas.openxmlformats.org/drawingml/2006/main">
            <a:r>
              <a:t>- https://www.sbert.net/examples/cross_encoder/applications/README.html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**Correctness:** agreement with a reference answer or verified facts</a:t>
            </a:r>
          </a:p>
          <a:p xmlns:a="http://schemas.openxmlformats.org/drawingml/2006/main">
            <a:r>
              <a:t>- **Relevance:** whether the response addresses the question</a:t>
            </a:r>
          </a:p>
          <a:p xmlns:a="http://schemas.openxmlformats.org/drawingml/2006/main">
            <a:r>
              <a:t>- **Groundedness:** whether claims are supported by supplied context</a:t>
            </a:r>
          </a:p>
          <a:p xmlns:a="http://schemas.openxmlformats.org/drawingml/2006/main">
            <a:r>
              <a:t>- **Citation correctness:** whether cited passages support nearby claims</a:t>
            </a:r>
          </a:p>
          <a:p xmlns:a="http://schemas.openxmlformats.org/drawingml/2006/main">
            <a:r>
              <a:t>- **Completeness:** whether required answer parts are present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answer can be relevant but incorrect, correct by chance but ungrounded, or grounded but incomplete.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Question asks refund period and exclusions.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Answer gives `14 days` with support but omits annual-plan exclusions.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may be grounded and partly correct, but incomplete.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One answer receives four independent gauges rather than one overall quality label.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Require a rubric for each dimension and examples of pass/fail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evaluation notebook builds metrics and a report across several answer dimensions.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https://docs.langchain.com/langsmith/evaluate-rag-tutorial</a:t>
            </a:r>
          </a:p>
          <a:p xmlns:a="http://schemas.openxmlformats.org/drawingml/2006/main">
            <a:r>
              <a:t>- https://github.com/curiousily/AI-Bootcamp/blob/master/12.llm-evaluation.ipynb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 **LLM judge** applies a rubric to an input, response, evidence, or reference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Benefits: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scalable evaluation of nuanced language;</a:t>
            </a:r>
          </a:p>
          <a:p xmlns:a="http://schemas.openxmlformats.org/drawingml/2006/main">
            <a:r>
              <a:t>- structured explanations;</a:t>
            </a:r>
          </a:p>
          <a:p xmlns:a="http://schemas.openxmlformats.org/drawingml/2006/main">
            <a:r>
              <a:t>- faster experiment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Risks: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bias toward style or length;</a:t>
            </a:r>
          </a:p>
          <a:p xmlns:a="http://schemas.openxmlformats.org/drawingml/2006/main">
            <a:r>
              <a:t>- sensitivity to prompt and order;</a:t>
            </a:r>
          </a:p>
          <a:p xmlns:a="http://schemas.openxmlformats.org/drawingml/2006/main">
            <a:r>
              <a:t>- inconsistent scoring;</a:t>
            </a:r>
          </a:p>
          <a:p xmlns:a="http://schemas.openxmlformats.org/drawingml/2006/main">
            <a:r>
              <a:t>- shared errors with the evaluated model;</a:t>
            </a:r>
          </a:p>
          <a:p xmlns:a="http://schemas.openxmlformats.org/drawingml/2006/main">
            <a:r>
              <a:t>- cost and privacy concerns.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Calibrate judges against human-labelled examples and inspect disagreements.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On `50` examples, judge and human agree on `42`.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Agreement rate: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`42 / 50 = 0.84`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`8` disagreements should be grouped by cause before trusting the judge at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Human and judge labels form an agreement matrix; disagreement examples feed rubric revision.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Do not treat model-judge scores as objective ground truth.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The evaluation notebook's critic model is compared with a manual rubric.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https://docs.langchain.com/langsmith/evaluation-concepts</a:t>
            </a:r>
          </a:p>
          <a:p xmlns:a="http://schemas.openxmlformats.org/drawingml/2006/main">
            <a:r>
              <a:t>- https://github.com/curiousily/AI-Bootcamp/blob/master/12.llm-evaluation.ipynb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each failed query, record: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source and parsing status;</a:t>
            </a:r>
          </a:p>
          <a:p xmlns:a="http://schemas.openxmlformats.org/drawingml/2006/main">
            <a:r>
              <a:t>- expected and retrieved chunks;</a:t>
            </a:r>
          </a:p>
          <a:p xmlns:a="http://schemas.openxmlformats.org/drawingml/2006/main">
            <a:r>
              <a:t>- ranks and filters;</a:t>
            </a:r>
          </a:p>
          <a:p xmlns:a="http://schemas.openxmlformats.org/drawingml/2006/main">
            <a:r>
              <a:t>- rewrite;</a:t>
            </a:r>
          </a:p>
          <a:p xmlns:a="http://schemas.openxmlformats.org/drawingml/2006/main">
            <a:r>
              <a:t>- context after assembly;</a:t>
            </a:r>
          </a:p>
          <a:p xmlns:a="http://schemas.openxmlformats.org/drawingml/2006/main">
            <a:r>
              <a:t>- answer and citations;</a:t>
            </a:r>
          </a:p>
          <a:p xmlns:a="http://schemas.openxmlformats.org/drawingml/2006/main">
            <a:r>
              <a:t>- metric and rubric failures;</a:t>
            </a:r>
          </a:p>
          <a:p xmlns:a="http://schemas.openxmlformats.org/drawingml/2006/main">
            <a:r>
              <a:t>- owning stage;</a:t>
            </a:r>
          </a:p>
          <a:p xmlns:a="http://schemas.openxmlformats.org/drawingml/2006/main">
            <a:r>
              <a:t>- proposed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Group failures such as exact-term miss, multi-chunk miss, duplicate context, unauthorized retrieval, unsupported claim, or incorrect citation.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Ten failed queries: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- 4 exact product codes missed by vector search;</a:t>
            </a:r>
          </a:p>
          <a:p xmlns:a="http://schemas.openxmlformats.org/drawingml/2006/main">
            <a:r>
              <a:t>- 3 relevant chunks ranked below k;</a:t>
            </a:r>
          </a:p>
          <a:p xmlns:a="http://schemas.openxmlformats.org/drawingml/2006/main">
            <a:r>
              <a:t>- 2 unsupported answers;</a:t>
            </a:r>
          </a:p>
          <a:p xmlns:a="http://schemas.openxmlformats.org/drawingml/2006/main">
            <a:r>
              <a:t>- 1 incorrect citation.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First experiment: add lexical retrieval for product-code cases, not rewrite every prompt.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Individual failures cluster into categories, which map to targeted experiments.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Require one change at a time so experiment effects remain attributable.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build a failure report from evaluation traces.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https://docs.langchain.com/langsmith/evaluation-concepts</a:t>
            </a:r>
          </a:p>
          <a:p xmlns:a="http://schemas.openxmlformats.org/drawingml/2006/main">
            <a:r>
              <a:t>- https://www.nist.gov/itl/ai-risk-management-framework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 for each RAG version: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corpus and ingestion version;</a:t>
            </a:r>
          </a:p>
          <a:p xmlns:a="http://schemas.openxmlformats.org/drawingml/2006/main">
            <a:r>
              <a:t>- embedding model and index settings;</a:t>
            </a:r>
          </a:p>
          <a:p xmlns:a="http://schemas.openxmlformats.org/drawingml/2006/main">
            <a:r>
              <a:t>- retriever, filters, k, rewrite, and reranker;</a:t>
            </a:r>
          </a:p>
          <a:p xmlns:a="http://schemas.openxmlformats.org/drawingml/2006/main">
            <a:r>
              <a:t>- prompt and generation model;</a:t>
            </a:r>
          </a:p>
          <a:p xmlns:a="http://schemas.openxmlformats.org/drawingml/2006/main">
            <a:r>
              <a:t>- evaluation dataset version;</a:t>
            </a:r>
          </a:p>
          <a:p xmlns:a="http://schemas.openxmlformats.org/drawingml/2006/main">
            <a:r>
              <a:t>- component and end-to-end metrics;</a:t>
            </a:r>
          </a:p>
          <a:p xmlns:a="http://schemas.openxmlformats.org/drawingml/2006/main">
            <a:r>
              <a:t>- latency percentiles;</a:t>
            </a:r>
          </a:p>
          <a:p xmlns:a="http://schemas.openxmlformats.org/drawingml/2006/main">
            <a:r>
              <a:t>- input and output tokens;</a:t>
            </a:r>
          </a:p>
          <a:p xmlns:a="http://schemas.openxmlformats.org/drawingml/2006/main">
            <a:r>
              <a:t>- estimated cost;</a:t>
            </a:r>
          </a:p>
          <a:p xmlns:a="http://schemas.openxmlformats.org/drawingml/2006/main">
            <a:r>
              <a:t>- security failures;</a:t>
            </a:r>
          </a:p>
          <a:p xmlns:a="http://schemas.openxmlformats.org/drawingml/2006/main">
            <a:r>
              <a:t>- known limitations.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release solely because one average improves.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Version B improves retrieval recall from `0.72` to `0.84`, but p95 latency rises from `1.2s` to `4.8s`.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acceptance requires p95 under `2s`, Version B does not pass despite quality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 comparison table has quality, latency, cost, and security columns with explicit pass thresholds.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Separate hard constraints from optimization goals.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Learners produce one baseline and two controlled RAG experiment reports.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https://docs.langchain.com/langsmith/evaluation</a:t>
            </a:r>
          </a:p>
          <a:p xmlns:a="http://schemas.openxmlformats.org/drawingml/2006/main">
            <a:r>
              <a:t>- https://docs.langchain.com/langsmith/observability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Create at least `20` reviewed queries and: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label expected chunk IDs and required facts;</a:t>
            </a:r>
          </a:p>
          <a:p xmlns:a="http://schemas.openxmlformats.org/drawingml/2006/main">
            <a:r>
              <a:t>2. calculate retrieval precision and recall;</a:t>
            </a:r>
          </a:p>
          <a:p xmlns:a="http://schemas.openxmlformats.org/drawingml/2006/main">
            <a:r>
              <a:t>3. compare at least three k values;</a:t>
            </a:r>
          </a:p>
          <a:p xmlns:a="http://schemas.openxmlformats.org/drawingml/2006/main">
            <a:r>
              <a:t>4. test metadata filters;</a:t>
            </a:r>
          </a:p>
          <a:p xmlns:a="http://schemas.openxmlformats.org/drawingml/2006/main">
            <a:r>
              <a:t>5. compare original and rewritten queries;</a:t>
            </a:r>
          </a:p>
          <a:p xmlns:a="http://schemas.openxmlformats.org/drawingml/2006/main">
            <a:r>
              <a:t>6. add lexical retrieval and rank fusion;</a:t>
            </a:r>
          </a:p>
          <a:p xmlns:a="http://schemas.openxmlformats.org/drawingml/2006/main">
            <a:r>
              <a:t>7. rerank a fixed candidate set;</a:t>
            </a:r>
          </a:p>
          <a:p xmlns:a="http://schemas.openxmlformats.org/drawingml/2006/main">
            <a:r>
              <a:t>8. score correctness, relevance, groundedness, and citations;</a:t>
            </a:r>
          </a:p>
          <a:p xmlns:a="http://schemas.openxmlformats.org/drawingml/2006/main">
            <a:r>
              <a:t>9. calibrate one model judge with human labels;</a:t>
            </a:r>
          </a:p>
          <a:p xmlns:a="http://schemas.openxmlformats.org/drawingml/2006/main">
            <a:r>
              <a:t>10. classify every failure by owning stage;</a:t>
            </a:r>
          </a:p>
          <a:p xmlns:a="http://schemas.openxmlformats.org/drawingml/2006/main">
            <a:r>
              <a:t>11. compare latency, tokens, and cost;</a:t>
            </a:r>
          </a:p>
          <a:p xmlns:a="http://schemas.openxmlformats.org/drawingml/2006/main">
            <a:r>
              <a:t>12. choose a release candidate against explicit thresholds.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[Worked Example]</a:t>
            </a:r>
          </a:p>
          <a:p xmlns:a="http://schemas.openxmlformats.org/drawingml/2006/main">
            <a:r>
              <a:t>Do not accept “Version B feels better.” Report: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`recall +0.12`, `groundedness unchanged`, `p95 +3.6s`, `cost +40%`, and the decision based on requirements.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[Visual Brief]</a:t>
            </a:r>
          </a:p>
          <a:p xmlns:a="http://schemas.openxmlformats.org/drawingml/2006/main">
            <a:r>
              <a:t>An evaluation loop moves from dataset to component metrics, failure analysis, experiment, and release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[Instructor Notes]</a:t>
            </a:r>
          </a:p>
          <a:p xmlns:a="http://schemas.openxmlformats.org/drawingml/2006/main">
            <a:r>
              <a:t>Lock the evaluation dataset before comparing versions and retain failed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[Notebook Connection]</a:t>
            </a:r>
          </a:p>
          <a:p xmlns:a="http://schemas.openxmlformats.org/drawingml/2006/main">
            <a:r>
              <a:t>Complete `07.advanced-rag-with-llama-3-in-langchain.ipynb` and `12.llm-evaluation.ipynb`.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https://github.com/curiousily/AI-Bootcamp/blob/master/07.advanced-rag-with-llama-3-in-langchain.ipynb</a:t>
            </a:r>
          </a:p>
          <a:p xmlns:a="http://schemas.openxmlformats.org/drawingml/2006/main">
            <a:r>
              <a:t>- https://github.com/curiousily/AI-Bootcamp/blob/master/12.llm-evaluation.ipynb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75424df17348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c3028f71184af7" /><Relationship Type="http://schemas.openxmlformats.org/officeDocument/2006/relationships/slideLayout" Target="/ppt/slideLayouts/slideLayout1.xml" Id="Ra931840851464d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31840851464d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67adacf4c4848" /><Relationship Type="http://schemas.openxmlformats.org/officeDocument/2006/relationships/image" Target="/ppt/media/image.png" Id="R00f11855c8a44cd8" /><Relationship Type="http://schemas.openxmlformats.org/officeDocument/2006/relationships/image" Target="/ppt/media/image2.png" Id="R4c07d433fa924eda" /><Relationship Type="http://schemas.openxmlformats.org/officeDocument/2006/relationships/notesSlide" Target="/ppt/notesSlides/notesSlide1.xml" Id="R0920089c1c4840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f85cbbce44503" /><Relationship Type="http://schemas.openxmlformats.org/officeDocument/2006/relationships/notesSlide" Target="/ppt/notesSlides/notesSlide2.xml" Id="Rde68b36b21054c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9d3705a704288" /><Relationship Type="http://schemas.openxmlformats.org/officeDocument/2006/relationships/notesSlide" Target="/ppt/notesSlides/notesSlide3.xml" Id="Rb3cc393490f743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069251494249d4" /><Relationship Type="http://schemas.openxmlformats.org/officeDocument/2006/relationships/notesSlide" Target="/ppt/notesSlides/notesSlide4.xml" Id="Rd4a50e3ce62a44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7da1a55644dae" /><Relationship Type="http://schemas.openxmlformats.org/officeDocument/2006/relationships/notesSlide" Target="/ppt/notesSlides/notesSlide5.xml" Id="Rc0f319bdf70444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0024a26424eee" /><Relationship Type="http://schemas.openxmlformats.org/officeDocument/2006/relationships/notesSlide" Target="/ppt/notesSlides/notesSlide6.xml" Id="R122fde9dc5054a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4fe76525ff4b96" /><Relationship Type="http://schemas.openxmlformats.org/officeDocument/2006/relationships/notesSlide" Target="/ppt/notesSlides/notesSlide7.xml" Id="Rd23054fc5d5c48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f058420a748ea" /><Relationship Type="http://schemas.openxmlformats.org/officeDocument/2006/relationships/notesSlide" Target="/ppt/notesSlides/notesSlide8.xml" Id="Rfe28bdb2d8634d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eaf628bd84764" /><Relationship Type="http://schemas.openxmlformats.org/officeDocument/2006/relationships/notesSlide" Target="/ppt/notesSlides/notesSlide9.xml" Id="R6f4bd99401e0489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91f427fe449d3" /><Relationship Type="http://schemas.openxmlformats.org/officeDocument/2006/relationships/notesSlide" Target="/ppt/notesSlides/notesSlide10.xml" Id="R53b1ae5715da4b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53525a9e8a472a" /><Relationship Type="http://schemas.openxmlformats.org/officeDocument/2006/relationships/notesSlide" Target="/ppt/notesSlides/notesSlide11.xml" Id="Rafe18d37e51a43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3eae53f4a4800" /><Relationship Type="http://schemas.openxmlformats.org/officeDocument/2006/relationships/notesSlide" Target="/ppt/notesSlides/notesSlide12.xml" Id="R5c317dda81d945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AA1FD-DF77-43DF-A37A-A523C4F6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11855c8a44cd8"/>
          <a:srcRect xmlns:a="http://schemas.openxmlformats.org/drawingml/2006/main" l="28270" t="0" r="282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0"/>
            <a:ext cx="52959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80085F-68ED-4DFB-A5E5-B11546A6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0"/>
            <a:ext cx="304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A7E80-667D-409C-882A-B6E6D994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MODULE 16  /  LESSON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C517C-ED3A-49AE-AB9A-B9DE39DB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52197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Evaluate RAG as Separate Components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1EF43-01D5-4324-812B-6E1CD924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D1711-7B0A-4597-94C4-0E847319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D5E2EC"/>
                </a:solidFill>
              </a:defRPr>
            </a:pPr>
            <a:r>
              <a:rPr sz="1650">
                <a:solidFill>
                  <a:srgbClr val="D5E2EC"/>
                </a:solidFill>
              </a:rPr>
              <a:t>Evaluate at four boundaries: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7d433fa924eda"/>
          <a:stretch xmlns:a="http://schemas.openxmlformats.org/drawingml/2006/main"/>
        </p:blipFill>
        <p:spPr>
          <a:xfrm xmlns:a="http://schemas.openxmlformats.org/drawingml/2006/main">
            <a:off x="790575" y="5905500"/>
            <a:ext cx="1485900" cy="4953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1362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C4B8C1-94A7-42E7-A163-1ABF2024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8701A0-E1A8-4326-962E-20D53083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Evaluate RAG as Separate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16D10-E247-4882-BB22-3073BDF6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F290D-71C6-44A7-AA35-5E2984ED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69608-331F-4D64-A50F-85785D1F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220"/>
                </a:solidFill>
              </a:defRPr>
            </a:pPr>
            <a:r>
              <a:rPr sz="3000" b="1">
                <a:solidFill>
                  <a:srgbClr val="0B1220"/>
                </a:solidFill>
              </a:rPr>
              <a:t>An Evaluation Dataset Represents Real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39E2A-E64C-4B5D-A083-F145EF33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A8402-87C5-4ADD-B256-1E91C56A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43244"/>
                </a:solidFill>
              </a:defRPr>
            </a:pPr>
            <a:r>
              <a:rPr sz="1575">
                <a:solidFill>
                  <a:srgbClr val="243244"/>
                </a:solidFill>
              </a:rPr>
              <a:t>A RAG evaluation example should record: Include normal, rare, multi-chunk, exact-term, paraphrase, unsupported, and access-control cases.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FF3F1-7A97-450A-8FC8-23B0B9A1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E31EB-790D-426E-B1BC-DFBC3B4A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question;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F6E62-506F-4F8C-87E7-26499C7E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18926-98DA-4AD9-B473-1D128794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user or tenant context;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EC16F-D541-4DED-B393-C7E029FC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C7C544-86F8-4F4A-BF4B-697EB922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expected relevant chunk IDs;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8D28E-9A3A-42A3-BC43-1819DE86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FF0BA-B5E1-49D7-A77F-B76A93FE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reference answer or required facts when available;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7B51B-16F8-4315-98BD-BB128789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FFC7C-F089-4022-BA1F-4536998C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unsupported or denied expectation;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1EF727-D7D4-4E1A-8B2F-E510F99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D63C19-25D2-42B2-8510-19C61C17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1220"/>
                </a:solidFill>
              </a:defRPr>
            </a:pPr>
            <a:r>
              <a:rPr sz="1125" b="1">
                <a:solidFill>
                  <a:srgbClr val="0B1220"/>
                </a:solidFill>
              </a:rPr>
              <a:t>importance and category;</a:t>
            </a:r>
          </a:p>
        </p:txBody>
      </p:sp>
    </p:spTree>
    <p:extLst>
      <p:ext uri="{BB962C8B-B14F-4D97-AF65-F5344CB8AC3E}">
        <p14:creationId xmlns:p14="http://schemas.microsoft.com/office/powerpoint/2010/main" val="16183399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C3CFD-F51A-4234-BAE5-2212105D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A2D9C-349C-4D05-AC0D-76EA52E9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Evaluate RAG as Separate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22A73-D353-4B24-BD3E-BAD1174E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9AD2C-4F0F-4B99-9B36-F030BE35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1021B-C4A7-4317-8581-8A2178FD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Retrieval Precision and Recall Measure Different Goals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25921-F094-4E86-B345-8926DC6F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7611E-6136-4DDF-97B7-7116F9E8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40525-8625-46A2-8416-59BBC2B0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BADB3-B0AD-4EB0-8C7A-B742A2AA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561A1-D133-413F-83E2-A54CB501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471241-E4D9-416C-A6C4-DACDD056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expected = {"A", "B", "C"}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retrieved = ["A", "B", "X", "Y"]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hits = expected.intersection(retrieved)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print(len(hits)/len(retrieved), len(hits)/len(expected))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34F04-404C-47F5-A0B0-415DA913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E575F-62A3-4AE0-AC51-06CAB9E7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3F08EE-5274-431D-B918-74DD986A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0.5 0.6666666666666666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77D7E-D01B-4B1C-865F-42D3895B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8E06D8-A0F7-4048-9A10-B49E8507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Precision = 2/4 = 0.50 Recall = 2/3 = 0.667</a:t>
            </a:r>
          </a:p>
        </p:txBody>
      </p:sp>
    </p:spTree>
    <p:extLst>
      <p:ext uri="{BB962C8B-B14F-4D97-AF65-F5344CB8AC3E}">
        <p14:creationId xmlns:p14="http://schemas.microsoft.com/office/powerpoint/2010/main" val="6062443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EA5C7C-178D-4FFF-9D11-90000232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60010-4AA7-43B5-82C5-A3318311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Evaluate RAG as Separate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5ECB4-612D-4D34-88F2-A4DA307F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ACBC7-743E-4869-962B-37F047A3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907F8-4126-4E31-A888-AF9E030F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Top-k and Filters Change the Candidate 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B6331-20F7-4D55-AC3B-D949C454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5CDE61-6995-48E0-B649-8B1A7DBCF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tenant or user access;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84478-96CB-4E96-92B4-9809CEE0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A9EA3-662B-4264-A656-75FD5002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42C7B-DF09-4FA6-BFB8-FD65C198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65EF7-7FCF-4580-9E31-049BF995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document type;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6D8AE-39F3-4BFC-B1EE-B007A961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8D4F2F-FF34-478B-9471-75700E11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37643-8004-4EE3-955B-9CFD9447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601A5-A37D-41CD-84C3-02E10BBC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publication status;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B05DE-9AAD-44F6-927A-483F31C0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A54C5D-D25B-4B06-B4F5-EB12F23A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BA8E3-E0BB-4928-B427-5763F68B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EE356F-2C3F-4184-9E6C-5A42795B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date;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C04934-89BD-4CCC-A837-52B27681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37F41D-EEEB-4C79-B284-8ED46949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2B86F4-40F8-4566-9B40-D90E556E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1DEE8"/>
                </a:solidFill>
              </a:defRPr>
            </a:pPr>
            <a:r>
              <a:rPr sz="1350">
                <a:solidFill>
                  <a:srgbClr val="D1DEE8"/>
                </a:solidFill>
              </a:rPr>
              <a:t>At k=3: precision 0.67, recall 0.50 At k=8: precision 0.38, recall 1.00 Higher k recovers all evidence but adds more irrelevant chunks. Reranking or better queries may improve the tradeoff.</a:t>
            </a:r>
          </a:p>
        </p:txBody>
      </p:sp>
    </p:spTree>
    <p:extLst>
      <p:ext uri="{BB962C8B-B14F-4D97-AF65-F5344CB8AC3E}">
        <p14:creationId xmlns:p14="http://schemas.microsoft.com/office/powerpoint/2010/main" val="2157412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3B43E-FC82-4F99-A5E5-0EE9C506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F19AF-BECC-4513-9A69-A23114C7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Evaluate RAG as Separate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C72B2-98BB-4B3D-ACEC-BC9C414C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A360A-F879-4D4E-9BB8-18A7A953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C3B60-E287-4EF9-B677-F876724E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Query Rewriting Can Improve Retrieval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78736-2032-4C3E-9715-E1FBDD0D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8FB629-3685-43CD-B7AA-C73664FD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6E2EB"/>
                </a:solidFill>
              </a:defRPr>
            </a:pPr>
            <a:r>
              <a:rPr sz="1425">
                <a:solidFill>
                  <a:srgbClr val="D6E2EB"/>
                </a:solidFill>
              </a:rPr>
              <a:t>A query rewrite transforms a user's question into a search query. Possible methods: Rewriting can improve recall but may change intent. Preserve the original question and record every rewritten query.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4F172-0B80-40F8-BF99-50802214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25ECB-D91E-42FD-B5F7-A1FE598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resolve conversation references;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08B51-EA6B-494E-A531-FBF6A17E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56678-D6A9-429A-8800-C4940C39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expand abbreviations;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65074-DB8E-4643-8CF3-0E69C628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727AC-5A89-4C6E-95F1-C81D11BB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generate alternate wording;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FF1C0-D94E-4476-80EE-CE82A41F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BDFD0-6E5E-4CD7-9793-754B5D88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split a multi-part question;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FC4A4-5CE2-40E4-A2BF-4BBE7348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3276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EF6363-A697-4B13-AC10-6DA0950CC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add domain identifiers.</a:t>
            </a:r>
          </a:p>
        </p:txBody>
      </p:sp>
    </p:spTree>
    <p:extLst>
      <p:ext uri="{BB962C8B-B14F-4D97-AF65-F5344CB8AC3E}">
        <p14:creationId xmlns:p14="http://schemas.microsoft.com/office/powerpoint/2010/main" val="3579437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110FE1-3954-411C-8AA4-275A728B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2ED74-10D2-4D57-A75F-A5CB51A5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Evaluate RAG as Separate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AB5A3-1078-4729-81B8-F16BE543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D66852-E998-4AFE-A906-D0218085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A94E1-EF39-47A8-81E2-509AE577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Hybrid Search Combines Exact and Semantic Retrieval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14594-0D24-4896-AAA3-60C04E0A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BED2A4-09E1-42EC-9F18-BD324DDD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45F54-7DA1-41A9-93B1-A5066D69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EC80E-BD3B-4BDD-AD8F-ED9FBE99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F3831-66AC-4E08-9453-7A9E1264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D381A-4E10-4947-8F68-E507199F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def rrf_score(ranks, c=60):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    return sum(1 / (c + rank) for rank in ranks)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990CE-A543-4415-BE4A-B1F0B94F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659F6-4D70-4046-B91A-E1A91389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38D1D4-AC24-4387-A956-4BB4FF08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A fusion score based on rank positions rather than incompatible raw scores.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21F3E-A88D-4E58-8BD6-3BEEE613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A2852-81CC-4991-AF79-2A45A41D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Documents found by both methods gain combined evidence.</a:t>
            </a:r>
          </a:p>
        </p:txBody>
      </p:sp>
    </p:spTree>
    <p:extLst>
      <p:ext uri="{BB962C8B-B14F-4D97-AF65-F5344CB8AC3E}">
        <p14:creationId xmlns:p14="http://schemas.microsoft.com/office/powerpoint/2010/main" val="8919981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5166C-639F-41E3-BA50-519AA1EB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BBF62-5D03-4671-ACA9-9331A959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Evaluate RAG as Separate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B70CE-C64D-4434-B5AC-AC4C934C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7799C-B175-41C0-B6BC-E0F46854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CORE CONCEPT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1CF3F-F9BF-43B4-9A2D-C066B13E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Reranking Applies a Stronger Model to Fewer Candidates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04C419-BADB-460D-B191-BBA9EC75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B2AC3-0F30-45AD-9C76-47F0BBF5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6E2EB"/>
                </a:solidFill>
              </a:defRPr>
            </a:pPr>
            <a:r>
              <a:rPr sz="1425">
                <a:solidFill>
                  <a:srgbClr val="D6E2EB"/>
                </a:solidFill>
              </a:rPr>
              <a:t>A reranker scores query-document pairs using a model more expensive than first-stage retrieval. Pipeline: Reranking can improve ordering but adds latency and cost. It cannot recover a relevant chunk missing from the candidate set.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0FC7B-76AD-4BB4-870C-5C1A1081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F5A72-90EC-4FEC-A5EF-ED8A1E46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retrieve a broader candidate set quickly;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F8DE4-DCA3-4A6E-9AE7-3D608F2A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147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990A0-0CF7-4A69-BFF1-7F237673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00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rerank those candidates;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5956D5-6E7B-4EE9-903C-A6AD45EC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514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B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D907E-6C2A-4A9E-A0D5-FF6EC728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800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keep the best few for context.</a:t>
            </a:r>
          </a:p>
        </p:txBody>
      </p:sp>
    </p:spTree>
    <p:extLst>
      <p:ext uri="{BB962C8B-B14F-4D97-AF65-F5344CB8AC3E}">
        <p14:creationId xmlns:p14="http://schemas.microsoft.com/office/powerpoint/2010/main" val="14992712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9AB4A-0614-4E80-AFDD-DACA19FC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2A5D1-0049-468D-9E95-7D8FF5AA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Evaluate RAG as Separate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39AAA-B1E9-4A55-8333-857261DA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DAC5F1-5E07-4CB3-B8A0-25D8F5FF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REASONING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EFECA-2149-45CF-B51B-6E455ED4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Answer Quality Has Several Dimensions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B3A85-EC38-4AAD-AC6F-BA2A44C0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E3A6A-1037-4DE8-BF39-0B75261E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Correctness: agreement with a reference answer or verified facts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39D1B-0F84-4A85-AE0B-C645A4FA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5D6F1-248D-45C9-BCA1-070FD428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80A88-966C-4468-B150-81999547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Transform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243B6-48D0-4A62-B032-E1DFF0B8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Relevance: whether the response addresses the question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DE490-7B3F-499E-A4FF-40AA05AB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CF8D63-E861-42FF-894B-13E0FD4C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43017-258A-424A-9805-B2524535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0A8C8"/>
                </a:solidFill>
              </a:defRPr>
            </a:pPr>
            <a:r>
              <a:rPr sz="2025" b="1">
                <a:solidFill>
                  <a:srgbClr val="00A8C8"/>
                </a:solidFill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AC3D2-A252-458E-A846-40ED8B71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Groundedness: whether claims are supported by supplied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0B720-0185-4E02-9B6B-15400531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62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450D4-75C7-4C03-9945-2EF34B68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171D0-5FE3-4E06-A2E9-8104E9F6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06B5F"/>
                </a:solidFill>
              </a:defRPr>
            </a:pPr>
            <a:r>
              <a:rPr sz="2025" b="1">
                <a:solidFill>
                  <a:srgbClr val="F06B5F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10248-8A4F-47CC-9299-5487ABC8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00350"/>
            <a:ext cx="219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Citation correctness: whether cited passages support nearby claims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C59CA-7470-4B06-8270-7DB11AB31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528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3EEF7E-C554-4D8A-96DC-87F3C1ED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7670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7892A8"/>
                </a:solidFill>
              </a:defRPr>
            </a:pPr>
            <a:r>
              <a:rPr sz="2625" b="1">
                <a:solidFill>
                  <a:srgbClr val="7892A8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111002-FDFE-4D64-979B-9A780635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D1DEE8"/>
                </a:solidFill>
              </a:defRPr>
            </a:pPr>
            <a:r>
              <a:rPr sz="1350">
                <a:solidFill>
                  <a:srgbClr val="D1DEE8"/>
                </a:solidFill>
              </a:rPr>
              <a:t>Question asks refund period and exclusions. Answer gives 14 days with support but omits annual-plan exclusions. It may be grounded and partly correct, but incomplete.</a:t>
            </a:r>
          </a:p>
        </p:txBody>
      </p:sp>
    </p:spTree>
    <p:extLst>
      <p:ext uri="{BB962C8B-B14F-4D97-AF65-F5344CB8AC3E}">
        <p14:creationId xmlns:p14="http://schemas.microsoft.com/office/powerpoint/2010/main" val="5348397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4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7E5ECB-D4C0-4724-A384-FFEF8D55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BCC4C-7AEE-44D6-9296-80498221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Evaluate RAG as Separate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26FB49-0782-4726-8A60-6A7B7BA0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8502C-E11E-48F5-9BC8-97893066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RUN IT AND INSPECT THE RESULT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19FB5-C0CD-45DE-AEEE-95050D08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Model Judges Need Human Calibration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2F2A6-127C-4387-A57E-8004D63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5D182-CDAC-4E8C-9C10-683A7E33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515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76A69-A6F3-4D6E-8FE7-95799A90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68FA22-177C-4F8D-9C2D-E56E951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6C7F5-166E-49B9-B7DF-D3716859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D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F965B-BA4B-4CD8-A3AB-B0273526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11505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agreement = sum(j == h for j, h in zip(judge_labels, human_labels))</a:t>
            </a:r>
          </a:p>
          <a:p xmlns:a="http://schemas.openxmlformats.org/drawingml/2006/main">
            <a:pPr>
              <a:defRPr sz="1125">
                <a:solidFill>
                  <a:srgbClr val="E8F1F7"/>
                </a:solidFill>
              </a:defRPr>
            </a:pPr>
            <a:r>
              <a:rPr sz="1125">
                <a:solidFill>
                  <a:srgbClr val="E8F1F7"/>
                </a:solidFill>
              </a:rPr>
              <a:t>print(agreement / len(human_labels))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FC4BC-620D-464B-8123-971A1715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324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6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D22D65-4958-4277-9089-7A109DFF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47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916456-8532-4407-8094-510B0A59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28850"/>
            <a:ext cx="379095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B1220"/>
                </a:solidFill>
              </a:defRPr>
            </a:pPr>
            <a:r>
              <a:rPr sz="1050">
                <a:solidFill>
                  <a:srgbClr val="0B1220"/>
                </a:solidFill>
              </a:rPr>
              <a:t>0.84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F7BAF4-1BC6-436F-BA8C-3DA8CCCA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60255F-BEF3-4341-9191-C09BEE1B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The 8 disagreements should be grouped by cause before trusting the judge at scale.</a:t>
            </a:r>
          </a:p>
        </p:txBody>
      </p:sp>
    </p:spTree>
    <p:extLst>
      <p:ext uri="{BB962C8B-B14F-4D97-AF65-F5344CB8AC3E}">
        <p14:creationId xmlns:p14="http://schemas.microsoft.com/office/powerpoint/2010/main" val="4280044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CCA42-D590-4416-AC9E-7D6F93A1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CE08A-8E54-416B-9BCD-D2CD6B1A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Evaluate RAG as Separate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8AE80-1DE3-42B2-9049-4B2EA5AB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269E8-5D91-4C65-B6E3-5D0D2F32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F5F88-D7BE-4E4C-BA67-214919ED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Failure Analysis Produces the Next Experiment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9A3C5-9640-4F54-98BB-8D67DF806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C566C-725B-4D06-8E03-61738821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E46D8-F0F9-4D3F-9DA1-CD583A2D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source and parsing status;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8C438-52F6-4827-B53E-6F9CCA3E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8C3AE-E84B-4716-A8F8-A5B1EC30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FDB40-0BDE-4C3D-8F62-C37D9295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841CE-C090-4086-9408-DFD46583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expected and retrieved chunks;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78541-02E5-4867-806B-75CA9900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5165D-7E33-4BDD-A6D0-5F02A1BE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CAB27-934F-4327-84D4-AC292523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37F1A-08AD-4336-8178-E443ADF4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ranks and filters;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98E8DB-E610-4C84-8701-8A4217A8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EB04DE-D419-4BE9-90CF-0A8FFD7E4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E13EF5-70FC-475A-9D23-67E468FC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386CA-4B80-4AA7-B5A2-9EB5A550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rewrite;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D8586C-0C4C-4971-AB31-4E8F3651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82922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0944D7-C548-49E1-85AA-2F34B9B1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76BDB"/>
                </a:solidFill>
              </a:defRPr>
            </a:pPr>
            <a:r>
              <a:rPr sz="825" b="1">
                <a:solidFill>
                  <a:srgbClr val="176BDB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5351F-F1FE-4A43-90DF-B98B39CA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07086"/>
                </a:solidFill>
              </a:defRPr>
            </a:pPr>
            <a:r>
              <a:rPr sz="825">
                <a:solidFill>
                  <a:srgbClr val="607086"/>
                </a:solidFill>
              </a:rPr>
              <a:t>Evaluate RAG as Separate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04F66-FCFF-444F-8B20-7F78F4C4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07086"/>
                </a:solidFill>
              </a:defRPr>
            </a:pPr>
            <a:r>
              <a:rPr sz="825" b="1">
                <a:solidFill>
                  <a:srgbClr val="607086"/>
                </a:solidFill>
              </a:rPr>
              <a:t>DS ACADEMY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55B89-C73E-4CA7-A6B2-A952F56A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76BDB"/>
                </a:solidFill>
              </a:defRPr>
            </a:pPr>
            <a:r>
              <a:rPr sz="900" b="1">
                <a:solidFill>
                  <a:srgbClr val="176BDB"/>
                </a:solidFill>
              </a:rPr>
              <a:t>QUALITY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A4BC7-10A6-40AA-97A7-CE24FC66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0B1220"/>
                </a:solidFill>
              </a:defRPr>
            </a:pPr>
            <a:r>
              <a:rPr sz="2625" b="1">
                <a:solidFill>
                  <a:srgbClr val="0B1220"/>
                </a:solidFill>
              </a:rPr>
              <a:t>An Experiment Report Includes Quality, Latency, and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ECC5C-E81C-4098-A860-7BA64E96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B9C20-6847-4079-90EA-0237C52B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430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6944D-49DC-4DD3-A9CD-EBE80025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corpus and ingestion version;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76FC5-6763-4E8F-B717-93094398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CC39B-31C0-499E-896E-54B84D80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F2E0E-9094-4CA5-894A-F3A69C18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98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D80D23-4BF9-4EC2-9362-D77D27FD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622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embedding model and index settings;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EE729-8205-4787-8472-1ECB3D73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242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F1B6D-6485-4072-B050-19BBF458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80485-82D2-4880-848D-6996E47A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766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FCE5E7-EE47-441D-8BC2-3C3B54CD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retriever, filters, k, rewrite, and reranker;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E3C3F-7EAA-4C36-9D78-2D3C6714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910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F96E8-F408-4126-9103-56D5EEEC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719D3-B178-4C83-8542-F887A50C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43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A8C8"/>
                </a:solidFill>
              </a:defRPr>
            </a:pPr>
            <a:r>
              <a:rPr sz="1500" b="1">
                <a:solidFill>
                  <a:srgbClr val="00A8C8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EEA63-97C6-4654-98C4-768EF36F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95850"/>
            <a:ext cx="923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prompt and generation model;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809430-EC09-4557-9B30-B6D0E923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57850"/>
            <a:ext cx="923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6D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49060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6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B9F0F-5794-422B-9A37-377E9A1C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A8C8"/>
                </a:solidFill>
              </a:defRPr>
            </a:pPr>
            <a:r>
              <a:rPr sz="825" b="1">
                <a:solidFill>
                  <a:srgbClr val="00A8C8"/>
                </a:solidFill>
              </a:rPr>
              <a:t>M16 / L01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F6836-57B4-4562-9CD9-D5C4D843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670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7CAD9"/>
                </a:solidFill>
              </a:defRPr>
            </a:pPr>
            <a:r>
              <a:rPr sz="825">
                <a:solidFill>
                  <a:srgbClr val="B7CAD9"/>
                </a:solidFill>
              </a:rPr>
              <a:t>Evaluate RAG as Separate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0D548-701D-4E13-A6F6-26002A01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7CAD9"/>
                </a:solidFill>
              </a:defRPr>
            </a:pPr>
            <a:r>
              <a:rPr sz="825" b="1">
                <a:solidFill>
                  <a:srgbClr val="B7CAD9"/>
                </a:solidFill>
              </a:rPr>
              <a:t>DS ACADEMY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BFD19-F6AD-45F5-B860-E4A9BF9E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0A8C8"/>
                </a:solidFill>
              </a:defRPr>
            </a:pPr>
            <a:r>
              <a:rPr sz="900" b="1">
                <a:solidFill>
                  <a:srgbClr val="00A8C8"/>
                </a:solidFill>
              </a:rPr>
              <a:t>GUIDED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8ECC09-B781-4D75-98BE-18585CAA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Guided Lab: Improve RAG with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4721A-9323-4CBB-B007-67ABF2B4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5880D4-92FF-47B2-8356-EB1FA542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20B96-9282-4CF6-A2F7-EAA4839D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label expected chunk IDs and required 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9E6D9-6724-4E22-992A-8416608C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C2E91-66B8-49B4-8ADE-4A79A7FB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390CA-A3D2-480B-A14D-BF7B6D5B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calculate retrieval precision and recall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F9C1FC-B797-4F56-BE60-C31EB7F3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8C8"/>
                </a:solidFill>
              </a:defRPr>
            </a:pPr>
            <a:r>
              <a:rPr sz="975" b="1">
                <a:solidFill>
                  <a:srgbClr val="00A8C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3BAA6-E1AD-4F60-A047-C2E41E82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6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5001C0-CE9F-49AD-B644-105751B9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compare at least three k values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40F2D-8237-42AF-9E22-54D80C36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06B5F"/>
                </a:solidFill>
              </a:defRPr>
            </a:pPr>
            <a:r>
              <a:rPr sz="975" b="1">
                <a:solidFill>
                  <a:srgbClr val="F06B5F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004E6-8ED0-4F5A-B202-C5BE3FA8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00550"/>
            <a:ext cx="2038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6B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2CF30-110A-4A6F-A4F7-9A94284B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762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test metadata filters</a:t>
            </a:r>
          </a:p>
        </p:txBody>
      </p:sp>
    </p:spTree>
    <p:extLst>
      <p:ext uri="{BB962C8B-B14F-4D97-AF65-F5344CB8AC3E}">
        <p14:creationId xmlns:p14="http://schemas.microsoft.com/office/powerpoint/2010/main" val="1481964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2026-07-28T19:29:37.8050000Z</dcterms:created>
  <dcterms:modified xsi:type="dcterms:W3CDTF">2026-07-28T19:29:37.8050000Z</dcterms:modified>
</coreProperties>
</file>