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23dd86e7cc545a5" /><Relationship Type="http://schemas.openxmlformats.org/officeDocument/2006/relationships/extended-properties" Target="/docProps/app.xml" Id="R18082471f9594d46" /><Relationship Type="http://schemas.openxmlformats.org/officeDocument/2006/relationships/officeDocument" Target="/ppt/presentation.xml" Id="Re855bf8dd7bf462c" /></Relationships>
</file>

<file path=ppt/presentation.xml><?xml version="1.0" encoding="utf-8"?>
<p:presentation xmlns:p="http://schemas.openxmlformats.org/presentationml/2006/main">
  <p:sldMasterIdLst>
    <p:sldMasterId xmlns:r="http://schemas.openxmlformats.org/officeDocument/2006/relationships" id="2147483648" r:id="R642492131027454d"/>
  </p:sldMasterIdLst>
  <p:notesMasterIdLst>
    <p:notesMasterId xmlns:r="http://schemas.openxmlformats.org/officeDocument/2006/relationships" r:id="R030c32201d64411c"/>
  </p:notesMasterIdLst>
  <p:sldIdLst>
    <p:sldId xmlns:r="http://schemas.openxmlformats.org/officeDocument/2006/relationships" id="256" r:id="R67b45104824b4f77"/>
    <p:sldId xmlns:r="http://schemas.openxmlformats.org/officeDocument/2006/relationships" id="257" r:id="R8e13c03ba49142f9"/>
    <p:sldId xmlns:r="http://schemas.openxmlformats.org/officeDocument/2006/relationships" id="258" r:id="Rfbc85d97c50a4ec4"/>
    <p:sldId xmlns:r="http://schemas.openxmlformats.org/officeDocument/2006/relationships" id="259" r:id="R81d2c87791f644cd"/>
    <p:sldId xmlns:r="http://schemas.openxmlformats.org/officeDocument/2006/relationships" id="260" r:id="R23e1395441e545c5"/>
    <p:sldId xmlns:r="http://schemas.openxmlformats.org/officeDocument/2006/relationships" id="261" r:id="R7aef8f3992204093"/>
    <p:sldId xmlns:r="http://schemas.openxmlformats.org/officeDocument/2006/relationships" id="262" r:id="Rf4f3616eb3b14ac6"/>
    <p:sldId xmlns:r="http://schemas.openxmlformats.org/officeDocument/2006/relationships" id="263" r:id="Rf4b02de7c8e846c3"/>
    <p:sldId xmlns:r="http://schemas.openxmlformats.org/officeDocument/2006/relationships" id="264" r:id="Re0f5038d68584588"/>
    <p:sldId xmlns:r="http://schemas.openxmlformats.org/officeDocument/2006/relationships" id="265" r:id="Rd976f142ad8e41bf"/>
    <p:sldId xmlns:r="http://schemas.openxmlformats.org/officeDocument/2006/relationships" id="266" r:id="Rdbec5408a2374f8f"/>
    <p:sldId xmlns:r="http://schemas.openxmlformats.org/officeDocument/2006/relationships" id="267" r:id="R00cd1290fddf4a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28c4c2e0764e9f" /><Relationship Type="http://schemas.openxmlformats.org/officeDocument/2006/relationships/slideMaster" Target="/ppt/slideMasters/slideMaster1.xml" Id="R642492131027454d" /><Relationship Type="http://schemas.openxmlformats.org/officeDocument/2006/relationships/notesMaster" Target="/ppt/notesMasters/notesMaster1.xml" Id="R030c32201d64411c" /><Relationship Type="http://schemas.openxmlformats.org/officeDocument/2006/relationships/presProps" Target="/ppt/presProps.xml" Id="R7a2a15675ae54bf9" /><Relationship Type="http://schemas.openxmlformats.org/officeDocument/2006/relationships/tableStyles" Target="/ppt/tableStyles.xml" Id="R4d8364f738dc4d61" /><Relationship Type="http://schemas.openxmlformats.org/officeDocument/2006/relationships/slide" Target="/ppt/slides/slide1.xml" Id="R67b45104824b4f77" /><Relationship Type="http://schemas.openxmlformats.org/officeDocument/2006/relationships/slide" Target="/ppt/slides/slide2.xml" Id="R8e13c03ba49142f9" /><Relationship Type="http://schemas.openxmlformats.org/officeDocument/2006/relationships/slide" Target="/ppt/slides/slide3.xml" Id="Rfbc85d97c50a4ec4" /><Relationship Type="http://schemas.openxmlformats.org/officeDocument/2006/relationships/slide" Target="/ppt/slides/slide4.xml" Id="R81d2c87791f644cd" /><Relationship Type="http://schemas.openxmlformats.org/officeDocument/2006/relationships/slide" Target="/ppt/slides/slide5.xml" Id="R23e1395441e545c5" /><Relationship Type="http://schemas.openxmlformats.org/officeDocument/2006/relationships/slide" Target="/ppt/slides/slide6.xml" Id="R7aef8f3992204093" /><Relationship Type="http://schemas.openxmlformats.org/officeDocument/2006/relationships/slide" Target="/ppt/slides/slide7.xml" Id="Rf4f3616eb3b14ac6" /><Relationship Type="http://schemas.openxmlformats.org/officeDocument/2006/relationships/slide" Target="/ppt/slides/slide8.xml" Id="Rf4b02de7c8e846c3" /><Relationship Type="http://schemas.openxmlformats.org/officeDocument/2006/relationships/slide" Target="/ppt/slides/slide9.xml" Id="Re0f5038d68584588" /><Relationship Type="http://schemas.openxmlformats.org/officeDocument/2006/relationships/slide" Target="/ppt/slides/slide10.xml" Id="Rd976f142ad8e41bf" /><Relationship Type="http://schemas.openxmlformats.org/officeDocument/2006/relationships/slide" Target="/ppt/slides/slide11.xml" Id="Rdbec5408a2374f8f" /><Relationship Type="http://schemas.openxmlformats.org/officeDocument/2006/relationships/slide" Target="/ppt/slides/slide12.xml" Id="R00cd1290fddf4a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4978b65a8842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26400144bd4402" /><Relationship Type="http://schemas.openxmlformats.org/officeDocument/2006/relationships/notesMaster" Target="/ppt/notesMasters/notesMaster1.xml" Id="Re6c8ca922be747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3c02e850ea4e86" /><Relationship Type="http://schemas.openxmlformats.org/officeDocument/2006/relationships/notesMaster" Target="/ppt/notesMasters/notesMaster1.xml" Id="Re4abf3aec31c4b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6c3751c8c64e3b" /><Relationship Type="http://schemas.openxmlformats.org/officeDocument/2006/relationships/notesMaster" Target="/ppt/notesMasters/notesMaster1.xml" Id="Rfe811e01484149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e3d077e73443ad" /><Relationship Type="http://schemas.openxmlformats.org/officeDocument/2006/relationships/notesMaster" Target="/ppt/notesMasters/notesMaster1.xml" Id="R8f9fa7a7b51d49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dca3484798481b" /><Relationship Type="http://schemas.openxmlformats.org/officeDocument/2006/relationships/notesMaster" Target="/ppt/notesMasters/notesMaster1.xml" Id="R3355180b532e4a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78b69303244fc0" /><Relationship Type="http://schemas.openxmlformats.org/officeDocument/2006/relationships/notesMaster" Target="/ppt/notesMasters/notesMaster1.xml" Id="Ra662c0eb307a4b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41d0d7ec1c4afa" /><Relationship Type="http://schemas.openxmlformats.org/officeDocument/2006/relationships/notesMaster" Target="/ppt/notesMasters/notesMaster1.xml" Id="R599b2c8d433f49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f8635c108a434c" /><Relationship Type="http://schemas.openxmlformats.org/officeDocument/2006/relationships/notesMaster" Target="/ppt/notesMasters/notesMaster1.xml" Id="R96190888b31147e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b585d12092484b" /><Relationship Type="http://schemas.openxmlformats.org/officeDocument/2006/relationships/notesMaster" Target="/ppt/notesMasters/notesMaster1.xml" Id="Rdf7a3afcbad44ab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0e7f8482dae47c4" /><Relationship Type="http://schemas.openxmlformats.org/officeDocument/2006/relationships/notesMaster" Target="/ppt/notesMasters/notesMaster1.xml" Id="R8db499d84fc9456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acc021752347d3" /><Relationship Type="http://schemas.openxmlformats.org/officeDocument/2006/relationships/notesMaster" Target="/ppt/notesMasters/notesMaster1.xml" Id="Ra6bcb9cff6a74c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a70374c56a4339" /><Relationship Type="http://schemas.openxmlformats.org/officeDocument/2006/relationships/notesMaster" Target="/ppt/notesMasters/notesMaster1.xml" Id="Rc931419796b84f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**Classification** is supervised learning with a categorical target.</a:t>
            </a:r>
          </a:p>
          <a:p xmlns:a="http://schemas.openxmlformats.org/drawingml/2006/main">
            <a:r>
              <a:t/>
            </a:r>
          </a:p>
          <a:p xmlns:a="http://schemas.openxmlformats.org/drawingml/2006/main">
            <a:r>
              <a:t>- **Binary:** two classes, such as default/no default</a:t>
            </a:r>
          </a:p>
          <a:p xmlns:a="http://schemas.openxmlformats.org/drawingml/2006/main">
            <a:r>
              <a:t>- **Multiclass:** more than two classes, such as red/amber/green</a:t>
            </a:r>
          </a:p>
          <a:p xmlns:a="http://schemas.openxmlformats.org/drawingml/2006/main">
            <a:r>
              <a:t>- **Class probability:** estimated probability assigned to a class</a:t>
            </a:r>
          </a:p>
          <a:p xmlns:a="http://schemas.openxmlformats.org/drawingml/2006/main">
            <a:r>
              <a:t>- **Predicted class:** category chosen by a decision rule</a:t>
            </a:r>
          </a:p>
          <a:p xmlns:a="http://schemas.openxmlformats.org/drawingml/2006/main">
            <a:r>
              <a:t/>
            </a:r>
          </a:p>
          <a:p xmlns:a="http://schemas.openxmlformats.org/drawingml/2006/main">
            <a:r>
              <a:t>Evaluation must represent the mistakes that matter. In medical screening, missing a positive case may cost more than an extra follow-up; in spam filtering, blocking valid mail may be especially costly.</a:t>
            </a:r>
          </a:p>
          <a:p xmlns:a="http://schemas.openxmlformats.org/drawingml/2006/main">
            <a:r>
              <a:t/>
            </a:r>
          </a:p>
          <a:p xmlns:a="http://schemas.openxmlformats.org/drawingml/2006/main">
            <a:r>
              <a:t>[Worked Example]</a:t>
            </a:r>
          </a:p>
          <a:p xmlns:a="http://schemas.openxmlformats.org/drawingml/2006/main">
            <a:r>
              <a:t>Model output for positive class: `0.72`.</a:t>
            </a:r>
          </a:p>
          <a:p xmlns:a="http://schemas.openxmlformats.org/drawingml/2006/main">
            <a:r>
              <a:t/>
            </a:r>
          </a:p>
          <a:p xmlns:a="http://schemas.openxmlformats.org/drawingml/2006/main">
            <a:r>
              <a:t>At threshold `0.50`, predict positive.  </a:t>
            </a:r>
          </a:p>
          <a:p xmlns:a="http://schemas.openxmlformats.org/drawingml/2006/main">
            <a:r>
              <a:t>At threshold `0.80`, predict negative.</a:t>
            </a:r>
          </a:p>
          <a:p xmlns:a="http://schemas.openxmlformats.org/drawingml/2006/main">
            <a:r>
              <a:t/>
            </a:r>
          </a:p>
          <a:p xmlns:a="http://schemas.openxmlformats.org/drawingml/2006/main">
            <a:r>
              <a:t>The probability did not change; the decision rule changed.</a:t>
            </a:r>
          </a:p>
          <a:p xmlns:a="http://schemas.openxmlformats.org/drawingml/2006/main">
            <a:r>
              <a:t/>
            </a:r>
          </a:p>
          <a:p xmlns:a="http://schemas.openxmlformats.org/drawingml/2006/main">
            <a:r>
              <a:t>[Visual Brief]</a:t>
            </a:r>
          </a:p>
          <a:p xmlns:a="http://schemas.openxmlformats.org/drawingml/2006/main">
            <a:r>
              <a:t>A probability scale separates model output from two threshold-based decisions.</a:t>
            </a:r>
          </a:p>
          <a:p xmlns:a="http://schemas.openxmlformats.org/drawingml/2006/main">
            <a:r>
              <a:t/>
            </a:r>
          </a:p>
          <a:p xmlns:a="http://schemas.openxmlformats.org/drawingml/2006/main">
            <a:r>
              <a:t>[Instructor Notes]</a:t>
            </a:r>
          </a:p>
          <a:p xmlns:a="http://schemas.openxmlformats.org/drawingml/2006/main">
            <a:r>
              <a:t>Ask learners to name the positive class explicitly; metric meanings depend on that choice.</a:t>
            </a:r>
          </a:p>
          <a:p xmlns:a="http://schemas.openxmlformats.org/drawingml/2006/main">
            <a:r>
              <a:t/>
            </a:r>
          </a:p>
          <a:p xmlns:a="http://schemas.openxmlformats.org/drawingml/2006/main">
            <a:r>
              <a:t>[Notebook Connection]</a:t>
            </a:r>
          </a:p>
          <a:p xmlns:a="http://schemas.openxmlformats.org/drawingml/2006/main">
            <a:r>
              <a:t>The evaluation notebook compares actual labels, predicted labels, and predicted probabilities.</a:t>
            </a:r>
          </a:p>
          <a:p xmlns:a="http://schemas.openxmlformats.org/drawingml/2006/main">
            <a:r>
              <a:t/>
            </a:r>
          </a:p>
          <a:p xmlns:a="http://schemas.openxmlformats.org/drawingml/2006/main">
            <a:r>
              <a:t>[Sources]</a:t>
            </a:r>
          </a:p>
          <a:p xmlns:a="http://schemas.openxmlformats.org/drawingml/2006/main">
            <a:r>
              <a:t>- https://scikit-learn.org/stable/modules/model_evaluation.html#classification-metrics</a:t>
            </a:r>
          </a:p>
          <a:p xmlns:a="http://schemas.openxmlformats.org/drawingml/2006/main">
            <a:r>
              <a:t>- https://github.com/curiousily/AI-Bootcamp/blob/master/04.model-evaluation-techniques.ipynb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Logistic regression first calculates a linear score:</a:t>
            </a:r>
          </a:p>
          <a:p xmlns:a="http://schemas.openxmlformats.org/drawingml/2006/main">
            <a:r>
              <a:t/>
            </a:r>
          </a:p>
          <a:p xmlns:a="http://schemas.openxmlformats.org/drawingml/2006/main">
            <a:r>
              <a:t>`z = β0 + βᵀx`</a:t>
            </a:r>
          </a:p>
          <a:p xmlns:a="http://schemas.openxmlformats.org/drawingml/2006/main">
            <a:r>
              <a:t/>
            </a:r>
          </a:p>
          <a:p xmlns:a="http://schemas.openxmlformats.org/drawingml/2006/main">
            <a:r>
              <a:t>Then the **sigmoid** converts that score into a probability:</a:t>
            </a:r>
          </a:p>
          <a:p xmlns:a="http://schemas.openxmlformats.org/drawingml/2006/main">
            <a:r>
              <a:t/>
            </a:r>
          </a:p>
          <a:p xmlns:a="http://schemas.openxmlformats.org/drawingml/2006/main">
            <a:r>
              <a:t>`P(y=1|x) = σ(z) = 1 / (1 + e^(-z))`</a:t>
            </a:r>
          </a:p>
          <a:p xmlns:a="http://schemas.openxmlformats.org/drawingml/2006/main">
            <a:r>
              <a:t/>
            </a:r>
          </a:p>
          <a:p xmlns:a="http://schemas.openxmlformats.org/drawingml/2006/main">
            <a:r>
              <a:t>- `x`: feature vector</a:t>
            </a:r>
          </a:p>
          <a:p xmlns:a="http://schemas.openxmlformats.org/drawingml/2006/main">
            <a:r>
              <a:t>- `β`: learned coefficient vector</a:t>
            </a:r>
          </a:p>
          <a:p xmlns:a="http://schemas.openxmlformats.org/drawingml/2006/main">
            <a:r>
              <a:t>- `β0`: intercept</a:t>
            </a:r>
          </a:p>
          <a:p xmlns:a="http://schemas.openxmlformats.org/drawingml/2006/main">
            <a:r>
              <a:t>- `z`: real-valued score</a:t>
            </a:r>
          </a:p>
          <a:p xmlns:a="http://schemas.openxmlformats.org/drawingml/2006/main">
            <a:r>
              <a:t>- `e`: mathematical constant approximately `2.718`</a:t>
            </a:r>
          </a:p>
          <a:p xmlns:a="http://schemas.openxmlformats.org/drawingml/2006/main">
            <a:r>
              <a:t>- `σ(z)`: value between `0` and `1`</a:t>
            </a:r>
          </a:p>
          <a:p xmlns:a="http://schemas.openxmlformats.org/drawingml/2006/main">
            <a:r>
              <a:t/>
            </a:r>
          </a:p>
          <a:p xmlns:a="http://schemas.openxmlformats.org/drawingml/2006/main">
            <a:r>
              <a:t>[Worked Example]</a:t>
            </a:r>
          </a:p>
          <a:p xmlns:a="http://schemas.openxmlformats.org/drawingml/2006/main">
            <a:r>
              <a:t>If `z = 1.386`:</a:t>
            </a:r>
          </a:p>
          <a:p xmlns:a="http://schemas.openxmlformats.org/drawingml/2006/main">
            <a:r>
              <a:t/>
            </a:r>
          </a:p>
          <a:p xmlns:a="http://schemas.openxmlformats.org/drawingml/2006/main">
            <a:r>
              <a:t>`P = 1 / (1 + e^-1.386)`  </a:t>
            </a:r>
          </a:p>
          <a:p xmlns:a="http://schemas.openxmlformats.org/drawingml/2006/main">
            <a:r>
              <a:t>`≈ 1 / (1 + 0.250)`  </a:t>
            </a:r>
          </a:p>
          <a:p xmlns:a="http://schemas.openxmlformats.org/drawingml/2006/main">
            <a:r>
              <a:t>`≈ 0.80`</a:t>
            </a:r>
          </a:p>
          <a:p xmlns:a="http://schemas.openxmlformats.org/drawingml/2006/main">
            <a:r>
              <a:t/>
            </a:r>
          </a:p>
          <a:p xmlns:a="http://schemas.openxmlformats.org/drawingml/2006/main">
            <a:r>
              <a:t>[Visual Brief]</a:t>
            </a:r>
          </a:p>
          <a:p xmlns:a="http://schemas.openxmlformats.org/drawingml/2006/main">
            <a:r>
              <a:t>A weighted-sum block produces `z`, which enters an S-shaped sigmoid curve and exits as probability `0.80`.</a:t>
            </a:r>
          </a:p>
          <a:p xmlns:a="http://schemas.openxmlformats.org/drawingml/2006/main">
            <a:r>
              <a:t/>
            </a:r>
          </a:p>
          <a:p xmlns:a="http://schemas.openxmlformats.org/drawingml/2006/main">
            <a:r>
              <a:t>[Instructor Notes]</a:t>
            </a:r>
          </a:p>
          <a:p xmlns:a="http://schemas.openxmlformats.org/drawingml/2006/main">
            <a:r>
              <a:t>Clarify that logistic regression is a classification algorithm despite “regression” in its name.</a:t>
            </a:r>
          </a:p>
          <a:p xmlns:a="http://schemas.openxmlformats.org/drawingml/2006/main">
            <a:r>
              <a:t/>
            </a:r>
          </a:p>
          <a:p xmlns:a="http://schemas.openxmlformats.org/drawingml/2006/main">
            <a:r>
              <a:t>[Notebook Connection]</a:t>
            </a:r>
          </a:p>
          <a:p xmlns:a="http://schemas.openxmlformats.org/drawingml/2006/main">
            <a:r>
              <a:t>Scikit-learn's `predict_proba()` exposes the probabilities produced by the fitted classifier.</a:t>
            </a:r>
          </a:p>
          <a:p xmlns:a="http://schemas.openxmlformats.org/drawingml/2006/main">
            <a:r>
              <a:t/>
            </a:r>
          </a:p>
          <a:p xmlns:a="http://schemas.openxmlformats.org/drawingml/2006/main">
            <a:r>
              <a:t>[Sources]</a:t>
            </a:r>
          </a:p>
          <a:p xmlns:a="http://schemas.openxmlformats.org/drawingml/2006/main">
            <a:r>
              <a:t>- https://scikit-learn.org/stable/modules/linear_model.html#logistic-regression</a:t>
            </a:r>
          </a:p>
          <a:p xmlns:a="http://schemas.openxmlformats.org/drawingml/2006/main">
            <a:r>
              <a:t>- https://scikit-learn.org/stable/modules/generated/sklearn.linear_model.LogisticRegression.html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**threshold** converts a positive-class probability into a predicted class:</a:t>
            </a:r>
          </a:p>
          <a:p xmlns:a="http://schemas.openxmlformats.org/drawingml/2006/main">
            <a:r>
              <a:t/>
            </a:r>
          </a:p>
          <a:p xmlns:a="http://schemas.openxmlformats.org/drawingml/2006/main">
            <a:r>
              <a:t>`predict positive if P(y=1|x) &gt;= threshold`</a:t>
            </a:r>
          </a:p>
          <a:p xmlns:a="http://schemas.openxmlformats.org/drawingml/2006/main">
            <a:r>
              <a:t/>
            </a:r>
          </a:p>
          <a:p xmlns:a="http://schemas.openxmlformats.org/drawingml/2006/main">
            <a:r>
              <a:t>Lowering the threshold usually predicts more positives:</a:t>
            </a:r>
          </a:p>
          <a:p xmlns:a="http://schemas.openxmlformats.org/drawingml/2006/main">
            <a:r>
              <a:t/>
            </a:r>
          </a:p>
          <a:p xmlns:a="http://schemas.openxmlformats.org/drawingml/2006/main">
            <a:r>
              <a:t>- more true positives may be found;</a:t>
            </a:r>
          </a:p>
          <a:p xmlns:a="http://schemas.openxmlformats.org/drawingml/2006/main">
            <a:r>
              <a:t>- more false positives may also be created.</a:t>
            </a:r>
          </a:p>
          <a:p xmlns:a="http://schemas.openxmlformats.org/drawingml/2006/main">
            <a:r>
              <a:t/>
            </a:r>
          </a:p>
          <a:p xmlns:a="http://schemas.openxmlformats.org/drawingml/2006/main">
            <a:r>
              <a:t>Raising the threshold usually predicts fewer positives. Choose thresholds using validation data and real error costs, then evaluate the locked choice on test data.</a:t>
            </a:r>
          </a:p>
          <a:p xmlns:a="http://schemas.openxmlformats.org/drawingml/2006/main">
            <a:r>
              <a:t/>
            </a:r>
          </a:p>
          <a:p xmlns:a="http://schemas.openxmlformats.org/drawingml/2006/main">
            <a:r>
              <a:t>[Worked Example]</a:t>
            </a:r>
          </a:p>
          <a:p xmlns:a="http://schemas.openxmlformats.org/drawingml/2006/main">
            <a:r>
              <a:t>Probabilities `[0.90, 0.70, 0.40, 0.20]`</a:t>
            </a:r>
          </a:p>
          <a:p xmlns:a="http://schemas.openxmlformats.org/drawingml/2006/main">
            <a:r>
              <a:t/>
            </a:r>
          </a:p>
          <a:p xmlns:a="http://schemas.openxmlformats.org/drawingml/2006/main">
            <a:r>
              <a:t>At `0.50`: predictions `[1,1,0,0]`  </a:t>
            </a:r>
          </a:p>
          <a:p xmlns:a="http://schemas.openxmlformats.org/drawingml/2006/main">
            <a:r>
              <a:t>At `0.30`: predictions `[1,1,1,0]`</a:t>
            </a:r>
          </a:p>
          <a:p xmlns:a="http://schemas.openxmlformats.org/drawingml/2006/main">
            <a:r>
              <a:t/>
            </a:r>
          </a:p>
          <a:p xmlns:a="http://schemas.openxmlformats.org/drawingml/2006/main">
            <a:r>
              <a:t>Only the third decision changes.</a:t>
            </a:r>
          </a:p>
          <a:p xmlns:a="http://schemas.openxmlformats.org/drawingml/2006/main">
            <a:r>
              <a:t/>
            </a:r>
          </a:p>
          <a:p xmlns:a="http://schemas.openxmlformats.org/drawingml/2006/main">
            <a:r>
              <a:t>[Visual Brief]</a:t>
            </a:r>
          </a:p>
          <a:p xmlns:a="http://schemas.openxmlformats.org/drawingml/2006/main">
            <a:r>
              <a:t>Four probability markers sit on a scale. Moving the threshold from 0.50 to 0.30 changes one class assignment.</a:t>
            </a:r>
          </a:p>
          <a:p xmlns:a="http://schemas.openxmlformats.org/drawingml/2006/main">
            <a:r>
              <a:t/>
            </a:r>
          </a:p>
          <a:p xmlns:a="http://schemas.openxmlformats.org/drawingml/2006/main">
            <a:r>
              <a:t>[Instructor Notes]</a:t>
            </a:r>
          </a:p>
          <a:p xmlns:a="http://schemas.openxmlformats.org/drawingml/2006/main">
            <a:r>
              <a:t>Do not describe 0.50 as universally correct. Ask what happens when false negatives are more costly.</a:t>
            </a:r>
          </a:p>
          <a:p xmlns:a="http://schemas.openxmlformats.org/drawingml/2006/main">
            <a:r>
              <a:t/>
            </a:r>
          </a:p>
          <a:p xmlns:a="http://schemas.openxmlformats.org/drawingml/2006/main">
            <a:r>
              <a:t>[Notebook Connection]</a:t>
            </a:r>
          </a:p>
          <a:p xmlns:a="http://schemas.openxmlformats.org/drawingml/2006/main">
            <a:r>
              <a:t>The notebook's ROC and confusion-matrix sections evaluate decisions across thresholds.</a:t>
            </a:r>
          </a:p>
          <a:p xmlns:a="http://schemas.openxmlformats.org/drawingml/2006/main">
            <a:r>
              <a:t/>
            </a:r>
          </a:p>
          <a:p xmlns:a="http://schemas.openxmlformats.org/drawingml/2006/main">
            <a:r>
              <a:t>[Sources]</a:t>
            </a:r>
          </a:p>
          <a:p xmlns:a="http://schemas.openxmlformats.org/drawingml/2006/main">
            <a:r>
              <a:t>- https://scikit-learn.org/stable/modules/classification_threshold.html</a:t>
            </a:r>
          </a:p>
          <a:p xmlns:a="http://schemas.openxmlformats.org/drawingml/2006/main">
            <a:r>
              <a:t>- https://scikit-learn.org/stable/auto_examples/model_selection/plot_precision_recall.html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binary classification:</a:t>
            </a:r>
          </a:p>
          <a:p xmlns:a="http://schemas.openxmlformats.org/drawingml/2006/main">
            <a:r>
              <a:t/>
            </a:r>
          </a:p>
          <a:p xmlns:a="http://schemas.openxmlformats.org/drawingml/2006/main">
            <a:r>
              <a:t>- **True positive (TP):** actual positive, predicted positive</a:t>
            </a:r>
          </a:p>
          <a:p xmlns:a="http://schemas.openxmlformats.org/drawingml/2006/main">
            <a:r>
              <a:t>- **False positive (FP):** actual negative, predicted positive</a:t>
            </a:r>
          </a:p>
          <a:p xmlns:a="http://schemas.openxmlformats.org/drawingml/2006/main">
            <a:r>
              <a:t>- **False negative (FN):** actual positive, predicted negative</a:t>
            </a:r>
          </a:p>
          <a:p xmlns:a="http://schemas.openxmlformats.org/drawingml/2006/main">
            <a:r>
              <a:t>- **True negative (TN):** actual negative, predicted negative</a:t>
            </a:r>
          </a:p>
          <a:p xmlns:a="http://schemas.openxmlformats.org/drawingml/2006/main">
            <a:r>
              <a:t/>
            </a:r>
          </a:p>
          <a:p xmlns:a="http://schemas.openxmlformats.org/drawingml/2006/main">
            <a:r>
              <a:t>“Positive” is the class being detected. True/false says whether the prediction is correct; positive/negative says which class was predicted.</a:t>
            </a:r>
          </a:p>
          <a:p xmlns:a="http://schemas.openxmlformats.org/drawingml/2006/main">
            <a:r>
              <a:t/>
            </a:r>
          </a:p>
          <a:p xmlns:a="http://schemas.openxmlformats.org/drawingml/2006/main">
            <a:r>
              <a:t>[Worked Example]</a:t>
            </a:r>
          </a:p>
          <a:p xmlns:a="http://schemas.openxmlformats.org/drawingml/2006/main">
            <a:r>
              <a:t>Actual `[1,1,1,0,0,0]`  </a:t>
            </a:r>
          </a:p>
          <a:p xmlns:a="http://schemas.openxmlformats.org/drawingml/2006/main">
            <a:r>
              <a:t>Predicted `[1,0,1,1,0,0]`</a:t>
            </a:r>
          </a:p>
          <a:p xmlns:a="http://schemas.openxmlformats.org/drawingml/2006/main">
            <a:r>
              <a:t/>
            </a:r>
          </a:p>
          <a:p xmlns:a="http://schemas.openxmlformats.org/drawingml/2006/main">
            <a:r>
              <a:t>TP `= 2`  </a:t>
            </a:r>
          </a:p>
          <a:p xmlns:a="http://schemas.openxmlformats.org/drawingml/2006/main">
            <a:r>
              <a:t>FN `= 1`  </a:t>
            </a:r>
          </a:p>
          <a:p xmlns:a="http://schemas.openxmlformats.org/drawingml/2006/main">
            <a:r>
              <a:t>FP `= 1`  </a:t>
            </a:r>
          </a:p>
          <a:p xmlns:a="http://schemas.openxmlformats.org/drawingml/2006/main">
            <a:r>
              <a:t>TN `= 2`</a:t>
            </a:r>
          </a:p>
          <a:p xmlns:a="http://schemas.openxmlformats.org/drawingml/2006/main">
            <a:r>
              <a:t/>
            </a:r>
          </a:p>
          <a:p xmlns:a="http://schemas.openxmlformats.org/drawingml/2006/main">
            <a:r>
              <a:t>Total `= 6`.</a:t>
            </a:r>
          </a:p>
          <a:p xmlns:a="http://schemas.openxmlformats.org/drawingml/2006/main">
            <a:r>
              <a:t/>
            </a:r>
          </a:p>
          <a:p xmlns:a="http://schemas.openxmlformats.org/drawingml/2006/main">
            <a:r>
              <a:t>[Visual Brief]</a:t>
            </a:r>
          </a:p>
          <a:p xmlns:a="http://schemas.openxmlformats.org/drawingml/2006/main">
            <a:r>
              <a:t>A 2-by-2 matrix labels actual rows and predicted columns, with TN/FP/FN/TP positions and counts.</a:t>
            </a:r>
          </a:p>
          <a:p xmlns:a="http://schemas.openxmlformats.org/drawingml/2006/main">
            <a:r>
              <a:t/>
            </a:r>
          </a:p>
          <a:p xmlns:a="http://schemas.openxmlformats.org/drawingml/2006/main">
            <a:r>
              <a:t>[Instructor Notes]</a:t>
            </a:r>
          </a:p>
          <a:p xmlns:a="http://schemas.openxmlformats.org/drawingml/2006/main">
            <a:r>
              <a:t>State scikit-learn's default label order `[0,1]`. Have learners classify each observation before counting.</a:t>
            </a:r>
          </a:p>
          <a:p xmlns:a="http://schemas.openxmlformats.org/drawingml/2006/main">
            <a:r>
              <a:t/>
            </a:r>
          </a:p>
          <a:p xmlns:a="http://schemas.openxmlformats.org/drawingml/2006/main">
            <a:r>
              <a:t>[Notebook Connection]</a:t>
            </a:r>
          </a:p>
          <a:p xmlns:a="http://schemas.openxmlformats.org/drawingml/2006/main">
            <a:r>
              <a:t>All thresholded classification metrics can be traced back to these four counts.</a:t>
            </a:r>
          </a:p>
          <a:p xmlns:a="http://schemas.openxmlformats.org/drawingml/2006/main">
            <a:r>
              <a:t/>
            </a:r>
          </a:p>
          <a:p xmlns:a="http://schemas.openxmlformats.org/drawingml/2006/main">
            <a:r>
              <a:t>[Sources]</a:t>
            </a:r>
          </a:p>
          <a:p xmlns:a="http://schemas.openxmlformats.org/drawingml/2006/main">
            <a:r>
              <a:t>- https://scikit-learn.org/stable/modules/generated/sklearn.metrics.confusion_matrix.html</a:t>
            </a:r>
          </a:p>
          <a:p xmlns:a="http://schemas.openxmlformats.org/drawingml/2006/main">
            <a:r>
              <a:t>- https://github.com/curiousily/AI-Bootcamp/blob/master/04.model-evaluation-techniques.ipynb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`accuracy = (TP + TN) / (TP + TN + FP + FN)`</a:t>
            </a:r>
          </a:p>
          <a:p xmlns:a="http://schemas.openxmlformats.org/drawingml/2006/main">
            <a:r>
              <a:t/>
            </a:r>
          </a:p>
          <a:p xmlns:a="http://schemas.openxmlformats.org/drawingml/2006/main">
            <a:r>
              <a:t>Accuracy answers: “What fraction of all predictions were correct?”</a:t>
            </a:r>
          </a:p>
          <a:p xmlns:a="http://schemas.openxmlformats.org/drawingml/2006/main">
            <a:r>
              <a:t/>
            </a:r>
          </a:p>
          <a:p xmlns:a="http://schemas.openxmlformats.org/drawingml/2006/main">
            <a:r>
              <a:t>It treats all rows and both error types equally. It can look strong when one class dominates, even if the minority class is never detected.</a:t>
            </a:r>
          </a:p>
          <a:p xmlns:a="http://schemas.openxmlformats.org/drawingml/2006/main">
            <a:r>
              <a:t/>
            </a:r>
          </a:p>
          <a:p xmlns:a="http://schemas.openxmlformats.org/drawingml/2006/main">
            <a:r>
              <a:t>Always compare with class balance and a simple baseline.</a:t>
            </a:r>
          </a:p>
          <a:p xmlns:a="http://schemas.openxmlformats.org/drawingml/2006/main">
            <a:r>
              <a:t/>
            </a:r>
          </a:p>
          <a:p xmlns:a="http://schemas.openxmlformats.org/drawingml/2006/main">
            <a:r>
              <a:t>[Worked Example]</a:t>
            </a:r>
          </a:p>
          <a:p xmlns:a="http://schemas.openxmlformats.org/drawingml/2006/main">
            <a:r>
              <a:t>From TP `2`, TN `2`, FP `1`, FN `1`:</a:t>
            </a:r>
          </a:p>
          <a:p xmlns:a="http://schemas.openxmlformats.org/drawingml/2006/main">
            <a:r>
              <a:t/>
            </a:r>
          </a:p>
          <a:p xmlns:a="http://schemas.openxmlformats.org/drawingml/2006/main">
            <a:r>
              <a:t>`accuracy = (2 + 2) / 6 = 4/6 = 0.667`</a:t>
            </a:r>
          </a:p>
          <a:p xmlns:a="http://schemas.openxmlformats.org/drawingml/2006/main">
            <a:r>
              <a:t/>
            </a:r>
          </a:p>
          <a:p xmlns:a="http://schemas.openxmlformats.org/drawingml/2006/main">
            <a:r>
              <a:t>For 95 negatives and 5 positives, always predicting negative gives `95%` accuracy and `0` true positives.</a:t>
            </a:r>
          </a:p>
          <a:p xmlns:a="http://schemas.openxmlformats.org/drawingml/2006/main">
            <a:r>
              <a:t/>
            </a:r>
          </a:p>
          <a:p xmlns:a="http://schemas.openxmlformats.org/drawingml/2006/main">
            <a:r>
              <a:t>[Visual Brief]</a:t>
            </a:r>
          </a:p>
          <a:p xmlns:a="http://schemas.openxmlformats.org/drawingml/2006/main">
            <a:r>
              <a:t>Four correct cells are highlighted among six. A second imbalanced grid shows high accuracy with every positive missed.</a:t>
            </a:r>
          </a:p>
          <a:p xmlns:a="http://schemas.openxmlformats.org/drawingml/2006/main">
            <a:r>
              <a:t/>
            </a:r>
          </a:p>
          <a:p xmlns:a="http://schemas.openxmlformats.org/drawingml/2006/main">
            <a:r>
              <a:t>[Instructor Notes]</a:t>
            </a:r>
          </a:p>
          <a:p xmlns:a="http://schemas.openxmlformats.org/drawingml/2006/main">
            <a:r>
              <a:t>Do not ban accuracy; teach when its assumptions are inappropriate.</a:t>
            </a:r>
          </a:p>
          <a:p xmlns:a="http://schemas.openxmlformats.org/drawingml/2006/main">
            <a:r>
              <a:t/>
            </a:r>
          </a:p>
          <a:p xmlns:a="http://schemas.openxmlformats.org/drawingml/2006/main">
            <a:r>
              <a:t>[Notebook Connection]</a:t>
            </a:r>
          </a:p>
          <a:p xmlns:a="http://schemas.openxmlformats.org/drawingml/2006/main">
            <a:r>
              <a:t>Learners will calculate accuracy beside precision, recall, and the class distribution.</a:t>
            </a:r>
          </a:p>
          <a:p xmlns:a="http://schemas.openxmlformats.org/drawingml/2006/main">
            <a:r>
              <a:t/>
            </a:r>
          </a:p>
          <a:p xmlns:a="http://schemas.openxmlformats.org/drawingml/2006/main">
            <a:r>
              <a:t>[Sources]</a:t>
            </a:r>
          </a:p>
          <a:p xmlns:a="http://schemas.openxmlformats.org/drawingml/2006/main">
            <a:r>
              <a:t>- https://scikit-learn.org/stable/modules/generated/sklearn.metrics.accuracy_score.html</a:t>
            </a:r>
          </a:p>
          <a:p xmlns:a="http://schemas.openxmlformats.org/drawingml/2006/main">
            <a:r>
              <a:t>- https://scikit-learn.org/stable/modules/generated/sklearn.dummy.DummyClassifier.html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`precision = TP / (TP + FP)`</a:t>
            </a:r>
          </a:p>
          <a:p xmlns:a="http://schemas.openxmlformats.org/drawingml/2006/main">
            <a:r>
              <a:t/>
            </a:r>
          </a:p>
          <a:p xmlns:a="http://schemas.openxmlformats.org/drawingml/2006/main">
            <a:r>
              <a:t>Precision asks: “Of predicted positives, how many were actually positive?”</a:t>
            </a:r>
          </a:p>
          <a:p xmlns:a="http://schemas.openxmlformats.org/drawingml/2006/main">
            <a:r>
              <a:t/>
            </a:r>
          </a:p>
          <a:p xmlns:a="http://schemas.openxmlformats.org/drawingml/2006/main">
            <a:r>
              <a:t>`recall = TP / (TP + FN)`</a:t>
            </a:r>
          </a:p>
          <a:p xmlns:a="http://schemas.openxmlformats.org/drawingml/2006/main">
            <a:r>
              <a:t/>
            </a:r>
          </a:p>
          <a:p xmlns:a="http://schemas.openxmlformats.org/drawingml/2006/main">
            <a:r>
              <a:t>Recall asks: “Of actual positives, how many did we find?”</a:t>
            </a:r>
          </a:p>
          <a:p xmlns:a="http://schemas.openxmlformats.org/drawingml/2006/main">
            <a:r>
              <a:t/>
            </a:r>
          </a:p>
          <a:p xmlns:a="http://schemas.openxmlformats.org/drawingml/2006/main">
            <a:r>
              <a:t>High precision limits false alarms. High recall limits missed positives. Neither alone describes the complete system.</a:t>
            </a:r>
          </a:p>
          <a:p xmlns:a="http://schemas.openxmlformats.org/drawingml/2006/main">
            <a:r>
              <a:t/>
            </a:r>
          </a:p>
          <a:p xmlns:a="http://schemas.openxmlformats.org/drawingml/2006/main">
            <a:r>
              <a:t>[Worked Example]</a:t>
            </a:r>
          </a:p>
          <a:p xmlns:a="http://schemas.openxmlformats.org/drawingml/2006/main">
            <a:r>
              <a:t>TP `= 8`, FP `= 2`, FN `= 4`</a:t>
            </a:r>
          </a:p>
          <a:p xmlns:a="http://schemas.openxmlformats.org/drawingml/2006/main">
            <a:r>
              <a:t/>
            </a:r>
          </a:p>
          <a:p xmlns:a="http://schemas.openxmlformats.org/drawingml/2006/main">
            <a:r>
              <a:t>Precision:</a:t>
            </a:r>
          </a:p>
          <a:p xmlns:a="http://schemas.openxmlformats.org/drawingml/2006/main">
            <a:r>
              <a:t/>
            </a:r>
          </a:p>
          <a:p xmlns:a="http://schemas.openxmlformats.org/drawingml/2006/main">
            <a:r>
              <a:t>`8 / (8 + 2) = 8/10 = 0.80`</a:t>
            </a:r>
          </a:p>
          <a:p xmlns:a="http://schemas.openxmlformats.org/drawingml/2006/main">
            <a:r>
              <a:t/>
            </a:r>
          </a:p>
          <a:p xmlns:a="http://schemas.openxmlformats.org/drawingml/2006/main">
            <a:r>
              <a:t>Recall:</a:t>
            </a:r>
          </a:p>
          <a:p xmlns:a="http://schemas.openxmlformats.org/drawingml/2006/main">
            <a:r>
              <a:t/>
            </a:r>
          </a:p>
          <a:p xmlns:a="http://schemas.openxmlformats.org/drawingml/2006/main">
            <a:r>
              <a:t>`8 / (8 + 4) = 8/12 = 0.667`</a:t>
            </a:r>
          </a:p>
          <a:p xmlns:a="http://schemas.openxmlformats.org/drawingml/2006/main">
            <a:r>
              <a:t/>
            </a:r>
          </a:p>
          <a:p xmlns:a="http://schemas.openxmlformats.org/drawingml/2006/main">
            <a:r>
              <a:t>[Visual Brief]</a:t>
            </a:r>
          </a:p>
          <a:p xmlns:a="http://schemas.openxmlformats.org/drawingml/2006/main">
            <a:r>
              <a:t>Precision zooms into the predicted-positive column; recall zooms into the actual-positive row.</a:t>
            </a:r>
          </a:p>
          <a:p xmlns:a="http://schemas.openxmlformats.org/drawingml/2006/main">
            <a:r>
              <a:t/>
            </a:r>
          </a:p>
          <a:p xmlns:a="http://schemas.openxmlformats.org/drawingml/2006/main">
            <a:r>
              <a:t>[Instructor Notes]</a:t>
            </a:r>
          </a:p>
          <a:p xmlns:a="http://schemas.openxmlformats.org/drawingml/2006/main">
            <a:r>
              <a:t>Use the phrases “predicted positives” and “actual positives” repeatedly until learners can reconstruct the formulas.</a:t>
            </a:r>
          </a:p>
          <a:p xmlns:a="http://schemas.openxmlformats.org/drawingml/2006/main">
            <a:r>
              <a:t/>
            </a:r>
          </a:p>
          <a:p xmlns:a="http://schemas.openxmlformats.org/drawingml/2006/main">
            <a:r>
              <a:t>[Notebook Connection]</a:t>
            </a:r>
          </a:p>
          <a:p xmlns:a="http://schemas.openxmlformats.org/drawingml/2006/main">
            <a:r>
              <a:t>The classification report contains precision and recall for each class.</a:t>
            </a:r>
          </a:p>
          <a:p xmlns:a="http://schemas.openxmlformats.org/drawingml/2006/main">
            <a:r>
              <a:t/>
            </a:r>
          </a:p>
          <a:p xmlns:a="http://schemas.openxmlformats.org/drawingml/2006/main">
            <a:r>
              <a:t>[Sources]</a:t>
            </a:r>
          </a:p>
          <a:p xmlns:a="http://schemas.openxmlformats.org/drawingml/2006/main">
            <a:r>
              <a:t>- https://scikit-learn.org/stable/modules/generated/sklearn.metrics.precision_score.html</a:t>
            </a:r>
          </a:p>
          <a:p xmlns:a="http://schemas.openxmlformats.org/drawingml/2006/main">
            <a:r>
              <a:t>- https://scikit-learn.org/stable/modules/generated/sklearn.metrics.recall_score.html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F1 score is the harmonic mean of precision and recall:</a:t>
            </a:r>
          </a:p>
          <a:p xmlns:a="http://schemas.openxmlformats.org/drawingml/2006/main">
            <a:r>
              <a:t/>
            </a:r>
          </a:p>
          <a:p xmlns:a="http://schemas.openxmlformats.org/drawingml/2006/main">
            <a:r>
              <a:t>`F1 = 2 x (precision x recall) / (precision + recall)`</a:t>
            </a:r>
          </a:p>
          <a:p xmlns:a="http://schemas.openxmlformats.org/drawingml/2006/main">
            <a:r>
              <a:t/>
            </a:r>
          </a:p>
          <a:p xmlns:a="http://schemas.openxmlformats.org/drawingml/2006/main">
            <a:r>
              <a:t>F1 is high only when both precision and recall are high. It ignores true negatives, so it should be chosen because positive-class detection matters, not simply because it is popular.</a:t>
            </a:r>
          </a:p>
          <a:p xmlns:a="http://schemas.openxmlformats.org/drawingml/2006/main">
            <a:r>
              <a:t/>
            </a:r>
          </a:p>
          <a:p xmlns:a="http://schemas.openxmlformats.org/drawingml/2006/main">
            <a:r>
              <a:t>For multiclass data, macro, micro, and weighted averaging answer different questions.</a:t>
            </a:r>
          </a:p>
          <a:p xmlns:a="http://schemas.openxmlformats.org/drawingml/2006/main">
            <a:r>
              <a:t/>
            </a:r>
          </a:p>
          <a:p xmlns:a="http://schemas.openxmlformats.org/drawingml/2006/main">
            <a:r>
              <a:t>[Worked Example]</a:t>
            </a:r>
          </a:p>
          <a:p xmlns:a="http://schemas.openxmlformats.org/drawingml/2006/main">
            <a:r>
              <a:t>Precision `0.80`, recall `0.667`</a:t>
            </a:r>
          </a:p>
          <a:p xmlns:a="http://schemas.openxmlformats.org/drawingml/2006/main">
            <a:r>
              <a:t/>
            </a:r>
          </a:p>
          <a:p xmlns:a="http://schemas.openxmlformats.org/drawingml/2006/main">
            <a:r>
              <a:t>`F1 = 2(0.80 x 0.667) / (0.80 + 0.667)`  </a:t>
            </a:r>
          </a:p>
          <a:p xmlns:a="http://schemas.openxmlformats.org/drawingml/2006/main">
            <a:r>
              <a:t>`= 1.0672 / 1.467`  </a:t>
            </a:r>
          </a:p>
          <a:p xmlns:a="http://schemas.openxmlformats.org/drawingml/2006/main">
            <a:r>
              <a:t>`≈ 0.727`</a:t>
            </a:r>
          </a:p>
          <a:p xmlns:a="http://schemas.openxmlformats.org/drawingml/2006/main">
            <a:r>
              <a:t/>
            </a:r>
          </a:p>
          <a:p xmlns:a="http://schemas.openxmlformats.org/drawingml/2006/main">
            <a:r>
              <a:t>[Visual Brief]</a:t>
            </a:r>
          </a:p>
          <a:p xmlns:a="http://schemas.openxmlformats.org/drawingml/2006/main">
            <a:r>
              <a:t>Precision and recall feed into the F1 equation. A comparison shows that one low input keeps F1 low.</a:t>
            </a:r>
          </a:p>
          <a:p xmlns:a="http://schemas.openxmlformats.org/drawingml/2006/main">
            <a:r>
              <a:t/>
            </a:r>
          </a:p>
          <a:p xmlns:a="http://schemas.openxmlformats.org/drawingml/2006/main">
            <a:r>
              <a:t>[Instructor Notes]</a:t>
            </a:r>
          </a:p>
          <a:p xmlns:a="http://schemas.openxmlformats.org/drawingml/2006/main">
            <a:r>
              <a:t>Explain why F1 is not an average of all four confusion-matrix cells.</a:t>
            </a:r>
          </a:p>
          <a:p xmlns:a="http://schemas.openxmlformats.org/drawingml/2006/main">
            <a:r>
              <a:t/>
            </a:r>
          </a:p>
          <a:p xmlns:a="http://schemas.openxmlformats.org/drawingml/2006/main">
            <a:r>
              <a:t>[Notebook Connection]</a:t>
            </a:r>
          </a:p>
          <a:p xmlns:a="http://schemas.openxmlformats.org/drawingml/2006/main">
            <a:r>
              <a:t>Learners should state the averaging method used in multiclass reports.</a:t>
            </a:r>
          </a:p>
          <a:p xmlns:a="http://schemas.openxmlformats.org/drawingml/2006/main">
            <a:r>
              <a:t/>
            </a:r>
          </a:p>
          <a:p xmlns:a="http://schemas.openxmlformats.org/drawingml/2006/main">
            <a:r>
              <a:t>[Sources]</a:t>
            </a:r>
          </a:p>
          <a:p xmlns:a="http://schemas.openxmlformats.org/drawingml/2006/main">
            <a:r>
              <a:t>- https://scikit-learn.org/stable/modules/generated/sklearn.metrics.f1_score.html</a:t>
            </a:r>
          </a:p>
          <a:p xmlns:a="http://schemas.openxmlformats.org/drawingml/2006/main">
            <a:r>
              <a:t>- https://scikit-learn.org/stable/modules/generated/sklearn.metrics.classification_report.html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ROC curve plots:</a:t>
            </a:r>
          </a:p>
          <a:p xmlns:a="http://schemas.openxmlformats.org/drawingml/2006/main">
            <a:r>
              <a:t/>
            </a:r>
          </a:p>
          <a:p xmlns:a="http://schemas.openxmlformats.org/drawingml/2006/main">
            <a:r>
              <a:t>- true positive rate, which equals recall;</a:t>
            </a:r>
          </a:p>
          <a:p xmlns:a="http://schemas.openxmlformats.org/drawingml/2006/main">
            <a:r>
              <a:t>- false positive rate `FP / (FP + TN)`;</a:t>
            </a:r>
          </a:p>
          <a:p xmlns:a="http://schemas.openxmlformats.org/drawingml/2006/main">
            <a:r>
              <a:t>- across many thresholds.</a:t>
            </a:r>
          </a:p>
          <a:p xmlns:a="http://schemas.openxmlformats.org/drawingml/2006/main">
            <a:r>
              <a:t/>
            </a:r>
          </a:p>
          <a:p xmlns:a="http://schemas.openxmlformats.org/drawingml/2006/main">
            <a:r>
              <a:t>**ROC-AUC** is the area under that curve. It summarizes how often a randomly chosen positive receives a higher score than a randomly chosen negative.</a:t>
            </a:r>
          </a:p>
          <a:p xmlns:a="http://schemas.openxmlformats.org/drawingml/2006/main">
            <a:r>
              <a:t/>
            </a:r>
          </a:p>
          <a:p xmlns:a="http://schemas.openxmlformats.org/drawingml/2006/main">
            <a:r>
              <a:t>`0.5` is random ranking; `1.0` is perfect ranking. ROC-AUC does not select an operating threshold and can look optimistic under severe class imbalance.</a:t>
            </a:r>
          </a:p>
          <a:p xmlns:a="http://schemas.openxmlformats.org/drawingml/2006/main">
            <a:r>
              <a:t/>
            </a:r>
          </a:p>
          <a:p xmlns:a="http://schemas.openxmlformats.org/drawingml/2006/main">
            <a:r>
              <a:t>[Worked Example]</a:t>
            </a:r>
          </a:p>
          <a:p xmlns:a="http://schemas.openxmlformats.org/drawingml/2006/main">
            <a:r>
              <a:t>Positive scores `[0.9, 0.7]` and negative scores `[0.6, 0.2]`.</a:t>
            </a:r>
          </a:p>
          <a:p xmlns:a="http://schemas.openxmlformats.org/drawingml/2006/main">
            <a:r>
              <a:t/>
            </a:r>
          </a:p>
          <a:p xmlns:a="http://schemas.openxmlformats.org/drawingml/2006/main">
            <a:r>
              <a:t>Every positive score exceeds every negative except none in this case, so all four positive-negative pairs are correctly ranked. AUC is `1.0`.</a:t>
            </a:r>
          </a:p>
          <a:p xmlns:a="http://schemas.openxmlformats.org/drawingml/2006/main">
            <a:r>
              <a:t/>
            </a:r>
          </a:p>
          <a:p xmlns:a="http://schemas.openxmlformats.org/drawingml/2006/main">
            <a:r>
              <a:t>[Visual Brief]</a:t>
            </a:r>
          </a:p>
          <a:p xmlns:a="http://schemas.openxmlformats.org/drawingml/2006/main">
            <a:r>
              <a:t>A ROC plot shows diagonal random ranking and a curve above it. A note separates ranking quality from threshold choice.</a:t>
            </a:r>
          </a:p>
          <a:p xmlns:a="http://schemas.openxmlformats.org/drawingml/2006/main">
            <a:r>
              <a:t/>
            </a:r>
          </a:p>
          <a:p xmlns:a="http://schemas.openxmlformats.org/drawingml/2006/main">
            <a:r>
              <a:t>[Instructor Notes]</a:t>
            </a:r>
          </a:p>
          <a:p xmlns:a="http://schemas.openxmlformats.org/drawingml/2006/main">
            <a:r>
              <a:t>Use probabilities or decision scores, not hard class labels, for AUC.</a:t>
            </a:r>
          </a:p>
          <a:p xmlns:a="http://schemas.openxmlformats.org/drawingml/2006/main">
            <a:r>
              <a:t/>
            </a:r>
          </a:p>
          <a:p xmlns:a="http://schemas.openxmlformats.org/drawingml/2006/main">
            <a:r>
              <a:t>[Notebook Connection]</a:t>
            </a:r>
          </a:p>
          <a:p xmlns:a="http://schemas.openxmlformats.org/drawingml/2006/main">
            <a:r>
              <a:t>The notebook calculates ROC-AUC from model scores and plots the curve.</a:t>
            </a:r>
          </a:p>
          <a:p xmlns:a="http://schemas.openxmlformats.org/drawingml/2006/main">
            <a:r>
              <a:t/>
            </a:r>
          </a:p>
          <a:p xmlns:a="http://schemas.openxmlformats.org/drawingml/2006/main">
            <a:r>
              <a:t>[Sources]</a:t>
            </a:r>
          </a:p>
          <a:p xmlns:a="http://schemas.openxmlformats.org/drawingml/2006/main">
            <a:r>
              <a:t>- https://scikit-learn.org/stable/modules/generated/sklearn.metrics.roc_auc_score.html</a:t>
            </a:r>
          </a:p>
          <a:p xmlns:a="http://schemas.openxmlformats.org/drawingml/2006/main">
            <a:r>
              <a:t>- https://scikit-learn.org/stable/modules/model_evaluation.html#roc-metrics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multiclass classification, treat each class as positive in turn.</a:t>
            </a:r>
          </a:p>
          <a:p xmlns:a="http://schemas.openxmlformats.org/drawingml/2006/main">
            <a:r>
              <a:t/>
            </a:r>
          </a:p>
          <a:p xmlns:a="http://schemas.openxmlformats.org/drawingml/2006/main">
            <a:r>
              <a:t>- **Macro average:** unweighted mean across classes; each class counts equally.</a:t>
            </a:r>
          </a:p>
          <a:p xmlns:a="http://schemas.openxmlformats.org/drawingml/2006/main">
            <a:r>
              <a:t>- **Weighted average:** class metrics weighted by class support; common classes count more.</a:t>
            </a:r>
          </a:p>
          <a:p xmlns:a="http://schemas.openxmlformats.org/drawingml/2006/main">
            <a:r>
              <a:t>- **Micro average:** combine all decisions before calculating the metric.</a:t>
            </a:r>
          </a:p>
          <a:p xmlns:a="http://schemas.openxmlformats.org/drawingml/2006/main">
            <a:r>
              <a:t>- **Support:** number of actual examples for a class.</a:t>
            </a:r>
          </a:p>
          <a:p xmlns:a="http://schemas.openxmlformats.org/drawingml/2006/main">
            <a:r>
              <a:t/>
            </a:r>
          </a:p>
          <a:p xmlns:a="http://schemas.openxmlformats.org/drawingml/2006/main">
            <a:r>
              <a:t>Always report the averaging rule and inspect class-level results.</a:t>
            </a:r>
          </a:p>
          <a:p xmlns:a="http://schemas.openxmlformats.org/drawingml/2006/main">
            <a:r>
              <a:t/>
            </a:r>
          </a:p>
          <a:p xmlns:a="http://schemas.openxmlformats.org/drawingml/2006/main">
            <a:r>
              <a:t>[Worked Example]</a:t>
            </a:r>
          </a:p>
          <a:p xmlns:a="http://schemas.openxmlformats.org/drawingml/2006/main">
            <a:r>
              <a:t>Class recalls:</a:t>
            </a:r>
          </a:p>
          <a:p xmlns:a="http://schemas.openxmlformats.org/drawingml/2006/main">
            <a:r>
              <a:t/>
            </a:r>
          </a:p>
          <a:p xmlns:a="http://schemas.openxmlformats.org/drawingml/2006/main">
            <a:r>
              <a:t>`A = 0.90`, `B = 0.60`, `C = 0.30`</a:t>
            </a:r>
          </a:p>
          <a:p xmlns:a="http://schemas.openxmlformats.org/drawingml/2006/main">
            <a:r>
              <a:t/>
            </a:r>
          </a:p>
          <a:p xmlns:a="http://schemas.openxmlformats.org/drawingml/2006/main">
            <a:r>
              <a:t>Macro recall:</a:t>
            </a:r>
          </a:p>
          <a:p xmlns:a="http://schemas.openxmlformats.org/drawingml/2006/main">
            <a:r>
              <a:t/>
            </a:r>
          </a:p>
          <a:p xmlns:a="http://schemas.openxmlformats.org/drawingml/2006/main">
            <a:r>
              <a:t>`(0.90 + 0.60 + 0.30) / 3 = 0.60`</a:t>
            </a:r>
          </a:p>
          <a:p xmlns:a="http://schemas.openxmlformats.org/drawingml/2006/main">
            <a:r>
              <a:t/>
            </a:r>
          </a:p>
          <a:p xmlns:a="http://schemas.openxmlformats.org/drawingml/2006/main">
            <a:r>
              <a:t>This gives rare class C equal importance.</a:t>
            </a:r>
          </a:p>
          <a:p xmlns:a="http://schemas.openxmlformats.org/drawingml/2006/main">
            <a:r>
              <a:t/>
            </a:r>
          </a:p>
          <a:p xmlns:a="http://schemas.openxmlformats.org/drawingml/2006/main">
            <a:r>
              <a:t>[Visual Brief]</a:t>
            </a:r>
          </a:p>
          <a:p xmlns:a="http://schemas.openxmlformats.org/drawingml/2006/main">
            <a:r>
              <a:t>Three class-level metric bars flow into macro, weighted, and micro aggregation diagrams.</a:t>
            </a:r>
          </a:p>
          <a:p xmlns:a="http://schemas.openxmlformats.org/drawingml/2006/main">
            <a:r>
              <a:t/>
            </a:r>
          </a:p>
          <a:p xmlns:a="http://schemas.openxmlformats.org/drawingml/2006/main">
            <a:r>
              <a:t>[Instructor Notes]</a:t>
            </a:r>
          </a:p>
          <a:p xmlns:a="http://schemas.openxmlformats.org/drawingml/2006/main">
            <a:r>
              <a:t>Ask which averaging rule aligns with the project's decision priorities.</a:t>
            </a:r>
          </a:p>
          <a:p xmlns:a="http://schemas.openxmlformats.org/drawingml/2006/main">
            <a:r>
              <a:t/>
            </a:r>
          </a:p>
          <a:p xmlns:a="http://schemas.openxmlformats.org/drawingml/2006/main">
            <a:r>
              <a:t>[Notebook Connection]</a:t>
            </a:r>
          </a:p>
          <a:p xmlns:a="http://schemas.openxmlformats.org/drawingml/2006/main">
            <a:r>
              <a:t>Learners should not quote only the final accuracy row from a classification report.</a:t>
            </a:r>
          </a:p>
          <a:p xmlns:a="http://schemas.openxmlformats.org/drawingml/2006/main">
            <a:r>
              <a:t/>
            </a:r>
          </a:p>
          <a:p xmlns:a="http://schemas.openxmlformats.org/drawingml/2006/main">
            <a:r>
              <a:t>[Sources]</a:t>
            </a:r>
          </a:p>
          <a:p xmlns:a="http://schemas.openxmlformats.org/drawingml/2006/main">
            <a:r>
              <a:t>- https://scikit-learn.org/stable/modules/model_evaluation.html#multiclass-and-multilabel-classification</a:t>
            </a:r>
          </a:p>
          <a:p xmlns:a="http://schemas.openxmlformats.org/drawingml/2006/main">
            <a:r>
              <a:t>- https://scikit-learn.org/stable/modules/generated/sklearn.metrics.classification_report.html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**MAE:** mean absolute error</a:t>
            </a:r>
          </a:p>
          <a:p xmlns:a="http://schemas.openxmlformats.org/drawingml/2006/main">
            <a:r>
              <a:t/>
            </a:r>
          </a:p>
          <a:p xmlns:a="http://schemas.openxmlformats.org/drawingml/2006/main">
            <a:r>
              <a:t>`MAE = (1/n) Σ|yi - ŷi|`</a:t>
            </a:r>
          </a:p>
          <a:p xmlns:a="http://schemas.openxmlformats.org/drawingml/2006/main">
            <a:r>
              <a:t/>
            </a:r>
          </a:p>
          <a:p xmlns:a="http://schemas.openxmlformats.org/drawingml/2006/main">
            <a:r>
              <a:t>**RMSE:** square root of mean squared error; gives larger residuals more influence.</a:t>
            </a:r>
          </a:p>
          <a:p xmlns:a="http://schemas.openxmlformats.org/drawingml/2006/main">
            <a:r>
              <a:t/>
            </a:r>
          </a:p>
          <a:p xmlns:a="http://schemas.openxmlformats.org/drawingml/2006/main">
            <a:r>
              <a:t>**R²:** compares squared residuals with variation around the target mean.</a:t>
            </a:r>
          </a:p>
          <a:p xmlns:a="http://schemas.openxmlformats.org/drawingml/2006/main">
            <a:r>
              <a:t/>
            </a:r>
          </a:p>
          <a:p xmlns:a="http://schemas.openxmlformats.org/drawingml/2006/main">
            <a:r>
              <a:t>MAE and RMSE use target units. R² is unitless and can be negative. Always pair a summary metric with residual inspection.</a:t>
            </a:r>
          </a:p>
          <a:p xmlns:a="http://schemas.openxmlformats.org/drawingml/2006/main">
            <a:r>
              <a:t/>
            </a:r>
          </a:p>
          <a:p xmlns:a="http://schemas.openxmlformats.org/drawingml/2006/main">
            <a:r>
              <a:t>[Worked Example]</a:t>
            </a:r>
          </a:p>
          <a:p xmlns:a="http://schemas.openxmlformats.org/drawingml/2006/main">
            <a:r>
              <a:t>Residuals `[2, -4, 1]`</a:t>
            </a:r>
          </a:p>
          <a:p xmlns:a="http://schemas.openxmlformats.org/drawingml/2006/main">
            <a:r>
              <a:t/>
            </a:r>
          </a:p>
          <a:p xmlns:a="http://schemas.openxmlformats.org/drawingml/2006/main">
            <a:r>
              <a:t>MAE: `(2 + 4 + 1) / 3 = 2.33`  </a:t>
            </a:r>
          </a:p>
          <a:p xmlns:a="http://schemas.openxmlformats.org/drawingml/2006/main">
            <a:r>
              <a:t>RMSE: `sqrt((4 + 16 + 1)/3) = sqrt(7) = 2.65`</a:t>
            </a:r>
          </a:p>
          <a:p xmlns:a="http://schemas.openxmlformats.org/drawingml/2006/main">
            <a:r>
              <a:t/>
            </a:r>
          </a:p>
          <a:p xmlns:a="http://schemas.openxmlformats.org/drawingml/2006/main">
            <a:r>
              <a:t>RMSE is larger because it emphasizes the error of `4`.</a:t>
            </a:r>
          </a:p>
          <a:p xmlns:a="http://schemas.openxmlformats.org/drawingml/2006/main">
            <a:r>
              <a:t/>
            </a:r>
          </a:p>
          <a:p xmlns:a="http://schemas.openxmlformats.org/drawingml/2006/main">
            <a:r>
              <a:t>[Visual Brief]</a:t>
            </a:r>
          </a:p>
          <a:p xmlns:a="http://schemas.openxmlformats.org/drawingml/2006/main">
            <a:r>
              <a:t>The same residuals follow absolute-value and square-rooted-squared paths, ending in MAE and RMSE.</a:t>
            </a:r>
          </a:p>
          <a:p xmlns:a="http://schemas.openxmlformats.org/drawingml/2006/main">
            <a:r>
              <a:t/>
            </a:r>
          </a:p>
          <a:p xmlns:a="http://schemas.openxmlformats.org/drawingml/2006/main">
            <a:r>
              <a:t>[Instructor Notes]</a:t>
            </a:r>
          </a:p>
          <a:p xmlns:a="http://schemas.openxmlformats.org/drawingml/2006/main">
            <a:r>
              <a:t>Reinforce that regression metrics do not evaluate class labels and classification metrics do not measure numerical distance.</a:t>
            </a:r>
          </a:p>
          <a:p xmlns:a="http://schemas.openxmlformats.org/drawingml/2006/main">
            <a:r>
              <a:t/>
            </a:r>
          </a:p>
          <a:p xmlns:a="http://schemas.openxmlformats.org/drawingml/2006/main">
            <a:r>
              <a:t>[Notebook Connection]</a:t>
            </a:r>
          </a:p>
          <a:p xmlns:a="http://schemas.openxmlformats.org/drawingml/2006/main">
            <a:r>
              <a:t>The notebook contains separate classification and regression evaluation sections.</a:t>
            </a:r>
          </a:p>
          <a:p xmlns:a="http://schemas.openxmlformats.org/drawingml/2006/main">
            <a:r>
              <a:t/>
            </a:r>
          </a:p>
          <a:p xmlns:a="http://schemas.openxmlformats.org/drawingml/2006/main">
            <a:r>
              <a:t>[Sources]</a:t>
            </a:r>
          </a:p>
          <a:p xmlns:a="http://schemas.openxmlformats.org/drawingml/2006/main">
            <a:r>
              <a:t>- https://scikit-learn.org/stable/modules/model_evaluation.html#regression-metrics</a:t>
            </a:r>
          </a:p>
          <a:p xmlns:a="http://schemas.openxmlformats.org/drawingml/2006/main">
            <a:r>
              <a:t>- https://github.com/curiousily/AI-Bootcamp/blob/master/04.model-evaluation-techniques.ipynb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model report states:</a:t>
            </a:r>
          </a:p>
          <a:p xmlns:a="http://schemas.openxmlformats.org/drawingml/2006/main">
            <a:r>
              <a:t/>
            </a:r>
          </a:p>
          <a:p xmlns:a="http://schemas.openxmlformats.org/drawingml/2006/main">
            <a:r>
              <a:t>1. test population and time period;</a:t>
            </a:r>
          </a:p>
          <a:p xmlns:a="http://schemas.openxmlformats.org/drawingml/2006/main">
            <a:r>
              <a:t>2. class counts or target distribution;</a:t>
            </a:r>
          </a:p>
          <a:p xmlns:a="http://schemas.openxmlformats.org/drawingml/2006/main">
            <a:r>
              <a:t>3. baseline;</a:t>
            </a:r>
          </a:p>
          <a:p xmlns:a="http://schemas.openxmlformats.org/drawingml/2006/main">
            <a:r>
              <a:t>4. locked threshold;</a:t>
            </a:r>
          </a:p>
          <a:p xmlns:a="http://schemas.openxmlformats.org/drawingml/2006/main">
            <a:r>
              <a:t>5. confusion matrix;</a:t>
            </a:r>
          </a:p>
          <a:p xmlns:a="http://schemas.openxmlformats.org/drawingml/2006/main">
            <a:r>
              <a:t>6. selected metrics with reasons;</a:t>
            </a:r>
          </a:p>
          <a:p xmlns:a="http://schemas.openxmlformats.org/drawingml/2006/main">
            <a:r>
              <a:t>7. error examples and group-level results;</a:t>
            </a:r>
          </a:p>
          <a:p xmlns:a="http://schemas.openxmlformats.org/drawingml/2006/main">
            <a:r>
              <a:t>8. probability calibration when probabilities drive decisions;</a:t>
            </a:r>
          </a:p>
          <a:p xmlns:a="http://schemas.openxmlformats.org/drawingml/2006/main">
            <a:r>
              <a:t>9. limitations and uncertainty.</a:t>
            </a:r>
          </a:p>
          <a:p xmlns:a="http://schemas.openxmlformats.org/drawingml/2006/main">
            <a:r>
              <a:t/>
            </a:r>
          </a:p>
          <a:p xmlns:a="http://schemas.openxmlformats.org/drawingml/2006/main">
            <a:r>
              <a:t>A single score without a dataset and decision context is incomplete.</a:t>
            </a:r>
          </a:p>
          <a:p xmlns:a="http://schemas.openxmlformats.org/drawingml/2006/main">
            <a:r>
              <a:t/>
            </a:r>
          </a:p>
          <a:p xmlns:a="http://schemas.openxmlformats.org/drawingml/2006/main">
            <a:r>
              <a:t>[Worked Example]</a:t>
            </a:r>
          </a:p>
          <a:p xmlns:a="http://schemas.openxmlformats.org/drawingml/2006/main">
            <a:r>
              <a:t>Fraud screen:</a:t>
            </a:r>
          </a:p>
          <a:p xmlns:a="http://schemas.openxmlformats.org/drawingml/2006/main">
            <a:r>
              <a:t/>
            </a:r>
          </a:p>
          <a:p xmlns:a="http://schemas.openxmlformats.org/drawingml/2006/main">
            <a:r>
              <a:t>- baseline: always non-fraud;</a:t>
            </a:r>
          </a:p>
          <a:p xmlns:a="http://schemas.openxmlformats.org/drawingml/2006/main">
            <a:r>
              <a:t>- threshold chosen on validation data;</a:t>
            </a:r>
          </a:p>
          <a:p xmlns:a="http://schemas.openxmlformats.org/drawingml/2006/main">
            <a:r>
              <a:t>- report recall because missed fraud matters;</a:t>
            </a:r>
          </a:p>
          <a:p xmlns:a="http://schemas.openxmlformats.org/drawingml/2006/main">
            <a:r>
              <a:t>- report precision because investigations cost time;</a:t>
            </a:r>
          </a:p>
          <a:p xmlns:a="http://schemas.openxmlformats.org/drawingml/2006/main">
            <a:r>
              <a:t>- inspect performance by transaction size and region.</a:t>
            </a:r>
          </a:p>
          <a:p xmlns:a="http://schemas.openxmlformats.org/drawingml/2006/main">
            <a:r>
              <a:t/>
            </a:r>
          </a:p>
          <a:p xmlns:a="http://schemas.openxmlformats.org/drawingml/2006/main">
            <a:r>
              <a:t>[Visual Brief]</a:t>
            </a:r>
          </a:p>
          <a:p xmlns:a="http://schemas.openxmlformats.org/drawingml/2006/main">
            <a:r>
              <a:t>A report layout connects operating context, confusion matrix, metrics, slices, and limitations.</a:t>
            </a:r>
          </a:p>
          <a:p xmlns:a="http://schemas.openxmlformats.org/drawingml/2006/main">
            <a:r>
              <a:t/>
            </a:r>
          </a:p>
          <a:p xmlns:a="http://schemas.openxmlformats.org/drawingml/2006/main">
            <a:r>
              <a:t>[Instructor Notes]</a:t>
            </a:r>
          </a:p>
          <a:p xmlns:a="http://schemas.openxmlformats.org/drawingml/2006/main">
            <a:r>
              <a:t>Ask what decision changes if the threshold moves. Require a reason for every selected metric.</a:t>
            </a:r>
          </a:p>
          <a:p xmlns:a="http://schemas.openxmlformats.org/drawingml/2006/main">
            <a:r>
              <a:t/>
            </a:r>
          </a:p>
          <a:p xmlns:a="http://schemas.openxmlformats.org/drawingml/2006/main">
            <a:r>
              <a:t>[Notebook Connection]</a:t>
            </a:r>
          </a:p>
          <a:p xmlns:a="http://schemas.openxmlformats.org/drawingml/2006/main">
            <a:r>
              <a:t>Learners should turn notebook metric outputs into a decision-oriented evaluation report.</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 https://scikit-learn.org/stable/modules/calibration.html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one binary classifier:</a:t>
            </a:r>
          </a:p>
          <a:p xmlns:a="http://schemas.openxmlformats.org/drawingml/2006/main">
            <a:r>
              <a:t/>
            </a:r>
          </a:p>
          <a:p xmlns:a="http://schemas.openxmlformats.org/drawingml/2006/main">
            <a:r>
              <a:t>1. identify the positive class;</a:t>
            </a:r>
          </a:p>
          <a:p xmlns:a="http://schemas.openxmlformats.org/drawingml/2006/main">
            <a:r>
              <a:t>2. generate probabilities and choose a validation threshold;</a:t>
            </a:r>
          </a:p>
          <a:p xmlns:a="http://schemas.openxmlformats.org/drawingml/2006/main">
            <a:r>
              <a:t>3. calculate TP, FP, FN, and TN by hand;</a:t>
            </a:r>
          </a:p>
          <a:p xmlns:a="http://schemas.openxmlformats.org/drawingml/2006/main">
            <a:r>
              <a:t>4. calculate accuracy, precision, recall, and F1;</a:t>
            </a:r>
          </a:p>
          <a:p xmlns:a="http://schemas.openxmlformats.org/drawingml/2006/main">
            <a:r>
              <a:t>5. compare hand results with scikit-learn;</a:t>
            </a:r>
          </a:p>
          <a:p xmlns:a="http://schemas.openxmlformats.org/drawingml/2006/main">
            <a:r>
              <a:t>6. calculate ROC-AUC from scores;</a:t>
            </a:r>
          </a:p>
          <a:p xmlns:a="http://schemas.openxmlformats.org/drawingml/2006/main">
            <a:r>
              <a:t>7. compare with a majority-class baseline;</a:t>
            </a:r>
          </a:p>
          <a:p xmlns:a="http://schemas.openxmlformats.org/drawingml/2006/main">
            <a:r>
              <a:t>8. explain which error is more costly;</a:t>
            </a:r>
          </a:p>
          <a:p xmlns:a="http://schemas.openxmlformats.org/drawingml/2006/main">
            <a:r>
              <a:t>9. report one group-level check.</a:t>
            </a:r>
          </a:p>
          <a:p xmlns:a="http://schemas.openxmlformats.org/drawingml/2006/main">
            <a:r>
              <a:t/>
            </a:r>
          </a:p>
          <a:p xmlns:a="http://schemas.openxmlformats.org/drawingml/2006/main">
            <a:r>
              <a:t>Also calculate MAE, RMSE, and R² for a separate regression example.</a:t>
            </a:r>
          </a:p>
          <a:p xmlns:a="http://schemas.openxmlformats.org/drawingml/2006/main">
            <a:r>
              <a:t/>
            </a:r>
          </a:p>
          <a:p xmlns:a="http://schemas.openxmlformats.org/drawingml/2006/main">
            <a:r>
              <a:t>[Worked Example]</a:t>
            </a:r>
          </a:p>
          <a:p xmlns:a="http://schemas.openxmlformats.org/drawingml/2006/main">
            <a:r>
              <a:t>For TP `8`, FP `2`, FN `4`, TN `6`:</a:t>
            </a:r>
          </a:p>
          <a:p xmlns:a="http://schemas.openxmlformats.org/drawingml/2006/main">
            <a:r>
              <a:t/>
            </a:r>
          </a:p>
          <a:p xmlns:a="http://schemas.openxmlformats.org/drawingml/2006/main">
            <a:r>
              <a:t>Accuracy `= 14/20 = 0.70`  </a:t>
            </a:r>
          </a:p>
          <a:p xmlns:a="http://schemas.openxmlformats.org/drawingml/2006/main">
            <a:r>
              <a:t>Precision `= 8/10 = 0.80`  </a:t>
            </a:r>
          </a:p>
          <a:p xmlns:a="http://schemas.openxmlformats.org/drawingml/2006/main">
            <a:r>
              <a:t>Recall `= 8/12 = 0.667`  </a:t>
            </a:r>
          </a:p>
          <a:p xmlns:a="http://schemas.openxmlformats.org/drawingml/2006/main">
            <a:r>
              <a:t>F1 `≈ 0.727`</a:t>
            </a:r>
          </a:p>
          <a:p xmlns:a="http://schemas.openxmlformats.org/drawingml/2006/main">
            <a:r>
              <a:t/>
            </a:r>
          </a:p>
          <a:p xmlns:a="http://schemas.openxmlformats.org/drawingml/2006/main">
            <a:r>
              <a:t>[Visual Brief]</a:t>
            </a:r>
          </a:p>
          <a:p xmlns:a="http://schemas.openxmlformats.org/drawingml/2006/main">
            <a:r>
              <a:t>A lab flow moves from probabilities to threshold, confusion matrix, hand calculations, library verification, and decision recommendation.</a:t>
            </a:r>
          </a:p>
          <a:p xmlns:a="http://schemas.openxmlformats.org/drawingml/2006/main">
            <a:r>
              <a:t/>
            </a:r>
          </a:p>
          <a:p xmlns:a="http://schemas.openxmlformats.org/drawingml/2006/main">
            <a:r>
              <a:t>[Instructor Notes]</a:t>
            </a:r>
          </a:p>
          <a:p xmlns:a="http://schemas.openxmlformats.org/drawingml/2006/main">
            <a:r>
              <a:t>Require intermediate counts before accepting metric output. Make learners state why the chosen positive class and threshold matter.</a:t>
            </a:r>
          </a:p>
          <a:p xmlns:a="http://schemas.openxmlformats.org/drawingml/2006/main">
            <a:r>
              <a:t/>
            </a:r>
          </a:p>
          <a:p xmlns:a="http://schemas.openxmlformats.org/drawingml/2006/main">
            <a:r>
              <a:t>[Notebook Connection]</a:t>
            </a:r>
          </a:p>
          <a:p xmlns:a="http://schemas.openxmlformats.org/drawingml/2006/main">
            <a:r>
              <a:t>Complete `04.model-evaluation-techniques.ipynb`, using the slides to explain every metric formula before calling the API.</a:t>
            </a:r>
          </a:p>
          <a:p xmlns:a="http://schemas.openxmlformats.org/drawingml/2006/main">
            <a:r>
              <a:t/>
            </a:r>
          </a:p>
          <a:p xmlns:a="http://schemas.openxmlformats.org/drawingml/2006/main">
            <a:r>
              <a:t>[Sources]</a:t>
            </a:r>
          </a:p>
          <a:p xmlns:a="http://schemas.openxmlformats.org/drawingml/2006/main">
            <a:r>
              <a:t>- https://github.com/curiousily/AI-Bootcamp/blob/master/04.model-evaluation-techniques.ipynb</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dd31a2309340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11a9a63b534363" /><Relationship Type="http://schemas.openxmlformats.org/officeDocument/2006/relationships/slideLayout" Target="/ppt/slideLayouts/slideLayout1.xml" Id="R462e9954f6b347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2e9954f6b347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5ffe8b0014b41f8" /><Relationship Type="http://schemas.openxmlformats.org/officeDocument/2006/relationships/image" Target="/ppt/media/image.png" Id="Rda61b04bf1134d08" /><Relationship Type="http://schemas.openxmlformats.org/officeDocument/2006/relationships/image" Target="/ppt/media/image2.png" Id="R95604d2142374d85" /><Relationship Type="http://schemas.openxmlformats.org/officeDocument/2006/relationships/notesSlide" Target="/ppt/notesSlides/notesSlide1.xml" Id="Rc143799be92b45f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9c13fd91f484056" /><Relationship Type="http://schemas.openxmlformats.org/officeDocument/2006/relationships/notesSlide" Target="/ppt/notesSlides/notesSlide2.xml" Id="R82f0d44afa9d4f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03e6bc34044999" /><Relationship Type="http://schemas.openxmlformats.org/officeDocument/2006/relationships/notesSlide" Target="/ppt/notesSlides/notesSlide3.xml" Id="R3b3e144cce0c4b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be611324b74e98" /><Relationship Type="http://schemas.openxmlformats.org/officeDocument/2006/relationships/notesSlide" Target="/ppt/notesSlides/notesSlide4.xml" Id="R05e7690296a94c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807851191f54a86" /><Relationship Type="http://schemas.openxmlformats.org/officeDocument/2006/relationships/notesSlide" Target="/ppt/notesSlides/notesSlide5.xml" Id="R800b0e93181a48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bdee5071d9f45a0" /><Relationship Type="http://schemas.openxmlformats.org/officeDocument/2006/relationships/notesSlide" Target="/ppt/notesSlides/notesSlide6.xml" Id="Re1867fbe24b642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be7dae48e104d04" /><Relationship Type="http://schemas.openxmlformats.org/officeDocument/2006/relationships/notesSlide" Target="/ppt/notesSlides/notesSlide7.xml" Id="Re9168ef2c5514c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a274a0c68e94733" /><Relationship Type="http://schemas.openxmlformats.org/officeDocument/2006/relationships/notesSlide" Target="/ppt/notesSlides/notesSlide8.xml" Id="R4c60a2641c2645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f5c0dc76ef64ec7" /><Relationship Type="http://schemas.openxmlformats.org/officeDocument/2006/relationships/notesSlide" Target="/ppt/notesSlides/notesSlide9.xml" Id="Raf9f8a3d0eef41c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a67a7fde0754773" /><Relationship Type="http://schemas.openxmlformats.org/officeDocument/2006/relationships/notesSlide" Target="/ppt/notesSlides/notesSlide10.xml" Id="R07aeaf8b30884ce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c3fc63d7fd84a14" /><Relationship Type="http://schemas.openxmlformats.org/officeDocument/2006/relationships/notesSlide" Target="/ppt/notesSlides/notesSlide11.xml" Id="R99d9386339ff45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1ce59444cd94e00" /><Relationship Type="http://schemas.openxmlformats.org/officeDocument/2006/relationships/notesSlide" Target="/ppt/notesSlides/notesSlide12.xml" Id="Rcc068c5481fa4d7b" /></Relationships>
</file>

<file path=ppt/slides/slide1.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FE5AA0-1EC0-4D95-BF87-EBAED143DF9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a61b04bf1134d08"/>
          <a:srcRect xmlns:a="http://schemas.openxmlformats.org/drawingml/2006/main" l="28270" t="0" r="28270" b="0"/>
          <a:stretch xmlns:a="http://schemas.openxmlformats.org/drawingml/2006/main">
            <a:fillRect l="0" t="0" r="0" b="0"/>
          </a:stretch>
        </p:blipFill>
        <p:spPr>
          <a:xfrm xmlns:a="http://schemas.openxmlformats.org/drawingml/2006/main">
            <a:off x="6896100" y="0"/>
            <a:ext cx="52959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59EF0A8-304F-4B0A-A6C2-97C07CAA306F}"/>
              </a:ext>
            </a:extLst>
          </p:cNvPr>
          <p:cNvSpPr>
            <a:spLocks xmlns:a="http://schemas.openxmlformats.org/drawingml/2006/main" noGrp="1"/>
          </p:cNvSpPr>
          <p:nvPr/>
        </p:nvSpPr>
        <p:spPr>
          <a:xfrm xmlns:a="http://schemas.openxmlformats.org/drawingml/2006/main">
            <a:off x="6591300" y="0"/>
            <a:ext cx="304800" cy="68580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70A8DBC-FEE7-4A8C-A5E0-219B227E1FC2}"/>
              </a:ext>
            </a:extLst>
          </p:cNvPr>
          <p:cNvSpPr>
            <a:spLocks xmlns:a="http://schemas.openxmlformats.org/drawingml/2006/main" noGrp="1"/>
          </p:cNvSpPr>
          <p:nvPr/>
        </p:nvSpPr>
        <p:spPr>
          <a:xfrm xmlns:a="http://schemas.openxmlformats.org/drawingml/2006/main">
            <a:off x="666750" y="6667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MODULE 08  /  LESSON 01</a:t>
            </a:r>
          </a:p>
        </p:txBody>
      </p:sp>
      <p:sp>
        <p:nvSpPr>
          <p:cNvPr id="5" name="">
            <a:extLst xmlns:a="http://schemas.openxmlformats.org/drawingml/2006/main">
              <a:ext uri="{FF2B5EF4-FFF2-40B4-BE49-F238E27FC236}">
                <a16:creationId xmlns:a16="http://schemas.microsoft.com/office/drawing/2014/main" id="{04895AA2-214A-45F3-BE8A-1C5146FE64DD}"/>
              </a:ext>
            </a:extLst>
          </p:cNvPr>
          <p:cNvSpPr>
            <a:spLocks xmlns:a="http://schemas.openxmlformats.org/drawingml/2006/main" noGrp="1"/>
          </p:cNvSpPr>
          <p:nvPr/>
        </p:nvSpPr>
        <p:spPr>
          <a:xfrm xmlns:a="http://schemas.openxmlformats.org/drawingml/2006/main">
            <a:off x="666750" y="1409700"/>
            <a:ext cx="5219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300" b="1">
                <a:solidFill>
                  <a:srgbClr val="FFFFFF"/>
                </a:solidFill>
              </a:defRPr>
            </a:pPr>
            <a:r>
              <a:rPr sz="3300" b="1">
                <a:solidFill>
                  <a:srgbClr val="FFFFFF"/>
                </a:solidFill>
              </a:rPr>
              <a:t>Classification Predicts Categories or Their Probabilities</a:t>
            </a:r>
          </a:p>
        </p:txBody>
      </p:sp>
      <p:sp>
        <p:nvSpPr>
          <p:cNvPr id="6" name="">
            <a:extLst xmlns:a="http://schemas.openxmlformats.org/drawingml/2006/main">
              <a:ext uri="{FF2B5EF4-FFF2-40B4-BE49-F238E27FC236}">
                <a16:creationId xmlns:a16="http://schemas.microsoft.com/office/drawing/2014/main" id="{6CE2213A-B294-4669-9FED-A2630682104E}"/>
              </a:ext>
            </a:extLst>
          </p:cNvPr>
          <p:cNvSpPr>
            <a:spLocks xmlns:a="http://schemas.openxmlformats.org/drawingml/2006/main" noGrp="1"/>
          </p:cNvSpPr>
          <p:nvPr/>
        </p:nvSpPr>
        <p:spPr>
          <a:xfrm xmlns:a="http://schemas.openxmlformats.org/drawingml/2006/main">
            <a:off x="666750" y="4095750"/>
            <a:ext cx="914400" cy="5715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5D95045-D7AF-499F-A288-0BD7B7A9A06A}"/>
              </a:ext>
            </a:extLst>
          </p:cNvPr>
          <p:cNvSpPr>
            <a:spLocks xmlns:a="http://schemas.openxmlformats.org/drawingml/2006/main" noGrp="1"/>
          </p:cNvSpPr>
          <p:nvPr/>
        </p:nvSpPr>
        <p:spPr>
          <a:xfrm xmlns:a="http://schemas.openxmlformats.org/drawingml/2006/main">
            <a:off x="666750" y="4495800"/>
            <a:ext cx="5048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D5E2EC"/>
                </a:solidFill>
              </a:defRPr>
            </a:pPr>
            <a:r>
              <a:rPr sz="1650">
                <a:solidFill>
                  <a:srgbClr val="D5E2EC"/>
                </a:solidFill>
              </a:rPr>
              <a:t>Classification is supervised learning with a categorical target.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5604d2142374d85"/>
          <a:stretch xmlns:a="http://schemas.openxmlformats.org/drawingml/2006/main"/>
        </p:blipFill>
        <p:spPr>
          <a:xfrm xmlns:a="http://schemas.openxmlformats.org/drawingml/2006/main">
            <a:off x="790575" y="5905500"/>
            <a:ext cx="1485900" cy="495300"/>
          </a:xfrm>
          <a:prstGeom xmlns:a="http://schemas.openxmlformats.org/drawingml/2006/main" prst="rect">
            <a:avLst/>
          </a:prstGeom>
        </p:spPr>
      </p:pic>
    </p:spTree>
    <p:extLst>
      <p:ext uri="{BB962C8B-B14F-4D97-AF65-F5344CB8AC3E}">
        <p14:creationId xmlns:p14="http://schemas.microsoft.com/office/powerpoint/2010/main" val="20179720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817D5F1-565F-4D10-A246-E1FF8217A25B}"/>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M08 / L01</a:t>
            </a:r>
          </a:p>
        </p:txBody>
      </p:sp>
      <p:sp>
        <p:nvSpPr>
          <p:cNvPr id="2" name="">
            <a:extLst xmlns:a="http://schemas.openxmlformats.org/drawingml/2006/main">
              <a:ext uri="{FF2B5EF4-FFF2-40B4-BE49-F238E27FC236}">
                <a16:creationId xmlns:a16="http://schemas.microsoft.com/office/drawing/2014/main" id="{D552015D-8E2A-4552-A8DB-7B0059D25B47}"/>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Classification Predicts Categories or Their Probabilities</a:t>
            </a:r>
          </a:p>
        </p:txBody>
      </p:sp>
      <p:sp>
        <p:nvSpPr>
          <p:cNvPr id="3" name="">
            <a:extLst xmlns:a="http://schemas.openxmlformats.org/drawingml/2006/main">
              <a:ext uri="{FF2B5EF4-FFF2-40B4-BE49-F238E27FC236}">
                <a16:creationId xmlns:a16="http://schemas.microsoft.com/office/drawing/2014/main" id="{7557230D-FB4B-46F7-A52C-1F7DD3667EAC}"/>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02</a:t>
            </a:r>
          </a:p>
        </p:txBody>
      </p:sp>
      <p:sp>
        <p:nvSpPr>
          <p:cNvPr id="4" name="">
            <a:extLst xmlns:a="http://schemas.openxmlformats.org/drawingml/2006/main">
              <a:ext uri="{FF2B5EF4-FFF2-40B4-BE49-F238E27FC236}">
                <a16:creationId xmlns:a16="http://schemas.microsoft.com/office/drawing/2014/main" id="{9FC03446-5519-4608-BE33-31588936B02F}"/>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CORE CONCEPT</a:t>
            </a:r>
          </a:p>
        </p:txBody>
      </p:sp>
      <p:sp>
        <p:nvSpPr>
          <p:cNvPr id="5" name="">
            <a:extLst xmlns:a="http://schemas.openxmlformats.org/drawingml/2006/main">
              <a:ext uri="{FF2B5EF4-FFF2-40B4-BE49-F238E27FC236}">
                <a16:creationId xmlns:a16="http://schemas.microsoft.com/office/drawing/2014/main" id="{D5258C12-0AF8-4049-A2D3-FFE641AF6193}"/>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Logistic Regression Converts a Score into a Probability</a:t>
            </a:r>
          </a:p>
        </p:txBody>
      </p:sp>
      <p:sp>
        <p:nvSpPr>
          <p:cNvPr id="6" name="">
            <a:extLst xmlns:a="http://schemas.openxmlformats.org/drawingml/2006/main">
              <a:ext uri="{FF2B5EF4-FFF2-40B4-BE49-F238E27FC236}">
                <a16:creationId xmlns:a16="http://schemas.microsoft.com/office/drawing/2014/main" id="{1F0F0D0E-9CDC-49E0-9003-4C4570A967F5}"/>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B0EA454-016C-4937-BC87-5B9846FEA20A}"/>
              </a:ext>
            </a:extLst>
          </p:cNvPr>
          <p:cNvSpPr>
            <a:spLocks xmlns:a="http://schemas.openxmlformats.org/drawingml/2006/main" noGrp="1"/>
          </p:cNvSpPr>
          <p:nvPr/>
        </p:nvSpPr>
        <p:spPr>
          <a:xfrm xmlns:a="http://schemas.openxmlformats.org/drawingml/2006/main">
            <a:off x="609600" y="264795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243244"/>
                </a:solidFill>
              </a:defRPr>
            </a:pPr>
            <a:r>
              <a:rPr sz="1575">
                <a:solidFill>
                  <a:srgbClr val="243244"/>
                </a:solidFill>
              </a:rPr>
              <a:t>Logistic regression first calculates a linear score: z = β0 + βᵀx Then the sigmoid converts that score into a probability:</a:t>
            </a:r>
          </a:p>
        </p:txBody>
      </p:sp>
      <p:sp>
        <p:nvSpPr>
          <p:cNvPr id="8" name="">
            <a:extLst xmlns:a="http://schemas.openxmlformats.org/drawingml/2006/main">
              <a:ext uri="{FF2B5EF4-FFF2-40B4-BE49-F238E27FC236}">
                <a16:creationId xmlns:a16="http://schemas.microsoft.com/office/drawing/2014/main" id="{3B2317E1-028A-4DCF-BB39-B168698C42DF}"/>
              </a:ext>
            </a:extLst>
          </p:cNvPr>
          <p:cNvSpPr>
            <a:spLocks xmlns:a="http://schemas.openxmlformats.org/drawingml/2006/main" noGrp="1"/>
          </p:cNvSpPr>
          <p:nvPr/>
        </p:nvSpPr>
        <p:spPr>
          <a:xfrm xmlns:a="http://schemas.openxmlformats.org/drawingml/2006/main">
            <a:off x="609600" y="37147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EE646C9-503C-4680-9AD6-A12C256B7751}"/>
              </a:ext>
            </a:extLst>
          </p:cNvPr>
          <p:cNvSpPr>
            <a:spLocks xmlns:a="http://schemas.openxmlformats.org/drawingml/2006/main" noGrp="1"/>
          </p:cNvSpPr>
          <p:nvPr/>
        </p:nvSpPr>
        <p:spPr>
          <a:xfrm xmlns:a="http://schemas.openxmlformats.org/drawingml/2006/main">
            <a:off x="7810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x: feature vector</a:t>
            </a:r>
          </a:p>
        </p:txBody>
      </p:sp>
      <p:sp>
        <p:nvSpPr>
          <p:cNvPr id="10" name="">
            <a:extLst xmlns:a="http://schemas.openxmlformats.org/drawingml/2006/main">
              <a:ext uri="{FF2B5EF4-FFF2-40B4-BE49-F238E27FC236}">
                <a16:creationId xmlns:a16="http://schemas.microsoft.com/office/drawing/2014/main" id="{1D7B79F2-532E-43AE-AFB3-6FB8DA7AB033}"/>
              </a:ext>
            </a:extLst>
          </p:cNvPr>
          <p:cNvSpPr>
            <a:spLocks xmlns:a="http://schemas.openxmlformats.org/drawingml/2006/main" noGrp="1"/>
          </p:cNvSpPr>
          <p:nvPr/>
        </p:nvSpPr>
        <p:spPr>
          <a:xfrm xmlns:a="http://schemas.openxmlformats.org/drawingml/2006/main">
            <a:off x="4114800" y="37147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1E4AB71-F0E2-44E4-8C1B-339553110A00}"/>
              </a:ext>
            </a:extLst>
          </p:cNvPr>
          <p:cNvSpPr>
            <a:spLocks xmlns:a="http://schemas.openxmlformats.org/drawingml/2006/main" noGrp="1"/>
          </p:cNvSpPr>
          <p:nvPr/>
        </p:nvSpPr>
        <p:spPr>
          <a:xfrm xmlns:a="http://schemas.openxmlformats.org/drawingml/2006/main">
            <a:off x="42862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β: learned coefficient vector</a:t>
            </a:r>
          </a:p>
        </p:txBody>
      </p:sp>
      <p:sp>
        <p:nvSpPr>
          <p:cNvPr id="12" name="">
            <a:extLst xmlns:a="http://schemas.openxmlformats.org/drawingml/2006/main">
              <a:ext uri="{FF2B5EF4-FFF2-40B4-BE49-F238E27FC236}">
                <a16:creationId xmlns:a16="http://schemas.microsoft.com/office/drawing/2014/main" id="{F556EE81-848F-4F56-9B6F-7D6C0B38E405}"/>
              </a:ext>
            </a:extLst>
          </p:cNvPr>
          <p:cNvSpPr>
            <a:spLocks xmlns:a="http://schemas.openxmlformats.org/drawingml/2006/main" noGrp="1"/>
          </p:cNvSpPr>
          <p:nvPr/>
        </p:nvSpPr>
        <p:spPr>
          <a:xfrm xmlns:a="http://schemas.openxmlformats.org/drawingml/2006/main">
            <a:off x="7620000" y="37147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4276D3D-64B0-4B1B-BC0E-59D8454F5FCE}"/>
              </a:ext>
            </a:extLst>
          </p:cNvPr>
          <p:cNvSpPr>
            <a:spLocks xmlns:a="http://schemas.openxmlformats.org/drawingml/2006/main" noGrp="1"/>
          </p:cNvSpPr>
          <p:nvPr/>
        </p:nvSpPr>
        <p:spPr>
          <a:xfrm xmlns:a="http://schemas.openxmlformats.org/drawingml/2006/main">
            <a:off x="77914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β0: intercept</a:t>
            </a:r>
          </a:p>
        </p:txBody>
      </p:sp>
      <p:sp>
        <p:nvSpPr>
          <p:cNvPr id="14" name="">
            <a:extLst xmlns:a="http://schemas.openxmlformats.org/drawingml/2006/main">
              <a:ext uri="{FF2B5EF4-FFF2-40B4-BE49-F238E27FC236}">
                <a16:creationId xmlns:a16="http://schemas.microsoft.com/office/drawing/2014/main" id="{570B7A48-8F58-4098-8812-7DA79B0C9331}"/>
              </a:ext>
            </a:extLst>
          </p:cNvPr>
          <p:cNvSpPr>
            <a:spLocks xmlns:a="http://schemas.openxmlformats.org/drawingml/2006/main" noGrp="1"/>
          </p:cNvSpPr>
          <p:nvPr/>
        </p:nvSpPr>
        <p:spPr>
          <a:xfrm xmlns:a="http://schemas.openxmlformats.org/drawingml/2006/main">
            <a:off x="609600" y="48196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0C9A5F5-059E-4F91-9B5A-14BBE8382BAF}"/>
              </a:ext>
            </a:extLst>
          </p:cNvPr>
          <p:cNvSpPr>
            <a:spLocks xmlns:a="http://schemas.openxmlformats.org/drawingml/2006/main" noGrp="1"/>
          </p:cNvSpPr>
          <p:nvPr/>
        </p:nvSpPr>
        <p:spPr>
          <a:xfrm xmlns:a="http://schemas.openxmlformats.org/drawingml/2006/main">
            <a:off x="7810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z: real-valued score</a:t>
            </a:r>
          </a:p>
        </p:txBody>
      </p:sp>
      <p:sp>
        <p:nvSpPr>
          <p:cNvPr id="16" name="">
            <a:extLst xmlns:a="http://schemas.openxmlformats.org/drawingml/2006/main">
              <a:ext uri="{FF2B5EF4-FFF2-40B4-BE49-F238E27FC236}">
                <a16:creationId xmlns:a16="http://schemas.microsoft.com/office/drawing/2014/main" id="{FC1B356C-7B91-4A30-80F7-B06A45A1487A}"/>
              </a:ext>
            </a:extLst>
          </p:cNvPr>
          <p:cNvSpPr>
            <a:spLocks xmlns:a="http://schemas.openxmlformats.org/drawingml/2006/main" noGrp="1"/>
          </p:cNvSpPr>
          <p:nvPr/>
        </p:nvSpPr>
        <p:spPr>
          <a:xfrm xmlns:a="http://schemas.openxmlformats.org/drawingml/2006/main">
            <a:off x="4114800" y="48196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34B1874-5D5D-49A9-9A59-D0A3EB7FEE42}"/>
              </a:ext>
            </a:extLst>
          </p:cNvPr>
          <p:cNvSpPr>
            <a:spLocks xmlns:a="http://schemas.openxmlformats.org/drawingml/2006/main" noGrp="1"/>
          </p:cNvSpPr>
          <p:nvPr/>
        </p:nvSpPr>
        <p:spPr>
          <a:xfrm xmlns:a="http://schemas.openxmlformats.org/drawingml/2006/main">
            <a:off x="42862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e: mathematical constant approximately 2.718</a:t>
            </a:r>
          </a:p>
        </p:txBody>
      </p:sp>
      <p:sp>
        <p:nvSpPr>
          <p:cNvPr id="18" name="">
            <a:extLst xmlns:a="http://schemas.openxmlformats.org/drawingml/2006/main">
              <a:ext uri="{FF2B5EF4-FFF2-40B4-BE49-F238E27FC236}">
                <a16:creationId xmlns:a16="http://schemas.microsoft.com/office/drawing/2014/main" id="{C43CAF5D-75B4-4C9F-941C-E336ABE9E435}"/>
              </a:ext>
            </a:extLst>
          </p:cNvPr>
          <p:cNvSpPr>
            <a:spLocks xmlns:a="http://schemas.openxmlformats.org/drawingml/2006/main" noGrp="1"/>
          </p:cNvSpPr>
          <p:nvPr/>
        </p:nvSpPr>
        <p:spPr>
          <a:xfrm xmlns:a="http://schemas.openxmlformats.org/drawingml/2006/main">
            <a:off x="7620000" y="48196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8565803-62FD-4B58-BB1E-CCE2FD71A983}"/>
              </a:ext>
            </a:extLst>
          </p:cNvPr>
          <p:cNvSpPr>
            <a:spLocks xmlns:a="http://schemas.openxmlformats.org/drawingml/2006/main" noGrp="1"/>
          </p:cNvSpPr>
          <p:nvPr/>
        </p:nvSpPr>
        <p:spPr>
          <a:xfrm xmlns:a="http://schemas.openxmlformats.org/drawingml/2006/main">
            <a:off x="77914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σ(z): value between 0 and 1</a:t>
            </a:r>
          </a:p>
        </p:txBody>
      </p:sp>
    </p:spTree>
    <p:extLst>
      <p:ext uri="{BB962C8B-B14F-4D97-AF65-F5344CB8AC3E}">
        <p14:creationId xmlns:p14="http://schemas.microsoft.com/office/powerpoint/2010/main" val="964374218"/>
      </p:ext>
    </p:extLst>
  </p:cSld>
</p:sld>
</file>

<file path=ppt/slides/slide3.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D2651CD-3E4C-4343-8861-89D3C504BCD6}"/>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M08 / L01</a:t>
            </a:r>
          </a:p>
        </p:txBody>
      </p:sp>
      <p:sp>
        <p:nvSpPr>
          <p:cNvPr id="2" name="">
            <a:extLst xmlns:a="http://schemas.openxmlformats.org/drawingml/2006/main">
              <a:ext uri="{FF2B5EF4-FFF2-40B4-BE49-F238E27FC236}">
                <a16:creationId xmlns:a16="http://schemas.microsoft.com/office/drawing/2014/main" id="{8C73DAEF-90A2-4824-AB67-5A71EC424327}"/>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Classification Predicts Categories or Their Probabilities</a:t>
            </a:r>
          </a:p>
        </p:txBody>
      </p:sp>
      <p:sp>
        <p:nvSpPr>
          <p:cNvPr id="3" name="">
            <a:extLst xmlns:a="http://schemas.openxmlformats.org/drawingml/2006/main">
              <a:ext uri="{FF2B5EF4-FFF2-40B4-BE49-F238E27FC236}">
                <a16:creationId xmlns:a16="http://schemas.microsoft.com/office/drawing/2014/main" id="{AEDEBAA4-AFB9-458B-B67B-105FA00417F9}"/>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03</a:t>
            </a:r>
          </a:p>
        </p:txBody>
      </p:sp>
      <p:sp>
        <p:nvSpPr>
          <p:cNvPr id="4" name="">
            <a:extLst xmlns:a="http://schemas.openxmlformats.org/drawingml/2006/main">
              <a:ext uri="{FF2B5EF4-FFF2-40B4-BE49-F238E27FC236}">
                <a16:creationId xmlns:a16="http://schemas.microsoft.com/office/drawing/2014/main" id="{24A1C2F7-A416-4E5B-AE4F-1D0EB1BC5229}"/>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FFEA4AE9-F43D-467C-8CBB-FB49AA7A9EFE}"/>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Thresholds Turn Probabilities into Actions</a:t>
            </a:r>
          </a:p>
        </p:txBody>
      </p:sp>
      <p:sp>
        <p:nvSpPr>
          <p:cNvPr id="6" name="">
            <a:extLst xmlns:a="http://schemas.openxmlformats.org/drawingml/2006/main">
              <a:ext uri="{FF2B5EF4-FFF2-40B4-BE49-F238E27FC236}">
                <a16:creationId xmlns:a16="http://schemas.microsoft.com/office/drawing/2014/main" id="{9E946AF3-A9F9-4079-8D4A-0B9DD84DB9B9}"/>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802CB8A-254A-4C37-8CE7-D9F062E6D3CE}"/>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479850A-00A4-4C0E-BB49-94C49E728390}"/>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FCD8AF1-4208-4E77-A23B-D065A0095B39}"/>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FC4E8A2-21B8-40FE-8B03-B5FB202B5335}"/>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E99072F-FAA8-4D63-8C58-3311D778D6AB}"/>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import numpy as np</a:t>
            </a:r>
          </a:p>
          <a:p xmlns:a="http://schemas.openxmlformats.org/drawingml/2006/main">
            <a:r>
              <a:t/>
            </a:r>
          </a:p>
          <a:p xmlns:a="http://schemas.openxmlformats.org/drawingml/2006/main">
            <a:pPr>
              <a:defRPr sz="1125">
                <a:solidFill>
                  <a:srgbClr val="E8F1F7"/>
                </a:solidFill>
              </a:defRPr>
            </a:pPr>
            <a:r>
              <a:rPr sz="1125">
                <a:solidFill>
                  <a:srgbClr val="E8F1F7"/>
                </a:solidFill>
              </a:rPr>
              <a:t>probabilities = np.array([0.90, 0.70, 0.40, 0.20])</a:t>
            </a:r>
          </a:p>
          <a:p xmlns:a="http://schemas.openxmlformats.org/drawingml/2006/main">
            <a:pPr>
              <a:defRPr sz="1125">
                <a:solidFill>
                  <a:srgbClr val="E8F1F7"/>
                </a:solidFill>
              </a:defRPr>
            </a:pPr>
            <a:r>
              <a:rPr sz="1125">
                <a:solidFill>
                  <a:srgbClr val="E8F1F7"/>
                </a:solidFill>
              </a:rPr>
              <a:t>print((probabilities &gt;= 0.30).astype(int))</a:t>
            </a:r>
          </a:p>
        </p:txBody>
      </p:sp>
      <p:sp>
        <p:nvSpPr>
          <p:cNvPr id="12" name="">
            <a:extLst xmlns:a="http://schemas.openxmlformats.org/drawingml/2006/main">
              <a:ext uri="{FF2B5EF4-FFF2-40B4-BE49-F238E27FC236}">
                <a16:creationId xmlns:a16="http://schemas.microsoft.com/office/drawing/2014/main" id="{E87C26E4-6E7B-463D-8BC3-E99602730C52}"/>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1374098C-1E81-4163-BCF1-8ED3C4DF8609}"/>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38027709-5D10-4D2E-BD78-8BA68636ACC8}"/>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[1 1 1 0]</a:t>
            </a:r>
          </a:p>
        </p:txBody>
      </p:sp>
      <p:sp>
        <p:nvSpPr>
          <p:cNvPr id="15" name="">
            <a:extLst xmlns:a="http://schemas.openxmlformats.org/drawingml/2006/main">
              <a:ext uri="{FF2B5EF4-FFF2-40B4-BE49-F238E27FC236}">
                <a16:creationId xmlns:a16="http://schemas.microsoft.com/office/drawing/2014/main" id="{90219EB8-AC31-49DA-B6C4-235357573C15}"/>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DDF6BC1-45D6-459D-9F93-A22D6AEE76B9}"/>
              </a:ext>
            </a:extLst>
          </p:cNvPr>
          <p:cNvSpPr>
            <a:spLocks xmlns:a="http://schemas.openxmlformats.org/drawingml/2006/main" noGrp="1"/>
          </p:cNvSpPr>
          <p:nvPr/>
        </p:nvSpPr>
        <p:spPr>
          <a:xfrm xmlns:a="http://schemas.openxmlformats.org/drawingml/2006/main">
            <a:off x="723900" y="58293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Only the third decision changes.</a:t>
            </a:r>
          </a:p>
        </p:txBody>
      </p:sp>
    </p:spTree>
    <p:extLst>
      <p:ext uri="{BB962C8B-B14F-4D97-AF65-F5344CB8AC3E}">
        <p14:creationId xmlns:p14="http://schemas.microsoft.com/office/powerpoint/2010/main" val="613063686"/>
      </p:ext>
    </p:extLst>
  </p:cSld>
</p:sld>
</file>

<file path=ppt/slides/slide4.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1BE4476-B83C-47B7-A9D5-B9D52C708687}"/>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M08 / L01</a:t>
            </a:r>
          </a:p>
        </p:txBody>
      </p:sp>
      <p:sp>
        <p:nvSpPr>
          <p:cNvPr id="2" name="">
            <a:extLst xmlns:a="http://schemas.openxmlformats.org/drawingml/2006/main">
              <a:ext uri="{FF2B5EF4-FFF2-40B4-BE49-F238E27FC236}">
                <a16:creationId xmlns:a16="http://schemas.microsoft.com/office/drawing/2014/main" id="{087EDACF-7415-4F4A-B59D-FF7F4A85F039}"/>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Classification Predicts Categories or Their Probabilities</a:t>
            </a:r>
          </a:p>
        </p:txBody>
      </p:sp>
      <p:sp>
        <p:nvSpPr>
          <p:cNvPr id="3" name="">
            <a:extLst xmlns:a="http://schemas.openxmlformats.org/drawingml/2006/main">
              <a:ext uri="{FF2B5EF4-FFF2-40B4-BE49-F238E27FC236}">
                <a16:creationId xmlns:a16="http://schemas.microsoft.com/office/drawing/2014/main" id="{B22F6FD3-D6D4-4132-B17E-EB4995FA6BB9}"/>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04</a:t>
            </a:r>
          </a:p>
        </p:txBody>
      </p:sp>
      <p:sp>
        <p:nvSpPr>
          <p:cNvPr id="4" name="">
            <a:extLst xmlns:a="http://schemas.openxmlformats.org/drawingml/2006/main">
              <a:ext uri="{FF2B5EF4-FFF2-40B4-BE49-F238E27FC236}">
                <a16:creationId xmlns:a16="http://schemas.microsoft.com/office/drawing/2014/main" id="{58B0E2D9-88B2-4B94-92B3-4D524FD5AA0A}"/>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REASONING SEQUENCE</a:t>
            </a:r>
          </a:p>
        </p:txBody>
      </p:sp>
      <p:sp>
        <p:nvSpPr>
          <p:cNvPr id="5" name="">
            <a:extLst xmlns:a="http://schemas.openxmlformats.org/drawingml/2006/main">
              <a:ext uri="{FF2B5EF4-FFF2-40B4-BE49-F238E27FC236}">
                <a16:creationId xmlns:a16="http://schemas.microsoft.com/office/drawing/2014/main" id="{5DE2ECE3-C866-4024-BF8B-74714A569D5B}"/>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A Confusion Matrix Counts Four Outcomes</a:t>
            </a:r>
          </a:p>
        </p:txBody>
      </p:sp>
      <p:sp>
        <p:nvSpPr>
          <p:cNvPr id="6" name="">
            <a:extLst xmlns:a="http://schemas.openxmlformats.org/drawingml/2006/main">
              <a:ext uri="{FF2B5EF4-FFF2-40B4-BE49-F238E27FC236}">
                <a16:creationId xmlns:a16="http://schemas.microsoft.com/office/drawing/2014/main" id="{68292909-1AC6-4C3B-8BE8-EC0ECEA9D56C}"/>
              </a:ext>
            </a:extLst>
          </p:cNvPr>
          <p:cNvSpPr>
            <a:spLocks xmlns:a="http://schemas.openxmlformats.org/drawingml/2006/main" noGrp="1"/>
          </p:cNvSpPr>
          <p:nvPr/>
        </p:nvSpPr>
        <p:spPr>
          <a:xfrm xmlns:a="http://schemas.openxmlformats.org/drawingml/2006/main">
            <a:off x="5905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Frame</a:t>
            </a:r>
          </a:p>
        </p:txBody>
      </p:sp>
      <p:sp>
        <p:nvSpPr>
          <p:cNvPr id="7" name="">
            <a:extLst xmlns:a="http://schemas.openxmlformats.org/drawingml/2006/main">
              <a:ext uri="{FF2B5EF4-FFF2-40B4-BE49-F238E27FC236}">
                <a16:creationId xmlns:a16="http://schemas.microsoft.com/office/drawing/2014/main" id="{1B685F68-E55E-4497-97BA-88AF6F501F7A}"/>
              </a:ext>
            </a:extLst>
          </p:cNvPr>
          <p:cNvSpPr>
            <a:spLocks xmlns:a="http://schemas.openxmlformats.org/drawingml/2006/main" noGrp="1"/>
          </p:cNvSpPr>
          <p:nvPr/>
        </p:nvSpPr>
        <p:spPr>
          <a:xfrm xmlns:a="http://schemas.openxmlformats.org/drawingml/2006/main">
            <a:off x="5905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True positive (TP): actual positive, predicted positive</a:t>
            </a:r>
          </a:p>
        </p:txBody>
      </p:sp>
      <p:sp>
        <p:nvSpPr>
          <p:cNvPr id="8" name="">
            <a:extLst xmlns:a="http://schemas.openxmlformats.org/drawingml/2006/main">
              <a:ext uri="{FF2B5EF4-FFF2-40B4-BE49-F238E27FC236}">
                <a16:creationId xmlns:a16="http://schemas.microsoft.com/office/drawing/2014/main" id="{B7841373-964C-477D-B500-557D5254BC2E}"/>
              </a:ext>
            </a:extLst>
          </p:cNvPr>
          <p:cNvSpPr>
            <a:spLocks xmlns:a="http://schemas.openxmlformats.org/drawingml/2006/main" noGrp="1"/>
          </p:cNvSpPr>
          <p:nvPr/>
        </p:nvSpPr>
        <p:spPr>
          <a:xfrm xmlns:a="http://schemas.openxmlformats.org/drawingml/2006/main">
            <a:off x="5905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50AC8E7-383E-45E9-91D0-8EE5B5FDEFA0}"/>
              </a:ext>
            </a:extLst>
          </p:cNvPr>
          <p:cNvSpPr>
            <a:spLocks xmlns:a="http://schemas.openxmlformats.org/drawingml/2006/main" noGrp="1"/>
          </p:cNvSpPr>
          <p:nvPr/>
        </p:nvSpPr>
        <p:spPr>
          <a:xfrm xmlns:a="http://schemas.openxmlformats.org/drawingml/2006/main">
            <a:off x="5905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1</a:t>
            </a:r>
          </a:p>
        </p:txBody>
      </p:sp>
      <p:sp>
        <p:nvSpPr>
          <p:cNvPr id="10" name="">
            <a:extLst xmlns:a="http://schemas.openxmlformats.org/drawingml/2006/main">
              <a:ext uri="{FF2B5EF4-FFF2-40B4-BE49-F238E27FC236}">
                <a16:creationId xmlns:a16="http://schemas.microsoft.com/office/drawing/2014/main" id="{216D3BFC-EA82-4BCD-8B27-CA537AF83F1D}"/>
              </a:ext>
            </a:extLst>
          </p:cNvPr>
          <p:cNvSpPr>
            <a:spLocks xmlns:a="http://schemas.openxmlformats.org/drawingml/2006/main" noGrp="1"/>
          </p:cNvSpPr>
          <p:nvPr/>
        </p:nvSpPr>
        <p:spPr>
          <a:xfrm xmlns:a="http://schemas.openxmlformats.org/drawingml/2006/main">
            <a:off x="34099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Transform</a:t>
            </a:r>
          </a:p>
        </p:txBody>
      </p:sp>
      <p:sp>
        <p:nvSpPr>
          <p:cNvPr id="11" name="">
            <a:extLst xmlns:a="http://schemas.openxmlformats.org/drawingml/2006/main">
              <a:ext uri="{FF2B5EF4-FFF2-40B4-BE49-F238E27FC236}">
                <a16:creationId xmlns:a16="http://schemas.microsoft.com/office/drawing/2014/main" id="{74B8E94F-E75C-4145-963A-1B4B22D35088}"/>
              </a:ext>
            </a:extLst>
          </p:cNvPr>
          <p:cNvSpPr>
            <a:spLocks xmlns:a="http://schemas.openxmlformats.org/drawingml/2006/main" noGrp="1"/>
          </p:cNvSpPr>
          <p:nvPr/>
        </p:nvSpPr>
        <p:spPr>
          <a:xfrm xmlns:a="http://schemas.openxmlformats.org/drawingml/2006/main">
            <a:off x="34099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False positive (FP): actual negative, predicted positive</a:t>
            </a:r>
          </a:p>
        </p:txBody>
      </p:sp>
      <p:sp>
        <p:nvSpPr>
          <p:cNvPr id="12" name="">
            <a:extLst xmlns:a="http://schemas.openxmlformats.org/drawingml/2006/main">
              <a:ext uri="{FF2B5EF4-FFF2-40B4-BE49-F238E27FC236}">
                <a16:creationId xmlns:a16="http://schemas.microsoft.com/office/drawing/2014/main" id="{20A85570-BA9F-4CCC-9FF6-8D62ADB6F4D9}"/>
              </a:ext>
            </a:extLst>
          </p:cNvPr>
          <p:cNvSpPr>
            <a:spLocks xmlns:a="http://schemas.openxmlformats.org/drawingml/2006/main" noGrp="1"/>
          </p:cNvSpPr>
          <p:nvPr/>
        </p:nvSpPr>
        <p:spPr>
          <a:xfrm xmlns:a="http://schemas.openxmlformats.org/drawingml/2006/main">
            <a:off x="34099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ABC3829-2646-436D-A908-B28F34D2F4B5}"/>
              </a:ext>
            </a:extLst>
          </p:cNvPr>
          <p:cNvSpPr>
            <a:spLocks xmlns:a="http://schemas.openxmlformats.org/drawingml/2006/main" noGrp="1"/>
          </p:cNvSpPr>
          <p:nvPr/>
        </p:nvSpPr>
        <p:spPr>
          <a:xfrm xmlns:a="http://schemas.openxmlformats.org/drawingml/2006/main">
            <a:off x="34099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2</a:t>
            </a:r>
          </a:p>
        </p:txBody>
      </p:sp>
      <p:sp>
        <p:nvSpPr>
          <p:cNvPr id="14" name="">
            <a:extLst xmlns:a="http://schemas.openxmlformats.org/drawingml/2006/main">
              <a:ext uri="{FF2B5EF4-FFF2-40B4-BE49-F238E27FC236}">
                <a16:creationId xmlns:a16="http://schemas.microsoft.com/office/drawing/2014/main" id="{5D6FEAEF-12BB-4FF2-97F6-5197DC5EBE27}"/>
              </a:ext>
            </a:extLst>
          </p:cNvPr>
          <p:cNvSpPr>
            <a:spLocks xmlns:a="http://schemas.openxmlformats.org/drawingml/2006/main" noGrp="1"/>
          </p:cNvSpPr>
          <p:nvPr/>
        </p:nvSpPr>
        <p:spPr>
          <a:xfrm xmlns:a="http://schemas.openxmlformats.org/drawingml/2006/main">
            <a:off x="62293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Validate</a:t>
            </a:r>
          </a:p>
        </p:txBody>
      </p:sp>
      <p:sp>
        <p:nvSpPr>
          <p:cNvPr id="15" name="">
            <a:extLst xmlns:a="http://schemas.openxmlformats.org/drawingml/2006/main">
              <a:ext uri="{FF2B5EF4-FFF2-40B4-BE49-F238E27FC236}">
                <a16:creationId xmlns:a16="http://schemas.microsoft.com/office/drawing/2014/main" id="{2A83985A-2C17-4F2E-97A0-017FB9542E2A}"/>
              </a:ext>
            </a:extLst>
          </p:cNvPr>
          <p:cNvSpPr>
            <a:spLocks xmlns:a="http://schemas.openxmlformats.org/drawingml/2006/main" noGrp="1"/>
          </p:cNvSpPr>
          <p:nvPr/>
        </p:nvSpPr>
        <p:spPr>
          <a:xfrm xmlns:a="http://schemas.openxmlformats.org/drawingml/2006/main">
            <a:off x="62293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False negative (FN): actual positive, predicted negative</a:t>
            </a:r>
          </a:p>
        </p:txBody>
      </p:sp>
      <p:sp>
        <p:nvSpPr>
          <p:cNvPr id="16" name="">
            <a:extLst xmlns:a="http://schemas.openxmlformats.org/drawingml/2006/main">
              <a:ext uri="{FF2B5EF4-FFF2-40B4-BE49-F238E27FC236}">
                <a16:creationId xmlns:a16="http://schemas.microsoft.com/office/drawing/2014/main" id="{48C92059-7FCA-4CD0-B6C0-7BA453B87A80}"/>
              </a:ext>
            </a:extLst>
          </p:cNvPr>
          <p:cNvSpPr>
            <a:spLocks xmlns:a="http://schemas.openxmlformats.org/drawingml/2006/main" noGrp="1"/>
          </p:cNvSpPr>
          <p:nvPr/>
        </p:nvSpPr>
        <p:spPr>
          <a:xfrm xmlns:a="http://schemas.openxmlformats.org/drawingml/2006/main">
            <a:off x="62293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C5B6B3D-6850-4DF4-AE13-11B6A6E0993D}"/>
              </a:ext>
            </a:extLst>
          </p:cNvPr>
          <p:cNvSpPr>
            <a:spLocks xmlns:a="http://schemas.openxmlformats.org/drawingml/2006/main" noGrp="1"/>
          </p:cNvSpPr>
          <p:nvPr/>
        </p:nvSpPr>
        <p:spPr>
          <a:xfrm xmlns:a="http://schemas.openxmlformats.org/drawingml/2006/main">
            <a:off x="62293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3</a:t>
            </a:r>
          </a:p>
        </p:txBody>
      </p:sp>
      <p:sp>
        <p:nvSpPr>
          <p:cNvPr id="18" name="">
            <a:extLst xmlns:a="http://schemas.openxmlformats.org/drawingml/2006/main">
              <a:ext uri="{FF2B5EF4-FFF2-40B4-BE49-F238E27FC236}">
                <a16:creationId xmlns:a16="http://schemas.microsoft.com/office/drawing/2014/main" id="{7F0DD0AE-1D76-4ADF-BDBE-6301FCE1745A}"/>
              </a:ext>
            </a:extLst>
          </p:cNvPr>
          <p:cNvSpPr>
            <a:spLocks xmlns:a="http://schemas.openxmlformats.org/drawingml/2006/main" noGrp="1"/>
          </p:cNvSpPr>
          <p:nvPr/>
        </p:nvSpPr>
        <p:spPr>
          <a:xfrm xmlns:a="http://schemas.openxmlformats.org/drawingml/2006/main">
            <a:off x="90487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F06B5F"/>
                </a:solidFill>
              </a:defRPr>
            </a:pPr>
            <a:r>
              <a:rPr sz="2025" b="1">
                <a:solidFill>
                  <a:srgbClr val="F06B5F"/>
                </a:solidFill>
              </a:rPr>
              <a:t>Explain</a:t>
            </a:r>
          </a:p>
        </p:txBody>
      </p:sp>
      <p:sp>
        <p:nvSpPr>
          <p:cNvPr id="19" name="">
            <a:extLst xmlns:a="http://schemas.openxmlformats.org/drawingml/2006/main">
              <a:ext uri="{FF2B5EF4-FFF2-40B4-BE49-F238E27FC236}">
                <a16:creationId xmlns:a16="http://schemas.microsoft.com/office/drawing/2014/main" id="{A61C1595-E1EC-4429-B3E4-227D2F042128}"/>
              </a:ext>
            </a:extLst>
          </p:cNvPr>
          <p:cNvSpPr>
            <a:spLocks xmlns:a="http://schemas.openxmlformats.org/drawingml/2006/main" noGrp="1"/>
          </p:cNvSpPr>
          <p:nvPr/>
        </p:nvSpPr>
        <p:spPr>
          <a:xfrm xmlns:a="http://schemas.openxmlformats.org/drawingml/2006/main">
            <a:off x="90487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True negative (TN): actual negative, predicted negative</a:t>
            </a:r>
          </a:p>
        </p:txBody>
      </p:sp>
      <p:sp>
        <p:nvSpPr>
          <p:cNvPr id="20" name="">
            <a:extLst xmlns:a="http://schemas.openxmlformats.org/drawingml/2006/main">
              <a:ext uri="{FF2B5EF4-FFF2-40B4-BE49-F238E27FC236}">
                <a16:creationId xmlns:a16="http://schemas.microsoft.com/office/drawing/2014/main" id="{978390F4-1397-4834-B618-305D7A2553DF}"/>
              </a:ext>
            </a:extLst>
          </p:cNvPr>
          <p:cNvSpPr>
            <a:spLocks xmlns:a="http://schemas.openxmlformats.org/drawingml/2006/main" noGrp="1"/>
          </p:cNvSpPr>
          <p:nvPr/>
        </p:nvSpPr>
        <p:spPr>
          <a:xfrm xmlns:a="http://schemas.openxmlformats.org/drawingml/2006/main">
            <a:off x="9048750" y="3752850"/>
            <a:ext cx="2190750" cy="3810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FC2F643-3E9F-4B8D-82C5-BC82714130B8}"/>
              </a:ext>
            </a:extLst>
          </p:cNvPr>
          <p:cNvSpPr>
            <a:spLocks xmlns:a="http://schemas.openxmlformats.org/drawingml/2006/main" noGrp="1"/>
          </p:cNvSpPr>
          <p:nvPr/>
        </p:nvSpPr>
        <p:spPr>
          <a:xfrm xmlns:a="http://schemas.openxmlformats.org/drawingml/2006/main">
            <a:off x="90487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4</a:t>
            </a:r>
          </a:p>
        </p:txBody>
      </p:sp>
      <p:sp>
        <p:nvSpPr>
          <p:cNvPr id="22" name="">
            <a:extLst xmlns:a="http://schemas.openxmlformats.org/drawingml/2006/main">
              <a:ext uri="{FF2B5EF4-FFF2-40B4-BE49-F238E27FC236}">
                <a16:creationId xmlns:a16="http://schemas.microsoft.com/office/drawing/2014/main" id="{716289F9-653A-414E-BC98-8EE2A1FA087F}"/>
              </a:ext>
            </a:extLst>
          </p:cNvPr>
          <p:cNvSpPr>
            <a:spLocks xmlns:a="http://schemas.openxmlformats.org/drawingml/2006/main" noGrp="1"/>
          </p:cNvSpPr>
          <p:nvPr/>
        </p:nvSpPr>
        <p:spPr>
          <a:xfrm xmlns:a="http://schemas.openxmlformats.org/drawingml/2006/main">
            <a:off x="590550" y="5181600"/>
            <a:ext cx="1057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D1DEE8"/>
                </a:solidFill>
              </a:defRPr>
            </a:pPr>
            <a:r>
              <a:rPr sz="1500">
                <a:solidFill>
                  <a:srgbClr val="D1DEE8"/>
                </a:solidFill>
              </a:rPr>
              <a:t>Actual [1,1,1,0,0,0] Predicted [1,0,1,1,0,0] TP = 2 FN = 1 FP = 1 TN = 2 Total = 6.</a:t>
            </a:r>
          </a:p>
        </p:txBody>
      </p:sp>
    </p:spTree>
    <p:extLst>
      <p:ext uri="{BB962C8B-B14F-4D97-AF65-F5344CB8AC3E}">
        <p14:creationId xmlns:p14="http://schemas.microsoft.com/office/powerpoint/2010/main" val="221003699"/>
      </p:ext>
    </p:extLst>
  </p:cSld>
</p:sld>
</file>

<file path=ppt/slides/slide5.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D06F026-1CA4-436A-810E-DF735E6A45D3}"/>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M08 / L01</a:t>
            </a:r>
          </a:p>
        </p:txBody>
      </p:sp>
      <p:sp>
        <p:nvSpPr>
          <p:cNvPr id="2" name="">
            <a:extLst xmlns:a="http://schemas.openxmlformats.org/drawingml/2006/main">
              <a:ext uri="{FF2B5EF4-FFF2-40B4-BE49-F238E27FC236}">
                <a16:creationId xmlns:a16="http://schemas.microsoft.com/office/drawing/2014/main" id="{B1ED3C1A-71E8-47BB-9D09-BBE89A20386B}"/>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Classification Predicts Categories or Their Probabilities</a:t>
            </a:r>
          </a:p>
        </p:txBody>
      </p:sp>
      <p:sp>
        <p:nvSpPr>
          <p:cNvPr id="3" name="">
            <a:extLst xmlns:a="http://schemas.openxmlformats.org/drawingml/2006/main">
              <a:ext uri="{FF2B5EF4-FFF2-40B4-BE49-F238E27FC236}">
                <a16:creationId xmlns:a16="http://schemas.microsoft.com/office/drawing/2014/main" id="{07EC97BA-8CC1-4AFE-8FC2-77AC04E4B7C3}"/>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05</a:t>
            </a:r>
          </a:p>
        </p:txBody>
      </p:sp>
      <p:sp>
        <p:nvSpPr>
          <p:cNvPr id="4" name="">
            <a:extLst xmlns:a="http://schemas.openxmlformats.org/drawingml/2006/main">
              <a:ext uri="{FF2B5EF4-FFF2-40B4-BE49-F238E27FC236}">
                <a16:creationId xmlns:a16="http://schemas.microsoft.com/office/drawing/2014/main" id="{87BB0809-93C1-4926-A36C-0E616568FD84}"/>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CORE CONCEPT</a:t>
            </a:r>
          </a:p>
        </p:txBody>
      </p:sp>
      <p:sp>
        <p:nvSpPr>
          <p:cNvPr id="5" name="">
            <a:extLst xmlns:a="http://schemas.openxmlformats.org/drawingml/2006/main">
              <a:ext uri="{FF2B5EF4-FFF2-40B4-BE49-F238E27FC236}">
                <a16:creationId xmlns:a16="http://schemas.microsoft.com/office/drawing/2014/main" id="{F3149618-EE10-4E5C-8D94-88F37E8BAEB5}"/>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Accuracy Measures Overall Correctness</a:t>
            </a:r>
          </a:p>
        </p:txBody>
      </p:sp>
      <p:sp>
        <p:nvSpPr>
          <p:cNvPr id="6" name="">
            <a:extLst xmlns:a="http://schemas.openxmlformats.org/drawingml/2006/main">
              <a:ext uri="{FF2B5EF4-FFF2-40B4-BE49-F238E27FC236}">
                <a16:creationId xmlns:a16="http://schemas.microsoft.com/office/drawing/2014/main" id="{4414E5E7-63B4-46FC-981D-9F903B369FE7}"/>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CB724F8-BCB8-41B9-A886-AA5D4471E41F}"/>
              </a:ext>
            </a:extLst>
          </p:cNvPr>
          <p:cNvSpPr>
            <a:spLocks xmlns:a="http://schemas.openxmlformats.org/drawingml/2006/main" noGrp="1"/>
          </p:cNvSpPr>
          <p:nvPr/>
        </p:nvSpPr>
        <p:spPr>
          <a:xfrm xmlns:a="http://schemas.openxmlformats.org/drawingml/2006/main">
            <a:off x="609600" y="264795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D6E2EB"/>
                </a:solidFill>
              </a:defRPr>
            </a:pPr>
            <a:r>
              <a:rPr sz="1425">
                <a:solidFill>
                  <a:srgbClr val="D6E2EB"/>
                </a:solidFill>
              </a:rPr>
              <a:t>accuracy = (TP + TN) / (TP + TN + FP + FN) Accuracy answers: “What fraction of all predictions were correct?” It treats all rows and both error types equally. It can look strong when one class dominates, even if the minority class is never detected.</a:t>
            </a:r>
          </a:p>
        </p:txBody>
      </p:sp>
      <p:sp>
        <p:nvSpPr>
          <p:cNvPr id="8" name="">
            <a:extLst xmlns:a="http://schemas.openxmlformats.org/drawingml/2006/main">
              <a:ext uri="{FF2B5EF4-FFF2-40B4-BE49-F238E27FC236}">
                <a16:creationId xmlns:a16="http://schemas.microsoft.com/office/drawing/2014/main" id="{ACCE2DCD-BEA0-4943-B474-48DE5F444B45}"/>
              </a:ext>
            </a:extLst>
          </p:cNvPr>
          <p:cNvSpPr>
            <a:spLocks xmlns:a="http://schemas.openxmlformats.org/drawingml/2006/main" noGrp="1"/>
          </p:cNvSpPr>
          <p:nvPr/>
        </p:nvSpPr>
        <p:spPr>
          <a:xfrm xmlns:a="http://schemas.openxmlformats.org/drawingml/2006/main">
            <a:off x="6096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989BE7E-F283-4D41-AD5B-8AFCFD2859B4}"/>
              </a:ext>
            </a:extLst>
          </p:cNvPr>
          <p:cNvSpPr>
            <a:spLocks xmlns:a="http://schemas.openxmlformats.org/drawingml/2006/main" noGrp="1"/>
          </p:cNvSpPr>
          <p:nvPr/>
        </p:nvSpPr>
        <p:spPr>
          <a:xfrm xmlns:a="http://schemas.openxmlformats.org/drawingml/2006/main">
            <a:off x="7810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accuracy = (TP + TN) / (TP + TN + FP + FN)</a:t>
            </a:r>
          </a:p>
        </p:txBody>
      </p:sp>
      <p:sp>
        <p:nvSpPr>
          <p:cNvPr id="10" name="">
            <a:extLst xmlns:a="http://schemas.openxmlformats.org/drawingml/2006/main">
              <a:ext uri="{FF2B5EF4-FFF2-40B4-BE49-F238E27FC236}">
                <a16:creationId xmlns:a16="http://schemas.microsoft.com/office/drawing/2014/main" id="{204DEF6C-877D-4278-8DDF-B377C1E5B160}"/>
              </a:ext>
            </a:extLst>
          </p:cNvPr>
          <p:cNvSpPr>
            <a:spLocks xmlns:a="http://schemas.openxmlformats.org/drawingml/2006/main" noGrp="1"/>
          </p:cNvSpPr>
          <p:nvPr/>
        </p:nvSpPr>
        <p:spPr>
          <a:xfrm xmlns:a="http://schemas.openxmlformats.org/drawingml/2006/main">
            <a:off x="41148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EF8FDFD-DA6B-4276-A322-592D76EF3629}"/>
              </a:ext>
            </a:extLst>
          </p:cNvPr>
          <p:cNvSpPr>
            <a:spLocks xmlns:a="http://schemas.openxmlformats.org/drawingml/2006/main" noGrp="1"/>
          </p:cNvSpPr>
          <p:nvPr/>
        </p:nvSpPr>
        <p:spPr>
          <a:xfrm xmlns:a="http://schemas.openxmlformats.org/drawingml/2006/main">
            <a:off x="42862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Accuracy answers: “What fraction of all predictions were correct?”</a:t>
            </a:r>
          </a:p>
        </p:txBody>
      </p:sp>
      <p:sp>
        <p:nvSpPr>
          <p:cNvPr id="12" name="">
            <a:extLst xmlns:a="http://schemas.openxmlformats.org/drawingml/2006/main">
              <a:ext uri="{FF2B5EF4-FFF2-40B4-BE49-F238E27FC236}">
                <a16:creationId xmlns:a16="http://schemas.microsoft.com/office/drawing/2014/main" id="{4BD0E14E-208C-41DF-BF8F-DBF6B95ABC37}"/>
              </a:ext>
            </a:extLst>
          </p:cNvPr>
          <p:cNvSpPr>
            <a:spLocks xmlns:a="http://schemas.openxmlformats.org/drawingml/2006/main" noGrp="1"/>
          </p:cNvSpPr>
          <p:nvPr/>
        </p:nvSpPr>
        <p:spPr>
          <a:xfrm xmlns:a="http://schemas.openxmlformats.org/drawingml/2006/main">
            <a:off x="76200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1E018FF-7F19-4057-A1C3-8006315AA21E}"/>
              </a:ext>
            </a:extLst>
          </p:cNvPr>
          <p:cNvSpPr>
            <a:spLocks xmlns:a="http://schemas.openxmlformats.org/drawingml/2006/main" noGrp="1"/>
          </p:cNvSpPr>
          <p:nvPr/>
        </p:nvSpPr>
        <p:spPr>
          <a:xfrm xmlns:a="http://schemas.openxmlformats.org/drawingml/2006/main">
            <a:off x="77914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It treats all rows and both error types equally.</a:t>
            </a:r>
          </a:p>
        </p:txBody>
      </p:sp>
      <p:sp>
        <p:nvSpPr>
          <p:cNvPr id="14" name="">
            <a:extLst xmlns:a="http://schemas.openxmlformats.org/drawingml/2006/main">
              <a:ext uri="{FF2B5EF4-FFF2-40B4-BE49-F238E27FC236}">
                <a16:creationId xmlns:a16="http://schemas.microsoft.com/office/drawing/2014/main" id="{9F306134-928A-42C9-B86B-E2344C22F9DF}"/>
              </a:ext>
            </a:extLst>
          </p:cNvPr>
          <p:cNvSpPr>
            <a:spLocks xmlns:a="http://schemas.openxmlformats.org/drawingml/2006/main" noGrp="1"/>
          </p:cNvSpPr>
          <p:nvPr/>
        </p:nvSpPr>
        <p:spPr>
          <a:xfrm xmlns:a="http://schemas.openxmlformats.org/drawingml/2006/main">
            <a:off x="6096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247F3B1-2FFD-4FDD-9D16-306E1DD0E8AD}"/>
              </a:ext>
            </a:extLst>
          </p:cNvPr>
          <p:cNvSpPr>
            <a:spLocks xmlns:a="http://schemas.openxmlformats.org/drawingml/2006/main" noGrp="1"/>
          </p:cNvSpPr>
          <p:nvPr/>
        </p:nvSpPr>
        <p:spPr>
          <a:xfrm xmlns:a="http://schemas.openxmlformats.org/drawingml/2006/main">
            <a:off x="7810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It can look strong when one class dominates, even if the minority class is never detected.</a:t>
            </a:r>
          </a:p>
        </p:txBody>
      </p:sp>
      <p:sp>
        <p:nvSpPr>
          <p:cNvPr id="16" name="">
            <a:extLst xmlns:a="http://schemas.openxmlformats.org/drawingml/2006/main">
              <a:ext uri="{FF2B5EF4-FFF2-40B4-BE49-F238E27FC236}">
                <a16:creationId xmlns:a16="http://schemas.microsoft.com/office/drawing/2014/main" id="{FF72126C-7221-4107-BCEA-7C5FA6FDA31B}"/>
              </a:ext>
            </a:extLst>
          </p:cNvPr>
          <p:cNvSpPr>
            <a:spLocks xmlns:a="http://schemas.openxmlformats.org/drawingml/2006/main" noGrp="1"/>
          </p:cNvSpPr>
          <p:nvPr/>
        </p:nvSpPr>
        <p:spPr>
          <a:xfrm xmlns:a="http://schemas.openxmlformats.org/drawingml/2006/main">
            <a:off x="41148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2A3601B-3A56-4BCE-8656-0C3E167CFAFD}"/>
              </a:ext>
            </a:extLst>
          </p:cNvPr>
          <p:cNvSpPr>
            <a:spLocks xmlns:a="http://schemas.openxmlformats.org/drawingml/2006/main" noGrp="1"/>
          </p:cNvSpPr>
          <p:nvPr/>
        </p:nvSpPr>
        <p:spPr>
          <a:xfrm xmlns:a="http://schemas.openxmlformats.org/drawingml/2006/main">
            <a:off x="42862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Always compare with class balance and a simple baseline.</a:t>
            </a:r>
          </a:p>
        </p:txBody>
      </p:sp>
      <p:sp>
        <p:nvSpPr>
          <p:cNvPr id="18" name="">
            <a:extLst xmlns:a="http://schemas.openxmlformats.org/drawingml/2006/main">
              <a:ext uri="{FF2B5EF4-FFF2-40B4-BE49-F238E27FC236}">
                <a16:creationId xmlns:a16="http://schemas.microsoft.com/office/drawing/2014/main" id="{2DC7FED5-494F-4B6A-B439-3CAEF2D889E9}"/>
              </a:ext>
            </a:extLst>
          </p:cNvPr>
          <p:cNvSpPr>
            <a:spLocks xmlns:a="http://schemas.openxmlformats.org/drawingml/2006/main" noGrp="1"/>
          </p:cNvSpPr>
          <p:nvPr/>
        </p:nvSpPr>
        <p:spPr>
          <a:xfrm xmlns:a="http://schemas.openxmlformats.org/drawingml/2006/main">
            <a:off x="76200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C685B06-C3B5-4B56-A4C7-ABA713BD4B82}"/>
              </a:ext>
            </a:extLst>
          </p:cNvPr>
          <p:cNvSpPr>
            <a:spLocks xmlns:a="http://schemas.openxmlformats.org/drawingml/2006/main" noGrp="1"/>
          </p:cNvSpPr>
          <p:nvPr/>
        </p:nvSpPr>
        <p:spPr>
          <a:xfrm xmlns:a="http://schemas.openxmlformats.org/drawingml/2006/main">
            <a:off x="77914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From TP 2, TN 2, FP 1, FN 1:</a:t>
            </a:r>
          </a:p>
        </p:txBody>
      </p:sp>
    </p:spTree>
    <p:extLst>
      <p:ext uri="{BB962C8B-B14F-4D97-AF65-F5344CB8AC3E}">
        <p14:creationId xmlns:p14="http://schemas.microsoft.com/office/powerpoint/2010/main" val="1428984794"/>
      </p:ext>
    </p:extLst>
  </p:cSld>
</p:sld>
</file>

<file path=ppt/slides/slide6.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0CC87E9-F4A4-41C5-958E-5EB521D24995}"/>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M08 / L01</a:t>
            </a:r>
          </a:p>
        </p:txBody>
      </p:sp>
      <p:sp>
        <p:nvSpPr>
          <p:cNvPr id="2" name="">
            <a:extLst xmlns:a="http://schemas.openxmlformats.org/drawingml/2006/main">
              <a:ext uri="{FF2B5EF4-FFF2-40B4-BE49-F238E27FC236}">
                <a16:creationId xmlns:a16="http://schemas.microsoft.com/office/drawing/2014/main" id="{1F1F24E3-12E3-4A20-817E-101DB1B7ABB9}"/>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Classification Predicts Categories or Their Probabilities</a:t>
            </a:r>
          </a:p>
        </p:txBody>
      </p:sp>
      <p:sp>
        <p:nvSpPr>
          <p:cNvPr id="3" name="">
            <a:extLst xmlns:a="http://schemas.openxmlformats.org/drawingml/2006/main">
              <a:ext uri="{FF2B5EF4-FFF2-40B4-BE49-F238E27FC236}">
                <a16:creationId xmlns:a16="http://schemas.microsoft.com/office/drawing/2014/main" id="{E9037C01-4397-4AD4-85D2-2AB384EBC82B}"/>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06</a:t>
            </a:r>
          </a:p>
        </p:txBody>
      </p:sp>
      <p:sp>
        <p:nvSpPr>
          <p:cNvPr id="4" name="">
            <a:extLst xmlns:a="http://schemas.openxmlformats.org/drawingml/2006/main">
              <a:ext uri="{FF2B5EF4-FFF2-40B4-BE49-F238E27FC236}">
                <a16:creationId xmlns:a16="http://schemas.microsoft.com/office/drawing/2014/main" id="{5743E1A9-8261-4A8C-BCFF-98FDCB95003B}"/>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DC217FD5-B3BD-438D-AC1D-0E8294E96EEF}"/>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0B1220"/>
                </a:solidFill>
              </a:defRPr>
            </a:pPr>
            <a:r>
              <a:rPr sz="2625" b="1">
                <a:solidFill>
                  <a:srgbClr val="0B1220"/>
                </a:solidFill>
              </a:rPr>
              <a:t>Precision and Recall Answer Different Questions</a:t>
            </a:r>
          </a:p>
        </p:txBody>
      </p:sp>
      <p:sp>
        <p:nvSpPr>
          <p:cNvPr id="6" name="">
            <a:extLst xmlns:a="http://schemas.openxmlformats.org/drawingml/2006/main">
              <a:ext uri="{FF2B5EF4-FFF2-40B4-BE49-F238E27FC236}">
                <a16:creationId xmlns:a16="http://schemas.microsoft.com/office/drawing/2014/main" id="{9A864D03-1A75-48F4-887B-D2B23729449C}"/>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16A5086-D2E5-4C9D-990A-68203C86648A}"/>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186B295-EFBD-4182-ABD2-E038EB1618CD}"/>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2F968BD-0949-4010-A8BD-EE4A43DA8332}"/>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F4D8F5F-0A24-4A71-BFEA-574449A5CD1D}"/>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975C39E-B365-4B91-8F17-BE4C76A8C14B}"/>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from sklearn.metrics import precision_score, recall_score</a:t>
            </a:r>
          </a:p>
          <a:p xmlns:a="http://schemas.openxmlformats.org/drawingml/2006/main">
            <a:r>
              <a:t/>
            </a:r>
          </a:p>
          <a:p xmlns:a="http://schemas.openxmlformats.org/drawingml/2006/main">
            <a:pPr>
              <a:defRPr sz="1125">
                <a:solidFill>
                  <a:srgbClr val="E8F1F7"/>
                </a:solidFill>
              </a:defRPr>
            </a:pPr>
            <a:r>
              <a:rPr sz="1125">
                <a:solidFill>
                  <a:srgbClr val="E8F1F7"/>
                </a:solidFill>
              </a:rPr>
              <a:t>print(precision_score(y_true, y_pred))</a:t>
            </a:r>
          </a:p>
          <a:p xmlns:a="http://schemas.openxmlformats.org/drawingml/2006/main">
            <a:pPr>
              <a:defRPr sz="1125">
                <a:solidFill>
                  <a:srgbClr val="E8F1F7"/>
                </a:solidFill>
              </a:defRPr>
            </a:pPr>
            <a:r>
              <a:rPr sz="1125">
                <a:solidFill>
                  <a:srgbClr val="E8F1F7"/>
                </a:solidFill>
              </a:rPr>
              <a:t>print(recall_score(y_true, y_pred))</a:t>
            </a:r>
          </a:p>
        </p:txBody>
      </p:sp>
      <p:sp>
        <p:nvSpPr>
          <p:cNvPr id="12" name="">
            <a:extLst xmlns:a="http://schemas.openxmlformats.org/drawingml/2006/main">
              <a:ext uri="{FF2B5EF4-FFF2-40B4-BE49-F238E27FC236}">
                <a16:creationId xmlns:a16="http://schemas.microsoft.com/office/drawing/2014/main" id="{0257450E-4E90-43D2-B160-414756F7DEFC}"/>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93A6CC88-4D38-4BF9-BED7-BB7A45935D74}"/>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EC642387-CE55-446F-844F-B24FE30540AA}"/>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0.6666666666666666</a:t>
            </a:r>
          </a:p>
          <a:p xmlns:a="http://schemas.openxmlformats.org/drawingml/2006/main">
            <a:pPr>
              <a:defRPr sz="1050">
                <a:solidFill>
                  <a:srgbClr val="0B1220"/>
                </a:solidFill>
              </a:defRPr>
            </a:pPr>
            <a:r>
              <a:rPr sz="1050">
                <a:solidFill>
                  <a:srgbClr val="0B1220"/>
                </a:solidFill>
              </a:rPr>
              <a:t>0.6666666666666666</a:t>
            </a:r>
          </a:p>
        </p:txBody>
      </p:sp>
      <p:sp>
        <p:nvSpPr>
          <p:cNvPr id="15" name="">
            <a:extLst xmlns:a="http://schemas.openxmlformats.org/drawingml/2006/main">
              <a:ext uri="{FF2B5EF4-FFF2-40B4-BE49-F238E27FC236}">
                <a16:creationId xmlns:a16="http://schemas.microsoft.com/office/drawing/2014/main" id="{45770B79-2C28-41C7-9B62-F994CFB335C9}"/>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962E50D-988C-4414-B36E-F258B8F44AFF}"/>
              </a:ext>
            </a:extLst>
          </p:cNvPr>
          <p:cNvSpPr>
            <a:spLocks xmlns:a="http://schemas.openxmlformats.org/drawingml/2006/main" noGrp="1"/>
          </p:cNvSpPr>
          <p:nvPr/>
        </p:nvSpPr>
        <p:spPr>
          <a:xfrm xmlns:a="http://schemas.openxmlformats.org/drawingml/2006/main">
            <a:off x="723900" y="58293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8 / (8 + 4) = 8/12 = 0.667</a:t>
            </a:r>
          </a:p>
        </p:txBody>
      </p:sp>
    </p:spTree>
    <p:extLst>
      <p:ext uri="{BB962C8B-B14F-4D97-AF65-F5344CB8AC3E}">
        <p14:creationId xmlns:p14="http://schemas.microsoft.com/office/powerpoint/2010/main" val="1389281062"/>
      </p:ext>
    </p:extLst>
  </p:cSld>
</p:sld>
</file>

<file path=ppt/slides/slide7.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CF0EEFD-5673-4B88-A87C-5FF848D134D6}"/>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M08 / L01</a:t>
            </a:r>
          </a:p>
        </p:txBody>
      </p:sp>
      <p:sp>
        <p:nvSpPr>
          <p:cNvPr id="2" name="">
            <a:extLst xmlns:a="http://schemas.openxmlformats.org/drawingml/2006/main">
              <a:ext uri="{FF2B5EF4-FFF2-40B4-BE49-F238E27FC236}">
                <a16:creationId xmlns:a16="http://schemas.microsoft.com/office/drawing/2014/main" id="{F80C4B93-2243-4425-8ED5-2567DD998064}"/>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Classification Predicts Categories or Their Probabilities</a:t>
            </a:r>
          </a:p>
        </p:txBody>
      </p:sp>
      <p:sp>
        <p:nvSpPr>
          <p:cNvPr id="3" name="">
            <a:extLst xmlns:a="http://schemas.openxmlformats.org/drawingml/2006/main">
              <a:ext uri="{FF2B5EF4-FFF2-40B4-BE49-F238E27FC236}">
                <a16:creationId xmlns:a16="http://schemas.microsoft.com/office/drawing/2014/main" id="{294736BA-0CD1-40C5-9F9A-3A2A87FA1185}"/>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07</a:t>
            </a:r>
          </a:p>
        </p:txBody>
      </p:sp>
      <p:sp>
        <p:nvSpPr>
          <p:cNvPr id="4" name="">
            <a:extLst xmlns:a="http://schemas.openxmlformats.org/drawingml/2006/main">
              <a:ext uri="{FF2B5EF4-FFF2-40B4-BE49-F238E27FC236}">
                <a16:creationId xmlns:a16="http://schemas.microsoft.com/office/drawing/2014/main" id="{38F1A8C5-8EAE-4C72-A2E2-35D7F20D2DFC}"/>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CORE CONCEPT</a:t>
            </a:r>
          </a:p>
        </p:txBody>
      </p:sp>
      <p:sp>
        <p:nvSpPr>
          <p:cNvPr id="5" name="">
            <a:extLst xmlns:a="http://schemas.openxmlformats.org/drawingml/2006/main">
              <a:ext uri="{FF2B5EF4-FFF2-40B4-BE49-F238E27FC236}">
                <a16:creationId xmlns:a16="http://schemas.microsoft.com/office/drawing/2014/main" id="{C83A05C2-F1B8-4535-BCE6-E0A068A24DD5}"/>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F1 Balances Precision and Recall</a:t>
            </a:r>
          </a:p>
        </p:txBody>
      </p:sp>
      <p:sp>
        <p:nvSpPr>
          <p:cNvPr id="6" name="">
            <a:extLst xmlns:a="http://schemas.openxmlformats.org/drawingml/2006/main">
              <a:ext uri="{FF2B5EF4-FFF2-40B4-BE49-F238E27FC236}">
                <a16:creationId xmlns:a16="http://schemas.microsoft.com/office/drawing/2014/main" id="{D7838072-AD6C-43A5-8C5E-74A788C3D098}"/>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0642335-8993-41DE-88C6-2C79AB9DF566}"/>
              </a:ext>
            </a:extLst>
          </p:cNvPr>
          <p:cNvSpPr>
            <a:spLocks xmlns:a="http://schemas.openxmlformats.org/drawingml/2006/main" noGrp="1"/>
          </p:cNvSpPr>
          <p:nvPr/>
        </p:nvSpPr>
        <p:spPr>
          <a:xfrm xmlns:a="http://schemas.openxmlformats.org/drawingml/2006/main">
            <a:off x="609600" y="264795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D6E2EB"/>
                </a:solidFill>
              </a:defRPr>
            </a:pPr>
            <a:r>
              <a:rPr sz="1275">
                <a:solidFill>
                  <a:srgbClr val="D6E2EB"/>
                </a:solidFill>
              </a:rPr>
              <a:t>The F1 score is the harmonic mean of precision and recall: F1 = 2 x (precision x recall) / (precision + recall) F1 is high only when both precision and recall are high. It ignores true negatives, so it should be chosen because positive-class detection matters, not simply because it is popular.</a:t>
            </a:r>
          </a:p>
        </p:txBody>
      </p:sp>
      <p:sp>
        <p:nvSpPr>
          <p:cNvPr id="8" name="">
            <a:extLst xmlns:a="http://schemas.openxmlformats.org/drawingml/2006/main">
              <a:ext uri="{FF2B5EF4-FFF2-40B4-BE49-F238E27FC236}">
                <a16:creationId xmlns:a16="http://schemas.microsoft.com/office/drawing/2014/main" id="{9BD7352D-0585-40E9-B99A-A2CB10E1D7BD}"/>
              </a:ext>
            </a:extLst>
          </p:cNvPr>
          <p:cNvSpPr>
            <a:spLocks xmlns:a="http://schemas.openxmlformats.org/drawingml/2006/main" noGrp="1"/>
          </p:cNvSpPr>
          <p:nvPr/>
        </p:nvSpPr>
        <p:spPr>
          <a:xfrm xmlns:a="http://schemas.openxmlformats.org/drawingml/2006/main">
            <a:off x="6096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A175A6C-0869-47B7-81A9-944BEC08CCFE}"/>
              </a:ext>
            </a:extLst>
          </p:cNvPr>
          <p:cNvSpPr>
            <a:spLocks xmlns:a="http://schemas.openxmlformats.org/drawingml/2006/main" noGrp="1"/>
          </p:cNvSpPr>
          <p:nvPr/>
        </p:nvSpPr>
        <p:spPr>
          <a:xfrm xmlns:a="http://schemas.openxmlformats.org/drawingml/2006/main">
            <a:off x="7810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The F1 score is the harmonic mean of precision and recall:</a:t>
            </a:r>
          </a:p>
        </p:txBody>
      </p:sp>
      <p:sp>
        <p:nvSpPr>
          <p:cNvPr id="10" name="">
            <a:extLst xmlns:a="http://schemas.openxmlformats.org/drawingml/2006/main">
              <a:ext uri="{FF2B5EF4-FFF2-40B4-BE49-F238E27FC236}">
                <a16:creationId xmlns:a16="http://schemas.microsoft.com/office/drawing/2014/main" id="{DB17FF97-933F-4A32-89B0-AD5876C2D531}"/>
              </a:ext>
            </a:extLst>
          </p:cNvPr>
          <p:cNvSpPr>
            <a:spLocks xmlns:a="http://schemas.openxmlformats.org/drawingml/2006/main" noGrp="1"/>
          </p:cNvSpPr>
          <p:nvPr/>
        </p:nvSpPr>
        <p:spPr>
          <a:xfrm xmlns:a="http://schemas.openxmlformats.org/drawingml/2006/main">
            <a:off x="41148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D5F1221-2FB5-45AF-9963-7F32EBB588A3}"/>
              </a:ext>
            </a:extLst>
          </p:cNvPr>
          <p:cNvSpPr>
            <a:spLocks xmlns:a="http://schemas.openxmlformats.org/drawingml/2006/main" noGrp="1"/>
          </p:cNvSpPr>
          <p:nvPr/>
        </p:nvSpPr>
        <p:spPr>
          <a:xfrm xmlns:a="http://schemas.openxmlformats.org/drawingml/2006/main">
            <a:off x="42862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F1 = 2 x (precision x recall) / (precision + recall)</a:t>
            </a:r>
          </a:p>
        </p:txBody>
      </p:sp>
      <p:sp>
        <p:nvSpPr>
          <p:cNvPr id="12" name="">
            <a:extLst xmlns:a="http://schemas.openxmlformats.org/drawingml/2006/main">
              <a:ext uri="{FF2B5EF4-FFF2-40B4-BE49-F238E27FC236}">
                <a16:creationId xmlns:a16="http://schemas.microsoft.com/office/drawing/2014/main" id="{010AC316-A834-400B-8964-1238D889E1B7}"/>
              </a:ext>
            </a:extLst>
          </p:cNvPr>
          <p:cNvSpPr>
            <a:spLocks xmlns:a="http://schemas.openxmlformats.org/drawingml/2006/main" noGrp="1"/>
          </p:cNvSpPr>
          <p:nvPr/>
        </p:nvSpPr>
        <p:spPr>
          <a:xfrm xmlns:a="http://schemas.openxmlformats.org/drawingml/2006/main">
            <a:off x="76200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5EBE8A9-B5BD-4DCD-9942-A0E3FD4AA3A5}"/>
              </a:ext>
            </a:extLst>
          </p:cNvPr>
          <p:cNvSpPr>
            <a:spLocks xmlns:a="http://schemas.openxmlformats.org/drawingml/2006/main" noGrp="1"/>
          </p:cNvSpPr>
          <p:nvPr/>
        </p:nvSpPr>
        <p:spPr>
          <a:xfrm xmlns:a="http://schemas.openxmlformats.org/drawingml/2006/main">
            <a:off x="77914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F1 is high only when both precision and recall are high.</a:t>
            </a:r>
          </a:p>
        </p:txBody>
      </p:sp>
      <p:sp>
        <p:nvSpPr>
          <p:cNvPr id="14" name="">
            <a:extLst xmlns:a="http://schemas.openxmlformats.org/drawingml/2006/main">
              <a:ext uri="{FF2B5EF4-FFF2-40B4-BE49-F238E27FC236}">
                <a16:creationId xmlns:a16="http://schemas.microsoft.com/office/drawing/2014/main" id="{550D0680-97A4-421B-B6DE-16C38A8720B0}"/>
              </a:ext>
            </a:extLst>
          </p:cNvPr>
          <p:cNvSpPr>
            <a:spLocks xmlns:a="http://schemas.openxmlformats.org/drawingml/2006/main" noGrp="1"/>
          </p:cNvSpPr>
          <p:nvPr/>
        </p:nvSpPr>
        <p:spPr>
          <a:xfrm xmlns:a="http://schemas.openxmlformats.org/drawingml/2006/main">
            <a:off x="6096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9B4B486-EF24-4114-8AF3-EB1264A7411F}"/>
              </a:ext>
            </a:extLst>
          </p:cNvPr>
          <p:cNvSpPr>
            <a:spLocks xmlns:a="http://schemas.openxmlformats.org/drawingml/2006/main" noGrp="1"/>
          </p:cNvSpPr>
          <p:nvPr/>
        </p:nvSpPr>
        <p:spPr>
          <a:xfrm xmlns:a="http://schemas.openxmlformats.org/drawingml/2006/main">
            <a:off x="7810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It ignores true negatives, so it should be chosen because positive-class detection matters, not simply because it is popular.</a:t>
            </a:r>
          </a:p>
        </p:txBody>
      </p:sp>
      <p:sp>
        <p:nvSpPr>
          <p:cNvPr id="16" name="">
            <a:extLst xmlns:a="http://schemas.openxmlformats.org/drawingml/2006/main">
              <a:ext uri="{FF2B5EF4-FFF2-40B4-BE49-F238E27FC236}">
                <a16:creationId xmlns:a16="http://schemas.microsoft.com/office/drawing/2014/main" id="{36E47A73-C6F4-4B2B-AF33-B6D9C0C0EC1F}"/>
              </a:ext>
            </a:extLst>
          </p:cNvPr>
          <p:cNvSpPr>
            <a:spLocks xmlns:a="http://schemas.openxmlformats.org/drawingml/2006/main" noGrp="1"/>
          </p:cNvSpPr>
          <p:nvPr/>
        </p:nvSpPr>
        <p:spPr>
          <a:xfrm xmlns:a="http://schemas.openxmlformats.org/drawingml/2006/main">
            <a:off x="41148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62C82EB-C7F6-4A10-9E19-E02C428439FF}"/>
              </a:ext>
            </a:extLst>
          </p:cNvPr>
          <p:cNvSpPr>
            <a:spLocks xmlns:a="http://schemas.openxmlformats.org/drawingml/2006/main" noGrp="1"/>
          </p:cNvSpPr>
          <p:nvPr/>
        </p:nvSpPr>
        <p:spPr>
          <a:xfrm xmlns:a="http://schemas.openxmlformats.org/drawingml/2006/main">
            <a:off x="42862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For multiclass data, macro, micro, and weighted averaging answer different questions.</a:t>
            </a:r>
          </a:p>
        </p:txBody>
      </p:sp>
      <p:sp>
        <p:nvSpPr>
          <p:cNvPr id="18" name="">
            <a:extLst xmlns:a="http://schemas.openxmlformats.org/drawingml/2006/main">
              <a:ext uri="{FF2B5EF4-FFF2-40B4-BE49-F238E27FC236}">
                <a16:creationId xmlns:a16="http://schemas.microsoft.com/office/drawing/2014/main" id="{96818D7A-9C17-4C37-AED0-102C6877B600}"/>
              </a:ext>
            </a:extLst>
          </p:cNvPr>
          <p:cNvSpPr>
            <a:spLocks xmlns:a="http://schemas.openxmlformats.org/drawingml/2006/main" noGrp="1"/>
          </p:cNvSpPr>
          <p:nvPr/>
        </p:nvSpPr>
        <p:spPr>
          <a:xfrm xmlns:a="http://schemas.openxmlformats.org/drawingml/2006/main">
            <a:off x="76200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7CA405C-7750-4FCE-9230-3CDD5BABD413}"/>
              </a:ext>
            </a:extLst>
          </p:cNvPr>
          <p:cNvSpPr>
            <a:spLocks xmlns:a="http://schemas.openxmlformats.org/drawingml/2006/main" noGrp="1"/>
          </p:cNvSpPr>
          <p:nvPr/>
        </p:nvSpPr>
        <p:spPr>
          <a:xfrm xmlns:a="http://schemas.openxmlformats.org/drawingml/2006/main">
            <a:off x="77914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Precision 0.80, recall 0.667</a:t>
            </a:r>
          </a:p>
        </p:txBody>
      </p:sp>
    </p:spTree>
    <p:extLst>
      <p:ext uri="{BB962C8B-B14F-4D97-AF65-F5344CB8AC3E}">
        <p14:creationId xmlns:p14="http://schemas.microsoft.com/office/powerpoint/2010/main" val="1650586312"/>
      </p:ext>
    </p:extLst>
  </p:cSld>
</p:sld>
</file>

<file path=ppt/slides/slide8.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DE482BC-499A-4267-9A79-A2B627C4C7DC}"/>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M08 / L01</a:t>
            </a:r>
          </a:p>
        </p:txBody>
      </p:sp>
      <p:sp>
        <p:nvSpPr>
          <p:cNvPr id="2" name="">
            <a:extLst xmlns:a="http://schemas.openxmlformats.org/drawingml/2006/main">
              <a:ext uri="{FF2B5EF4-FFF2-40B4-BE49-F238E27FC236}">
                <a16:creationId xmlns:a16="http://schemas.microsoft.com/office/drawing/2014/main" id="{7747A1EF-37D5-4A07-9077-900CE9287F2E}"/>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Classification Predicts Categories or Their Probabilities</a:t>
            </a:r>
          </a:p>
        </p:txBody>
      </p:sp>
      <p:sp>
        <p:nvSpPr>
          <p:cNvPr id="3" name="">
            <a:extLst xmlns:a="http://schemas.openxmlformats.org/drawingml/2006/main">
              <a:ext uri="{FF2B5EF4-FFF2-40B4-BE49-F238E27FC236}">
                <a16:creationId xmlns:a16="http://schemas.microsoft.com/office/drawing/2014/main" id="{9CDEAB39-0732-411F-A0B1-B314B19272E3}"/>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08</a:t>
            </a:r>
          </a:p>
        </p:txBody>
      </p:sp>
      <p:sp>
        <p:nvSpPr>
          <p:cNvPr id="4" name="">
            <a:extLst xmlns:a="http://schemas.openxmlformats.org/drawingml/2006/main">
              <a:ext uri="{FF2B5EF4-FFF2-40B4-BE49-F238E27FC236}">
                <a16:creationId xmlns:a16="http://schemas.microsoft.com/office/drawing/2014/main" id="{E7D9034B-6B25-4FCB-B3A1-D5AF08DE8917}"/>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REASONING SEQUENCE</a:t>
            </a:r>
          </a:p>
        </p:txBody>
      </p:sp>
      <p:sp>
        <p:nvSpPr>
          <p:cNvPr id="5" name="">
            <a:extLst xmlns:a="http://schemas.openxmlformats.org/drawingml/2006/main">
              <a:ext uri="{FF2B5EF4-FFF2-40B4-BE49-F238E27FC236}">
                <a16:creationId xmlns:a16="http://schemas.microsoft.com/office/drawing/2014/main" id="{15C65A79-85C8-40E8-BD68-74FD37049A5B}"/>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ROC-AUC Evaluates Ranking Across Thresholds</a:t>
            </a:r>
          </a:p>
        </p:txBody>
      </p:sp>
      <p:sp>
        <p:nvSpPr>
          <p:cNvPr id="6" name="">
            <a:extLst xmlns:a="http://schemas.openxmlformats.org/drawingml/2006/main">
              <a:ext uri="{FF2B5EF4-FFF2-40B4-BE49-F238E27FC236}">
                <a16:creationId xmlns:a16="http://schemas.microsoft.com/office/drawing/2014/main" id="{A70DABAB-C584-46AD-9C90-48C1CCD30527}"/>
              </a:ext>
            </a:extLst>
          </p:cNvPr>
          <p:cNvSpPr>
            <a:spLocks xmlns:a="http://schemas.openxmlformats.org/drawingml/2006/main" noGrp="1"/>
          </p:cNvSpPr>
          <p:nvPr/>
        </p:nvSpPr>
        <p:spPr>
          <a:xfrm xmlns:a="http://schemas.openxmlformats.org/drawingml/2006/main">
            <a:off x="5905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Frame</a:t>
            </a:r>
          </a:p>
        </p:txBody>
      </p:sp>
      <p:sp>
        <p:nvSpPr>
          <p:cNvPr id="7" name="">
            <a:extLst xmlns:a="http://schemas.openxmlformats.org/drawingml/2006/main">
              <a:ext uri="{FF2B5EF4-FFF2-40B4-BE49-F238E27FC236}">
                <a16:creationId xmlns:a16="http://schemas.microsoft.com/office/drawing/2014/main" id="{631306EE-754E-4663-83C5-DB42166CA722}"/>
              </a:ext>
            </a:extLst>
          </p:cNvPr>
          <p:cNvSpPr>
            <a:spLocks xmlns:a="http://schemas.openxmlformats.org/drawingml/2006/main" noGrp="1"/>
          </p:cNvSpPr>
          <p:nvPr/>
        </p:nvSpPr>
        <p:spPr>
          <a:xfrm xmlns:a="http://schemas.openxmlformats.org/drawingml/2006/main">
            <a:off x="5905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true positive rate, which equals recall;</a:t>
            </a:r>
          </a:p>
        </p:txBody>
      </p:sp>
      <p:sp>
        <p:nvSpPr>
          <p:cNvPr id="8" name="">
            <a:extLst xmlns:a="http://schemas.openxmlformats.org/drawingml/2006/main">
              <a:ext uri="{FF2B5EF4-FFF2-40B4-BE49-F238E27FC236}">
                <a16:creationId xmlns:a16="http://schemas.microsoft.com/office/drawing/2014/main" id="{E66E423E-C675-48A8-8F90-5E723CC35081}"/>
              </a:ext>
            </a:extLst>
          </p:cNvPr>
          <p:cNvSpPr>
            <a:spLocks xmlns:a="http://schemas.openxmlformats.org/drawingml/2006/main" noGrp="1"/>
          </p:cNvSpPr>
          <p:nvPr/>
        </p:nvSpPr>
        <p:spPr>
          <a:xfrm xmlns:a="http://schemas.openxmlformats.org/drawingml/2006/main">
            <a:off x="5905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CDE2DB4-335A-4217-9D68-206F8C6DD653}"/>
              </a:ext>
            </a:extLst>
          </p:cNvPr>
          <p:cNvSpPr>
            <a:spLocks xmlns:a="http://schemas.openxmlformats.org/drawingml/2006/main" noGrp="1"/>
          </p:cNvSpPr>
          <p:nvPr/>
        </p:nvSpPr>
        <p:spPr>
          <a:xfrm xmlns:a="http://schemas.openxmlformats.org/drawingml/2006/main">
            <a:off x="5905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1</a:t>
            </a:r>
          </a:p>
        </p:txBody>
      </p:sp>
      <p:sp>
        <p:nvSpPr>
          <p:cNvPr id="10" name="">
            <a:extLst xmlns:a="http://schemas.openxmlformats.org/drawingml/2006/main">
              <a:ext uri="{FF2B5EF4-FFF2-40B4-BE49-F238E27FC236}">
                <a16:creationId xmlns:a16="http://schemas.microsoft.com/office/drawing/2014/main" id="{93679232-1A3D-415D-BBC2-60A27C955567}"/>
              </a:ext>
            </a:extLst>
          </p:cNvPr>
          <p:cNvSpPr>
            <a:spLocks xmlns:a="http://schemas.openxmlformats.org/drawingml/2006/main" noGrp="1"/>
          </p:cNvSpPr>
          <p:nvPr/>
        </p:nvSpPr>
        <p:spPr>
          <a:xfrm xmlns:a="http://schemas.openxmlformats.org/drawingml/2006/main">
            <a:off x="34099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Transform</a:t>
            </a:r>
          </a:p>
        </p:txBody>
      </p:sp>
      <p:sp>
        <p:nvSpPr>
          <p:cNvPr id="11" name="">
            <a:extLst xmlns:a="http://schemas.openxmlformats.org/drawingml/2006/main">
              <a:ext uri="{FF2B5EF4-FFF2-40B4-BE49-F238E27FC236}">
                <a16:creationId xmlns:a16="http://schemas.microsoft.com/office/drawing/2014/main" id="{5D02A138-6AEC-4DEE-A859-F9DA4DC7229C}"/>
              </a:ext>
            </a:extLst>
          </p:cNvPr>
          <p:cNvSpPr>
            <a:spLocks xmlns:a="http://schemas.openxmlformats.org/drawingml/2006/main" noGrp="1"/>
          </p:cNvSpPr>
          <p:nvPr/>
        </p:nvSpPr>
        <p:spPr>
          <a:xfrm xmlns:a="http://schemas.openxmlformats.org/drawingml/2006/main">
            <a:off x="34099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false positive rate FP / (FP + TN);</a:t>
            </a:r>
          </a:p>
        </p:txBody>
      </p:sp>
      <p:sp>
        <p:nvSpPr>
          <p:cNvPr id="12" name="">
            <a:extLst xmlns:a="http://schemas.openxmlformats.org/drawingml/2006/main">
              <a:ext uri="{FF2B5EF4-FFF2-40B4-BE49-F238E27FC236}">
                <a16:creationId xmlns:a16="http://schemas.microsoft.com/office/drawing/2014/main" id="{D670CA87-B7CE-4758-8919-2B16D6EC9A82}"/>
              </a:ext>
            </a:extLst>
          </p:cNvPr>
          <p:cNvSpPr>
            <a:spLocks xmlns:a="http://schemas.openxmlformats.org/drawingml/2006/main" noGrp="1"/>
          </p:cNvSpPr>
          <p:nvPr/>
        </p:nvSpPr>
        <p:spPr>
          <a:xfrm xmlns:a="http://schemas.openxmlformats.org/drawingml/2006/main">
            <a:off x="34099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C28C765-A006-473A-9DE0-01B1F820E356}"/>
              </a:ext>
            </a:extLst>
          </p:cNvPr>
          <p:cNvSpPr>
            <a:spLocks xmlns:a="http://schemas.openxmlformats.org/drawingml/2006/main" noGrp="1"/>
          </p:cNvSpPr>
          <p:nvPr/>
        </p:nvSpPr>
        <p:spPr>
          <a:xfrm xmlns:a="http://schemas.openxmlformats.org/drawingml/2006/main">
            <a:off x="34099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2</a:t>
            </a:r>
          </a:p>
        </p:txBody>
      </p:sp>
      <p:sp>
        <p:nvSpPr>
          <p:cNvPr id="14" name="">
            <a:extLst xmlns:a="http://schemas.openxmlformats.org/drawingml/2006/main">
              <a:ext uri="{FF2B5EF4-FFF2-40B4-BE49-F238E27FC236}">
                <a16:creationId xmlns:a16="http://schemas.microsoft.com/office/drawing/2014/main" id="{AD487952-2BA5-4A93-89E9-95074D843213}"/>
              </a:ext>
            </a:extLst>
          </p:cNvPr>
          <p:cNvSpPr>
            <a:spLocks xmlns:a="http://schemas.openxmlformats.org/drawingml/2006/main" noGrp="1"/>
          </p:cNvSpPr>
          <p:nvPr/>
        </p:nvSpPr>
        <p:spPr>
          <a:xfrm xmlns:a="http://schemas.openxmlformats.org/drawingml/2006/main">
            <a:off x="62293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Validate</a:t>
            </a:r>
          </a:p>
        </p:txBody>
      </p:sp>
      <p:sp>
        <p:nvSpPr>
          <p:cNvPr id="15" name="">
            <a:extLst xmlns:a="http://schemas.openxmlformats.org/drawingml/2006/main">
              <a:ext uri="{FF2B5EF4-FFF2-40B4-BE49-F238E27FC236}">
                <a16:creationId xmlns:a16="http://schemas.microsoft.com/office/drawing/2014/main" id="{14F991CD-E2E1-48AE-AE8F-562D566E708F}"/>
              </a:ext>
            </a:extLst>
          </p:cNvPr>
          <p:cNvSpPr>
            <a:spLocks xmlns:a="http://schemas.openxmlformats.org/drawingml/2006/main" noGrp="1"/>
          </p:cNvSpPr>
          <p:nvPr/>
        </p:nvSpPr>
        <p:spPr>
          <a:xfrm xmlns:a="http://schemas.openxmlformats.org/drawingml/2006/main">
            <a:off x="62293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across many thresholds.</a:t>
            </a:r>
          </a:p>
        </p:txBody>
      </p:sp>
      <p:sp>
        <p:nvSpPr>
          <p:cNvPr id="16" name="">
            <a:extLst xmlns:a="http://schemas.openxmlformats.org/drawingml/2006/main">
              <a:ext uri="{FF2B5EF4-FFF2-40B4-BE49-F238E27FC236}">
                <a16:creationId xmlns:a16="http://schemas.microsoft.com/office/drawing/2014/main" id="{4423F1E3-800E-4D03-AC73-722DE27C36FF}"/>
              </a:ext>
            </a:extLst>
          </p:cNvPr>
          <p:cNvSpPr>
            <a:spLocks xmlns:a="http://schemas.openxmlformats.org/drawingml/2006/main" noGrp="1"/>
          </p:cNvSpPr>
          <p:nvPr/>
        </p:nvSpPr>
        <p:spPr>
          <a:xfrm xmlns:a="http://schemas.openxmlformats.org/drawingml/2006/main">
            <a:off x="62293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561B987-7BB5-44D8-A14C-F1AFC5D9E3BC}"/>
              </a:ext>
            </a:extLst>
          </p:cNvPr>
          <p:cNvSpPr>
            <a:spLocks xmlns:a="http://schemas.openxmlformats.org/drawingml/2006/main" noGrp="1"/>
          </p:cNvSpPr>
          <p:nvPr/>
        </p:nvSpPr>
        <p:spPr>
          <a:xfrm xmlns:a="http://schemas.openxmlformats.org/drawingml/2006/main">
            <a:off x="62293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3</a:t>
            </a:r>
          </a:p>
        </p:txBody>
      </p:sp>
      <p:sp>
        <p:nvSpPr>
          <p:cNvPr id="18" name="">
            <a:extLst xmlns:a="http://schemas.openxmlformats.org/drawingml/2006/main">
              <a:ext uri="{FF2B5EF4-FFF2-40B4-BE49-F238E27FC236}">
                <a16:creationId xmlns:a16="http://schemas.microsoft.com/office/drawing/2014/main" id="{A1E30B21-4726-4DD0-A60A-25EDCCE41EA4}"/>
              </a:ext>
            </a:extLst>
          </p:cNvPr>
          <p:cNvSpPr>
            <a:spLocks xmlns:a="http://schemas.openxmlformats.org/drawingml/2006/main" noGrp="1"/>
          </p:cNvSpPr>
          <p:nvPr/>
        </p:nvSpPr>
        <p:spPr>
          <a:xfrm xmlns:a="http://schemas.openxmlformats.org/drawingml/2006/main">
            <a:off x="590550" y="5181600"/>
            <a:ext cx="1057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D1DEE8"/>
                </a:solidFill>
              </a:defRPr>
            </a:pPr>
            <a:r>
              <a:rPr sz="1350">
                <a:solidFill>
                  <a:srgbClr val="D1DEE8"/>
                </a:solidFill>
              </a:rPr>
              <a:t>Positive scores [0.9, 0.7] and negative scores [0.6, 0.2]. Every positive score exceeds every negative except none in this case, so all four positive-negative pairs are correctly ranked. AUC is 1.0.</a:t>
            </a:r>
          </a:p>
        </p:txBody>
      </p:sp>
    </p:spTree>
    <p:extLst>
      <p:ext uri="{BB962C8B-B14F-4D97-AF65-F5344CB8AC3E}">
        <p14:creationId xmlns:p14="http://schemas.microsoft.com/office/powerpoint/2010/main" val="1916300218"/>
      </p:ext>
    </p:extLst>
  </p:cSld>
</p:sld>
</file>

<file path=ppt/slides/slide9.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B17ECA0-1608-4827-92AD-DE1F11C5D159}"/>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M08 / L01</a:t>
            </a:r>
          </a:p>
        </p:txBody>
      </p:sp>
      <p:sp>
        <p:nvSpPr>
          <p:cNvPr id="2" name="">
            <a:extLst xmlns:a="http://schemas.openxmlformats.org/drawingml/2006/main">
              <a:ext uri="{FF2B5EF4-FFF2-40B4-BE49-F238E27FC236}">
                <a16:creationId xmlns:a16="http://schemas.microsoft.com/office/drawing/2014/main" id="{B4A14B58-B257-41C2-AA24-416AA6843118}"/>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Classification Predicts Categories or Their Probabilities</a:t>
            </a:r>
          </a:p>
        </p:txBody>
      </p:sp>
      <p:sp>
        <p:nvSpPr>
          <p:cNvPr id="3" name="">
            <a:extLst xmlns:a="http://schemas.openxmlformats.org/drawingml/2006/main">
              <a:ext uri="{FF2B5EF4-FFF2-40B4-BE49-F238E27FC236}">
                <a16:creationId xmlns:a16="http://schemas.microsoft.com/office/drawing/2014/main" id="{F6C540E7-5155-456B-B8AA-10F63DCEFB4D}"/>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09</a:t>
            </a:r>
          </a:p>
        </p:txBody>
      </p:sp>
      <p:sp>
        <p:nvSpPr>
          <p:cNvPr id="4" name="">
            <a:extLst xmlns:a="http://schemas.openxmlformats.org/drawingml/2006/main">
              <a:ext uri="{FF2B5EF4-FFF2-40B4-BE49-F238E27FC236}">
                <a16:creationId xmlns:a16="http://schemas.microsoft.com/office/drawing/2014/main" id="{A35DB6B3-E1B8-480A-922F-F3E7D44C73E3}"/>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9704E6B6-7BCB-4BD6-BFBB-C8D0E92197BB}"/>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Multiclass Metrics Need an Averaging Rule</a:t>
            </a:r>
          </a:p>
        </p:txBody>
      </p:sp>
      <p:sp>
        <p:nvSpPr>
          <p:cNvPr id="6" name="">
            <a:extLst xmlns:a="http://schemas.openxmlformats.org/drawingml/2006/main">
              <a:ext uri="{FF2B5EF4-FFF2-40B4-BE49-F238E27FC236}">
                <a16:creationId xmlns:a16="http://schemas.microsoft.com/office/drawing/2014/main" id="{67C9A31C-E1BA-4490-9893-5EB03F7F6F30}"/>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C28F51E-6FAD-46B1-A224-9EED3FDFF3B1}"/>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EB1D865-0B6E-4AFE-B33F-73B638C477C6}"/>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D3B6B8B-9D0C-42B2-A0BF-53C7AD3D8C5B}"/>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FD3A68C-E02B-444A-9FCD-0F38FEE33AF0}"/>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3ACDBD6-1636-4D4D-A81E-523DC41390C2}"/>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from sklearn.metrics import classification_report</a:t>
            </a:r>
          </a:p>
          <a:p xmlns:a="http://schemas.openxmlformats.org/drawingml/2006/main">
            <a:r>
              <a:t/>
            </a:r>
          </a:p>
          <a:p xmlns:a="http://schemas.openxmlformats.org/drawingml/2006/main">
            <a:pPr>
              <a:defRPr sz="1125">
                <a:solidFill>
                  <a:srgbClr val="E8F1F7"/>
                </a:solidFill>
              </a:defRPr>
            </a:pPr>
            <a:r>
              <a:rPr sz="1125">
                <a:solidFill>
                  <a:srgbClr val="E8F1F7"/>
                </a:solidFill>
              </a:rPr>
              <a:t>print(classification_report(y_true, y_pred))</a:t>
            </a:r>
          </a:p>
        </p:txBody>
      </p:sp>
      <p:sp>
        <p:nvSpPr>
          <p:cNvPr id="12" name="">
            <a:extLst xmlns:a="http://schemas.openxmlformats.org/drawingml/2006/main">
              <a:ext uri="{FF2B5EF4-FFF2-40B4-BE49-F238E27FC236}">
                <a16:creationId xmlns:a16="http://schemas.microsoft.com/office/drawing/2014/main" id="{7DC701CA-D1F2-4B43-81AB-4C29FB38E583}"/>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95919414-F616-4E2C-870E-ACD6F77E7D3C}"/>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93C75585-93BB-4C61-9C35-CF654C9B27D2}"/>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Precision, recall, F1, and support for each class plus stated averages.</a:t>
            </a:r>
          </a:p>
        </p:txBody>
      </p:sp>
      <p:sp>
        <p:nvSpPr>
          <p:cNvPr id="15" name="">
            <a:extLst xmlns:a="http://schemas.openxmlformats.org/drawingml/2006/main">
              <a:ext uri="{FF2B5EF4-FFF2-40B4-BE49-F238E27FC236}">
                <a16:creationId xmlns:a16="http://schemas.microsoft.com/office/drawing/2014/main" id="{12CEA4D8-2CD0-4FFC-AA81-3D9E5B63D5FA}"/>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A122C49-B8FD-4F33-BEF0-91B7CB6F992D}"/>
              </a:ext>
            </a:extLst>
          </p:cNvPr>
          <p:cNvSpPr>
            <a:spLocks xmlns:a="http://schemas.openxmlformats.org/drawingml/2006/main" noGrp="1"/>
          </p:cNvSpPr>
          <p:nvPr/>
        </p:nvSpPr>
        <p:spPr>
          <a:xfrm xmlns:a="http://schemas.openxmlformats.org/drawingml/2006/main">
            <a:off x="723900" y="58293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This gives rare class C equal importance.</a:t>
            </a:r>
          </a:p>
        </p:txBody>
      </p:sp>
    </p:spTree>
    <p:extLst>
      <p:ext uri="{BB962C8B-B14F-4D97-AF65-F5344CB8AC3E}">
        <p14:creationId xmlns:p14="http://schemas.microsoft.com/office/powerpoint/2010/main" val="13971295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629C2B5-C9E9-4AE1-AC50-0EEE2B759F44}"/>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M08 / L01</a:t>
            </a:r>
          </a:p>
        </p:txBody>
      </p:sp>
      <p:sp>
        <p:nvSpPr>
          <p:cNvPr id="2" name="">
            <a:extLst xmlns:a="http://schemas.openxmlformats.org/drawingml/2006/main">
              <a:ext uri="{FF2B5EF4-FFF2-40B4-BE49-F238E27FC236}">
                <a16:creationId xmlns:a16="http://schemas.microsoft.com/office/drawing/2014/main" id="{D52E8585-BFA8-47B5-84D8-776F4BB6F9BA}"/>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Classification Predicts Categories or Their Probabilities</a:t>
            </a:r>
          </a:p>
        </p:txBody>
      </p:sp>
      <p:sp>
        <p:nvSpPr>
          <p:cNvPr id="3" name="">
            <a:extLst xmlns:a="http://schemas.openxmlformats.org/drawingml/2006/main">
              <a:ext uri="{FF2B5EF4-FFF2-40B4-BE49-F238E27FC236}">
                <a16:creationId xmlns:a16="http://schemas.microsoft.com/office/drawing/2014/main" id="{8F04E2C4-C1A4-4384-9126-33AA05B9DD30}"/>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10</a:t>
            </a:r>
          </a:p>
        </p:txBody>
      </p:sp>
      <p:sp>
        <p:nvSpPr>
          <p:cNvPr id="4" name="">
            <a:extLst xmlns:a="http://schemas.openxmlformats.org/drawingml/2006/main">
              <a:ext uri="{FF2B5EF4-FFF2-40B4-BE49-F238E27FC236}">
                <a16:creationId xmlns:a16="http://schemas.microsoft.com/office/drawing/2014/main" id="{AEFF3836-1AED-48BB-AAF1-7C7D110DDA0E}"/>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QUALITY GATE</a:t>
            </a:r>
          </a:p>
        </p:txBody>
      </p:sp>
      <p:sp>
        <p:nvSpPr>
          <p:cNvPr id="5" name="">
            <a:extLst xmlns:a="http://schemas.openxmlformats.org/drawingml/2006/main">
              <a:ext uri="{FF2B5EF4-FFF2-40B4-BE49-F238E27FC236}">
                <a16:creationId xmlns:a16="http://schemas.microsoft.com/office/drawing/2014/main" id="{613CE8D7-7C27-41F6-9006-E48E9E47D37F}"/>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Regression Metrics Describe Numerical Error</a:t>
            </a:r>
          </a:p>
        </p:txBody>
      </p:sp>
      <p:sp>
        <p:nvSpPr>
          <p:cNvPr id="6" name="">
            <a:extLst xmlns:a="http://schemas.openxmlformats.org/drawingml/2006/main">
              <a:ext uri="{FF2B5EF4-FFF2-40B4-BE49-F238E27FC236}">
                <a16:creationId xmlns:a16="http://schemas.microsoft.com/office/drawing/2014/main" id="{DFA684C2-2A31-4C79-A80B-471E0D594606}"/>
              </a:ext>
            </a:extLst>
          </p:cNvPr>
          <p:cNvSpPr>
            <a:spLocks xmlns:a="http://schemas.openxmlformats.org/drawingml/2006/main" noGrp="1"/>
          </p:cNvSpPr>
          <p:nvPr/>
        </p:nvSpPr>
        <p:spPr>
          <a:xfrm xmlns:a="http://schemas.openxmlformats.org/drawingml/2006/main">
            <a:off x="685800" y="17621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7" name="">
            <a:extLst xmlns:a="http://schemas.openxmlformats.org/drawingml/2006/main">
              <a:ext uri="{FF2B5EF4-FFF2-40B4-BE49-F238E27FC236}">
                <a16:creationId xmlns:a16="http://schemas.microsoft.com/office/drawing/2014/main" id="{57F2CDC1-8F3D-4107-8413-78906EE56011}"/>
              </a:ext>
            </a:extLst>
          </p:cNvPr>
          <p:cNvSpPr>
            <a:spLocks xmlns:a="http://schemas.openxmlformats.org/drawingml/2006/main" noGrp="1"/>
          </p:cNvSpPr>
          <p:nvPr/>
        </p:nvSpPr>
        <p:spPr>
          <a:xfrm xmlns:a="http://schemas.openxmlformats.org/drawingml/2006/main">
            <a:off x="695325" y="17430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8" name="">
            <a:extLst xmlns:a="http://schemas.openxmlformats.org/drawingml/2006/main">
              <a:ext uri="{FF2B5EF4-FFF2-40B4-BE49-F238E27FC236}">
                <a16:creationId xmlns:a16="http://schemas.microsoft.com/office/drawing/2014/main" id="{37EA0091-ABAC-4420-9880-B900DF4D4C52}"/>
              </a:ext>
            </a:extLst>
          </p:cNvPr>
          <p:cNvSpPr>
            <a:spLocks xmlns:a="http://schemas.openxmlformats.org/drawingml/2006/main" noGrp="1"/>
          </p:cNvSpPr>
          <p:nvPr/>
        </p:nvSpPr>
        <p:spPr>
          <a:xfrm xmlns:a="http://schemas.openxmlformats.org/drawingml/2006/main">
            <a:off x="1390650" y="16954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MAE: mean absolute error</a:t>
            </a:r>
          </a:p>
        </p:txBody>
      </p:sp>
      <p:sp>
        <p:nvSpPr>
          <p:cNvPr id="9" name="">
            <a:extLst xmlns:a="http://schemas.openxmlformats.org/drawingml/2006/main">
              <a:ext uri="{FF2B5EF4-FFF2-40B4-BE49-F238E27FC236}">
                <a16:creationId xmlns:a16="http://schemas.microsoft.com/office/drawing/2014/main" id="{94DE75A4-E226-45BC-BEC2-FC9BD8CBF6A1}"/>
              </a:ext>
            </a:extLst>
          </p:cNvPr>
          <p:cNvSpPr>
            <a:spLocks xmlns:a="http://schemas.openxmlformats.org/drawingml/2006/main" noGrp="1"/>
          </p:cNvSpPr>
          <p:nvPr/>
        </p:nvSpPr>
        <p:spPr>
          <a:xfrm xmlns:a="http://schemas.openxmlformats.org/drawingml/2006/main">
            <a:off x="1390650" y="24574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1D5774C-41CD-42E9-BFEC-1438E56464FE}"/>
              </a:ext>
            </a:extLst>
          </p:cNvPr>
          <p:cNvSpPr>
            <a:spLocks xmlns:a="http://schemas.openxmlformats.org/drawingml/2006/main" noGrp="1"/>
          </p:cNvSpPr>
          <p:nvPr/>
        </p:nvSpPr>
        <p:spPr>
          <a:xfrm xmlns:a="http://schemas.openxmlformats.org/drawingml/2006/main">
            <a:off x="685800" y="28289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1" name="">
            <a:extLst xmlns:a="http://schemas.openxmlformats.org/drawingml/2006/main">
              <a:ext uri="{FF2B5EF4-FFF2-40B4-BE49-F238E27FC236}">
                <a16:creationId xmlns:a16="http://schemas.microsoft.com/office/drawing/2014/main" id="{759CB222-689A-4FA4-8E10-55CA1E5E288C}"/>
              </a:ext>
            </a:extLst>
          </p:cNvPr>
          <p:cNvSpPr>
            <a:spLocks xmlns:a="http://schemas.openxmlformats.org/drawingml/2006/main" noGrp="1"/>
          </p:cNvSpPr>
          <p:nvPr/>
        </p:nvSpPr>
        <p:spPr>
          <a:xfrm xmlns:a="http://schemas.openxmlformats.org/drawingml/2006/main">
            <a:off x="695325" y="28098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2" name="">
            <a:extLst xmlns:a="http://schemas.openxmlformats.org/drawingml/2006/main">
              <a:ext uri="{FF2B5EF4-FFF2-40B4-BE49-F238E27FC236}">
                <a16:creationId xmlns:a16="http://schemas.microsoft.com/office/drawing/2014/main" id="{E75B88AA-E759-4629-9C49-E5AA13C5CFAC}"/>
              </a:ext>
            </a:extLst>
          </p:cNvPr>
          <p:cNvSpPr>
            <a:spLocks xmlns:a="http://schemas.openxmlformats.org/drawingml/2006/main" noGrp="1"/>
          </p:cNvSpPr>
          <p:nvPr/>
        </p:nvSpPr>
        <p:spPr>
          <a:xfrm xmlns:a="http://schemas.openxmlformats.org/drawingml/2006/main">
            <a:off x="1390650" y="27622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MAE = (1/n) Σ|yi - ŷi|</a:t>
            </a:r>
          </a:p>
        </p:txBody>
      </p:sp>
      <p:sp>
        <p:nvSpPr>
          <p:cNvPr id="13" name="">
            <a:extLst xmlns:a="http://schemas.openxmlformats.org/drawingml/2006/main">
              <a:ext uri="{FF2B5EF4-FFF2-40B4-BE49-F238E27FC236}">
                <a16:creationId xmlns:a16="http://schemas.microsoft.com/office/drawing/2014/main" id="{311A3E93-5DD6-47F3-ACA2-4F40752AB4C1}"/>
              </a:ext>
            </a:extLst>
          </p:cNvPr>
          <p:cNvSpPr>
            <a:spLocks xmlns:a="http://schemas.openxmlformats.org/drawingml/2006/main" noGrp="1"/>
          </p:cNvSpPr>
          <p:nvPr/>
        </p:nvSpPr>
        <p:spPr>
          <a:xfrm xmlns:a="http://schemas.openxmlformats.org/drawingml/2006/main">
            <a:off x="1390650" y="35242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8FF8C23-579E-48F3-87B6-4C6BAFD63FA6}"/>
              </a:ext>
            </a:extLst>
          </p:cNvPr>
          <p:cNvSpPr>
            <a:spLocks xmlns:a="http://schemas.openxmlformats.org/drawingml/2006/main" noGrp="1"/>
          </p:cNvSpPr>
          <p:nvPr/>
        </p:nvSpPr>
        <p:spPr>
          <a:xfrm xmlns:a="http://schemas.openxmlformats.org/drawingml/2006/main">
            <a:off x="685800" y="38957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5" name="">
            <a:extLst xmlns:a="http://schemas.openxmlformats.org/drawingml/2006/main">
              <a:ext uri="{FF2B5EF4-FFF2-40B4-BE49-F238E27FC236}">
                <a16:creationId xmlns:a16="http://schemas.microsoft.com/office/drawing/2014/main" id="{5E6E416D-9F87-4E70-BF02-6D1D7DF50EFF}"/>
              </a:ext>
            </a:extLst>
          </p:cNvPr>
          <p:cNvSpPr>
            <a:spLocks xmlns:a="http://schemas.openxmlformats.org/drawingml/2006/main" noGrp="1"/>
          </p:cNvSpPr>
          <p:nvPr/>
        </p:nvSpPr>
        <p:spPr>
          <a:xfrm xmlns:a="http://schemas.openxmlformats.org/drawingml/2006/main">
            <a:off x="695325" y="38766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6" name="">
            <a:extLst xmlns:a="http://schemas.openxmlformats.org/drawingml/2006/main">
              <a:ext uri="{FF2B5EF4-FFF2-40B4-BE49-F238E27FC236}">
                <a16:creationId xmlns:a16="http://schemas.microsoft.com/office/drawing/2014/main" id="{71B6721B-CAFA-4A14-A0EB-7341C13FEC70}"/>
              </a:ext>
            </a:extLst>
          </p:cNvPr>
          <p:cNvSpPr>
            <a:spLocks xmlns:a="http://schemas.openxmlformats.org/drawingml/2006/main" noGrp="1"/>
          </p:cNvSpPr>
          <p:nvPr/>
        </p:nvSpPr>
        <p:spPr>
          <a:xfrm xmlns:a="http://schemas.openxmlformats.org/drawingml/2006/main">
            <a:off x="1390650" y="38290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RMSE: square root of mean squared error;</a:t>
            </a:r>
          </a:p>
        </p:txBody>
      </p:sp>
      <p:sp>
        <p:nvSpPr>
          <p:cNvPr id="17" name="">
            <a:extLst xmlns:a="http://schemas.openxmlformats.org/drawingml/2006/main">
              <a:ext uri="{FF2B5EF4-FFF2-40B4-BE49-F238E27FC236}">
                <a16:creationId xmlns:a16="http://schemas.microsoft.com/office/drawing/2014/main" id="{F5C56A7C-064D-4A15-A5C1-010459ED2D8A}"/>
              </a:ext>
            </a:extLst>
          </p:cNvPr>
          <p:cNvSpPr>
            <a:spLocks xmlns:a="http://schemas.openxmlformats.org/drawingml/2006/main" noGrp="1"/>
          </p:cNvSpPr>
          <p:nvPr/>
        </p:nvSpPr>
        <p:spPr>
          <a:xfrm xmlns:a="http://schemas.openxmlformats.org/drawingml/2006/main">
            <a:off x="1390650" y="45910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1448621-D9B1-4FEE-A09C-27A204E046F9}"/>
              </a:ext>
            </a:extLst>
          </p:cNvPr>
          <p:cNvSpPr>
            <a:spLocks xmlns:a="http://schemas.openxmlformats.org/drawingml/2006/main" noGrp="1"/>
          </p:cNvSpPr>
          <p:nvPr/>
        </p:nvSpPr>
        <p:spPr>
          <a:xfrm xmlns:a="http://schemas.openxmlformats.org/drawingml/2006/main">
            <a:off x="685800" y="49625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9" name="">
            <a:extLst xmlns:a="http://schemas.openxmlformats.org/drawingml/2006/main">
              <a:ext uri="{FF2B5EF4-FFF2-40B4-BE49-F238E27FC236}">
                <a16:creationId xmlns:a16="http://schemas.microsoft.com/office/drawing/2014/main" id="{79B658F2-1CFF-4A56-94CC-84E4FBDEA8F1}"/>
              </a:ext>
            </a:extLst>
          </p:cNvPr>
          <p:cNvSpPr>
            <a:spLocks xmlns:a="http://schemas.openxmlformats.org/drawingml/2006/main" noGrp="1"/>
          </p:cNvSpPr>
          <p:nvPr/>
        </p:nvSpPr>
        <p:spPr>
          <a:xfrm xmlns:a="http://schemas.openxmlformats.org/drawingml/2006/main">
            <a:off x="695325" y="49434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20" name="">
            <a:extLst xmlns:a="http://schemas.openxmlformats.org/drawingml/2006/main">
              <a:ext uri="{FF2B5EF4-FFF2-40B4-BE49-F238E27FC236}">
                <a16:creationId xmlns:a16="http://schemas.microsoft.com/office/drawing/2014/main" id="{AA2CD11E-3E03-429B-9611-90F69A26C427}"/>
              </a:ext>
            </a:extLst>
          </p:cNvPr>
          <p:cNvSpPr>
            <a:spLocks xmlns:a="http://schemas.openxmlformats.org/drawingml/2006/main" noGrp="1"/>
          </p:cNvSpPr>
          <p:nvPr/>
        </p:nvSpPr>
        <p:spPr>
          <a:xfrm xmlns:a="http://schemas.openxmlformats.org/drawingml/2006/main">
            <a:off x="1390650" y="48958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gives larger residuals more influence.</a:t>
            </a:r>
          </a:p>
        </p:txBody>
      </p:sp>
      <p:sp>
        <p:nvSpPr>
          <p:cNvPr id="21" name="">
            <a:extLst xmlns:a="http://schemas.openxmlformats.org/drawingml/2006/main">
              <a:ext uri="{FF2B5EF4-FFF2-40B4-BE49-F238E27FC236}">
                <a16:creationId xmlns:a16="http://schemas.microsoft.com/office/drawing/2014/main" id="{177F5CD2-11C3-45C1-BB3A-9FBE1F77028D}"/>
              </a:ext>
            </a:extLst>
          </p:cNvPr>
          <p:cNvSpPr>
            <a:spLocks xmlns:a="http://schemas.openxmlformats.org/drawingml/2006/main" noGrp="1"/>
          </p:cNvSpPr>
          <p:nvPr/>
        </p:nvSpPr>
        <p:spPr>
          <a:xfrm xmlns:a="http://schemas.openxmlformats.org/drawingml/2006/main">
            <a:off x="1390650" y="56578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Tree>
    <p:extLst>
      <p:ext uri="{BB962C8B-B14F-4D97-AF65-F5344CB8AC3E}">
        <p14:creationId xmlns:p14="http://schemas.microsoft.com/office/powerpoint/2010/main" val="63953831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E6C3360-ADD9-4853-8DF4-7EE88602AFB2}"/>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M08 / L01</a:t>
            </a:r>
          </a:p>
        </p:txBody>
      </p:sp>
      <p:sp>
        <p:nvSpPr>
          <p:cNvPr id="2" name="">
            <a:extLst xmlns:a="http://schemas.openxmlformats.org/drawingml/2006/main">
              <a:ext uri="{FF2B5EF4-FFF2-40B4-BE49-F238E27FC236}">
                <a16:creationId xmlns:a16="http://schemas.microsoft.com/office/drawing/2014/main" id="{AAFA188F-4F32-4AA7-A0CD-BB7694E48B73}"/>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Classification Predicts Categories or Their Probabilities</a:t>
            </a:r>
          </a:p>
        </p:txBody>
      </p:sp>
      <p:sp>
        <p:nvSpPr>
          <p:cNvPr id="3" name="">
            <a:extLst xmlns:a="http://schemas.openxmlformats.org/drawingml/2006/main">
              <a:ext uri="{FF2B5EF4-FFF2-40B4-BE49-F238E27FC236}">
                <a16:creationId xmlns:a16="http://schemas.microsoft.com/office/drawing/2014/main" id="{B9375309-0AD8-4437-A0B0-859CB2BFDCDB}"/>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11</a:t>
            </a:r>
          </a:p>
        </p:txBody>
      </p:sp>
      <p:sp>
        <p:nvSpPr>
          <p:cNvPr id="4" name="">
            <a:extLst xmlns:a="http://schemas.openxmlformats.org/drawingml/2006/main">
              <a:ext uri="{FF2B5EF4-FFF2-40B4-BE49-F238E27FC236}">
                <a16:creationId xmlns:a16="http://schemas.microsoft.com/office/drawing/2014/main" id="{82E41DAC-8B03-4EC7-B2A7-AB0A50490B34}"/>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QUALITY GATE</a:t>
            </a:r>
          </a:p>
        </p:txBody>
      </p:sp>
      <p:sp>
        <p:nvSpPr>
          <p:cNvPr id="5" name="">
            <a:extLst xmlns:a="http://schemas.openxmlformats.org/drawingml/2006/main">
              <a:ext uri="{FF2B5EF4-FFF2-40B4-BE49-F238E27FC236}">
                <a16:creationId xmlns:a16="http://schemas.microsoft.com/office/drawing/2014/main" id="{8EF04C3E-8FCF-4679-B770-EE63759081CA}"/>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One Evaluation Report Needs Context</a:t>
            </a:r>
          </a:p>
        </p:txBody>
      </p:sp>
      <p:sp>
        <p:nvSpPr>
          <p:cNvPr id="6" name="">
            <a:extLst xmlns:a="http://schemas.openxmlformats.org/drawingml/2006/main">
              <a:ext uri="{FF2B5EF4-FFF2-40B4-BE49-F238E27FC236}">
                <a16:creationId xmlns:a16="http://schemas.microsoft.com/office/drawing/2014/main" id="{7D99FB1E-A936-46C9-BF9C-4597B2B67094}"/>
              </a:ext>
            </a:extLst>
          </p:cNvPr>
          <p:cNvSpPr>
            <a:spLocks xmlns:a="http://schemas.openxmlformats.org/drawingml/2006/main" noGrp="1"/>
          </p:cNvSpPr>
          <p:nvPr/>
        </p:nvSpPr>
        <p:spPr>
          <a:xfrm xmlns:a="http://schemas.openxmlformats.org/drawingml/2006/main">
            <a:off x="685800" y="17621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7" name="">
            <a:extLst xmlns:a="http://schemas.openxmlformats.org/drawingml/2006/main">
              <a:ext uri="{FF2B5EF4-FFF2-40B4-BE49-F238E27FC236}">
                <a16:creationId xmlns:a16="http://schemas.microsoft.com/office/drawing/2014/main" id="{C86104FA-BDD7-4EF6-990E-83DFE5FE2E44}"/>
              </a:ext>
            </a:extLst>
          </p:cNvPr>
          <p:cNvSpPr>
            <a:spLocks xmlns:a="http://schemas.openxmlformats.org/drawingml/2006/main" noGrp="1"/>
          </p:cNvSpPr>
          <p:nvPr/>
        </p:nvSpPr>
        <p:spPr>
          <a:xfrm xmlns:a="http://schemas.openxmlformats.org/drawingml/2006/main">
            <a:off x="695325" y="17430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8" name="">
            <a:extLst xmlns:a="http://schemas.openxmlformats.org/drawingml/2006/main">
              <a:ext uri="{FF2B5EF4-FFF2-40B4-BE49-F238E27FC236}">
                <a16:creationId xmlns:a16="http://schemas.microsoft.com/office/drawing/2014/main" id="{F96B092B-10DA-4D9B-9103-6807F74DFE02}"/>
              </a:ext>
            </a:extLst>
          </p:cNvPr>
          <p:cNvSpPr>
            <a:spLocks xmlns:a="http://schemas.openxmlformats.org/drawingml/2006/main" noGrp="1"/>
          </p:cNvSpPr>
          <p:nvPr/>
        </p:nvSpPr>
        <p:spPr>
          <a:xfrm xmlns:a="http://schemas.openxmlformats.org/drawingml/2006/main">
            <a:off x="1390650" y="16954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test population and time period;</a:t>
            </a:r>
          </a:p>
        </p:txBody>
      </p:sp>
      <p:sp>
        <p:nvSpPr>
          <p:cNvPr id="9" name="">
            <a:extLst xmlns:a="http://schemas.openxmlformats.org/drawingml/2006/main">
              <a:ext uri="{FF2B5EF4-FFF2-40B4-BE49-F238E27FC236}">
                <a16:creationId xmlns:a16="http://schemas.microsoft.com/office/drawing/2014/main" id="{1EB5F6C6-7EDA-4CE2-9A3A-0976CC37DC47}"/>
              </a:ext>
            </a:extLst>
          </p:cNvPr>
          <p:cNvSpPr>
            <a:spLocks xmlns:a="http://schemas.openxmlformats.org/drawingml/2006/main" noGrp="1"/>
          </p:cNvSpPr>
          <p:nvPr/>
        </p:nvSpPr>
        <p:spPr>
          <a:xfrm xmlns:a="http://schemas.openxmlformats.org/drawingml/2006/main">
            <a:off x="1390650" y="24574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3B9E10E-8AAC-4D8C-87E6-1E1B72BB9C33}"/>
              </a:ext>
            </a:extLst>
          </p:cNvPr>
          <p:cNvSpPr>
            <a:spLocks xmlns:a="http://schemas.openxmlformats.org/drawingml/2006/main" noGrp="1"/>
          </p:cNvSpPr>
          <p:nvPr/>
        </p:nvSpPr>
        <p:spPr>
          <a:xfrm xmlns:a="http://schemas.openxmlformats.org/drawingml/2006/main">
            <a:off x="685800" y="28289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1" name="">
            <a:extLst xmlns:a="http://schemas.openxmlformats.org/drawingml/2006/main">
              <a:ext uri="{FF2B5EF4-FFF2-40B4-BE49-F238E27FC236}">
                <a16:creationId xmlns:a16="http://schemas.microsoft.com/office/drawing/2014/main" id="{924A9E13-73E3-4DB3-8CA5-89E5C10D08A8}"/>
              </a:ext>
            </a:extLst>
          </p:cNvPr>
          <p:cNvSpPr>
            <a:spLocks xmlns:a="http://schemas.openxmlformats.org/drawingml/2006/main" noGrp="1"/>
          </p:cNvSpPr>
          <p:nvPr/>
        </p:nvSpPr>
        <p:spPr>
          <a:xfrm xmlns:a="http://schemas.openxmlformats.org/drawingml/2006/main">
            <a:off x="695325" y="28098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2" name="">
            <a:extLst xmlns:a="http://schemas.openxmlformats.org/drawingml/2006/main">
              <a:ext uri="{FF2B5EF4-FFF2-40B4-BE49-F238E27FC236}">
                <a16:creationId xmlns:a16="http://schemas.microsoft.com/office/drawing/2014/main" id="{7FF1352B-F296-471B-803B-65C3EA245E61}"/>
              </a:ext>
            </a:extLst>
          </p:cNvPr>
          <p:cNvSpPr>
            <a:spLocks xmlns:a="http://schemas.openxmlformats.org/drawingml/2006/main" noGrp="1"/>
          </p:cNvSpPr>
          <p:nvPr/>
        </p:nvSpPr>
        <p:spPr>
          <a:xfrm xmlns:a="http://schemas.openxmlformats.org/drawingml/2006/main">
            <a:off x="1390650" y="27622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class counts or target distribution;</a:t>
            </a:r>
          </a:p>
        </p:txBody>
      </p:sp>
      <p:sp>
        <p:nvSpPr>
          <p:cNvPr id="13" name="">
            <a:extLst xmlns:a="http://schemas.openxmlformats.org/drawingml/2006/main">
              <a:ext uri="{FF2B5EF4-FFF2-40B4-BE49-F238E27FC236}">
                <a16:creationId xmlns:a16="http://schemas.microsoft.com/office/drawing/2014/main" id="{ABE42D3A-F32F-484A-9880-4D86C8C67494}"/>
              </a:ext>
            </a:extLst>
          </p:cNvPr>
          <p:cNvSpPr>
            <a:spLocks xmlns:a="http://schemas.openxmlformats.org/drawingml/2006/main" noGrp="1"/>
          </p:cNvSpPr>
          <p:nvPr/>
        </p:nvSpPr>
        <p:spPr>
          <a:xfrm xmlns:a="http://schemas.openxmlformats.org/drawingml/2006/main">
            <a:off x="1390650" y="35242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8FCD508-D4A0-4574-BB19-CEF2535AC5D1}"/>
              </a:ext>
            </a:extLst>
          </p:cNvPr>
          <p:cNvSpPr>
            <a:spLocks xmlns:a="http://schemas.openxmlformats.org/drawingml/2006/main" noGrp="1"/>
          </p:cNvSpPr>
          <p:nvPr/>
        </p:nvSpPr>
        <p:spPr>
          <a:xfrm xmlns:a="http://schemas.openxmlformats.org/drawingml/2006/main">
            <a:off x="685800" y="38957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5" name="">
            <a:extLst xmlns:a="http://schemas.openxmlformats.org/drawingml/2006/main">
              <a:ext uri="{FF2B5EF4-FFF2-40B4-BE49-F238E27FC236}">
                <a16:creationId xmlns:a16="http://schemas.microsoft.com/office/drawing/2014/main" id="{4E1C5DC9-2E1D-4E01-BA82-5F611EF831D2}"/>
              </a:ext>
            </a:extLst>
          </p:cNvPr>
          <p:cNvSpPr>
            <a:spLocks xmlns:a="http://schemas.openxmlformats.org/drawingml/2006/main" noGrp="1"/>
          </p:cNvSpPr>
          <p:nvPr/>
        </p:nvSpPr>
        <p:spPr>
          <a:xfrm xmlns:a="http://schemas.openxmlformats.org/drawingml/2006/main">
            <a:off x="695325" y="38766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6" name="">
            <a:extLst xmlns:a="http://schemas.openxmlformats.org/drawingml/2006/main">
              <a:ext uri="{FF2B5EF4-FFF2-40B4-BE49-F238E27FC236}">
                <a16:creationId xmlns:a16="http://schemas.microsoft.com/office/drawing/2014/main" id="{3A13D62F-B25A-4991-88F1-227B28E489E2}"/>
              </a:ext>
            </a:extLst>
          </p:cNvPr>
          <p:cNvSpPr>
            <a:spLocks xmlns:a="http://schemas.openxmlformats.org/drawingml/2006/main" noGrp="1"/>
          </p:cNvSpPr>
          <p:nvPr/>
        </p:nvSpPr>
        <p:spPr>
          <a:xfrm xmlns:a="http://schemas.openxmlformats.org/drawingml/2006/main">
            <a:off x="1390650" y="38290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baseline;</a:t>
            </a:r>
          </a:p>
        </p:txBody>
      </p:sp>
      <p:sp>
        <p:nvSpPr>
          <p:cNvPr id="17" name="">
            <a:extLst xmlns:a="http://schemas.openxmlformats.org/drawingml/2006/main">
              <a:ext uri="{FF2B5EF4-FFF2-40B4-BE49-F238E27FC236}">
                <a16:creationId xmlns:a16="http://schemas.microsoft.com/office/drawing/2014/main" id="{615FE538-F533-4721-ABEF-EB4042002B2F}"/>
              </a:ext>
            </a:extLst>
          </p:cNvPr>
          <p:cNvSpPr>
            <a:spLocks xmlns:a="http://schemas.openxmlformats.org/drawingml/2006/main" noGrp="1"/>
          </p:cNvSpPr>
          <p:nvPr/>
        </p:nvSpPr>
        <p:spPr>
          <a:xfrm xmlns:a="http://schemas.openxmlformats.org/drawingml/2006/main">
            <a:off x="1390650" y="45910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0A16519-AA59-4C4E-8BB8-DA99C830B511}"/>
              </a:ext>
            </a:extLst>
          </p:cNvPr>
          <p:cNvSpPr>
            <a:spLocks xmlns:a="http://schemas.openxmlformats.org/drawingml/2006/main" noGrp="1"/>
          </p:cNvSpPr>
          <p:nvPr/>
        </p:nvSpPr>
        <p:spPr>
          <a:xfrm xmlns:a="http://schemas.openxmlformats.org/drawingml/2006/main">
            <a:off x="685800" y="49625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9" name="">
            <a:extLst xmlns:a="http://schemas.openxmlformats.org/drawingml/2006/main">
              <a:ext uri="{FF2B5EF4-FFF2-40B4-BE49-F238E27FC236}">
                <a16:creationId xmlns:a16="http://schemas.microsoft.com/office/drawing/2014/main" id="{4F7B4823-D682-4809-8762-7C89E9E7BA54}"/>
              </a:ext>
            </a:extLst>
          </p:cNvPr>
          <p:cNvSpPr>
            <a:spLocks xmlns:a="http://schemas.openxmlformats.org/drawingml/2006/main" noGrp="1"/>
          </p:cNvSpPr>
          <p:nvPr/>
        </p:nvSpPr>
        <p:spPr>
          <a:xfrm xmlns:a="http://schemas.openxmlformats.org/drawingml/2006/main">
            <a:off x="695325" y="49434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20" name="">
            <a:extLst xmlns:a="http://schemas.openxmlformats.org/drawingml/2006/main">
              <a:ext uri="{FF2B5EF4-FFF2-40B4-BE49-F238E27FC236}">
                <a16:creationId xmlns:a16="http://schemas.microsoft.com/office/drawing/2014/main" id="{08C9596A-49C4-4CBD-B39A-3AE3300CF467}"/>
              </a:ext>
            </a:extLst>
          </p:cNvPr>
          <p:cNvSpPr>
            <a:spLocks xmlns:a="http://schemas.openxmlformats.org/drawingml/2006/main" noGrp="1"/>
          </p:cNvSpPr>
          <p:nvPr/>
        </p:nvSpPr>
        <p:spPr>
          <a:xfrm xmlns:a="http://schemas.openxmlformats.org/drawingml/2006/main">
            <a:off x="1390650" y="48958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locked threshold;</a:t>
            </a:r>
          </a:p>
        </p:txBody>
      </p:sp>
      <p:sp>
        <p:nvSpPr>
          <p:cNvPr id="21" name="">
            <a:extLst xmlns:a="http://schemas.openxmlformats.org/drawingml/2006/main">
              <a:ext uri="{FF2B5EF4-FFF2-40B4-BE49-F238E27FC236}">
                <a16:creationId xmlns:a16="http://schemas.microsoft.com/office/drawing/2014/main" id="{07935FDF-6448-4A37-8FB5-3C8B1287148D}"/>
              </a:ext>
            </a:extLst>
          </p:cNvPr>
          <p:cNvSpPr>
            <a:spLocks xmlns:a="http://schemas.openxmlformats.org/drawingml/2006/main" noGrp="1"/>
          </p:cNvSpPr>
          <p:nvPr/>
        </p:nvSpPr>
        <p:spPr>
          <a:xfrm xmlns:a="http://schemas.openxmlformats.org/drawingml/2006/main">
            <a:off x="1390650" y="56578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Tree>
    <p:extLst>
      <p:ext uri="{BB962C8B-B14F-4D97-AF65-F5344CB8AC3E}">
        <p14:creationId xmlns:p14="http://schemas.microsoft.com/office/powerpoint/2010/main" val="186978351"/>
      </p:ext>
    </p:extLst>
  </p:cSld>
</p:sld>
</file>

<file path=ppt/slides/slide12.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2103E31-CA71-4E5F-94E6-FA8F7C7CE5AB}"/>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M08 / L01</a:t>
            </a:r>
          </a:p>
        </p:txBody>
      </p:sp>
      <p:sp>
        <p:nvSpPr>
          <p:cNvPr id="2" name="">
            <a:extLst xmlns:a="http://schemas.openxmlformats.org/drawingml/2006/main">
              <a:ext uri="{FF2B5EF4-FFF2-40B4-BE49-F238E27FC236}">
                <a16:creationId xmlns:a16="http://schemas.microsoft.com/office/drawing/2014/main" id="{775AA555-4F06-4B67-8B30-4E9DF5494DBF}"/>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Classification Predicts Categories or Their Probabilities</a:t>
            </a:r>
          </a:p>
        </p:txBody>
      </p:sp>
      <p:sp>
        <p:nvSpPr>
          <p:cNvPr id="3" name="">
            <a:extLst xmlns:a="http://schemas.openxmlformats.org/drawingml/2006/main">
              <a:ext uri="{FF2B5EF4-FFF2-40B4-BE49-F238E27FC236}">
                <a16:creationId xmlns:a16="http://schemas.microsoft.com/office/drawing/2014/main" id="{45D2349D-32D1-4F7A-9142-8E71F73EA74D}"/>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12</a:t>
            </a:r>
          </a:p>
        </p:txBody>
      </p:sp>
      <p:sp>
        <p:nvSpPr>
          <p:cNvPr id="4" name="">
            <a:extLst xmlns:a="http://schemas.openxmlformats.org/drawingml/2006/main">
              <a:ext uri="{FF2B5EF4-FFF2-40B4-BE49-F238E27FC236}">
                <a16:creationId xmlns:a16="http://schemas.microsoft.com/office/drawing/2014/main" id="{79ECD747-50E3-4A95-99BF-BF8837021F6C}"/>
              </a:ext>
            </a:extLst>
          </p:cNvPr>
          <p:cNvSpPr>
            <a:spLocks xmlns:a="http://schemas.openxmlformats.org/drawingml/2006/main" noGrp="1"/>
          </p:cNvSpPr>
          <p:nvPr/>
        </p:nvSpPr>
        <p:spPr>
          <a:xfrm xmlns:a="http://schemas.openxmlformats.org/drawingml/2006/main">
            <a:off x="609600" y="8763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GUIDED LAB</a:t>
            </a:r>
          </a:p>
        </p:txBody>
      </p:sp>
      <p:sp>
        <p:nvSpPr>
          <p:cNvPr id="5" name="">
            <a:extLst xmlns:a="http://schemas.openxmlformats.org/drawingml/2006/main">
              <a:ext uri="{FF2B5EF4-FFF2-40B4-BE49-F238E27FC236}">
                <a16:creationId xmlns:a16="http://schemas.microsoft.com/office/drawing/2014/main" id="{07EBA141-5869-4D26-A286-18F3B32CE1D7}"/>
              </a:ext>
            </a:extLst>
          </p:cNvPr>
          <p:cNvSpPr>
            <a:spLocks xmlns:a="http://schemas.openxmlformats.org/drawingml/2006/main" noGrp="1"/>
          </p:cNvSpPr>
          <p:nvPr/>
        </p:nvSpPr>
        <p:spPr>
          <a:xfrm xmlns:a="http://schemas.openxmlformats.org/drawingml/2006/main">
            <a:off x="609600" y="1466850"/>
            <a:ext cx="10477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75" b="1">
                <a:solidFill>
                  <a:srgbClr val="FFFFFF"/>
                </a:solidFill>
              </a:defRPr>
            </a:pPr>
            <a:r>
              <a:rPr sz="2775" b="1">
                <a:solidFill>
                  <a:srgbClr val="FFFFFF"/>
                </a:solidFill>
              </a:rPr>
              <a:t>Guided Lab: Calculate Metrics from Counts</a:t>
            </a:r>
          </a:p>
        </p:txBody>
      </p:sp>
      <p:sp>
        <p:nvSpPr>
          <p:cNvPr id="6" name="">
            <a:extLst xmlns:a="http://schemas.openxmlformats.org/drawingml/2006/main">
              <a:ext uri="{FF2B5EF4-FFF2-40B4-BE49-F238E27FC236}">
                <a16:creationId xmlns:a16="http://schemas.microsoft.com/office/drawing/2014/main" id="{734A19AF-1052-4178-AA63-E6783275BBAD}"/>
              </a:ext>
            </a:extLst>
          </p:cNvPr>
          <p:cNvSpPr>
            <a:spLocks xmlns:a="http://schemas.openxmlformats.org/drawingml/2006/main" noGrp="1"/>
          </p:cNvSpPr>
          <p:nvPr/>
        </p:nvSpPr>
        <p:spPr>
          <a:xfrm xmlns:a="http://schemas.openxmlformats.org/drawingml/2006/main">
            <a:off x="6096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7" name="">
            <a:extLst xmlns:a="http://schemas.openxmlformats.org/drawingml/2006/main">
              <a:ext uri="{FF2B5EF4-FFF2-40B4-BE49-F238E27FC236}">
                <a16:creationId xmlns:a16="http://schemas.microsoft.com/office/drawing/2014/main" id="{67778125-2F33-4A74-A544-6B98F2BB6CB1}"/>
              </a:ext>
            </a:extLst>
          </p:cNvPr>
          <p:cNvSpPr>
            <a:spLocks xmlns:a="http://schemas.openxmlformats.org/drawingml/2006/main" noGrp="1"/>
          </p:cNvSpPr>
          <p:nvPr/>
        </p:nvSpPr>
        <p:spPr>
          <a:xfrm xmlns:a="http://schemas.openxmlformats.org/drawingml/2006/main">
            <a:off x="6096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89F5C30-C08D-4D60-A185-2FAD5720A69F}"/>
              </a:ext>
            </a:extLst>
          </p:cNvPr>
          <p:cNvSpPr>
            <a:spLocks xmlns:a="http://schemas.openxmlformats.org/drawingml/2006/main" noGrp="1"/>
          </p:cNvSpPr>
          <p:nvPr/>
        </p:nvSpPr>
        <p:spPr>
          <a:xfrm xmlns:a="http://schemas.openxmlformats.org/drawingml/2006/main">
            <a:off x="6096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FFFFFF"/>
                </a:solidFill>
              </a:defRPr>
            </a:pPr>
            <a:r>
              <a:rPr sz="1650" b="1">
                <a:solidFill>
                  <a:srgbClr val="FFFFFF"/>
                </a:solidFill>
              </a:rPr>
              <a:t>identify the positive class</a:t>
            </a:r>
          </a:p>
        </p:txBody>
      </p:sp>
      <p:sp>
        <p:nvSpPr>
          <p:cNvPr id="9" name="">
            <a:extLst xmlns:a="http://schemas.openxmlformats.org/drawingml/2006/main">
              <a:ext uri="{FF2B5EF4-FFF2-40B4-BE49-F238E27FC236}">
                <a16:creationId xmlns:a16="http://schemas.microsoft.com/office/drawing/2014/main" id="{7DD3A5D8-E497-4F01-B9A7-DF5473A53E01}"/>
              </a:ext>
            </a:extLst>
          </p:cNvPr>
          <p:cNvSpPr>
            <a:spLocks xmlns:a="http://schemas.openxmlformats.org/drawingml/2006/main" noGrp="1"/>
          </p:cNvSpPr>
          <p:nvPr/>
        </p:nvSpPr>
        <p:spPr>
          <a:xfrm xmlns:a="http://schemas.openxmlformats.org/drawingml/2006/main">
            <a:off x="33718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0" name="">
            <a:extLst xmlns:a="http://schemas.openxmlformats.org/drawingml/2006/main">
              <a:ext uri="{FF2B5EF4-FFF2-40B4-BE49-F238E27FC236}">
                <a16:creationId xmlns:a16="http://schemas.microsoft.com/office/drawing/2014/main" id="{41FA998A-4935-4D85-AF73-BC8C71D2C8C3}"/>
              </a:ext>
            </a:extLst>
          </p:cNvPr>
          <p:cNvSpPr>
            <a:spLocks xmlns:a="http://schemas.openxmlformats.org/drawingml/2006/main" noGrp="1"/>
          </p:cNvSpPr>
          <p:nvPr/>
        </p:nvSpPr>
        <p:spPr>
          <a:xfrm xmlns:a="http://schemas.openxmlformats.org/drawingml/2006/main">
            <a:off x="337185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B091F6D-0A6D-45C0-BD7B-F2F265C135C9}"/>
              </a:ext>
            </a:extLst>
          </p:cNvPr>
          <p:cNvSpPr>
            <a:spLocks xmlns:a="http://schemas.openxmlformats.org/drawingml/2006/main" noGrp="1"/>
          </p:cNvSpPr>
          <p:nvPr/>
        </p:nvSpPr>
        <p:spPr>
          <a:xfrm xmlns:a="http://schemas.openxmlformats.org/drawingml/2006/main">
            <a:off x="33718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FFFFFF"/>
                </a:solidFill>
              </a:defRPr>
            </a:pPr>
            <a:r>
              <a:rPr sz="1275" b="1">
                <a:solidFill>
                  <a:srgbClr val="FFFFFF"/>
                </a:solidFill>
              </a:rPr>
              <a:t>generate probabilities and choose a validation threshold</a:t>
            </a:r>
          </a:p>
        </p:txBody>
      </p:sp>
      <p:sp>
        <p:nvSpPr>
          <p:cNvPr id="12" name="">
            <a:extLst xmlns:a="http://schemas.openxmlformats.org/drawingml/2006/main">
              <a:ext uri="{FF2B5EF4-FFF2-40B4-BE49-F238E27FC236}">
                <a16:creationId xmlns:a16="http://schemas.microsoft.com/office/drawing/2014/main" id="{BE8D91D3-89A6-4936-89D9-7ED5FC27E1EC}"/>
              </a:ext>
            </a:extLst>
          </p:cNvPr>
          <p:cNvSpPr>
            <a:spLocks xmlns:a="http://schemas.openxmlformats.org/drawingml/2006/main" noGrp="1"/>
          </p:cNvSpPr>
          <p:nvPr/>
        </p:nvSpPr>
        <p:spPr>
          <a:xfrm xmlns:a="http://schemas.openxmlformats.org/drawingml/2006/main">
            <a:off x="61341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03</a:t>
            </a:r>
          </a:p>
        </p:txBody>
      </p:sp>
      <p:sp>
        <p:nvSpPr>
          <p:cNvPr id="13" name="">
            <a:extLst xmlns:a="http://schemas.openxmlformats.org/drawingml/2006/main">
              <a:ext uri="{FF2B5EF4-FFF2-40B4-BE49-F238E27FC236}">
                <a16:creationId xmlns:a16="http://schemas.microsoft.com/office/drawing/2014/main" id="{9FC94D3C-92CB-40AB-BBD6-9F63C5B213F4}"/>
              </a:ext>
            </a:extLst>
          </p:cNvPr>
          <p:cNvSpPr>
            <a:spLocks xmlns:a="http://schemas.openxmlformats.org/drawingml/2006/main" noGrp="1"/>
          </p:cNvSpPr>
          <p:nvPr/>
        </p:nvSpPr>
        <p:spPr>
          <a:xfrm xmlns:a="http://schemas.openxmlformats.org/drawingml/2006/main">
            <a:off x="61341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9DB2D8E-98E1-4FDD-8753-73F34C50997F}"/>
              </a:ext>
            </a:extLst>
          </p:cNvPr>
          <p:cNvSpPr>
            <a:spLocks xmlns:a="http://schemas.openxmlformats.org/drawingml/2006/main" noGrp="1"/>
          </p:cNvSpPr>
          <p:nvPr/>
        </p:nvSpPr>
        <p:spPr>
          <a:xfrm xmlns:a="http://schemas.openxmlformats.org/drawingml/2006/main">
            <a:off x="61341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FFFFFF"/>
                </a:solidFill>
              </a:defRPr>
            </a:pPr>
            <a:r>
              <a:rPr sz="1650" b="1">
                <a:solidFill>
                  <a:srgbClr val="FFFFFF"/>
                </a:solidFill>
              </a:rPr>
              <a:t>calculate TP, FP, FN, and TN by hand</a:t>
            </a:r>
          </a:p>
        </p:txBody>
      </p:sp>
      <p:sp>
        <p:nvSpPr>
          <p:cNvPr id="15" name="">
            <a:extLst xmlns:a="http://schemas.openxmlformats.org/drawingml/2006/main">
              <a:ext uri="{FF2B5EF4-FFF2-40B4-BE49-F238E27FC236}">
                <a16:creationId xmlns:a16="http://schemas.microsoft.com/office/drawing/2014/main" id="{0E5F5467-C4D1-42F3-8C37-ED8A028EB558}"/>
              </a:ext>
            </a:extLst>
          </p:cNvPr>
          <p:cNvSpPr>
            <a:spLocks xmlns:a="http://schemas.openxmlformats.org/drawingml/2006/main" noGrp="1"/>
          </p:cNvSpPr>
          <p:nvPr/>
        </p:nvSpPr>
        <p:spPr>
          <a:xfrm xmlns:a="http://schemas.openxmlformats.org/drawingml/2006/main">
            <a:off x="88963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6" name="">
            <a:extLst xmlns:a="http://schemas.openxmlformats.org/drawingml/2006/main">
              <a:ext uri="{FF2B5EF4-FFF2-40B4-BE49-F238E27FC236}">
                <a16:creationId xmlns:a16="http://schemas.microsoft.com/office/drawing/2014/main" id="{95BF4543-4099-4D17-AD62-704C3426F18A}"/>
              </a:ext>
            </a:extLst>
          </p:cNvPr>
          <p:cNvSpPr>
            <a:spLocks xmlns:a="http://schemas.openxmlformats.org/drawingml/2006/main" noGrp="1"/>
          </p:cNvSpPr>
          <p:nvPr/>
        </p:nvSpPr>
        <p:spPr>
          <a:xfrm xmlns:a="http://schemas.openxmlformats.org/drawingml/2006/main">
            <a:off x="8896350" y="4400550"/>
            <a:ext cx="203835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7A918C0-62F2-4CDA-B637-4DD00D2B1D65}"/>
              </a:ext>
            </a:extLst>
          </p:cNvPr>
          <p:cNvSpPr>
            <a:spLocks xmlns:a="http://schemas.openxmlformats.org/drawingml/2006/main" noGrp="1"/>
          </p:cNvSpPr>
          <p:nvPr/>
        </p:nvSpPr>
        <p:spPr>
          <a:xfrm xmlns:a="http://schemas.openxmlformats.org/drawingml/2006/main">
            <a:off x="88963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FFFFFF"/>
                </a:solidFill>
              </a:defRPr>
            </a:pPr>
            <a:r>
              <a:rPr sz="1425" b="1">
                <a:solidFill>
                  <a:srgbClr val="FFFFFF"/>
                </a:solidFill>
              </a:rPr>
              <a:t>calculate accuracy, precision, recall, and F1</a:t>
            </a:r>
          </a:p>
        </p:txBody>
      </p:sp>
    </p:spTree>
    <p:extLst>
      <p:ext uri="{BB962C8B-B14F-4D97-AF65-F5344CB8AC3E}">
        <p14:creationId xmlns:p14="http://schemas.microsoft.com/office/powerpoint/2010/main" val="17456238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2026-07-28T19:27:51.1310000Z</dcterms:created>
  <dcterms:modified xsi:type="dcterms:W3CDTF">2026-07-28T19:27:51.1310000Z</dcterms:modified>
</coreProperties>
</file>