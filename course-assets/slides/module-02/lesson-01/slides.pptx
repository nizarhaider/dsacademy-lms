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cf216f4f6245ce" /><Relationship Type="http://schemas.openxmlformats.org/officeDocument/2006/relationships/extended-properties" Target="/docProps/app.xml" Id="R8dced499a01d4085" /><Relationship Type="http://schemas.openxmlformats.org/officeDocument/2006/relationships/officeDocument" Target="/ppt/presentation.xml" Id="R7d92fd10da7547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be43aa67c444ef"/>
  </p:sldMasterIdLst>
  <p:notesMasterIdLst>
    <p:notesMasterId xmlns:r="http://schemas.openxmlformats.org/officeDocument/2006/relationships" r:id="R8baff24467c541c2"/>
  </p:notesMasterIdLst>
  <p:sldIdLst>
    <p:sldId xmlns:r="http://schemas.openxmlformats.org/officeDocument/2006/relationships" id="256" r:id="Rdaecb5a792964974"/>
    <p:sldId xmlns:r="http://schemas.openxmlformats.org/officeDocument/2006/relationships" id="257" r:id="R874611b5078044b3"/>
    <p:sldId xmlns:r="http://schemas.openxmlformats.org/officeDocument/2006/relationships" id="258" r:id="R5972c5c1b00b45ad"/>
    <p:sldId xmlns:r="http://schemas.openxmlformats.org/officeDocument/2006/relationships" id="259" r:id="Rb343cd8789ac457d"/>
    <p:sldId xmlns:r="http://schemas.openxmlformats.org/officeDocument/2006/relationships" id="260" r:id="R6a043fc9cac74d65"/>
    <p:sldId xmlns:r="http://schemas.openxmlformats.org/officeDocument/2006/relationships" id="261" r:id="R900584792d8e4c23"/>
    <p:sldId xmlns:r="http://schemas.openxmlformats.org/officeDocument/2006/relationships" id="262" r:id="Rd3466635e7f04eed"/>
    <p:sldId xmlns:r="http://schemas.openxmlformats.org/officeDocument/2006/relationships" id="263" r:id="Rc54c13cad035418f"/>
    <p:sldId xmlns:r="http://schemas.openxmlformats.org/officeDocument/2006/relationships" id="264" r:id="R88c618c212184e26"/>
    <p:sldId xmlns:r="http://schemas.openxmlformats.org/officeDocument/2006/relationships" id="265" r:id="Rad62705e98f54a5d"/>
    <p:sldId xmlns:r="http://schemas.openxmlformats.org/officeDocument/2006/relationships" id="266" r:id="Rfad0dc62bb2e42ce"/>
    <p:sldId xmlns:r="http://schemas.openxmlformats.org/officeDocument/2006/relationships" id="267" r:id="R7e7b7e1717964c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d7e6ffffa40cf" /><Relationship Type="http://schemas.openxmlformats.org/officeDocument/2006/relationships/slideMaster" Target="/ppt/slideMasters/slideMaster1.xml" Id="R6fbe43aa67c444ef" /><Relationship Type="http://schemas.openxmlformats.org/officeDocument/2006/relationships/notesMaster" Target="/ppt/notesMasters/notesMaster1.xml" Id="R8baff24467c541c2" /><Relationship Type="http://schemas.openxmlformats.org/officeDocument/2006/relationships/presProps" Target="/ppt/presProps.xml" Id="R5fd232425eed41ca" /><Relationship Type="http://schemas.openxmlformats.org/officeDocument/2006/relationships/tableStyles" Target="/ppt/tableStyles.xml" Id="R23bc7d8d0a6d415d" /><Relationship Type="http://schemas.openxmlformats.org/officeDocument/2006/relationships/slide" Target="/ppt/slides/slide1.xml" Id="Rdaecb5a792964974" /><Relationship Type="http://schemas.openxmlformats.org/officeDocument/2006/relationships/slide" Target="/ppt/slides/slide2.xml" Id="R874611b5078044b3" /><Relationship Type="http://schemas.openxmlformats.org/officeDocument/2006/relationships/slide" Target="/ppt/slides/slide3.xml" Id="R5972c5c1b00b45ad" /><Relationship Type="http://schemas.openxmlformats.org/officeDocument/2006/relationships/slide" Target="/ppt/slides/slide4.xml" Id="Rb343cd8789ac457d" /><Relationship Type="http://schemas.openxmlformats.org/officeDocument/2006/relationships/slide" Target="/ppt/slides/slide5.xml" Id="R6a043fc9cac74d65" /><Relationship Type="http://schemas.openxmlformats.org/officeDocument/2006/relationships/slide" Target="/ppt/slides/slide6.xml" Id="R900584792d8e4c23" /><Relationship Type="http://schemas.openxmlformats.org/officeDocument/2006/relationships/slide" Target="/ppt/slides/slide7.xml" Id="Rd3466635e7f04eed" /><Relationship Type="http://schemas.openxmlformats.org/officeDocument/2006/relationships/slide" Target="/ppt/slides/slide8.xml" Id="Rc54c13cad035418f" /><Relationship Type="http://schemas.openxmlformats.org/officeDocument/2006/relationships/slide" Target="/ppt/slides/slide9.xml" Id="R88c618c212184e26" /><Relationship Type="http://schemas.openxmlformats.org/officeDocument/2006/relationships/slide" Target="/ppt/slides/slide10.xml" Id="Rad62705e98f54a5d" /><Relationship Type="http://schemas.openxmlformats.org/officeDocument/2006/relationships/slide" Target="/ppt/slides/slide11.xml" Id="Rfad0dc62bb2e42ce" /><Relationship Type="http://schemas.openxmlformats.org/officeDocument/2006/relationships/slide" Target="/ppt/slides/slide12.xml" Id="R7e7b7e1717964c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c591053e14f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a13f53de2f4947" /><Relationship Type="http://schemas.openxmlformats.org/officeDocument/2006/relationships/notesMaster" Target="/ppt/notesMasters/notesMaster1.xml" Id="R7bb848d8761b4e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e28d36acfb4317" /><Relationship Type="http://schemas.openxmlformats.org/officeDocument/2006/relationships/notesMaster" Target="/ppt/notesMasters/notesMaster1.xml" Id="Rfa3a69218b4c41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1887b2b22747c4" /><Relationship Type="http://schemas.openxmlformats.org/officeDocument/2006/relationships/notesMaster" Target="/ppt/notesMasters/notesMaster1.xml" Id="R2795906b0cd744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90da3e0ac24332" /><Relationship Type="http://schemas.openxmlformats.org/officeDocument/2006/relationships/notesMaster" Target="/ppt/notesMasters/notesMaster1.xml" Id="Re36f5b2ea7ef48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5ba850aef14917" /><Relationship Type="http://schemas.openxmlformats.org/officeDocument/2006/relationships/notesMaster" Target="/ppt/notesMasters/notesMaster1.xml" Id="Red26aec61e7343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51d944c7e94560" /><Relationship Type="http://schemas.openxmlformats.org/officeDocument/2006/relationships/notesMaster" Target="/ppt/notesMasters/notesMaster1.xml" Id="R5d337e50ea6245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06d87450c4b9d" /><Relationship Type="http://schemas.openxmlformats.org/officeDocument/2006/relationships/notesMaster" Target="/ppt/notesMasters/notesMaster1.xml" Id="R98ca66f8722b40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831290d6544fd9" /><Relationship Type="http://schemas.openxmlformats.org/officeDocument/2006/relationships/notesMaster" Target="/ppt/notesMasters/notesMaster1.xml" Id="R1ad601d4e69047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b307ef30c647a5" /><Relationship Type="http://schemas.openxmlformats.org/officeDocument/2006/relationships/notesMaster" Target="/ppt/notesMasters/notesMaster1.xml" Id="R21e3eeb44bb740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4e61732a81411f" /><Relationship Type="http://schemas.openxmlformats.org/officeDocument/2006/relationships/notesMaster" Target="/ppt/notesMasters/notesMaster1.xml" Id="R455df94057f243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afd3273a964618" /><Relationship Type="http://schemas.openxmlformats.org/officeDocument/2006/relationships/notesMaster" Target="/ppt/notesMasters/notesMaster1.xml" Id="R7204b92356fc4b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3b662ed5524332" /><Relationship Type="http://schemas.openxmlformats.org/officeDocument/2006/relationships/notesMaster" Target="/ppt/notesMasters/notesMaster1.xml" Id="R58c94a7ab6c94d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Week 1, one variable stored one value: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visitors_today = 120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Real programs usually need to: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store several related values;</a:t>
            </a:r>
          </a:p>
          <a:p xmlns:a="http://schemas.openxmlformats.org/drawingml/2006/main">
            <a:r>
              <a:t>- find or update one value;</a:t>
            </a:r>
          </a:p>
          <a:p xmlns:a="http://schemas.openxmlformats.org/drawingml/2006/main">
            <a:r>
              <a:t>- choose an action using a condition;</a:t>
            </a:r>
          </a:p>
          <a:p xmlns:a="http://schemas.openxmlformats.org/drawingml/2006/main">
            <a:r>
              <a:t>- repeat an action for multiple values; and</a:t>
            </a:r>
          </a:p>
          <a:p xmlns:a="http://schemas.openxmlformats.org/drawingml/2006/main">
            <a:r>
              <a:t>- reuse a solution without rewriting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**data structure** organizes related values. **Program logic** controls which statements run and how often they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week combines both ideas. Collections hold the data; conditions, loops, and functions describe what the program does with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Suppose a museum records visitor counts for three days: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Monday: 120</a:t>
            </a:r>
          </a:p>
          <a:p xmlns:a="http://schemas.openxmlformats.org/drawingml/2006/main">
            <a:r>
              <a:t>Tuesday: 135</a:t>
            </a:r>
          </a:p>
          <a:p xmlns:a="http://schemas.openxmlformats.org/drawingml/2006/main">
            <a:r>
              <a:t>Wednesday: 128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Three separate variables work, but they become difficult to process together. A list stores the three counts as one collection: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visitor_counts = [120, 135, 128]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Three disconnected variable boxes transform into one labelled list containing three ordered values. Arrows then connect the list to `len()` and `sum()`.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Recap values, variables, assignment, and function calls from Week 1.</a:t>
            </a:r>
          </a:p>
          <a:p xmlns:a="http://schemas.openxmlformats.org/drawingml/2006/main">
            <a:r>
              <a:t>- Explain that a collection is still one Python value, but it contains other values.</a:t>
            </a:r>
          </a:p>
          <a:p xmlns:a="http://schemas.openxmlformats.org/drawingml/2006/main">
            <a:r>
              <a:t>- Preview the lesson sequence: store, select, repeat, and reuse.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begins with collections used for model features, importance values, labels, and data points. This slide establishes why those collections are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**list** is an ordered, changeable collection of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visitor_counts = [120, 135, 128]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value is an **element**. Its position is its **index**.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starts indexing at zero: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Index | `0` | `1` | `2`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Value | `120` | `135` | `128`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Square brackets select an element: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visitor_counts[1]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produces `135`, because index `1` means the second element.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**slice** selects a range. The ending index is not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`[120, 135, 128]`: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`visitor_counts[0]` gives the first value: `120`.</a:t>
            </a:r>
          </a:p>
          <a:p xmlns:a="http://schemas.openxmlformats.org/drawingml/2006/main">
            <a:r>
              <a:t>2. `visitor_counts[2]` gives the third value: `128`.</a:t>
            </a:r>
          </a:p>
          <a:p xmlns:a="http://schemas.openxmlformats.org/drawingml/2006/main">
            <a:r>
              <a:t>3. `visitor_counts[-1]` gives the final value: `128`.</a:t>
            </a:r>
          </a:p>
          <a:p xmlns:a="http://schemas.openxmlformats.org/drawingml/2006/main">
            <a:r>
              <a:t>4. `visitor_counts[0:2]` gives indexes `0` and `1`: `[120, 135]`.</a:t>
            </a:r>
          </a:p>
          <a:p xmlns:a="http://schemas.openxmlformats.org/drawingml/2006/main">
            <a:r>
              <a:t>5. `len(visitor_counts)` gives the number of elements: `3`.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three-cell list is shown with indexes above and values below. Brackets highlight index `1`, then a wider bracket highlights the slice from `0` up to, but not including, `2`.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Count positions aloud from zero.</a:t>
            </a:r>
          </a:p>
          <a:p xmlns:a="http://schemas.openxmlformats.org/drawingml/2006/main">
            <a:r>
              <a:t>- Contrast an index with the value stored at that index.</a:t>
            </a:r>
          </a:p>
          <a:p xmlns:a="http://schemas.openxmlformats.org/drawingml/2006/main">
            <a:r>
              <a:t>- Demonstrate that an invalid index produces `IndexError`.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can now read `model_features = ["age", "income", "education_level"]` and select individual feature names.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https://docs.python.org/3/tutorial/introduction.html#lists</a:t>
            </a:r>
          </a:p>
          <a:p xmlns:a="http://schemas.openxmlformats.org/drawingml/2006/main">
            <a:r>
              <a:t>- https://docs.python.org/3/tutorial/datastructures.html#more-on-lists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list is **mutable**, meaning its contents can change after the list is created.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operations are: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`append(value)`: add one value to the end;</a:t>
            </a:r>
          </a:p>
          <a:p xmlns:a="http://schemas.openxmlformats.org/drawingml/2006/main">
            <a:r>
              <a:t>- `list[index] = value`: replace an element;</a:t>
            </a:r>
          </a:p>
          <a:p xmlns:a="http://schemas.openxmlformats.org/drawingml/2006/main">
            <a:r>
              <a:t>- `remove(value)`: remove the first matching value; and</a:t>
            </a:r>
          </a:p>
          <a:p xmlns:a="http://schemas.openxmlformats.org/drawingml/2006/main">
            <a:r>
              <a:t>- `pop()`: remove and return an element.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Methods such as `append()` change the existing list. They do not create a second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data work, lists are useful when the number of items may grow or when values need to be corrected.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Start with: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model_features = ["age", "income"]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Append `"education"` -&gt; `["age", "income", "education"]`</a:t>
            </a:r>
          </a:p>
          <a:p xmlns:a="http://schemas.openxmlformats.org/drawingml/2006/main">
            <a:r>
              <a:t>2. Replace index `1` with `"monthly_income"` -&gt; `["age", "monthly_income", "education"]`</a:t>
            </a:r>
          </a:p>
          <a:p xmlns:a="http://schemas.openxmlformats.org/drawingml/2006/main">
            <a:r>
              <a:t>3. Remove `"age"` -&gt; `["monthly_income", "education"]`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variable still refers to the changed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One list changes across three states. A stable label `model_features` remains above it while elements are added and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Link mutability to Week 1 reassignment, but distinguish changing a list from assigning a new list.</a:t>
            </a:r>
          </a:p>
          <a:p xmlns:a="http://schemas.openxmlformats.org/drawingml/2006/main">
            <a:r>
              <a:t>- Run the code one line at a time and inspect the list after each operation.</a:t>
            </a:r>
          </a:p>
          <a:p xmlns:a="http://schemas.openxmlformats.org/drawingml/2006/main">
            <a:r>
              <a:t>- Warn that `append()` adds one element; it does not sort the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directly prepares learners for the notebook cell that appends `"marital_status"` to `model_features`.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https://docs.python.org/3/tutorial/datastructures.html#more-on-lists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**dictionary** stores **key-value pairs**.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feature_importance = {</a:t>
            </a:r>
          </a:p>
          <a:p xmlns:a="http://schemas.openxmlformats.org/drawingml/2006/main">
            <a:r>
              <a:t>    "age": 0.75,</a:t>
            </a:r>
          </a:p>
          <a:p xmlns:a="http://schemas.openxmlformats.org/drawingml/2006/main">
            <a:r>
              <a:t>    "income": 0.85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**key** is the label used to find a value. Here `"age"` is a key and `0.75` is its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Unlike a list, a dictionary is not accessed by a position such as index `0`. It is accessed by a key: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feature_importance["age"]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Dictionary keys must be unique. Assigning a new value to an existing key updates that 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Start with: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scores = {"Asha": 85, "Ben": 72}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`scores["Asha"]` gives `85`.</a:t>
            </a:r>
          </a:p>
          <a:p xmlns:a="http://schemas.openxmlformats.org/drawingml/2006/main">
            <a:r>
              <a:t>2. `scores["Mina"] = 91` adds a new pair.</a:t>
            </a:r>
          </a:p>
          <a:p xmlns:a="http://schemas.openxmlformats.org/drawingml/2006/main">
            <a:r>
              <a:t>3. `scores["Ben"] = 78` updates Ben's value.</a:t>
            </a:r>
          </a:p>
          <a:p xmlns:a="http://schemas.openxmlformats.org/drawingml/2006/main">
            <a:r>
              <a:t>4. `"Mina" in scores` gives `True`.</a:t>
            </a:r>
          </a:p>
          <a:p xmlns:a="http://schemas.openxmlformats.org/drawingml/2006/main">
            <a:r>
              <a:t>5. `scores.get("Ravi", 0)` gives the default value `0` instead of raising `KeyError`.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two-column key-value map shows names on the left and scores on the right. A lookup arrow travels from `"Asha"` directly to `85`.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Compare list indexes with dictionary keys.</a:t>
            </a:r>
          </a:p>
          <a:p xmlns:a="http://schemas.openxmlformats.org/drawingml/2006/main">
            <a:r>
              <a:t>- Explain that `{}` creates an empty dictionary.</a:t>
            </a:r>
          </a:p>
          <a:p xmlns:a="http://schemas.openxmlformats.org/drawingml/2006/main">
            <a:r>
              <a:t>- Demonstrate the difference between `dictionary[key]` and `dictionary.get(key, default)`.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can now read the `feature_importance` and `data_point` dictionaries and understand lookup expressions such as `feature_importance["age"]`.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https://docs.python.org/3/tutorial/datastructures.html#dictionaries</a:t>
            </a:r>
          </a:p>
          <a:p xmlns:a="http://schemas.openxmlformats.org/drawingml/2006/main">
            <a:r>
              <a:t>- https://docs.python.org/3/library/stdtypes.html#mapping-types-dict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**tuple** is an ordered collection that is usually used as one fixed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result = ("Asha", 85)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Tuples use parentheses and support indexing: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result[0]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tuple is **immutable**, meaning its elements cannot be replaced after creation.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Tuples can be **unpacked** into separate variables: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name, score = result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Unpacking requires the number of variables to match the number of tuple elements.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`result = ("Asha", 85)`: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`result[0]` gives `"Asha"`.</a:t>
            </a:r>
          </a:p>
          <a:p xmlns:a="http://schemas.openxmlformats.org/drawingml/2006/main">
            <a:r>
              <a:t>2. `result[1]` gives `85`.</a:t>
            </a:r>
          </a:p>
          <a:p xmlns:a="http://schemas.openxmlformats.org/drawingml/2006/main">
            <a:r>
              <a:t>3. `name, score = result` assigns `"Asha"` to `name` and `85` to `score`.</a:t>
            </a:r>
          </a:p>
          <a:p xmlns:a="http://schemas.openxmlformats.org/drawingml/2006/main">
            <a:r>
              <a:t>4. `result[1] = 90` fails because the tuple is immutable.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list when the collection should change. Use a tuple when the positions form one fixed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two-part record labelled `name` and `score` is packed into one tuple, then separates into two named variables through unpacking.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Compare list brackets with tuple parentheses.</a:t>
            </a:r>
          </a:p>
          <a:p xmlns:a="http://schemas.openxmlformats.org/drawingml/2006/main">
            <a:r>
              <a:t>- Explain that immutable means the tuple's element positions cannot be reassigned.</a:t>
            </a:r>
          </a:p>
          <a:p xmlns:a="http://schemas.openxmlformats.org/drawingml/2006/main">
            <a:r>
              <a:t>- Avoid advanced exceptions involving mutable objects inside tuples.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stores one labelled data point as a tuple containing a feature dictionary and a class label. This slide teaches the outer tuple before learners inspect that nested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https://docs.python.org/3/tutorial/datastructures.html#tuples-and-sequences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**set** is an unordered collection with no duplicate elements.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labels = {"spam", "not_spam"}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Sets are useful for: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removing duplicate values;</a:t>
            </a:r>
          </a:p>
          <a:p xmlns:a="http://schemas.openxmlformats.org/drawingml/2006/main">
            <a:r>
              <a:t>- checking whether a value is present; and</a:t>
            </a:r>
          </a:p>
          <a:p xmlns:a="http://schemas.openxmlformats.org/drawingml/2006/main">
            <a:r>
              <a:t>- comparing groups.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Because a set is unordered, do not use an index such as `labels[0]`.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syntax: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`{}` creates an empty dictionary.</a:t>
            </a:r>
          </a:p>
          <a:p xmlns:a="http://schemas.openxmlformats.org/drawingml/2006/main">
            <a:r>
              <a:t>- `set()` creates an empty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Start with repeated labels: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predictions = ["spam", "spam", "not_spam", "spam"]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`set(predictions)` removes duplicates.</a:t>
            </a:r>
          </a:p>
          <a:p xmlns:a="http://schemas.openxmlformats.org/drawingml/2006/main">
            <a:r>
              <a:t>2. The result contains `"spam"` and `"not_spam"`.</a:t>
            </a:r>
          </a:p>
          <a:p xmlns:a="http://schemas.openxmlformats.org/drawingml/2006/main">
            <a:r>
              <a:t>3. `"spam" in unique_labels` gives `True`.</a:t>
            </a:r>
          </a:p>
          <a:p xmlns:a="http://schemas.openxmlformats.org/drawingml/2006/main">
            <a:r>
              <a:t>4. Adding `"spam"` again does not create a duplicate.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two sets, `a &amp; b` means values present in both 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list containing four labels flows through `set()` into two unique label circles. A membership question points to a boolean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Physically cross out duplicate labels in the example.</a:t>
            </a:r>
          </a:p>
          <a:p xmlns:a="http://schemas.openxmlformats.org/drawingml/2006/main">
            <a:r>
              <a:t>- Reinforce that membership does not depend on display order.</a:t>
            </a:r>
          </a:p>
          <a:p xmlns:a="http://schemas.openxmlformats.org/drawingml/2006/main">
            <a:r>
              <a:t>- Explain only intersection `&amp;` as a preview; other set algebra can remain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prepares learners for `unique_labels = {"spam", "not_spam"}` and shows why adding `"spam"` again does not change the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https://docs.python.org/3/tutorial/datastructures.html#sets</a:t>
            </a:r>
          </a:p>
          <a:p xmlns:a="http://schemas.openxmlformats.org/drawingml/2006/main">
            <a:r>
              <a:t>- https://docs.python.org/3/library/stdtypes.html#set-types-set-frozenset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**condition** is an expression that produces `True` or `False`.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`if` statement runs an indented block only when its condition is true: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if score &gt;= 70:</a:t>
            </a:r>
          </a:p>
          <a:p xmlns:a="http://schemas.openxmlformats.org/drawingml/2006/main">
            <a:r>
              <a:t>    print("Pass")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uses a colon and indentation to show which statements belong to a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`if` tests the first condition.</a:t>
            </a:r>
          </a:p>
          <a:p xmlns:a="http://schemas.openxmlformats.org/drawingml/2006/main">
            <a:r>
              <a:t>- `elif` tests another condition if earlier branches were false.</a:t>
            </a:r>
          </a:p>
          <a:p xmlns:a="http://schemas.openxmlformats.org/drawingml/2006/main">
            <a:r>
              <a:t>- `else` runs when no earlier branch matched.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the first matching branch in one `if`/`elif`/`else` chain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`score = 85`: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Test `score &gt;= 90` -&gt; `False`.</a:t>
            </a:r>
          </a:p>
          <a:p xmlns:a="http://schemas.openxmlformats.org/drawingml/2006/main">
            <a:r>
              <a:t>2. Test `score &gt;= 70` -&gt; `True`.</a:t>
            </a:r>
          </a:p>
          <a:p xmlns:a="http://schemas.openxmlformats.org/drawingml/2006/main">
            <a:r>
              <a:t>3. Print `"Pass"`.</a:t>
            </a:r>
          </a:p>
          <a:p xmlns:a="http://schemas.openxmlformats.org/drawingml/2006/main">
            <a:r>
              <a:t>4. Skip the remaining `else`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`score = 62`, both comparisons are false, so the result is `"Review"`.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decision path tests `&gt;= 90`, then `&gt;= 70`, then reaches `else`. The path for score `85` is highlighted and ends at `Pass`.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Ask learners to predict results for `95`, `85`, and `62`.</a:t>
            </a:r>
          </a:p>
          <a:p xmlns:a="http://schemas.openxmlformats.org/drawingml/2006/main">
            <a:r>
              <a:t>- Emphasize the colon and consistent indentation.</a:t>
            </a:r>
          </a:p>
          <a:p xmlns:a="http://schemas.openxmlformats.org/drawingml/2006/main">
            <a:r>
              <a:t>- Show that reversing the two conditions would make the broad condition catch high scores too early.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Conditions are required to complete the notebook's placeholder prediction function and to validate or classify values during later labs.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https://docs.python.org/3/tutorial/controlflow.html#if-statements</a:t>
            </a:r>
          </a:p>
          <a:p xmlns:a="http://schemas.openxmlformats.org/drawingml/2006/main">
            <a:r>
              <a:t>- https://docs.python.org/3/tutorial/datastructures.html#more-on-conditions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**loop** repeats a block of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`for` loop processes each element in a collection: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for score in scores:</a:t>
            </a:r>
          </a:p>
          <a:p xmlns:a="http://schemas.openxmlformats.org/drawingml/2006/main">
            <a:r>
              <a:t>    print(score)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During each **iteration**, the loop variable `score` refers to the next element.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**accumulator** is a variable that keeps a running result. It must be created before the loop and updated inside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indented loop body runs once for every element.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`scores = [72, 85, 90]`: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Iteration | `score` | `total` after addition |</a:t>
            </a:r>
          </a:p>
          <a:p xmlns:a="http://schemas.openxmlformats.org/drawingml/2006/main">
            <a:r>
              <a:t>|---:|---:|---:|</a:t>
            </a:r>
          </a:p>
          <a:p xmlns:a="http://schemas.openxmlformats.org/drawingml/2006/main">
            <a:r>
              <a:t>| Start | - | `0` |</a:t>
            </a:r>
          </a:p>
          <a:p xmlns:a="http://schemas.openxmlformats.org/drawingml/2006/main">
            <a:r>
              <a:t>| 1 | `72` | `72` |</a:t>
            </a:r>
          </a:p>
          <a:p xmlns:a="http://schemas.openxmlformats.org/drawingml/2006/main">
            <a:r>
              <a:t>| 2 | `85` | `157` |</a:t>
            </a:r>
          </a:p>
          <a:p xmlns:a="http://schemas.openxmlformats.org/drawingml/2006/main">
            <a:r>
              <a:t>| 3 | `90` | `247`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loop ends after the final element. The total remains available after the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loop cursor moves across three list elements. Beside it, an accumulator meter changes from `0` to `72`, `157`, and `247`.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Trace every iteration before running the code.</a:t>
            </a:r>
          </a:p>
          <a:p xmlns:a="http://schemas.openxmlformats.org/drawingml/2006/main">
            <a:r>
              <a:t>- Ask which lines run once and which line runs three times.</a:t>
            </a:r>
          </a:p>
          <a:p xmlns:a="http://schemas.openxmlformats.org/drawingml/2006/main">
            <a:r>
              <a:t>- Mention that `sum(scores)` is shorter, but the explicit loop reveals the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Loops prepare learners to process feature names and values individually. They also provide the clear beginner equivalent of later `map()`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https://docs.python.org/3/tutorial/controlflow.html#for-statements</a:t>
            </a:r>
          </a:p>
          <a:p xmlns:a="http://schemas.openxmlformats.org/drawingml/2006/main">
            <a:r>
              <a:t>- https://docs.python.org/3/tutorial/datastructures.html#looping-techniques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`for` loop is suitable when processing items in a collection.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`while` loop repeats while a condition remains `True`: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while attempts &lt; 3:</a:t>
            </a:r>
          </a:p>
          <a:p xmlns:a="http://schemas.openxmlformats.org/drawingml/2006/main">
            <a:r>
              <a:t>    attempts = attempts + 1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condition is checked before every iteration.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Something inside the loop must eventually make the condition false. Otherwise, the program creates an **infinite loop** and does not stop normally.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`while` when the number of repetitions depends on a changing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Start with `attempts = 0`: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`0 &lt; 3` -&gt; true; change attempts to `1`.</a:t>
            </a:r>
          </a:p>
          <a:p xmlns:a="http://schemas.openxmlformats.org/drawingml/2006/main">
            <a:r>
              <a:t>2. `1 &lt; 3` -&gt; true; change attempts to `2`.</a:t>
            </a:r>
          </a:p>
          <a:p xmlns:a="http://schemas.openxmlformats.org/drawingml/2006/main">
            <a:r>
              <a:t>3. `2 &lt; 3` -&gt; true; change attempts to `3`.</a:t>
            </a:r>
          </a:p>
          <a:p xmlns:a="http://schemas.openxmlformats.org/drawingml/2006/main">
            <a:r>
              <a:t>4. `3 &lt; 3` -&gt; false; stop.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loop body runs three 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circular flow checks `attempts &lt; 3`, runs the body, updates the counter, and returns to the check. The false branch exits the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Trace the condition before each iteration, including the final false check.</a:t>
            </a:r>
          </a:p>
          <a:p xmlns:a="http://schemas.openxmlformats.org/drawingml/2006/main">
            <a:r>
              <a:t>- Temporarily remove the update line and ask why the loop no longer stops.</a:t>
            </a:r>
          </a:p>
          <a:p xmlns:a="http://schemas.openxmlformats.org/drawingml/2006/main">
            <a:r>
              <a:t>- Keep `break` and `continue` as optional extensions, not core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source notebook mainly uses collection operations, but understanding `while` completes the beginner model of repetition before later training loops.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https://docs.python.org/3/reference/compound_stmts.html#the-while-statement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**function** is a named, reusable block of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def average(values):</a:t>
            </a:r>
          </a:p>
          <a:p xmlns:a="http://schemas.openxmlformats.org/drawingml/2006/main">
            <a:r>
              <a:t>    total = sum(values)</a:t>
            </a:r>
          </a:p>
          <a:p xmlns:a="http://schemas.openxmlformats.org/drawingml/2006/main">
            <a:r>
              <a:t>    return total / len(values)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`def` begins a function definition.</a:t>
            </a:r>
          </a:p>
          <a:p xmlns:a="http://schemas.openxmlformats.org/drawingml/2006/main">
            <a:r>
              <a:t>- `average` is the function name.</a:t>
            </a:r>
          </a:p>
          <a:p xmlns:a="http://schemas.openxmlformats.org/drawingml/2006/main">
            <a:r>
              <a:t>- `values` is a **parameter**, a name used inside the function.</a:t>
            </a:r>
          </a:p>
          <a:p xmlns:a="http://schemas.openxmlformats.org/drawingml/2006/main">
            <a:r>
              <a:t>- `[72, 85, 90]` is an **argument**, the actual value supplied when calling it.</a:t>
            </a:r>
          </a:p>
          <a:p xmlns:a="http://schemas.openxmlformats.org/drawingml/2006/main">
            <a:r>
              <a:t>- `return` sends a result back to the caller.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Defining a function does not run its body. The body runs when the function is called.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Call: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average([72, 85, 90])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Inside the function: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`values` refers to `[72, 85, 90]`.</a:t>
            </a:r>
          </a:p>
          <a:p xmlns:a="http://schemas.openxmlformats.org/drawingml/2006/main">
            <a:r>
              <a:t>2. `sum(values)` gives `247`.</a:t>
            </a:r>
          </a:p>
          <a:p xmlns:a="http://schemas.openxmlformats.org/drawingml/2006/main">
            <a:r>
              <a:t>3. `len(values)` gives `3`.</a:t>
            </a:r>
          </a:p>
          <a:p xmlns:a="http://schemas.openxmlformats.org/drawingml/2006/main">
            <a:r>
              <a:t>4. `247 / 3` gives approximately `82.33`.</a:t>
            </a:r>
          </a:p>
          <a:p xmlns:a="http://schemas.openxmlformats.org/drawingml/2006/main">
            <a:r>
              <a:t>5. `return` sends that value 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function box receives the argument list, labels it as parameter `values`, performs two intermediate calculations, and returns `82.33`.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Separate definition time from call time.</a:t>
            </a:r>
          </a:p>
          <a:p xmlns:a="http://schemas.openxmlformats.org/drawingml/2006/main">
            <a:r>
              <a:t>- Trace how the argument becomes the parameter value.</a:t>
            </a:r>
          </a:p>
          <a:p xmlns:a="http://schemas.openxmlformats.org/drawingml/2006/main">
            <a:r>
              <a:t>- Contrast `print()` with `return`: printing displays; returning supplies a reusable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prepares learners to replace `pass` inside the notebook's `predict()` function and to understand its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https://docs.python.org/3/tutorial/controlflow.html#defining-functions</a:t>
            </a:r>
          </a:p>
          <a:p xmlns:a="http://schemas.openxmlformats.org/drawingml/2006/main">
            <a:r>
              <a:t>- https://docs.python.org/3/reference/simple_stmts.html#the-return-statement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**module** is a Python file containing definitions and statements. An **import** makes code from a module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from collections import deque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standard-library `collections` module provides `deque`, a collection designed for adding and removing values from either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**queue** processes items in first-in, first-out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 programs grow, use **problem decomposition**: split one large task into smaller tasks with clear inputs and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 decomposition: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load scores;</a:t>
            </a:r>
          </a:p>
          <a:p xmlns:a="http://schemas.openxmlformats.org/drawingml/2006/main">
            <a:r>
              <a:t>2. calculate a summary;</a:t>
            </a:r>
          </a:p>
          <a:p xmlns:a="http://schemas.openxmlformats.org/drawingml/2006/main">
            <a:r>
              <a:t>3. assign a result; and</a:t>
            </a:r>
          </a:p>
          <a:p xmlns:a="http://schemas.openxmlformats.org/drawingml/2006/main">
            <a:r>
              <a:t>4. display the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Start with: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tasks = deque(["load_data", "train_model", "evaluate_model"])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`popleft()` removes and returns `"load_data"`.</a:t>
            </a:r>
          </a:p>
          <a:p xmlns:a="http://schemas.openxmlformats.org/drawingml/2006/main">
            <a:r>
              <a:t>2. The remaining queue is `"train_model"`, then `"evaluate_model"`.</a:t>
            </a:r>
          </a:p>
          <a:p xmlns:a="http://schemas.openxmlformats.org/drawingml/2006/main">
            <a:r>
              <a:t>3. `append("save_model")` adds a task to the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queue preserves the intended processing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queue enters from the right and exits from the left. Beneath it, one large program is decomposed into four small named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Explain that the standard library is installed with Python.</a:t>
            </a:r>
          </a:p>
          <a:p xmlns:a="http://schemas.openxmlformats.org/drawingml/2006/main">
            <a:r>
              <a:t>- Read the import statement from right to left: get `deque` from `collections`.</a:t>
            </a:r>
          </a:p>
          <a:p xmlns:a="http://schemas.openxmlformats.org/drawingml/2006/main">
            <a:r>
              <a:t>- Keep packages, installation, and custom modules for later practical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directly prepares learners for the notebook's `deque` task queue. It also explains how to divide the incomplete prediction task into smaller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https://docs.python.org/3/tutorial/modules.html</a:t>
            </a:r>
          </a:p>
          <a:p xmlns:a="http://schemas.openxmlformats.org/drawingml/2006/main">
            <a:r>
              <a:t>- https://docs.python.org/3/library/collections.html#collections.deque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Problem: Given several quiz scores, calculate: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the number of scores;</a:t>
            </a:r>
          </a:p>
          <a:p xmlns:a="http://schemas.openxmlformats.org/drawingml/2006/main">
            <a:r>
              <a:t>- the average score; and</a:t>
            </a:r>
          </a:p>
          <a:p xmlns:a="http://schemas.openxmlformats.org/drawingml/2006/main">
            <a:r>
              <a:t>- how many scores are passes using a threshold of `70`.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Store the scores in a list.</a:t>
            </a:r>
          </a:p>
          <a:p xmlns:a="http://schemas.openxmlformats.org/drawingml/2006/main">
            <a:r>
              <a:t>2. Define a function that receives the list.</a:t>
            </a:r>
          </a:p>
          <a:p xmlns:a="http://schemas.openxmlformats.org/drawingml/2006/main">
            <a:r>
              <a:t>3. Use a loop and condition to count passes.</a:t>
            </a:r>
          </a:p>
          <a:p xmlns:a="http://schemas.openxmlformats.org/drawingml/2006/main">
            <a:r>
              <a:t>4. Calculate the average.</a:t>
            </a:r>
          </a:p>
          <a:p xmlns:a="http://schemas.openxmlformats.org/drawingml/2006/main">
            <a:r>
              <a:t>5. Return the results in a dictionary.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structure has one job: the list stores repeated values, the loop visits them, the condition classifies them, and the dictionary names the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`[72, 85, 90, 68]`: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Count: `4`</a:t>
            </a:r>
          </a:p>
          <a:p xmlns:a="http://schemas.openxmlformats.org/drawingml/2006/main">
            <a:r>
              <a:t>2. Total: `72 + 85 + 90 + 68 = 315`</a:t>
            </a:r>
          </a:p>
          <a:p xmlns:a="http://schemas.openxmlformats.org/drawingml/2006/main">
            <a:r>
              <a:t>3. Average: `315 / 4 = 78.75`</a:t>
            </a:r>
          </a:p>
          <a:p xmlns:a="http://schemas.openxmlformats.org/drawingml/2006/main">
            <a:r>
              <a:t>4. Passing scores: `72`, `85`, and `90`</a:t>
            </a:r>
          </a:p>
          <a:p xmlns:a="http://schemas.openxmlformats.org/drawingml/2006/main">
            <a:r>
              <a:t>5. Pass count: `3`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Returned summary: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{"count": 4, "average": 78.75, "passes": 3}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list flows through a function. Inside, a loop visits each score, a condition marks pass or review, and three named outputs enter a dictionary.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- Ask learners to trace `passes` through all four iterations.</a:t>
            </a:r>
          </a:p>
          <a:p xmlns:a="http://schemas.openxmlformats.org/drawingml/2006/main">
            <a:r>
              <a:t>- Change the threshold to `80` and predict the new result before running.</a:t>
            </a:r>
          </a:p>
          <a:p xmlns:a="http://schemas.openxmlformats.org/drawingml/2006/main">
            <a:r>
              <a:t>- End with a notebook-readiness check: list updates, key lookup, set uniqueness, tuple unpacking, branches, loops, functions, and imports.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are ready for the notebook's data-structure cells, `deque` example, and placeholder functions. The `lambda` and `map()` cells should be treated as optional instructor-led extensions after the ordinary loop and named-function versions are understood.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03632982743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5009402452471a" /><Relationship Type="http://schemas.openxmlformats.org/officeDocument/2006/relationships/slideLayout" Target="/ppt/slideLayouts/slideLayout1.xml" Id="R4851a401aec244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1a401aec244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9dffd04b24f58" /><Relationship Type="http://schemas.openxmlformats.org/officeDocument/2006/relationships/image" Target="/ppt/media/image.png" Id="R3413dd1a028a465a" /><Relationship Type="http://schemas.openxmlformats.org/officeDocument/2006/relationships/image" Target="/ppt/media/image2.png" Id="R9c176766b2164fa1" /><Relationship Type="http://schemas.openxmlformats.org/officeDocument/2006/relationships/notesSlide" Target="/ppt/notesSlides/notesSlide1.xml" Id="R39179a75d7da44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e4a5ecbd8404f" /><Relationship Type="http://schemas.openxmlformats.org/officeDocument/2006/relationships/notesSlide" Target="/ppt/notesSlides/notesSlide2.xml" Id="R2520bf649196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c215c5f5f442b" /><Relationship Type="http://schemas.openxmlformats.org/officeDocument/2006/relationships/notesSlide" Target="/ppt/notesSlides/notesSlide3.xml" Id="Rdf587bf671644b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0ebb58a324906" /><Relationship Type="http://schemas.openxmlformats.org/officeDocument/2006/relationships/notesSlide" Target="/ppt/notesSlides/notesSlide4.xml" Id="R04792bb5dc74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559e41a534845" /><Relationship Type="http://schemas.openxmlformats.org/officeDocument/2006/relationships/notesSlide" Target="/ppt/notesSlides/notesSlide5.xml" Id="R96ff5af0a54d46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231452f824a83" /><Relationship Type="http://schemas.openxmlformats.org/officeDocument/2006/relationships/notesSlide" Target="/ppt/notesSlides/notesSlide6.xml" Id="Rf48f0eeedd9d44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bdd216ce74ed5" /><Relationship Type="http://schemas.openxmlformats.org/officeDocument/2006/relationships/notesSlide" Target="/ppt/notesSlides/notesSlide7.xml" Id="R467b8543bc4746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1ba9db0a94901" /><Relationship Type="http://schemas.openxmlformats.org/officeDocument/2006/relationships/notesSlide" Target="/ppt/notesSlides/notesSlide8.xml" Id="Rd76a6019e39144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8566a284147a8" /><Relationship Type="http://schemas.openxmlformats.org/officeDocument/2006/relationships/notesSlide" Target="/ppt/notesSlides/notesSlide9.xml" Id="Rf6cf6bfc9f3b44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7632d8e9c439a" /><Relationship Type="http://schemas.openxmlformats.org/officeDocument/2006/relationships/notesSlide" Target="/ppt/notesSlides/notesSlide10.xml" Id="R841b2302d4df4b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3e0c4afc94cd9" /><Relationship Type="http://schemas.openxmlformats.org/officeDocument/2006/relationships/notesSlide" Target="/ppt/notesSlides/notesSlide11.xml" Id="R5caeca4ded1a4b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317a3ec9d4e20" /><Relationship Type="http://schemas.openxmlformats.org/officeDocument/2006/relationships/notesSlide" Target="/ppt/notesSlides/notesSlide12.xml" Id="R22ca6e67306442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229C9-37A8-4885-8819-E450625F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3dd1a028a465a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89791-FB3C-470B-B101-C65BBC4E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1D714-3611-46A4-9192-6C787EF7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02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A59FB-1273-415F-8873-68DAB403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Programs Need Collections and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83422-7C65-49BE-91EA-E1AE325D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AC973-A2B4-4FC8-B83E-BB08D275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In Week 1, one variable stored one value: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76766b2164fa1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09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DFD62-5C08-4AED-9DDB-8A43D4CB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27DFA-6AE4-4AB8-86C3-81D1BE3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6E5CB-47D6-4FD9-95B5-1817670B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97EEF-1E54-489E-BBDE-D3872093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4D8D9-7A2A-4E34-9541-F6C91C93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Lists Store an Ordered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85C62-C865-4D6C-9C82-CF05AF4E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3150E-329F-4F06-BD43-ED0DD926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A list is an ordered, changeable collection of values. Each value is an element. Its position is its index. Python starts indexing at zero: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05ACD-B1E0-49A2-9607-E7DED82D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F5ADC-A6F4-4690-968A-0CDABFF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visitorcounts[0] gives the first value: 120.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DE663-F2A9-4C38-958A-BFEA4F8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0B707-4E00-499B-B8FF-B86F6B9B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visitorcounts[2] gives the third value: 128.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5257D-0739-4269-8F72-F91C8EDD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FADC8-7B67-403D-8BC3-78439CEE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visitorcounts[-1] gives the final value: 128.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E9669-7D4A-4765-9B05-2BD81CB8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6287E-7891-466B-8CD2-1588696A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visitorcounts[0:2] gives indexes 0 and 1: [120, 135].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CA3EC-A22B-4BF4-9D23-7798CD4B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96783-B787-4BD4-BC4E-B7C7B42B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len(visitorcounts) gives the number of elements: 3.</a:t>
            </a:r>
          </a:p>
        </p:txBody>
      </p:sp>
    </p:spTree>
    <p:extLst>
      <p:ext uri="{BB962C8B-B14F-4D97-AF65-F5344CB8AC3E}">
        <p14:creationId xmlns:p14="http://schemas.microsoft.com/office/powerpoint/2010/main" val="1179777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D0EB1-47A4-42C5-B607-3270D1E1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2F9CD-A614-42EF-808F-AAE365E3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735A9-E59E-43D1-9B64-7BE876E2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C22F0-B21C-4513-AA10-03FED0E2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10621-CF6C-489D-96D6-5BDB583A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Lists Can Be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8F4F0-93ED-426B-8F70-4BAEBD02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05A2B-4F38-4134-9DCC-6CE5024C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187B6-AB61-4811-A12E-19B4DB93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72477-01E6-4AC3-807A-57506509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D7CD4-B36D-4A42-92C6-BA285E43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11054-E4CC-41F4-A347-FCB67536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model_features = ["age", "income"]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model_features.append("education")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model_features[1] = "monthly_income"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print(model_features)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5AA80-AD25-4AAB-B090-9008EC8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A053E-EC1E-49C1-A755-E6F55460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26058-9DD5-4F7B-9455-958BD2FB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['age', 'monthly_income', 'education']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611A0-2FB1-4FC6-8505-517388DB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EDE5E-D329-43ED-BEE1-C1B52C63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The same variable still refers to the changed list.</a:t>
            </a:r>
          </a:p>
        </p:txBody>
      </p:sp>
    </p:spTree>
    <p:extLst>
      <p:ext uri="{BB962C8B-B14F-4D97-AF65-F5344CB8AC3E}">
        <p14:creationId xmlns:p14="http://schemas.microsoft.com/office/powerpoint/2010/main" val="805925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8F810-B713-4859-98AB-042CDF1B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F63B4-0CF1-4149-A399-56692B38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FFF5F-EFEF-4D62-BE2B-88D0077C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72A83-31AB-4279-8C9E-28CF97E9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171B9-D6CD-4AE9-BE88-A5D12D61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Dictionaries Connect Keys to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09407-9F89-4265-9277-57910293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CD69E-75D9-4E4A-9442-91E03207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 dictionary stores key-value pairs.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13033-AB51-446A-94C2-BBB129BA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EC7E1-AE2F-4333-8F93-6A7F8A95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4B57A-2F80-41E0-9E27-F0DBDAA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B4F9B-F1BD-4777-A30C-B9A94628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 key is the label used to find a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26487-E512-4CF8-8A19-A83397D8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29866-253F-4D6C-BB73-6E5B7145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913BB-E6DF-4A3B-A79A-548AB923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AADF0-BA90-4E41-B8F4-48C64705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Here "age" is a key and 0.75 is its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18D0B-8B6F-482F-A720-DF2CD5AE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A4624-FED3-44C8-BB05-AB4D1080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2740E-3F46-40B1-86FF-EE5FE396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BA3A3-23C9-4AE1-8304-6A060399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Unlike a list, a dictionary is not accessed by a position such as index 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6A58A-ECEC-4411-8A5D-68D230A1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12AFD-B24D-4B35-A822-67555A7E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4A306-BD23-4B8F-BA2B-AB379B4D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DEE8"/>
                </a:solidFill>
              </a:defRPr>
            </a:pPr>
            <a:r>
              <a:rPr sz="1500">
                <a:solidFill>
                  <a:srgbClr val="D1DEE8"/>
                </a:solidFill>
              </a:rPr>
              <a:t>Start with:</a:t>
            </a:r>
          </a:p>
        </p:txBody>
      </p:sp>
    </p:spTree>
    <p:extLst>
      <p:ext uri="{BB962C8B-B14F-4D97-AF65-F5344CB8AC3E}">
        <p14:creationId xmlns:p14="http://schemas.microsoft.com/office/powerpoint/2010/main" val="181663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2ECE6-5EFB-4A76-9AFA-CBC17870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FA811-89C5-4BFA-BA4C-C1C36584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C801F-27C1-411B-B424-B20F2F5D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11388-BDC0-4930-BEBC-4B9C2936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FD183-C2A3-458F-B0DC-25E73D6A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Tuples Store a Fixed Ordered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F40A8-0486-4E80-965B-9C028A0A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27979-599E-4AD0-8123-4C0D74BE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2EB"/>
                </a:solidFill>
              </a:defRPr>
            </a:pPr>
            <a:r>
              <a:rPr sz="1425">
                <a:solidFill>
                  <a:srgbClr val="D6E2EB"/>
                </a:solidFill>
              </a:rPr>
              <a:t>A tuple is an ordered collection that is usually used as one fixed record. Tuples use parentheses and support indexing: A tuple is immutable, meaning its elements cannot be replaced after creation.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4D02-76BD-482B-8E20-255983A4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269A5-4E5A-432B-B091-502B1535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result[0] gives "Asha".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0FB11-D569-4343-9F4A-00BAE758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798AD-73FF-48B8-AA4F-5D348103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result[1] gives 85.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54AF8-6D86-4E63-9A46-D2C694E2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A8426-4FA5-4AF1-B7F1-A4675F0C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name, score = result assigns "Asha" to name and 85 to 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19CB6-52ED-4310-B980-3A87B37C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C4598-5908-495B-ABDA-AFD4A06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result[1] = 90 fails because the tuple is immutable.</a:t>
            </a:r>
          </a:p>
        </p:txBody>
      </p:sp>
    </p:spTree>
    <p:extLst>
      <p:ext uri="{BB962C8B-B14F-4D97-AF65-F5344CB8AC3E}">
        <p14:creationId xmlns:p14="http://schemas.microsoft.com/office/powerpoint/2010/main" val="1072043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58E69-2ABA-4274-9249-B995F74F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F4745-9634-44AF-942C-2275420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F8901-547F-4032-9B04-C75AF1F1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521F9-F234-4641-8C56-D920E3D9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F554B-678C-4C66-B1FD-A5C66F47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Sets Keep Unique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9F303-DC07-4007-B572-E71646BC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9C4D2-8BA3-430C-A770-2B46AB22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C70A0-F42D-4245-804D-026F4CDD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D1289-C086-4AC4-BAEA-52B4D302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0E2E0-3C0A-4646-BF8E-E79F3952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A408B-2071-425C-9F9A-17693428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predictions = ["spam", "spam", "not_spam", "spam"]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unique_labels = set(predictions)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unique_labels.add("spam")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print(len(unique_labels))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print("not_spam" in unique_labels)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68871-1559-4C82-AC79-F179DC0F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829A8-EF89-44A0-9D79-C6C49403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3B537-3816-4E5B-9669-0F331693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2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AFBBD-6ECC-4A4F-BF09-3E9A3DC7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568B1-6B35-429C-AD53-6FBB5123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For two sets, a &amp; b means values present in both sets.</a:t>
            </a:r>
          </a:p>
        </p:txBody>
      </p:sp>
    </p:spTree>
    <p:extLst>
      <p:ext uri="{BB962C8B-B14F-4D97-AF65-F5344CB8AC3E}">
        <p14:creationId xmlns:p14="http://schemas.microsoft.com/office/powerpoint/2010/main" val="1213216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EA3630-49E5-43C1-AA53-2B194E60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75EE8-9622-4BAF-974E-41856AB8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65977-8695-4E8E-8821-F64710EA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0A3E5-4F6E-49AA-A976-492D0A4A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00B87-51BC-4B28-AE4E-4A09BA13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Conditions Choose Which Code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8210A-B39F-4798-BC23-7377D05E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2CEC1-C9D1-4AE5-AD36-6B7D74C0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2EB"/>
                </a:solidFill>
              </a:defRPr>
            </a:pPr>
            <a:r>
              <a:rPr sz="1425">
                <a:solidFill>
                  <a:srgbClr val="D6E2EB"/>
                </a:solidFill>
              </a:rPr>
              <a:t>A condition is an expression that produces True or False. An if statement runs an indented block only when its condition is true: Python uses a colon and indentation to show which statements belong to a branch.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3A0ED-0B21-434E-8639-7D43358B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D71D8-EF48-48D7-BF61-F3868DF4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if tests the first condition.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9CE4B-A9EF-4B58-A2E4-195D5B92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2C119-D5A6-41FD-B668-AC18BDCB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elif tests another condition if earlier branches were false.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7630A-77E3-4A6C-A9A7-886FDA01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F6F3F-B25C-4ACD-A201-E7D9F1A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else runs when no earlier branch matched.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411FD-BCC8-442B-9AE3-8433D23E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69324-25B2-4618-8155-47FDEA19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Test score &gt;= 90 -&gt; False.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1B008-66C1-4458-9AE1-3B9783B0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CCF3C-E665-4C06-B893-4CB1B09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Test score &gt;= 70 -&gt; True.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0DE6E-9477-4B3E-8EE1-08EE5DFE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7AC95-8B01-4053-B3CD-36F2CEE2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Print "Pass".</a:t>
            </a:r>
          </a:p>
        </p:txBody>
      </p:sp>
    </p:spTree>
    <p:extLst>
      <p:ext uri="{BB962C8B-B14F-4D97-AF65-F5344CB8AC3E}">
        <p14:creationId xmlns:p14="http://schemas.microsoft.com/office/powerpoint/2010/main" val="840640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34CCF-A0FB-43A8-BF2E-CEA33B3D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39EDB-E987-4855-8159-C91AE962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01B34-B8EB-4AB3-980F-EA1895F2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C33C0-4795-4B3C-8403-E6B84F68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DF8F9-786E-48FC-872B-3E91DD18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For Loops Process Each 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27942-6F11-4EAA-ACDD-5D011234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ADBA8-4832-486B-A241-0DDEB539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 loop repeats a block of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727B2-1388-46D5-BCF5-08015646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CB7FC-C874-41BF-AEC1-95921DB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3B3EA-A449-4765-A3F1-E223BFB1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84C23-DE72-4F69-ADD2-D0C5B58E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 for loop processes each element in a collection: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95731-FA3A-4F57-AAA5-5FD5DBE3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2BA26-A723-4C87-82B3-355C0B6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0F754-ED24-4C37-96AF-4E597BF4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4FB8A-A7B9-4D36-B508-3C2F12A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During each iteration, the loop variable score refers to the next element.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6E02B-9E0D-469F-BC23-74BFC917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B1E33-7B8D-4897-94E8-563CB75D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C05F7-0767-44F4-BA63-A212D6D7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3E09F-B535-48D5-8A91-CB80771F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An accumulator is a variable that keeps a running result.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CFD81-3302-4BCB-B73D-2D90879A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A137F-5CC7-429C-BB35-4F6232E4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84E54-F83B-4F00-BF9B-B2EC002B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EE8"/>
                </a:solidFill>
              </a:defRPr>
            </a:pPr>
            <a:r>
              <a:rPr sz="1200">
                <a:solidFill>
                  <a:srgbClr val="D1DEE8"/>
                </a:solidFill>
              </a:rPr>
              <a:t>For scores = [72, 85, 90]: | Iteration | score | total after addition | |---:|---:|---:| | Start | - | 0 | | 1 | 72 | 72 | | 2 | 85 | 157 | | 3 | 90 | 247 | The loop ends after the final element. The total remains available after the loop.</a:t>
            </a:r>
          </a:p>
        </p:txBody>
      </p:sp>
    </p:spTree>
    <p:extLst>
      <p:ext uri="{BB962C8B-B14F-4D97-AF65-F5344CB8AC3E}">
        <p14:creationId xmlns:p14="http://schemas.microsoft.com/office/powerpoint/2010/main" val="1431905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203B1-F30A-4F1C-B738-7BA605E9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97B43-CAD3-4806-A2E8-377CDD89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3B4CC-58CE-45E3-B5EA-525BC3A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76027-DB79-4E98-AD8D-A0523114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DC760-D96F-4A2F-B74A-C9F0BACB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While Loops Repeat While a Condition Is True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4F175-DA8A-4F8F-91D3-6313CE27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2AB0C-903A-43A6-B335-D39BFF4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86725-DBEA-48C4-A688-B1DFB65A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7D5A4-60F1-424F-BB69-0D3B67FC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D98EC-11D1-4597-AEA8-67CC8FD7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B0ACE-F138-43A2-B461-4AA2EBC7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attempts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while attempts &lt; 3: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attempts = attempts + 1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print(f"Attempt {attempts}")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E5143-6D17-4C82-B134-CA554F5D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2F4DE-CD84-42BB-B428-C2E16885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CE992-BE1E-47B1-B039-D21AB667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Attempt 1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Attempt 2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Attempt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47107-E8B6-4348-9FCD-138DC58E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D653F-EDEE-4CF5-8DFF-99114A8D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The loop body runs three times.</a:t>
            </a:r>
          </a:p>
        </p:txBody>
      </p:sp>
    </p:spTree>
    <p:extLst>
      <p:ext uri="{BB962C8B-B14F-4D97-AF65-F5344CB8AC3E}">
        <p14:creationId xmlns:p14="http://schemas.microsoft.com/office/powerpoint/2010/main" val="1420871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BBF8D-CDA7-408F-A016-692A2285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9ADD0-8F1F-478F-87EE-CE036FBA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AB3C3-CA82-47C8-B2F4-E81E08B5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756BB-DC7A-47F2-9BA9-21CF918D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06B70-A2AC-4519-B04F-26117830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Functions Turn a Solution into Reusable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0DB3E-E2FB-4A78-930E-5AE1A650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C69B1-1258-41B0-B77A-A044AD69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AC34D-6F75-4DA0-86E1-08B143C5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def begins a function definition.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6A71C-AF36-430A-917A-8A1B0252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B684A-1EDA-4DBC-BAEB-4F284F84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36842-2D8D-4D75-89FC-03CFFA1C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23495-27DA-4B9C-AB72-1EB0ABF0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average is the function name.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CAF6A-AA9F-444B-AEE5-BD269EC1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071E1-F65B-495E-BAE5-84A9547B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E51C7-B2A4-4287-A1C0-05E12658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82AB1-1AD1-4845-88AA-EA996B6B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values is a parameter, a name used inside the function.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5992D-36F2-4DFC-ABE6-361BF3A4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DAA7C-761D-4A81-87A9-E363F37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06B44-7087-443E-9803-DEEEE706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7C8BF-411D-4820-90D8-0AFA7703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[72, 85, 90] is an argument, the actual value supplied when calling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0CCCB-75EB-421A-B859-B9A451E5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18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EE13D-5443-42AE-B8FD-A0B298E3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50942-FA4E-4CF6-903A-ED0B100C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4BE08-5805-4D1A-B57A-BA7ECEDA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AFE09-7815-4DCD-9E30-8B181616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1CF4A-221B-4781-A807-0CDDC624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Imports and Decomposition Manage Complexity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F65A4-1AED-41FD-9CAD-34389CBF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C9018-5635-4F1B-82C1-09E8F50F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6DFCD-8FEF-40DA-AAA7-9D3C3C8C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load scores;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012E0-204D-4E16-8DEE-4F69A28C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6B735-8740-4DCD-9E66-3D82C46C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33101-BF11-4FC1-82B9-C4DD96E8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24F58-A36F-44B2-9551-3B42EC98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calculate a summary;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5FFE1-D10D-4B49-8382-F30B9571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CBEE4-24B1-4157-B481-8A7366A3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7D183-8AB9-4B63-9760-E1A966AD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765C9-70FE-4983-8327-CC1E36D3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assign a result; 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CB6AD-57EE-41CE-9DFD-92BD2F2C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8D699-40AA-46B6-BAAF-95080CD8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3CB72-39D3-4E27-AA75-4A3558D6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DD41C-7BFA-4BD0-B7ED-0744D01D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display the report.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90B18-CBBE-438C-8375-E769BE62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36974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F745B-0C3D-48AF-A08F-B3B4A9B7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162A7-BA79-47F2-958D-A29351BE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Programs Need Collections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D9587-44DF-42E0-9ED3-AF68B3B6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1A886-8503-4EF9-83F1-49CF3123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E7548-29E6-4137-8F55-C2138BCF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Worked Program: Summarize Quiz Scores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54C3E-5851-451C-8BD5-32F7779F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DE1AF-BCDE-4262-91C6-D9D6757B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92105-E240-41DE-9D5A-8FD8E889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the number of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3A295-8C2A-4781-B7AB-146415AB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69196-DB79-4B73-88A0-067F098D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FBA20-71A1-49FC-A76F-1B4E204E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the average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E85F6-0D94-4242-B239-80C5FE2F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E1AE9-A4EC-426C-8967-F57F04F8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A87B9-9820-4D7F-B4BE-4BE14625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how many scores are passes using a threshold of 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743A3-1F82-4ADF-BFC2-CB2EDB40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350F1-E8F8-49A8-808A-38032973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6118C-0176-46DC-8787-04C059F7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Store the scores in a list</a:t>
            </a:r>
          </a:p>
        </p:txBody>
      </p:sp>
    </p:spTree>
    <p:extLst>
      <p:ext uri="{BB962C8B-B14F-4D97-AF65-F5344CB8AC3E}">
        <p14:creationId xmlns:p14="http://schemas.microsoft.com/office/powerpoint/2010/main" val="1828876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2026-07-28T19:26:31.3150000Z</dcterms:created>
  <dcterms:modified xsi:type="dcterms:W3CDTF">2026-07-28T19:26:31.3150000Z</dcterms:modified>
</coreProperties>
</file>