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90c3647973401c" /><Relationship Type="http://schemas.openxmlformats.org/officeDocument/2006/relationships/extended-properties" Target="/docProps/app.xml" Id="R066cc1926cf94ca9" /><Relationship Type="http://schemas.openxmlformats.org/officeDocument/2006/relationships/officeDocument" Target="/ppt/presentation.xml" Id="R5c4b59c47e804a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48f6c72e9945ff"/>
  </p:sldMasterIdLst>
  <p:notesMasterIdLst>
    <p:notesMasterId xmlns:r="http://schemas.openxmlformats.org/officeDocument/2006/relationships" r:id="Rd182151163d04802"/>
  </p:notesMasterIdLst>
  <p:sldIdLst>
    <p:sldId xmlns:r="http://schemas.openxmlformats.org/officeDocument/2006/relationships" id="256" r:id="Rdc4885b2045947a4"/>
    <p:sldId xmlns:r="http://schemas.openxmlformats.org/officeDocument/2006/relationships" id="257" r:id="R7abf9afd6e924658"/>
    <p:sldId xmlns:r="http://schemas.openxmlformats.org/officeDocument/2006/relationships" id="258" r:id="Rd215a3078ee649d2"/>
    <p:sldId xmlns:r="http://schemas.openxmlformats.org/officeDocument/2006/relationships" id="259" r:id="R52fb423c9e134de5"/>
    <p:sldId xmlns:r="http://schemas.openxmlformats.org/officeDocument/2006/relationships" id="260" r:id="R3ac3b97300264400"/>
    <p:sldId xmlns:r="http://schemas.openxmlformats.org/officeDocument/2006/relationships" id="261" r:id="R1129519a470644c3"/>
    <p:sldId xmlns:r="http://schemas.openxmlformats.org/officeDocument/2006/relationships" id="262" r:id="Rdab16c32515c4c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538bf1b00c4491" /><Relationship Type="http://schemas.openxmlformats.org/officeDocument/2006/relationships/slideMaster" Target="/ppt/slideMasters/slideMaster1.xml" Id="R6e48f6c72e9945ff" /><Relationship Type="http://schemas.openxmlformats.org/officeDocument/2006/relationships/notesMaster" Target="/ppt/notesMasters/notesMaster1.xml" Id="Rd182151163d04802" /><Relationship Type="http://schemas.openxmlformats.org/officeDocument/2006/relationships/presProps" Target="/ppt/presProps.xml" Id="Rab386da39d254650" /><Relationship Type="http://schemas.openxmlformats.org/officeDocument/2006/relationships/tableStyles" Target="/ppt/tableStyles.xml" Id="Rcbfe87f163484c53" /><Relationship Type="http://schemas.openxmlformats.org/officeDocument/2006/relationships/slide" Target="/ppt/slides/slide1.xml" Id="Rdc4885b2045947a4" /><Relationship Type="http://schemas.openxmlformats.org/officeDocument/2006/relationships/slide" Target="/ppt/slides/slide2.xml" Id="R7abf9afd6e924658" /><Relationship Type="http://schemas.openxmlformats.org/officeDocument/2006/relationships/slide" Target="/ppt/slides/slide3.xml" Id="Rd215a3078ee649d2" /><Relationship Type="http://schemas.openxmlformats.org/officeDocument/2006/relationships/slide" Target="/ppt/slides/slide4.xml" Id="R52fb423c9e134de5" /><Relationship Type="http://schemas.openxmlformats.org/officeDocument/2006/relationships/slide" Target="/ppt/slides/slide5.xml" Id="R3ac3b97300264400" /><Relationship Type="http://schemas.openxmlformats.org/officeDocument/2006/relationships/slide" Target="/ppt/slides/slide6.xml" Id="R1129519a470644c3" /><Relationship Type="http://schemas.openxmlformats.org/officeDocument/2006/relationships/slide" Target="/ppt/slides/slide7.xml" Id="Rdab16c32515c4c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8ea6cfbbd849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62be96aad84be1" /><Relationship Type="http://schemas.openxmlformats.org/officeDocument/2006/relationships/notesMaster" Target="/ppt/notesMasters/notesMaster1.xml" Id="R241c3348946c4f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53b6c801354876" /><Relationship Type="http://schemas.openxmlformats.org/officeDocument/2006/relationships/notesMaster" Target="/ppt/notesMasters/notesMaster1.xml" Id="Rdcb638f871694c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a124be5eec4974" /><Relationship Type="http://schemas.openxmlformats.org/officeDocument/2006/relationships/notesMaster" Target="/ppt/notesMasters/notesMaster1.xml" Id="R476190596d484a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eee1e1a14847ce" /><Relationship Type="http://schemas.openxmlformats.org/officeDocument/2006/relationships/notesMaster" Target="/ppt/notesMasters/notesMaster1.xml" Id="Rc90293b65be247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7ac24be754440e" /><Relationship Type="http://schemas.openxmlformats.org/officeDocument/2006/relationships/notesMaster" Target="/ppt/notesMasters/notesMaster1.xml" Id="R4162a860a2b141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dbc5971f484306" /><Relationship Type="http://schemas.openxmlformats.org/officeDocument/2006/relationships/notesMaster" Target="/ppt/notesMasters/notesMaster1.xml" Id="R8c88e75434d74f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7fae1363a344d1" /><Relationship Type="http://schemas.openxmlformats.org/officeDocument/2006/relationships/notesMaster" Target="/ppt/notesMasters/notesMaster1.xml" Id="Rd172085a69704e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Exploration should reduce uncertainty, not decorate a notebook. We begin with a question, select a comparison, and state what the evidence cannot establish.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Week 3, session 2: Exploratory Data Analysis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By the end of this session, learners should be able to Separate descriptive patterns from causal claims. Choose comparisons that fit the question. Document anomalies and competing explanations.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Learning outcomes for Exploratory Data Analysis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four concepts as a system rather than isolated vocabulary: distributions, group comparisons, correlation, bias.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Core concepts for Exploratory Data Analysis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Apply the session content through a four-stage reasoning loop: define the question, transform deliberately, validate assumptions, and communicate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DS Academy teaching framework applied to Exploratory Data Analysis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 learners through the lab without completing the reasoning for them. Ask for an explicit frame, a minimal implementation, boundary tests, and an evidence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Guided lab for Exploratory Data Analysis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deliverable is Five findings, each paired with evidence and a limitation. Use the weekly assessment rubric as a quality gate, not as an after-the-fact scoring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Portfolio deliverable and assessment rubric for week 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Exploration should reduce uncertainty, not decorate a notebook. We begin with a question, select a comparison, and state what the evidence cannot establish.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Session summary for Exploratory Data Analysis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bf8c2796da49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48c5ae9d374f2a" /><Relationship Type="http://schemas.openxmlformats.org/officeDocument/2006/relationships/slideLayout" Target="/ppt/slideLayouts/slideLayout1.xml" Id="R7c2fb177e36c46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2fb177e36c46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033a670254aa3" /><Relationship Type="http://schemas.openxmlformats.org/officeDocument/2006/relationships/image" Target="/ppt/media/image.png" Id="Rf93e857b7a314ce3" /><Relationship Type="http://schemas.openxmlformats.org/officeDocument/2006/relationships/image" Target="/ppt/media/image2.png" Id="R4d59fc5870174777" /><Relationship Type="http://schemas.openxmlformats.org/officeDocument/2006/relationships/notesSlide" Target="/ppt/notesSlides/notesSlide1.xml" Id="R16d16a966d214b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6b74bf3bd475b" /><Relationship Type="http://schemas.openxmlformats.org/officeDocument/2006/relationships/notesSlide" Target="/ppt/notesSlides/notesSlide2.xml" Id="R0c1f01de0f124f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dccb3fe594e47" /><Relationship Type="http://schemas.openxmlformats.org/officeDocument/2006/relationships/notesSlide" Target="/ppt/notesSlides/notesSlide3.xml" Id="Ra1df2294911144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5198454cb4fba" /><Relationship Type="http://schemas.openxmlformats.org/officeDocument/2006/relationships/notesSlide" Target="/ppt/notesSlides/notesSlide4.xml" Id="R31c37143f4c747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272a0c48b499c" /><Relationship Type="http://schemas.openxmlformats.org/officeDocument/2006/relationships/notesSlide" Target="/ppt/notesSlides/notesSlide5.xml" Id="R87e3818e221b46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44326a13a45ee" /><Relationship Type="http://schemas.openxmlformats.org/officeDocument/2006/relationships/notesSlide" Target="/ppt/notesSlides/notesSlide6.xml" Id="Rc959ff912bf04e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2fc1cc99d4321" /><Relationship Type="http://schemas.openxmlformats.org/officeDocument/2006/relationships/notesSlide" Target="/ppt/notesSlides/notesSlide7.xml" Id="Redbfae7efd074a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E58F89-EEE9-4AE5-9C8F-DEAD04B4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65E4E-EC6F-4879-818D-33904187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3e857b7a314ce3"/>
          <a:srcRect xmlns:a="http://schemas.openxmlformats.org/drawingml/2006/main" l="23736" t="0" r="237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1200" y="0"/>
            <a:ext cx="64008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5DBD7-D87A-41FF-A081-215A9EBE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BDB"/>
                </a:solidFill>
              </a:defRPr>
            </a:pPr>
            <a:r>
              <a:rPr sz="1050" b="1">
                <a:solidFill>
                  <a:srgbClr val="176BDB"/>
                </a:solidFill>
              </a:rPr>
              <a:t>WEEK 03  ·  SESSION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DBF9B-7BC7-425D-866B-9CDD82E8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148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2033"/>
                </a:solidFill>
              </a:defRPr>
            </a:pPr>
            <a:r>
              <a:rPr sz="3675" b="1">
                <a:solidFill>
                  <a:srgbClr val="172033"/>
                </a:solidFill>
              </a:rPr>
              <a:t>Exploratory Data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D2C90-3862-49FE-A921-C7DACF94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5CB7B8-3D1F-4A98-B251-62A2767A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4438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8657A"/>
                </a:solidFill>
              </a:defRPr>
            </a:pPr>
            <a:r>
              <a:rPr sz="1575">
                <a:solidFill>
                  <a:srgbClr val="58657A"/>
                </a:solidFill>
              </a:rPr>
              <a:t>Create a defensible path from messy observations to analytical evidence.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9fc5870174777"/>
          <a:stretch xmlns:a="http://schemas.openxmlformats.org/drawingml/2006/main"/>
        </p:blipFill>
        <p:spPr>
          <a:xfrm xmlns:a="http://schemas.openxmlformats.org/drawingml/2006/main">
            <a:off x="666750" y="5810250"/>
            <a:ext cx="1714500" cy="57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5330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239AE3-9EFB-4F4D-A4F4-AB845F33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6EFAA-C547-4BCD-B213-C02EFEA0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03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D80A2-FB5B-4316-8D5A-1610F780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Learning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F1A46-3D83-4710-851E-A0EB9A90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6F40B-B501-448F-8B8A-962CD438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4F2A6-344C-48ED-BE99-96F9CD63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6BD348-833A-4DF7-AE5E-1DB9D466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8097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6915A-D1F8-426B-B4F9-18921C37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5335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Separate descriptive patterns from causal claims.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B21F9-9EE1-4895-85BC-4D95702E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A7C9"/>
                </a:solidFill>
              </a:defRPr>
            </a:pPr>
            <a:r>
              <a:rPr sz="2700" b="1">
                <a:solidFill>
                  <a:srgbClr val="08A7C9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B4B171-4458-4F21-ADAE-FEA062D8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2385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BC662-0EFC-4C9C-89AD-CAF9CF39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6227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Choose comparisons that fit the question.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D21C39-2462-47C1-8FB0-CD05EFFE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17D5E1-61CD-4D30-8F40-47A53C04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6672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20C010-7B39-4672-A000-B0018D5C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910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Document anomalies and competing explanations.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4670A9-77DC-431A-B282-E4E5FC6C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1BC047-06BD-4D14-B9A9-1ECBAF99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344809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EB55A6-76EA-4DB1-A8AF-5F41507A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B69D0B-358F-4D0D-8807-E210E12C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03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053C5-7903-4B46-A954-27976E20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The concept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C6DD4-4FB5-401C-A143-200E3E4E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C1722-658C-4BDD-A5DF-929B1715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BA3D8-D6CB-4ECD-8FC2-EA418C57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4A9C3-C928-4357-976A-F8765C1B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FBD5E-4097-443C-B940-DD4A713D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38C92-05C6-4A5D-B26C-6237AD59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distributions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641B73-F602-47F4-8CA1-CB7EB041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5270FD-0D7D-4CA1-B9DB-5A3EEB3C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9E0510-78ED-474D-A536-CA5C33A6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64053F-9DF2-43DB-AFE9-65262CBF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group comparisons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32D898-08A5-4EE6-B653-7B7DFA68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9E1FCE-0644-413B-BBFA-87222858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093B56-C6F0-44AA-965E-A2130F71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8DE076-380B-4F05-B129-B410DF55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correlation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3E485F-2E56-4A7D-8419-2CA23B55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EF259B-F9B6-4842-B43C-EA09BBF2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285056-8B75-47B3-B79F-9644B24F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0CEEC2-7679-4A4E-B2DC-112089A7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bias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25D199-36BB-4E18-A049-706F1289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1D52E3-9A00-4E1C-BB89-DC97EFDC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310651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25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C01D15-2820-466E-B952-F47BD66B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A7C9"/>
                </a:solidFill>
              </a:defRPr>
            </a:pPr>
            <a:r>
              <a:rPr sz="975" b="1">
                <a:solidFill>
                  <a:srgbClr val="08A7C9"/>
                </a:solidFill>
              </a:rPr>
              <a:t>FROM QUESTION TO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73A04-D3D9-4358-AD7A-9655595C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 repeatable reasoning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8EA29-6585-4AF7-97B1-65906116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FC887-FE84-490E-B952-B16F0253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2DE91-118C-422F-B321-375BC917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Define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FB2DD-4E53-4064-8AAC-1BDDF484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B9EFB-99BA-4DDF-81A5-4D055ABE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B1A3E-004C-406E-B5F4-5CF1DE4D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7F1F5-2A8E-4E9C-BD2D-2B7581FD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E1491-B803-4644-A465-0EE9EAF3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971D33-E62E-4C1E-BB22-7C4D9299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2491CC-36EB-498B-A76F-372454BE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657A"/>
                </a:solidFill>
              </a:defRPr>
            </a:pPr>
            <a:r>
              <a:rPr sz="975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2663B4-A1D3-4B43-84C6-F99EBC74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81FE8B-C910-4DAB-B4AF-CC324746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BCF6EE-0033-41AA-B121-3D865C3D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7BDDA8-8DFC-48A6-8C14-FF33E70C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0ED76A-6246-4060-9D20-B58C4AFD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Communicate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FB5FA3-ADDF-4B13-B4E1-CD759502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Investigate retention differences and produce an evidence notebook.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099366-C430-4454-B28F-C5B987FD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FC4D9"/>
                </a:solidFill>
              </a:defRPr>
            </a:pPr>
            <a:r>
              <a:rPr sz="750" b="1">
                <a:solidFill>
                  <a:srgbClr val="AFC4D9"/>
                </a:solidFill>
              </a:rPr>
              <a:t>DS ACADEMY  ·  PRACTICAL REASONING</a:t>
            </a:r>
          </a:p>
        </p:txBody>
      </p:sp>
    </p:spTree>
    <p:extLst>
      <p:ext uri="{BB962C8B-B14F-4D97-AF65-F5344CB8AC3E}">
        <p14:creationId xmlns:p14="http://schemas.microsoft.com/office/powerpoint/2010/main" val="20287084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691793-13BD-44EF-B2D5-DD0B7CFF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33435-DB17-40C9-AFF9-E45AEBFE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03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BE799-2631-4BDA-8154-EEAE9DAF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Guided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3D928-33E0-4F65-BA44-244F3E59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74507-98D2-4329-A0AF-FE4101AA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82280-01EA-4F27-AC3E-FFEE2709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2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DA75C-6340-45C8-ADA1-2B6FDC2C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LAB 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607EE-9693-4699-872B-45BBA02F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962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Investigate retention differences and produce an evidence notebook.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8175C-94A3-4227-A8D4-9349A277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FC4D9"/>
                </a:solidFill>
              </a:defRPr>
            </a:pPr>
            <a:r>
              <a:rPr sz="975">
                <a:solidFill>
                  <a:srgbClr val="AFC4D9"/>
                </a:solidFill>
              </a:rPr>
              <a:t>workbook  /  tests  / 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2B0E5-2656-4AA5-8DFF-6ABC44D5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57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1573B7-FD71-40B0-A852-45BDC316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287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Frame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F6564E-43D5-476B-A62E-A4B18AD2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12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Define inputs, outputs, and success criteria.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A97710-8D90-4D70-A9FB-62D5A454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955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62D8E5-C93A-49C7-B739-7B8C1D54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28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75855-8013-4921-89A6-B7AB13F3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03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B21F2E-3675-4E5F-A084-06C19CAB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Implement the smallest correct workflow.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12DBCB-3E7F-4454-8F33-59394A9C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6710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7D82DD-EB51-4CA2-921F-BBFD47CC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0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5F8BEB-9472-4727-B9C6-3053CAF3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718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366FDD-F9EF-48B4-9A56-E4BD7ACD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243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Test normal, boundary, and failure cases.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D2AA6B-C3C6-4254-868C-08D9BF50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386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A2A33A-A6B6-4D6A-8301-BC792E55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72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F7768"/>
                </a:solidFill>
              </a:defRPr>
            </a:pPr>
            <a:r>
              <a:rPr sz="975" b="1">
                <a:solidFill>
                  <a:srgbClr val="EF7768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B63FB7-380A-45CF-B4E2-FEDB220E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434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Explain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5D0041-06CF-4260-BC5E-2F43C264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958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Record the evidence and remaining limits.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254185-B67C-4406-BC56-2B1C0AF5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B6EC20-7F30-4757-A998-AE3035D0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016456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58FE14-47A5-4428-A7BC-BD5A6001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B7011-28E4-498E-B029-95F406C4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03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9E47D-3E14-481C-B96E-F68C6005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Portfolio deliverable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96011-3BD8-404A-A9F5-5AC1827E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A4ADA6-63D6-4A3C-AA3F-D7543FA3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D1395-81B1-4DB4-B931-046DD2D6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Five findings, each paired with evidence and a limitation.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F731A-65E7-418D-995D-A0194744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FC629D-4BC4-4D03-982D-9BE23E8D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417F50-C558-4C34-9DA6-748AACD2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Reproducible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3FD4FD-F6A1-44D4-A5AE-F947C71A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06A51-454D-44B3-A7B2-548162D2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95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Tested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7ADB77-992E-4B8D-A80A-D4CAC27C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C6E90E-082F-4A5C-B624-C1DC3CC9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Decision-relevant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AA6126-8260-444A-B832-E840CCA2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3143250" cy="40576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897DCB-CA91-4E51-A5C1-9497A377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621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WEEKLY ASSESSMENT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2DACE-A094-4DC9-BB3E-014E2238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Evidence-First EDA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B41B5E-4AF1-493F-93CE-FE90B08B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Cleaning 30%, reasoning 30%, visual evidence 20%, limitations 10%, reproducibility 10%.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514C0C-D767-4103-A805-582CBD00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6FE1D9-47C8-44A6-8C1E-E59D3ED6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443518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094BF-16BE-45FB-BE98-86BAC485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912C2-DE3C-4E7C-BE42-6A2FBDE0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SESSION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93B14-45C1-4A7F-9979-EE214C14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What should remain after the lesson?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04F2A-5566-4676-BDA3-D59AC0E1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F17E1-9D90-4186-8B47-51DA74EB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57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distributions + group comparisons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349E4-E04E-43BB-B76A-ADDDE8D4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CB2F4-FCA3-49CC-87FF-C6F1978E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PRACTICE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45B93-463F-4650-8F57-511EC6A2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00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Investigate retention differences and produce an evidence notebook.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2EA44-FE27-496C-848A-7E55CDDC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621586-D415-421A-B6A6-16BC786B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F7768"/>
                </a:solidFill>
              </a:defRPr>
            </a:pPr>
            <a:r>
              <a:rPr sz="900" b="1">
                <a:solidFill>
                  <a:srgbClr val="EF7768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DB1DD9-9397-4854-BB4C-4E22EEF0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43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Five findings, each paired with evidence and a limitation.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76D3FB-6877-407D-A6E9-383F7E5C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216F8B-E8CE-4897-814B-A2FAC92A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DB"/>
                </a:solidFill>
              </a:defRPr>
            </a:pPr>
            <a:r>
              <a:rPr sz="1125" b="1">
                <a:solidFill>
                  <a:srgbClr val="176BDB"/>
                </a:solidFill>
              </a:rPr>
              <a:t>Narration available in English 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D58215-D66E-4BB9-A807-78D9C736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95312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සිංහල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D0DCB1-24EC-4890-941E-24BD1BAF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81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</p:spTree>
    <p:extLst>
      <p:ext uri="{BB962C8B-B14F-4D97-AF65-F5344CB8AC3E}">
        <p14:creationId xmlns:p14="http://schemas.microsoft.com/office/powerpoint/2010/main" val="1672721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2026-07-27T08:01:02.5150000Z</dcterms:created>
  <dcterms:modified xsi:type="dcterms:W3CDTF">2026-07-27T08:01:02.5150000Z</dcterms:modified>
</coreProperties>
</file>