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cf8a53fd4aa4643" /><Relationship Type="http://schemas.openxmlformats.org/officeDocument/2006/relationships/extended-properties" Target="/docProps/app.xml" Id="R890246f4243742e5" /><Relationship Type="http://schemas.openxmlformats.org/officeDocument/2006/relationships/officeDocument" Target="/ppt/presentation.xml" Id="R9dd62ae0b7e74e9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4b840f2b1fc4b5f"/>
  </p:sldMasterIdLst>
  <p:notesMasterIdLst>
    <p:notesMasterId xmlns:r="http://schemas.openxmlformats.org/officeDocument/2006/relationships" r:id="R735479de592c4f9e"/>
  </p:notesMasterIdLst>
  <p:sldIdLst>
    <p:sldId xmlns:r="http://schemas.openxmlformats.org/officeDocument/2006/relationships" id="256" r:id="Reecdde0747c94b3e"/>
    <p:sldId xmlns:r="http://schemas.openxmlformats.org/officeDocument/2006/relationships" id="257" r:id="Re5841ba15fc6481f"/>
    <p:sldId xmlns:r="http://schemas.openxmlformats.org/officeDocument/2006/relationships" id="258" r:id="R4d694700f4c04462"/>
    <p:sldId xmlns:r="http://schemas.openxmlformats.org/officeDocument/2006/relationships" id="259" r:id="Raab1ecffc7cd4dd0"/>
    <p:sldId xmlns:r="http://schemas.openxmlformats.org/officeDocument/2006/relationships" id="260" r:id="Rbc5dee7916684e41"/>
    <p:sldId xmlns:r="http://schemas.openxmlformats.org/officeDocument/2006/relationships" id="261" r:id="Rd90b128621984826"/>
    <p:sldId xmlns:r="http://schemas.openxmlformats.org/officeDocument/2006/relationships" id="262" r:id="R84451313dcca433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aedcdb7475146c7" /><Relationship Type="http://schemas.openxmlformats.org/officeDocument/2006/relationships/slideMaster" Target="/ppt/slideMasters/slideMaster1.xml" Id="Rf4b840f2b1fc4b5f" /><Relationship Type="http://schemas.openxmlformats.org/officeDocument/2006/relationships/notesMaster" Target="/ppt/notesMasters/notesMaster1.xml" Id="R735479de592c4f9e" /><Relationship Type="http://schemas.openxmlformats.org/officeDocument/2006/relationships/presProps" Target="/ppt/presProps.xml" Id="R0786230648604c74" /><Relationship Type="http://schemas.openxmlformats.org/officeDocument/2006/relationships/tableStyles" Target="/ppt/tableStyles.xml" Id="R514e2bbfa22744dd" /><Relationship Type="http://schemas.openxmlformats.org/officeDocument/2006/relationships/slide" Target="/ppt/slides/slide1.xml" Id="Reecdde0747c94b3e" /><Relationship Type="http://schemas.openxmlformats.org/officeDocument/2006/relationships/slide" Target="/ppt/slides/slide2.xml" Id="Re5841ba15fc6481f" /><Relationship Type="http://schemas.openxmlformats.org/officeDocument/2006/relationships/slide" Target="/ppt/slides/slide3.xml" Id="R4d694700f4c04462" /><Relationship Type="http://schemas.openxmlformats.org/officeDocument/2006/relationships/slide" Target="/ppt/slides/slide4.xml" Id="Raab1ecffc7cd4dd0" /><Relationship Type="http://schemas.openxmlformats.org/officeDocument/2006/relationships/slide" Target="/ppt/slides/slide5.xml" Id="Rbc5dee7916684e41" /><Relationship Type="http://schemas.openxmlformats.org/officeDocument/2006/relationships/slide" Target="/ppt/slides/slide6.xml" Id="Rd90b128621984826" /><Relationship Type="http://schemas.openxmlformats.org/officeDocument/2006/relationships/slide" Target="/ppt/slides/slide7.xml" Id="R84451313dcca433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4f6e056830d480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841b626d2994417" /><Relationship Type="http://schemas.openxmlformats.org/officeDocument/2006/relationships/notesMaster" Target="/ppt/notesMasters/notesMaster1.xml" Id="R8c087f1d588646a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5f5e356cc734577" /><Relationship Type="http://schemas.openxmlformats.org/officeDocument/2006/relationships/notesMaster" Target="/ppt/notesMasters/notesMaster1.xml" Id="R51442f7c83ad442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518a6c399024210" /><Relationship Type="http://schemas.openxmlformats.org/officeDocument/2006/relationships/notesMaster" Target="/ppt/notesMasters/notesMaster1.xml" Id="R6c51a58e666b4f2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82c42843e454d5c" /><Relationship Type="http://schemas.openxmlformats.org/officeDocument/2006/relationships/notesMaster" Target="/ppt/notesMasters/notesMaster1.xml" Id="R060bb7529301423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fa6b28e06404c81" /><Relationship Type="http://schemas.openxmlformats.org/officeDocument/2006/relationships/notesMaster" Target="/ppt/notesMasters/notesMaster1.xml" Id="R46d4c41e909147e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fb20f61d1f44352" /><Relationship Type="http://schemas.openxmlformats.org/officeDocument/2006/relationships/notesMaster" Target="/ppt/notesMasters/notesMaster1.xml" Id="R134a9e07c5884a0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d2f7f1ed10c45fa" /><Relationship Type="http://schemas.openxmlformats.org/officeDocument/2006/relationships/notesMaster" Target="/ppt/notesMasters/notesMaster1.xml" Id="R99694d34b0fc47a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Serving adds a software contract around the model. We validate requests, return useful errors, test boundaries, and monitor service health, input shifts, and delayed outcomes.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 Academy curriculum manifest: Week 8, session 2: Serving, Testing and Monitoring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By the end of this session, learners should be able to Expose inference through a validated endpoint. Test normal, boundary, and invalid requests. Define service, data, and model signals.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 Academy curriculum manifest: Learning outcomes for Serving, Testing and Monitoring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these four concepts as a system rather than isolated vocabulary: REST inference, contract tests, logging, drift.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 Academy curriculum manifest: Core concepts for Serving, Testing and Monitoring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Apply the session content through a four-stage reasoning loop: define the question, transform deliberately, validate assumptions, and communicate the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 Academy curriculum manifest: DS Academy teaching framework applied to Serving, Testing and Monitoring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Guide learners through the lab without completing the reasoning for them. Ask for an explicit frame, a minimal implementation, boundary tests, and an evidence note.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 Academy curriculum manifest: Guided lab for Serving, Testing and Monitoring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deliverable is A container-ready API with tests and a monitoring specification. Use the weekly assessment rubric as a quality gate, not as an after-the-fact scoring checklist.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 Academy curriculum manifest: Portfolio deliverable and assessment rubric for week 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Serving adds a software contract around the model. We validate requests, return useful errors, test boundaries, and monitor service health, input shifts, and delayed outcomes.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 Academy curriculum manifest: Session summary for Serving, Testing and Monitoring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c9b329cbd8441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03f143e0852433d" /><Relationship Type="http://schemas.openxmlformats.org/officeDocument/2006/relationships/slideLayout" Target="/ppt/slideLayouts/slideLayout1.xml" Id="Rc037f27b0c6c426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037f27b0c6c426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04c9c1ba524ffc" /><Relationship Type="http://schemas.openxmlformats.org/officeDocument/2006/relationships/image" Target="/ppt/media/image.png" Id="R3b04ab0642944386" /><Relationship Type="http://schemas.openxmlformats.org/officeDocument/2006/relationships/image" Target="/ppt/media/image2.png" Id="Ra42815e5dd9f43a8" /><Relationship Type="http://schemas.openxmlformats.org/officeDocument/2006/relationships/notesSlide" Target="/ppt/notesSlides/notesSlide1.xml" Id="Re437cf31d44d422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e6325507d14665" /><Relationship Type="http://schemas.openxmlformats.org/officeDocument/2006/relationships/notesSlide" Target="/ppt/notesSlides/notesSlide2.xml" Id="R8340b7a5141d4ed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92008cd46a4f54" /><Relationship Type="http://schemas.openxmlformats.org/officeDocument/2006/relationships/notesSlide" Target="/ppt/notesSlides/notesSlide3.xml" Id="Rd2e73533f0f045d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a524956c394aa8" /><Relationship Type="http://schemas.openxmlformats.org/officeDocument/2006/relationships/notesSlide" Target="/ppt/notesSlides/notesSlide4.xml" Id="R2bc44bff36f04af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eb149f23564074" /><Relationship Type="http://schemas.openxmlformats.org/officeDocument/2006/relationships/notesSlide" Target="/ppt/notesSlides/notesSlide5.xml" Id="R4a5838cd5ce04b9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c21793d5294f48" /><Relationship Type="http://schemas.openxmlformats.org/officeDocument/2006/relationships/notesSlide" Target="/ppt/notesSlides/notesSlide6.xml" Id="R959cb8964c47486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ff55de2dc64b8b" /><Relationship Type="http://schemas.openxmlformats.org/officeDocument/2006/relationships/notesSlide" Target="/ppt/notesSlides/notesSlide7.xml" Id="Rb24f918877b64c9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8E1745-C5ED-48A9-B491-ADE76E1ED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7F3113-FB07-46EF-AD7C-6649ABED6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619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04ab0642944386"/>
          <a:srcRect xmlns:a="http://schemas.openxmlformats.org/drawingml/2006/main" l="23736" t="0" r="2373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91200" y="0"/>
            <a:ext cx="6400800" cy="68580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5DA8E2-1371-4467-94BA-40D7F84B6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76BDB"/>
                </a:solidFill>
              </a:defRPr>
            </a:pPr>
            <a:r>
              <a:rPr sz="1050" b="1">
                <a:solidFill>
                  <a:srgbClr val="176BDB"/>
                </a:solidFill>
              </a:rPr>
              <a:t>WEEK 08  ·  SESSION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3861F2-E01B-4300-AEFE-4DC8976D4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85900"/>
            <a:ext cx="45148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172033"/>
                </a:solidFill>
              </a:defRPr>
            </a:pPr>
            <a:r>
              <a:rPr sz="3675" b="1">
                <a:solidFill>
                  <a:srgbClr val="172033"/>
                </a:solidFill>
              </a:rPr>
              <a:t>Serving, Testing and Monitoring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994BC7-1D13-4129-9AB9-B9237EFF6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704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7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E41F75-A3BC-46EC-8BEB-3899879A8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86200"/>
            <a:ext cx="44386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8657A"/>
                </a:solidFill>
              </a:defRPr>
            </a:pPr>
            <a:r>
              <a:rPr sz="1575">
                <a:solidFill>
                  <a:srgbClr val="58657A"/>
                </a:solidFill>
              </a:rPr>
              <a:t>Package an end-to-end classifier as a tested, observable service.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2815e5dd9f43a8"/>
          <a:stretch xmlns:a="http://schemas.openxmlformats.org/drawingml/2006/main"/>
        </p:blipFill>
        <p:spPr>
          <a:xfrm xmlns:a="http://schemas.openxmlformats.org/drawingml/2006/main">
            <a:off x="666750" y="5810250"/>
            <a:ext cx="1714500" cy="571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7567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55D16C-3AEC-4622-9275-E892AFD55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345A64-1D82-4174-9F19-BB8DF3944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WEEK 08  /  SESSION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FFE63E-6966-4D6A-869B-A75A07FE0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Learning outcomes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7E0011-41BB-4EEB-B841-40E38624D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2385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8657A"/>
                </a:solidFill>
              </a:defRPr>
            </a:pPr>
            <a:r>
              <a:rPr sz="900" b="1">
                <a:solidFill>
                  <a:srgbClr val="58657A"/>
                </a:solidFill>
              </a:rPr>
              <a:t>DS ACADEMY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E7D68D-3F73-4BE0-882E-956B7B886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81100"/>
            <a:ext cx="11220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F1CBDD-52B2-4050-B13E-0A4532CE0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800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6BDB"/>
                </a:solidFill>
              </a:defRPr>
            </a:pPr>
            <a:r>
              <a:rPr sz="2700" b="1">
                <a:solidFill>
                  <a:srgbClr val="176BDB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FF6650-1629-4A3D-91F7-9BBEF0BAA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180975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05829C-A205-4E1F-BF6B-697DCDEEF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1533525"/>
            <a:ext cx="809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Expose inference through a validated endpoint.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DC5F94-0D1C-4FE3-8656-04B74E619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90850"/>
            <a:ext cx="800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8A7C9"/>
                </a:solidFill>
              </a:defRPr>
            </a:pPr>
            <a:r>
              <a:rPr sz="2700" b="1">
                <a:solidFill>
                  <a:srgbClr val="08A7C9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CB1B3B-35C1-41A0-8F31-E68C42D99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323850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0593DE-F7DF-4213-A1AF-82AAC0E96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962275"/>
            <a:ext cx="809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Test normal, boundary, and invalid requests.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3B7A2A-CFEC-44D7-B5B6-4E4FFE405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19600"/>
            <a:ext cx="800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6BDB"/>
                </a:solidFill>
              </a:defRPr>
            </a:pPr>
            <a:r>
              <a:rPr sz="2700" b="1">
                <a:solidFill>
                  <a:srgbClr val="176BDB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1B3236-4A54-48D1-A7EE-4FE333CA3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66725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7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58BD9F-676B-4FFF-9860-4A494EB75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391025"/>
            <a:ext cx="809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Define service, data, and model signals.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8C11CD-226D-43B3-9943-6515EAD0F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8657A"/>
                </a:solidFill>
              </a:defRPr>
            </a:pPr>
            <a:r>
              <a:rPr sz="750">
                <a:solidFill>
                  <a:srgbClr val="58657A"/>
                </a:solidFill>
              </a:rPr>
              <a:t>End-to-End Data Science &amp; AI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4DE7F3-7976-454C-9F66-5E876E113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76BDB"/>
                </a:solidFill>
              </a:defRPr>
            </a:pPr>
            <a:r>
              <a:rPr sz="750" b="1">
                <a:solidFill>
                  <a:srgbClr val="176BDB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52924403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2781D2-B93D-48AC-9FF5-BD0F8FB6A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8B9875-DD5D-4185-A67D-9870AC21E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WEEK 08  /  SESSION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4CEF52-5E6D-4E8E-94DA-D8ACB7B5A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The concept system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59B112-C1A7-48A4-A62B-D7C67C4C6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2385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8657A"/>
                </a:solidFill>
              </a:defRPr>
            </a:pPr>
            <a:r>
              <a:rPr sz="900" b="1">
                <a:solidFill>
                  <a:srgbClr val="58657A"/>
                </a:solidFill>
              </a:rPr>
              <a:t>DS ACADEMY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D5FBAB-D68C-45F3-A3B5-BBB9EC414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81100"/>
            <a:ext cx="11220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6F2E49-6A6F-457D-ADC3-8A97B964B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33550"/>
            <a:ext cx="4762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7E5755-435A-4AF8-9B4F-31F35A3AE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33550"/>
            <a:ext cx="95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BDFF28-378C-43AC-918B-CD2FD42C5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7167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8657A"/>
                </a:solidFill>
              </a:defRPr>
            </a:pPr>
            <a:r>
              <a:rPr sz="1050" b="1">
                <a:solidFill>
                  <a:srgbClr val="58657A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DFA8BE-855A-47DE-AE6A-3D43E0922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9077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033"/>
                </a:solidFill>
              </a:defRPr>
            </a:pPr>
            <a:r>
              <a:rPr sz="2025" b="1">
                <a:solidFill>
                  <a:srgbClr val="172033"/>
                </a:solidFill>
              </a:rPr>
              <a:t>REST inference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B7E50D-0EBF-4807-B5F8-027A557F9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33550"/>
            <a:ext cx="4762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CBA2E0-1A8D-4663-95B2-A1933BA14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33550"/>
            <a:ext cx="95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F87C9D-3F37-4A02-86B9-7F55B0223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97167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8657A"/>
                </a:solidFill>
              </a:defRPr>
            </a:pPr>
            <a:r>
              <a:rPr sz="1050" b="1">
                <a:solidFill>
                  <a:srgbClr val="58657A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F0EE89-538F-40D6-BE69-229157273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9077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033"/>
                </a:solidFill>
              </a:defRPr>
            </a:pPr>
            <a:r>
              <a:rPr sz="2025" b="1">
                <a:solidFill>
                  <a:srgbClr val="172033"/>
                </a:solidFill>
              </a:rPr>
              <a:t>contract tests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C8FAFD-50F3-48A2-A38E-0AE751078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4762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429213-2521-4E6E-A5B3-8DB2F3435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95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F5E992-739D-4FB4-959D-BAB114AF9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3862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8657A"/>
                </a:solidFill>
              </a:defRPr>
            </a:pPr>
            <a:r>
              <a:rPr sz="1050" b="1">
                <a:solidFill>
                  <a:srgbClr val="58657A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2A25B0-771B-43FD-8E77-C6B1214CA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577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033"/>
                </a:solidFill>
              </a:defRPr>
            </a:pPr>
            <a:r>
              <a:rPr sz="2025" b="1">
                <a:solidFill>
                  <a:srgbClr val="172033"/>
                </a:solidFill>
              </a:rPr>
              <a:t>logging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82B30F-0177-4CD8-8BAB-ED2B7C268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00500"/>
            <a:ext cx="4762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3C7437-7A8D-4A2A-AC9D-E4390F241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00500"/>
            <a:ext cx="95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7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8FBC91-06A5-4606-BB90-54D0BFA32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23862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8657A"/>
                </a:solidFill>
              </a:defRPr>
            </a:pPr>
            <a:r>
              <a:rPr sz="1050" b="1">
                <a:solidFill>
                  <a:srgbClr val="58657A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D9286A-C5C7-46AE-89B2-E741AC7F3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6577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033"/>
                </a:solidFill>
              </a:defRPr>
            </a:pPr>
            <a:r>
              <a:rPr sz="2025" b="1">
                <a:solidFill>
                  <a:srgbClr val="172033"/>
                </a:solidFill>
              </a:rPr>
              <a:t>drift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F40BB1-B5D8-414B-9A48-5E5A69557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8657A"/>
                </a:solidFill>
              </a:defRPr>
            </a:pPr>
            <a:r>
              <a:rPr sz="750">
                <a:solidFill>
                  <a:srgbClr val="58657A"/>
                </a:solidFill>
              </a:rPr>
              <a:t>End-to-End Data Science &amp; AI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AB6B04-5423-490E-B494-31C0FD784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76BDB"/>
                </a:solidFill>
              </a:defRPr>
            </a:pPr>
            <a:r>
              <a:rPr sz="750" b="1">
                <a:solidFill>
                  <a:srgbClr val="176BDB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106788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225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9905E4-24CE-4E5A-A614-26C35B5B7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3905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8A7C9"/>
                </a:solidFill>
              </a:defRPr>
            </a:pPr>
            <a:r>
              <a:rPr sz="975" b="1">
                <a:solidFill>
                  <a:srgbClr val="08A7C9"/>
                </a:solidFill>
              </a:rPr>
              <a:t>FROM QUESTION TO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E71A4F-4ADF-49B9-A520-13D14E902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685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A repeatable reasoning loop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217742-42FC-4369-B8F5-A1657433A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22479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176B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A5FF63-4E36-4C10-9B27-8F59A3183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86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C04E41-CF98-46A1-AE59-99DCF5016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Define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6DD455-FAB4-472A-8ED4-447199619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067050"/>
            <a:ext cx="400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4118A9-33E4-4908-820B-10A3A614E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476500"/>
            <a:ext cx="22479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971DFD-FC3D-4C6E-B341-A765D9826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686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166D78-5F9D-4690-A040-3EA16AC8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2385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Transform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DAE7A8-CF7C-4A39-9703-E1D209025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067050"/>
            <a:ext cx="400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FC6765-312B-42BF-819E-64B6FD2A6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76500"/>
            <a:ext cx="22479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14BF32-7386-482C-A7B3-3852718EC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86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8657A"/>
                </a:solidFill>
              </a:defRPr>
            </a:pPr>
            <a:r>
              <a:rPr sz="975" b="1">
                <a:solidFill>
                  <a:srgbClr val="58657A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25A466-90D9-4AB9-849F-AEDAC8B5E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385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Validate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A5A99A-CE0F-48BD-A2A1-5530FAA30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067050"/>
            <a:ext cx="400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C35F48-2978-4730-84EA-CA234C9ED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476500"/>
            <a:ext cx="22479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EF77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72C8B8-410C-4996-8FC5-3A4A4509A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686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773458-4276-4B82-BE4C-A2A94102B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2385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Communicate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A0CEC0-A148-4707-981E-3B65819EF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FFFFF"/>
                </a:solidFill>
              </a:defRPr>
            </a:pPr>
            <a:r>
              <a:rPr sz="1650">
                <a:solidFill>
                  <a:srgbClr val="FFFFFF"/>
                </a:solidFill>
              </a:rPr>
              <a:t>Serve the model with FastAPI and instrument structured logs.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3946CD-43A4-4A21-A9AB-D53BD0DCC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AFC4D9"/>
                </a:solidFill>
              </a:defRPr>
            </a:pPr>
            <a:r>
              <a:rPr sz="750" b="1">
                <a:solidFill>
                  <a:srgbClr val="AFC4D9"/>
                </a:solidFill>
              </a:rPr>
              <a:t>DS ACADEMY  ·  PRACTICAL REASONING</a:t>
            </a:r>
          </a:p>
        </p:txBody>
      </p:sp>
    </p:spTree>
    <p:extLst>
      <p:ext uri="{BB962C8B-B14F-4D97-AF65-F5344CB8AC3E}">
        <p14:creationId xmlns:p14="http://schemas.microsoft.com/office/powerpoint/2010/main" val="157202784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C46AFB7-013A-4491-8B64-C1B2C7A8A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9E79D3-3798-48EC-AE77-B7BC5D061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WEEK 08  /  SESSION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7BB9A4-DF05-43BD-905D-8CE9A29F8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Guided lab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6AB63C-949F-464B-9194-DFE81E1EB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2385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8657A"/>
                </a:solidFill>
              </a:defRPr>
            </a:pPr>
            <a:r>
              <a:rPr sz="900" b="1">
                <a:solidFill>
                  <a:srgbClr val="58657A"/>
                </a:solidFill>
              </a:rPr>
              <a:t>DS ACADEMY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303BD0-C24A-4A14-BCFE-AE8019B53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81100"/>
            <a:ext cx="11220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870136-BDF9-4B66-AD05-099F96AF1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485775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1225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FEAACB-3439-4B11-B288-5DB09B10B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621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8A7C9"/>
                </a:solidFill>
              </a:defRPr>
            </a:pPr>
            <a:r>
              <a:rPr sz="900" b="1">
                <a:solidFill>
                  <a:srgbClr val="08A7C9"/>
                </a:solidFill>
              </a:rPr>
              <a:t>LAB BRIEF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7E55D5-A44C-443C-A929-18773C97B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14600"/>
            <a:ext cx="39624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Serve the model with FastAPI and instrument structured logs.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98DD88-CB46-4E3B-A789-2A6D900F7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7205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AFC4D9"/>
                </a:solidFill>
              </a:defRPr>
            </a:pPr>
            <a:r>
              <a:rPr sz="975">
                <a:solidFill>
                  <a:srgbClr val="AFC4D9"/>
                </a:solidFill>
              </a:rPr>
              <a:t>workbook  /  tests  /  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96F34F-EAD4-48AC-A2EF-460DE75E1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6573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DB"/>
                </a:solidFill>
              </a:defRPr>
            </a:pPr>
            <a:r>
              <a:rPr sz="975" b="1">
                <a:solidFill>
                  <a:srgbClr val="176BDB"/>
                </a:solidFill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CED2F9-7CEF-41BD-BCFC-FB2718EF6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62877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033"/>
                </a:solidFill>
              </a:defRPr>
            </a:pPr>
            <a:r>
              <a:rPr sz="1575" b="1">
                <a:solidFill>
                  <a:srgbClr val="172033"/>
                </a:solidFill>
              </a:rPr>
              <a:t>Frame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CFCC42-085F-4F01-B729-54FB97430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98120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8657A"/>
                </a:solidFill>
              </a:defRPr>
            </a:pPr>
            <a:r>
              <a:rPr sz="1200">
                <a:solidFill>
                  <a:srgbClr val="58657A"/>
                </a:solidFill>
              </a:rPr>
              <a:t>Define inputs, outputs, and success criteria.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AAAA91-8E99-4F6C-8091-036A4A082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495550"/>
            <a:ext cx="4895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2968D0-403C-477A-8E2E-8DE6CF33F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6289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DB"/>
                </a:solidFill>
              </a:defRPr>
            </a:pPr>
            <a:r>
              <a:rPr sz="975" b="1">
                <a:solidFill>
                  <a:srgbClr val="176BDB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CF8E7F-E55C-42D9-A0F6-03CA620E4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0032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033"/>
                </a:solidFill>
              </a:defRPr>
            </a:pPr>
            <a:r>
              <a:rPr sz="1575" b="1">
                <a:solidFill>
                  <a:srgbClr val="172033"/>
                </a:solidFill>
              </a:rPr>
              <a:t>Build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5B2EB7-5420-4533-BB6A-3EF960FC4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5275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8657A"/>
                </a:solidFill>
              </a:defRPr>
            </a:pPr>
            <a:r>
              <a:rPr sz="1200">
                <a:solidFill>
                  <a:srgbClr val="58657A"/>
                </a:solidFill>
              </a:rPr>
              <a:t>Implement the smallest correct workflow.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A47295-4786-47EF-9A9C-9ACD96629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467100"/>
            <a:ext cx="4895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0F7178-A2C4-4319-A06A-7B6492F00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6004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DB"/>
                </a:solidFill>
              </a:defRPr>
            </a:pPr>
            <a:r>
              <a:rPr sz="975" b="1">
                <a:solidFill>
                  <a:srgbClr val="176BDB"/>
                </a:solidFill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4C944C-F8BC-4CF8-8601-892513428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57187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033"/>
                </a:solidFill>
              </a:defRPr>
            </a:pPr>
            <a:r>
              <a:rPr sz="1575" b="1">
                <a:solidFill>
                  <a:srgbClr val="172033"/>
                </a:solidFill>
              </a:rPr>
              <a:t>Verify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9109E5-BAF5-46E5-809F-306841D75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92430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8657A"/>
                </a:solidFill>
              </a:defRPr>
            </a:pPr>
            <a:r>
              <a:rPr sz="1200">
                <a:solidFill>
                  <a:srgbClr val="58657A"/>
                </a:solidFill>
              </a:rPr>
              <a:t>Test normal, boundary, and failure cases.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D54BCD-F577-46FE-A405-F2960A9D5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438650"/>
            <a:ext cx="4895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8D021B-9260-42E8-BA7D-9289A06E1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5720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F7768"/>
                </a:solidFill>
              </a:defRPr>
            </a:pPr>
            <a:r>
              <a:rPr sz="975" b="1">
                <a:solidFill>
                  <a:srgbClr val="EF7768"/>
                </a:solidFill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85CBEE-980A-4B28-B7CF-A1BA8F4D4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4342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033"/>
                </a:solidFill>
              </a:defRPr>
            </a:pPr>
            <a:r>
              <a:rPr sz="1575" b="1">
                <a:solidFill>
                  <a:srgbClr val="172033"/>
                </a:solidFill>
              </a:rPr>
              <a:t>Explain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68EF4C-195D-4B51-AADC-3D2623D70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89585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8657A"/>
                </a:solidFill>
              </a:defRPr>
            </a:pPr>
            <a:r>
              <a:rPr sz="1200">
                <a:solidFill>
                  <a:srgbClr val="58657A"/>
                </a:solidFill>
              </a:rPr>
              <a:t>Record the evidence and remaining limits.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888BC5A-7119-41A3-8B75-6910C5B0D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8657A"/>
                </a:solidFill>
              </a:defRPr>
            </a:pPr>
            <a:r>
              <a:rPr sz="750">
                <a:solidFill>
                  <a:srgbClr val="58657A"/>
                </a:solidFill>
              </a:rPr>
              <a:t>End-to-End Data Science &amp; AI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4FDBE8-04A1-4F6C-AE86-B44AE1EFE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76BDB"/>
                </a:solidFill>
              </a:defRPr>
            </a:pPr>
            <a:r>
              <a:rPr sz="750" b="1">
                <a:solidFill>
                  <a:srgbClr val="176BDB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10620569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CE35CD-86CA-424E-9D33-5592BE671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ECD071-B275-470D-B528-8A87479BD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WEEK 08  /  SESSION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0E55DF-26A7-49AD-BFFD-61A7E645F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Portfolio deliverable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9BFA95-C90C-4A71-A6DC-0CA0558D2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2385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8657A"/>
                </a:solidFill>
              </a:defRPr>
            </a:pPr>
            <a:r>
              <a:rPr sz="900" b="1">
                <a:solidFill>
                  <a:srgbClr val="58657A"/>
                </a:solidFill>
              </a:rPr>
              <a:t>DS ACADEMY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912C1F-C629-4D12-9D89-3BE7A560E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81100"/>
            <a:ext cx="11220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02FE27-D851-4789-A50D-F3A1D4428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7239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033"/>
                </a:solidFill>
              </a:defRPr>
            </a:pPr>
            <a:r>
              <a:rPr sz="2325" b="1">
                <a:solidFill>
                  <a:srgbClr val="172033"/>
                </a:solidFill>
              </a:rPr>
              <a:t>A container-ready API with tests and a monitoring specification.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58DBB2-C0C3-4E47-A2A3-D8388C07E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813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QUALITY GATE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052816-F8AF-4BDD-BBBF-80EBF2044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76650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1239A8-D72A-4B81-8D31-D4DF5E406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004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Reproducible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C2E704-DA9C-4DC7-83CB-5D0E476CE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95775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1D08E9-1154-4040-A07A-2CE9418B9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1957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Tested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7E6BA1-0A62-48F0-BC79-21300474D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14900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77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78CDDD-E404-4708-B432-5051C0055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387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Decision-relevant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B40091-565A-40A0-BC00-77BE3C09D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00200"/>
            <a:ext cx="3143250" cy="40576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9F011B-6734-4194-A901-D38AA9CEB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6215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WEEKLY ASSESSMENT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F49878-B4C4-4404-A5B3-ABDEE0AD3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76500"/>
            <a:ext cx="238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Production Inference Service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9E2D65-64A6-40A8-8851-706E942E7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95700"/>
            <a:ext cx="2381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8657A"/>
                </a:solidFill>
              </a:defRPr>
            </a:pPr>
            <a:r>
              <a:rPr sz="1200">
                <a:solidFill>
                  <a:srgbClr val="58657A"/>
                </a:solidFill>
              </a:rPr>
              <a:t>API 25%, tests 25%, artifact 20%, observability 20%, documentation 10%.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B8FCB4-3A63-4B23-BE4B-A46B08637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8657A"/>
                </a:solidFill>
              </a:defRPr>
            </a:pPr>
            <a:r>
              <a:rPr sz="750">
                <a:solidFill>
                  <a:srgbClr val="58657A"/>
                </a:solidFill>
              </a:rPr>
              <a:t>End-to-End Data Science &amp; AI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A62143-5DD7-4BDE-A84C-351AFE992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76BDB"/>
                </a:solidFill>
              </a:defRPr>
            </a:pPr>
            <a:r>
              <a:rPr sz="750" b="1">
                <a:solidFill>
                  <a:srgbClr val="176BDB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67533055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B2D0DB-DA46-4908-8F39-819B8F619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442E38-A6DE-4A85-932C-86A0C0A97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DB"/>
                </a:solidFill>
              </a:defRPr>
            </a:pPr>
            <a:r>
              <a:rPr sz="975" b="1">
                <a:solidFill>
                  <a:srgbClr val="176BDB"/>
                </a:solidFill>
              </a:rPr>
              <a:t>SESSION CHECKPOINT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BD11C8-82A8-42E9-BB6A-4FF7514BF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8763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2033"/>
                </a:solidFill>
              </a:defRPr>
            </a:pPr>
            <a:r>
              <a:rPr sz="2850" b="1">
                <a:solidFill>
                  <a:srgbClr val="172033"/>
                </a:solidFill>
              </a:rPr>
              <a:t>What should remain after the lesson?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97752C-8437-4CEF-8911-0918ACDA2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24100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8A7C9"/>
                </a:solidFill>
              </a:defRPr>
            </a:pPr>
            <a:r>
              <a:rPr sz="900" b="1">
                <a:solidFill>
                  <a:srgbClr val="08A7C9"/>
                </a:solidFill>
              </a:rPr>
              <a:t>CONCEPT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02B944-EC27-408B-8AFD-181D1AE71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257425"/>
            <a:ext cx="838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REST inference + contract tests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4D1C98-049A-4CDC-88E2-C3AB4490C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24200"/>
            <a:ext cx="10172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706886-3706-4506-AB21-015AC3A89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67100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8A7C9"/>
                </a:solidFill>
              </a:defRPr>
            </a:pPr>
            <a:r>
              <a:rPr sz="900" b="1">
                <a:solidFill>
                  <a:srgbClr val="08A7C9"/>
                </a:solidFill>
              </a:rPr>
              <a:t>PRACTICE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843AD0-19DC-4F2C-9D07-F7F764258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400425"/>
            <a:ext cx="838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Serve the model with FastAPI and instrument structured logs.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87C2BE-9D13-439A-A2D3-A867045E0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67200"/>
            <a:ext cx="10172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63323F-B701-42FD-B7FD-B9B1EA824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10100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EF7768"/>
                </a:solidFill>
              </a:defRPr>
            </a:pPr>
            <a:r>
              <a:rPr sz="900" b="1">
                <a:solidFill>
                  <a:srgbClr val="EF7768"/>
                </a:solidFill>
              </a:rPr>
              <a:t>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A1C334-F626-4D5B-A4D8-35BA94051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543425"/>
            <a:ext cx="838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A container-ready API with tests and a monitoring specification.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DC592E-BAB7-4F6B-95F3-679B3EDD0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10200"/>
            <a:ext cx="10172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D81008-D3A7-4FC1-B4AF-057C21C4D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81700"/>
            <a:ext cx="2905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6BDB"/>
                </a:solidFill>
              </a:defRPr>
            </a:pPr>
            <a:r>
              <a:rPr sz="1125" b="1">
                <a:solidFill>
                  <a:srgbClr val="176BDB"/>
                </a:solidFill>
              </a:rPr>
              <a:t>Narration available in English and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1B0FEF-75FF-4727-9992-D272D14A7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953125"/>
            <a:ext cx="87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6BDB"/>
                </a:solidFill>
              </a:defRPr>
            </a:pPr>
            <a:r>
              <a:rPr sz="1200" b="1">
                <a:solidFill>
                  <a:srgbClr val="176BDB"/>
                </a:solidFill>
              </a:rPr>
              <a:t>සිංහල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A5A020-1A5F-4B9C-AB01-9F789F110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9817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8657A"/>
                </a:solidFill>
              </a:defRPr>
            </a:pPr>
            <a:r>
              <a:rPr sz="900" b="1">
                <a:solidFill>
                  <a:srgbClr val="58657A"/>
                </a:solidFill>
              </a:rPr>
              <a:t>DS ACADEMY</a:t>
            </a:r>
          </a:p>
        </p:txBody>
      </p:sp>
    </p:spTree>
    <p:extLst>
      <p:ext uri="{BB962C8B-B14F-4D97-AF65-F5344CB8AC3E}">
        <p14:creationId xmlns:p14="http://schemas.microsoft.com/office/powerpoint/2010/main" val="20403334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2026-07-27T08:01:08.7150000Z</dcterms:created>
  <dcterms:modified xsi:type="dcterms:W3CDTF">2026-07-27T08:01:08.7150000Z</dcterms:modified>
</coreProperties>
</file>