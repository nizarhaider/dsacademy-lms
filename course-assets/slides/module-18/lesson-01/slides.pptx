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068b7d31cf4df2" /><Relationship Type="http://schemas.openxmlformats.org/officeDocument/2006/relationships/extended-properties" Target="/docProps/app.xml" Id="R4060e4e00eb943f8" /><Relationship Type="http://schemas.openxmlformats.org/officeDocument/2006/relationships/officeDocument" Target="/ppt/presentation.xml" Id="R3bf585a9aab54764" /></Relationships>
</file>

<file path=ppt/presentation.xml><?xml version="1.0" encoding="utf-8"?>
<p:presentation xmlns:p="http://schemas.openxmlformats.org/presentationml/2006/main">
  <p:sldMasterIdLst>
    <p:sldMasterId xmlns:r="http://schemas.openxmlformats.org/officeDocument/2006/relationships" id="2147483648" r:id="R28af90f83ddb47cc"/>
  </p:sldMasterIdLst>
  <p:notesMasterIdLst>
    <p:notesMasterId xmlns:r="http://schemas.openxmlformats.org/officeDocument/2006/relationships" r:id="Rc0ab0cb5c83a4037"/>
  </p:notesMasterIdLst>
  <p:sldIdLst>
    <p:sldId xmlns:r="http://schemas.openxmlformats.org/officeDocument/2006/relationships" id="256" r:id="R4952456e804c465b"/>
    <p:sldId xmlns:r="http://schemas.openxmlformats.org/officeDocument/2006/relationships" id="257" r:id="Re5b8e1b0285a4494"/>
    <p:sldId xmlns:r="http://schemas.openxmlformats.org/officeDocument/2006/relationships" id="258" r:id="R631beaefc1b74338"/>
    <p:sldId xmlns:r="http://schemas.openxmlformats.org/officeDocument/2006/relationships" id="259" r:id="R76ffd349e2e841bf"/>
    <p:sldId xmlns:r="http://schemas.openxmlformats.org/officeDocument/2006/relationships" id="260" r:id="R9fd523a1bb6c437e"/>
    <p:sldId xmlns:r="http://schemas.openxmlformats.org/officeDocument/2006/relationships" id="261" r:id="R302b62020f234f88"/>
    <p:sldId xmlns:r="http://schemas.openxmlformats.org/officeDocument/2006/relationships" id="262" r:id="Rabe7b35fc0e44b1d"/>
    <p:sldId xmlns:r="http://schemas.openxmlformats.org/officeDocument/2006/relationships" id="263" r:id="Rb77688896cbe499a"/>
    <p:sldId xmlns:r="http://schemas.openxmlformats.org/officeDocument/2006/relationships" id="264" r:id="Rbb845432e7cc48f8"/>
    <p:sldId xmlns:r="http://schemas.openxmlformats.org/officeDocument/2006/relationships" id="265" r:id="R05ed5fee185048e7"/>
    <p:sldId xmlns:r="http://schemas.openxmlformats.org/officeDocument/2006/relationships" id="266" r:id="Rb4ebdb8f823946cf"/>
    <p:sldId xmlns:r="http://schemas.openxmlformats.org/officeDocument/2006/relationships" id="267" r:id="Rcbee2b7719d84a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654bf2eecf4005" /><Relationship Type="http://schemas.openxmlformats.org/officeDocument/2006/relationships/slideMaster" Target="/ppt/slideMasters/slideMaster1.xml" Id="R28af90f83ddb47cc" /><Relationship Type="http://schemas.openxmlformats.org/officeDocument/2006/relationships/notesMaster" Target="/ppt/notesMasters/notesMaster1.xml" Id="Rc0ab0cb5c83a4037" /><Relationship Type="http://schemas.openxmlformats.org/officeDocument/2006/relationships/presProps" Target="/ppt/presProps.xml" Id="Re4a3b44a5c9b4170" /><Relationship Type="http://schemas.openxmlformats.org/officeDocument/2006/relationships/tableStyles" Target="/ppt/tableStyles.xml" Id="R6ef0ff1837334863" /><Relationship Type="http://schemas.openxmlformats.org/officeDocument/2006/relationships/slide" Target="/ppt/slides/slide1.xml" Id="R4952456e804c465b" /><Relationship Type="http://schemas.openxmlformats.org/officeDocument/2006/relationships/slide" Target="/ppt/slides/slide2.xml" Id="Re5b8e1b0285a4494" /><Relationship Type="http://schemas.openxmlformats.org/officeDocument/2006/relationships/slide" Target="/ppt/slides/slide3.xml" Id="R631beaefc1b74338" /><Relationship Type="http://schemas.openxmlformats.org/officeDocument/2006/relationships/slide" Target="/ppt/slides/slide4.xml" Id="R76ffd349e2e841bf" /><Relationship Type="http://schemas.openxmlformats.org/officeDocument/2006/relationships/slide" Target="/ppt/slides/slide5.xml" Id="R9fd523a1bb6c437e" /><Relationship Type="http://schemas.openxmlformats.org/officeDocument/2006/relationships/slide" Target="/ppt/slides/slide6.xml" Id="R302b62020f234f88" /><Relationship Type="http://schemas.openxmlformats.org/officeDocument/2006/relationships/slide" Target="/ppt/slides/slide7.xml" Id="Rabe7b35fc0e44b1d" /><Relationship Type="http://schemas.openxmlformats.org/officeDocument/2006/relationships/slide" Target="/ppt/slides/slide8.xml" Id="Rb77688896cbe499a" /><Relationship Type="http://schemas.openxmlformats.org/officeDocument/2006/relationships/slide" Target="/ppt/slides/slide9.xml" Id="Rbb845432e7cc48f8" /><Relationship Type="http://schemas.openxmlformats.org/officeDocument/2006/relationships/slide" Target="/ppt/slides/slide10.xml" Id="R05ed5fee185048e7" /><Relationship Type="http://schemas.openxmlformats.org/officeDocument/2006/relationships/slide" Target="/ppt/slides/slide11.xml" Id="Rb4ebdb8f823946cf" /><Relationship Type="http://schemas.openxmlformats.org/officeDocument/2006/relationships/slide" Target="/ppt/slides/slide12.xml" Id="Rcbee2b7719d84a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9a20a57b9047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67005280a74cee" /><Relationship Type="http://schemas.openxmlformats.org/officeDocument/2006/relationships/notesMaster" Target="/ppt/notesMasters/notesMaster1.xml" Id="Rf7a6581f2ebd43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ce63b1370148f7" /><Relationship Type="http://schemas.openxmlformats.org/officeDocument/2006/relationships/notesMaster" Target="/ppt/notesMasters/notesMaster1.xml" Id="R91fd568528db40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9d2ee6ae1248cf" /><Relationship Type="http://schemas.openxmlformats.org/officeDocument/2006/relationships/notesMaster" Target="/ppt/notesMasters/notesMaster1.xml" Id="Rb4faf00d6e3e4c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e4a1c3ab344a51" /><Relationship Type="http://schemas.openxmlformats.org/officeDocument/2006/relationships/notesMaster" Target="/ppt/notesMasters/notesMaster1.xml" Id="R573f876b85b149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deaf83a3894cdb" /><Relationship Type="http://schemas.openxmlformats.org/officeDocument/2006/relationships/notesMaster" Target="/ppt/notesMasters/notesMaster1.xml" Id="Rb110fd810f6f49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124405d3cc4633" /><Relationship Type="http://schemas.openxmlformats.org/officeDocument/2006/relationships/notesMaster" Target="/ppt/notesMasters/notesMaster1.xml" Id="Rb4d765ffb04b47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dc95dda9c3234bd7" /><Relationship Type="http://schemas.openxmlformats.org/officeDocument/2006/relationships/notesMaster" Target="/ppt/notesMasters/notesMaster1.xml" Id="Rb276db4b6b964fb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e59249ed1443d4" /><Relationship Type="http://schemas.openxmlformats.org/officeDocument/2006/relationships/notesMaster" Target="/ppt/notesMasters/notesMaster1.xml" Id="R512c74b05e3f4d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4f0bbc31fd2e4371" /><Relationship Type="http://schemas.openxmlformats.org/officeDocument/2006/relationships/notesMaster" Target="/ppt/notesMasters/notesMaster1.xml" Id="R5ff29d1913274f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441bf1e90414654" /><Relationship Type="http://schemas.openxmlformats.org/officeDocument/2006/relationships/notesMaster" Target="/ppt/notesMasters/notesMaster1.xml" Id="R64bbf22552c149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5fcf7cd8f7b4fcc" /><Relationship Type="http://schemas.openxmlformats.org/officeDocument/2006/relationships/notesMaster" Target="/ppt/notesMasters/notesMaster1.xml" Id="R1560655bfad947d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33acc92a924d73" /><Relationship Type="http://schemas.openxmlformats.org/officeDocument/2006/relationships/notesMaster" Target="/ppt/notesMasters/notesMaster1.xml" Id="R567b2a8141044b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**requirement** is a testable statement of needed behaviour or constraint.</a:t>
            </a:r>
          </a:p>
          <a:p xmlns:a="http://schemas.openxmlformats.org/drawingml/2006/main">
            <a:r>
              <a:t/>
            </a:r>
          </a:p>
          <a:p xmlns:a="http://schemas.openxmlformats.org/drawingml/2006/main">
            <a:r>
              <a:t>Define:</a:t>
            </a:r>
          </a:p>
          <a:p xmlns:a="http://schemas.openxmlformats.org/drawingml/2006/main">
            <a:r>
              <a:t/>
            </a:r>
          </a:p>
          <a:p xmlns:a="http://schemas.openxmlformats.org/drawingml/2006/main">
            <a:r>
              <a:t>- user and decision;</a:t>
            </a:r>
          </a:p>
          <a:p xmlns:a="http://schemas.openxmlformats.org/drawingml/2006/main">
            <a:r>
              <a:t>- input and expected output;</a:t>
            </a:r>
          </a:p>
          <a:p xmlns:a="http://schemas.openxmlformats.org/drawingml/2006/main">
            <a:r>
              <a:t>- quality threshold;</a:t>
            </a:r>
          </a:p>
          <a:p xmlns:a="http://schemas.openxmlformats.org/drawingml/2006/main">
            <a:r>
              <a:t>- unsupported and denied behaviour;</a:t>
            </a:r>
          </a:p>
          <a:p xmlns:a="http://schemas.openxmlformats.org/drawingml/2006/main">
            <a:r>
              <a:t>- latency target;</a:t>
            </a:r>
          </a:p>
          <a:p xmlns:a="http://schemas.openxmlformats.org/drawingml/2006/main">
            <a:r>
              <a:t>- cost limit;</a:t>
            </a:r>
          </a:p>
          <a:p xmlns:a="http://schemas.openxmlformats.org/drawingml/2006/main">
            <a:r>
              <a:t>- privacy and security constraints;</a:t>
            </a:r>
          </a:p>
          <a:p xmlns:a="http://schemas.openxmlformats.org/drawingml/2006/main">
            <a:r>
              <a:t>- deployment environment;</a:t>
            </a:r>
          </a:p>
          <a:p xmlns:a="http://schemas.openxmlformats.org/drawingml/2006/main">
            <a:r>
              <a:t>- owner and success measure.</a:t>
            </a:r>
          </a:p>
          <a:p xmlns:a="http://schemas.openxmlformats.org/drawingml/2006/main">
            <a:r>
              <a:t/>
            </a:r>
          </a:p>
          <a:p xmlns:a="http://schemas.openxmlformats.org/drawingml/2006/main">
            <a:r>
              <a:t>Choose a narrow problem whose evidence and failures can be demonstrated.</a:t>
            </a:r>
          </a:p>
          <a:p xmlns:a="http://schemas.openxmlformats.org/drawingml/2006/main">
            <a:r>
              <a:t/>
            </a:r>
          </a:p>
          <a:p xmlns:a="http://schemas.openxmlformats.org/drawingml/2006/main">
            <a:r>
              <a:t>[Worked Example]</a:t>
            </a:r>
          </a:p>
          <a:p xmlns:a="http://schemas.openxmlformats.org/drawingml/2006/main">
            <a:r>
              <a:t>Need: `Support staff must answer policy questions using the current approved handbook.`</a:t>
            </a:r>
          </a:p>
          <a:p xmlns:a="http://schemas.openxmlformats.org/drawingml/2006/main">
            <a:r>
              <a:t/>
            </a:r>
          </a:p>
          <a:p xmlns:a="http://schemas.openxmlformats.org/drawingml/2006/main">
            <a:r>
              <a:t>Acceptance:</a:t>
            </a:r>
          </a:p>
          <a:p xmlns:a="http://schemas.openxmlformats.org/drawingml/2006/main">
            <a:r>
              <a:t/>
            </a:r>
          </a:p>
          <a:p xmlns:a="http://schemas.openxmlformats.org/drawingml/2006/main">
            <a:r>
              <a:t>- citation-supported answer or insufficient evidence;</a:t>
            </a:r>
          </a:p>
          <a:p xmlns:a="http://schemas.openxmlformats.org/drawingml/2006/main">
            <a:r>
              <a:t>- no cross-tenant sources;</a:t>
            </a:r>
          </a:p>
          <a:p xmlns:a="http://schemas.openxmlformats.org/drawingml/2006/main">
            <a:r>
              <a:t>- p95 latency under `3s`;</a:t>
            </a:r>
          </a:p>
          <a:p xmlns:a="http://schemas.openxmlformats.org/drawingml/2006/main">
            <a:r>
              <a:t>- estimated cost under `$0.02` per request;</a:t>
            </a:r>
          </a:p>
          <a:p xmlns:a="http://schemas.openxmlformats.org/drawingml/2006/main">
            <a:r>
              <a:t>- zero unsupported critical claims in the reviewed test set.</a:t>
            </a:r>
          </a:p>
          <a:p xmlns:a="http://schemas.openxmlformats.org/drawingml/2006/main">
            <a:r>
              <a:t/>
            </a:r>
          </a:p>
          <a:p xmlns:a="http://schemas.openxmlformats.org/drawingml/2006/main">
            <a:r>
              <a:t>[Visual Brief]</a:t>
            </a:r>
          </a:p>
          <a:p xmlns:a="http://schemas.openxmlformats.org/drawingml/2006/main">
            <a:r>
              <a:t>A user need expands into quality, safety, latency, cost, and operational acceptance criteria.</a:t>
            </a:r>
          </a:p>
          <a:p xmlns:a="http://schemas.openxmlformats.org/drawingml/2006/main">
            <a:r>
              <a:t/>
            </a:r>
          </a:p>
          <a:p xmlns:a="http://schemas.openxmlformats.org/drawingml/2006/main">
            <a:r>
              <a:t>[Instructor Notes]</a:t>
            </a:r>
          </a:p>
          <a:p xmlns:a="http://schemas.openxmlformats.org/drawingml/2006/main">
            <a:r>
              <a:t>Reject “build an AI chatbot” as a requirement. Ask what user decision improves and how it will be measured.</a:t>
            </a:r>
          </a:p>
          <a:p xmlns:a="http://schemas.openxmlformats.org/drawingml/2006/main">
            <a:r>
              <a:t/>
            </a:r>
          </a:p>
          <a:p xmlns:a="http://schemas.openxmlformats.org/drawingml/2006/main">
            <a:r>
              <a:t>[Notebook Connection]</a:t>
            </a:r>
          </a:p>
          <a:p xmlns:a="http://schemas.openxmlformats.org/drawingml/2006/main">
            <a:r>
              <a:t>The selected capstone notebook supplies technical patterns, not the project requirements.</a:t>
            </a:r>
          </a:p>
          <a:p xmlns:a="http://schemas.openxmlformats.org/drawingml/2006/main">
            <a:r>
              <a:t/>
            </a:r>
          </a:p>
          <a:p xmlns:a="http://schemas.openxmlformats.org/drawingml/2006/main">
            <a:r>
              <a:t>[Sources]</a:t>
            </a:r>
          </a:p>
          <a:p xmlns:a="http://schemas.openxmlformats.org/drawingml/2006/main">
            <a:r>
              <a:t>- https://www.nist.gov/itl/ai-risk-management-framework</a:t>
            </a:r>
          </a:p>
          <a:p xmlns:a="http://schemas.openxmlformats.org/drawingml/2006/main">
            <a:r>
              <a:t>- https://docs.langchain.com/langsmith/evaluation-concepts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**architecture** identifies components, responsibilities, interfaces, and constraints.</a:t>
            </a:r>
          </a:p>
          <a:p xmlns:a="http://schemas.openxmlformats.org/drawingml/2006/main">
            <a:r>
              <a:t/>
            </a:r>
          </a:p>
          <a:p xmlns:a="http://schemas.openxmlformats.org/drawingml/2006/main">
            <a:r>
              <a:t>A capstone may include:</a:t>
            </a:r>
          </a:p>
          <a:p xmlns:a="http://schemas.openxmlformats.org/drawingml/2006/main">
            <a:r>
              <a:t/>
            </a:r>
          </a:p>
          <a:p xmlns:a="http://schemas.openxmlformats.org/drawingml/2006/main">
            <a:r>
              <a:t>- web or API client;</a:t>
            </a:r>
          </a:p>
          <a:p xmlns:a="http://schemas.openxmlformats.org/drawingml/2006/main">
            <a:r>
              <a:t>- request validation;</a:t>
            </a:r>
          </a:p>
          <a:p xmlns:a="http://schemas.openxmlformats.org/drawingml/2006/main">
            <a:r>
              <a:t>- workflow state;</a:t>
            </a:r>
          </a:p>
          <a:p xmlns:a="http://schemas.openxmlformats.org/drawingml/2006/main">
            <a:r>
              <a:t>- retrieval and vector store;</a:t>
            </a:r>
          </a:p>
          <a:p xmlns:a="http://schemas.openxmlformats.org/drawingml/2006/main">
            <a:r>
              <a:t>- model provider;</a:t>
            </a:r>
          </a:p>
          <a:p xmlns:a="http://schemas.openxmlformats.org/drawingml/2006/main">
            <a:r>
              <a:t>- structured output;</a:t>
            </a:r>
          </a:p>
          <a:p xmlns:a="http://schemas.openxmlformats.org/drawingml/2006/main">
            <a:r>
              <a:t>- authorized tools;</a:t>
            </a:r>
          </a:p>
          <a:p xmlns:a="http://schemas.openxmlformats.org/drawingml/2006/main">
            <a:r>
              <a:t>- database;</a:t>
            </a:r>
          </a:p>
          <a:p xmlns:a="http://schemas.openxmlformats.org/drawingml/2006/main">
            <a:r>
              <a:t>- observability;</a:t>
            </a:r>
          </a:p>
          <a:p xmlns:a="http://schemas.openxmlformats.org/drawingml/2006/main">
            <a:r>
              <a:t>- deployment infrastructure.</a:t>
            </a:r>
          </a:p>
          <a:p xmlns:a="http://schemas.openxmlformats.org/drawingml/2006/main">
            <a:r>
              <a:t/>
            </a:r>
          </a:p>
          <a:p xmlns:a="http://schemas.openxmlformats.org/drawingml/2006/main">
            <a:r>
              <a:t>Use the fewest components that satisfy requirements. Every additional service adds failure and cost.</a:t>
            </a:r>
          </a:p>
          <a:p xmlns:a="http://schemas.openxmlformats.org/drawingml/2006/main">
            <a:r>
              <a:t/>
            </a:r>
          </a:p>
          <a:p xmlns:a="http://schemas.openxmlformats.org/drawingml/2006/main">
            <a:r>
              <a:t>[Worked Example]</a:t>
            </a:r>
          </a:p>
          <a:p xmlns:a="http://schemas.openxmlformats.org/drawingml/2006/main">
            <a:r>
              <a:t>Policy assistant:</a:t>
            </a:r>
          </a:p>
          <a:p xmlns:a="http://schemas.openxmlformats.org/drawingml/2006/main">
            <a:r>
              <a:t/>
            </a:r>
          </a:p>
          <a:p xmlns:a="http://schemas.openxmlformats.org/drawingml/2006/main">
            <a:r>
              <a:t>`Client -&gt; FastAPI -&gt; LangGraph workflow -&gt; retriever -&gt; model -&gt; validated answer`</a:t>
            </a:r>
          </a:p>
          <a:p xmlns:a="http://schemas.openxmlformats.org/drawingml/2006/main">
            <a:r>
              <a:t/>
            </a:r>
          </a:p>
          <a:p xmlns:a="http://schemas.openxmlformats.org/drawingml/2006/main">
            <a:r>
              <a:t>Documents enter through a separate ingestion job. The online API cannot modify source policies.</a:t>
            </a:r>
          </a:p>
          <a:p xmlns:a="http://schemas.openxmlformats.org/drawingml/2006/main">
            <a:r>
              <a:t/>
            </a:r>
          </a:p>
          <a:p xmlns:a="http://schemas.openxmlformats.org/drawingml/2006/main">
            <a:r>
              <a:t>[Visual Brief]</a:t>
            </a:r>
          </a:p>
          <a:p xmlns:a="http://schemas.openxmlformats.org/drawingml/2006/main">
            <a:r>
              <a:t>An architecture diagram separates offline ingestion, online request flow, storage, and observability.</a:t>
            </a:r>
          </a:p>
          <a:p xmlns:a="http://schemas.openxmlformats.org/drawingml/2006/main">
            <a:r>
              <a:t/>
            </a:r>
          </a:p>
          <a:p xmlns:a="http://schemas.openxmlformats.org/drawingml/2006/main">
            <a:r>
              <a:t>[Instructor Notes]</a:t>
            </a:r>
          </a:p>
          <a:p xmlns:a="http://schemas.openxmlformats.org/drawingml/2006/main">
            <a:r>
              <a:t>Ask who owns every datum and which component may modify it.</a:t>
            </a:r>
          </a:p>
          <a:p xmlns:a="http://schemas.openxmlformats.org/drawingml/2006/main">
            <a:r>
              <a:t/>
            </a:r>
          </a:p>
          <a:p xmlns:a="http://schemas.openxmlformats.org/drawingml/2006/main">
            <a:r>
              <a:t>[Notebook Connection]</a:t>
            </a:r>
          </a:p>
          <a:p xmlns:a="http://schemas.openxmlformats.org/drawingml/2006/main">
            <a:r>
              <a:t>Learners adapt only notebook components needed by the selected architecture.</a:t>
            </a:r>
          </a:p>
          <a:p xmlns:a="http://schemas.openxmlformats.org/drawingml/2006/main">
            <a:r>
              <a:t/>
            </a:r>
          </a:p>
          <a:p xmlns:a="http://schemas.openxmlformats.org/drawingml/2006/main">
            <a:r>
              <a:t>[Sources]</a:t>
            </a:r>
          </a:p>
          <a:p xmlns:a="http://schemas.openxmlformats.org/drawingml/2006/main">
            <a:r>
              <a:t>- https://docs.aws.amazon.com/wellarchitected/latest/framework/welcome.html</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**data-flow diagram** shows:</a:t>
            </a:r>
          </a:p>
          <a:p xmlns:a="http://schemas.openxmlformats.org/drawingml/2006/main">
            <a:r>
              <a:t/>
            </a:r>
          </a:p>
          <a:p xmlns:a="http://schemas.openxmlformats.org/drawingml/2006/main">
            <a:r>
              <a:t>- data sources;</a:t>
            </a:r>
          </a:p>
          <a:p xmlns:a="http://schemas.openxmlformats.org/drawingml/2006/main">
            <a:r>
              <a:t>- movement between components;</a:t>
            </a:r>
          </a:p>
          <a:p xmlns:a="http://schemas.openxmlformats.org/drawingml/2006/main">
            <a:r>
              <a:t>- transformations;</a:t>
            </a:r>
          </a:p>
          <a:p xmlns:a="http://schemas.openxmlformats.org/drawingml/2006/main">
            <a:r>
              <a:t>- storage;</a:t>
            </a:r>
          </a:p>
          <a:p xmlns:a="http://schemas.openxmlformats.org/drawingml/2006/main">
            <a:r>
              <a:t>- external providers;</a:t>
            </a:r>
          </a:p>
          <a:p xmlns:a="http://schemas.openxmlformats.org/drawingml/2006/main">
            <a:r>
              <a:t>- trust boundaries;</a:t>
            </a:r>
          </a:p>
          <a:p xmlns:a="http://schemas.openxmlformats.org/drawingml/2006/main">
            <a:r>
              <a:t>- authentication and authorization points;</a:t>
            </a:r>
          </a:p>
          <a:p xmlns:a="http://schemas.openxmlformats.org/drawingml/2006/main">
            <a:r>
              <a:t>- sensitive fields;</a:t>
            </a:r>
          </a:p>
          <a:p xmlns:a="http://schemas.openxmlformats.org/drawingml/2006/main">
            <a:r>
              <a:t>- retention and deletion.</a:t>
            </a:r>
          </a:p>
          <a:p xmlns:a="http://schemas.openxmlformats.org/drawingml/2006/main">
            <a:r>
              <a:t/>
            </a:r>
          </a:p>
          <a:p xmlns:a="http://schemas.openxmlformats.org/drawingml/2006/main">
            <a:r>
              <a:t>Untrusted user input, retrieved documents, model output, and tool results all require validation at their boundaries.</a:t>
            </a:r>
          </a:p>
          <a:p xmlns:a="http://schemas.openxmlformats.org/drawingml/2006/main">
            <a:r>
              <a:t/>
            </a:r>
          </a:p>
          <a:p xmlns:a="http://schemas.openxmlformats.org/drawingml/2006/main">
            <a:r>
              <a:t>[Worked Example]</a:t>
            </a:r>
          </a:p>
          <a:p xmlns:a="http://schemas.openxmlformats.org/drawingml/2006/main">
            <a:r>
              <a:t>Policy documents are approved internally, but their extracted text may contain parser errors. User question is untrusted. Model output is untrusted. Final response is released only after schema, citation, and authorization checks.</a:t>
            </a:r>
          </a:p>
          <a:p xmlns:a="http://schemas.openxmlformats.org/drawingml/2006/main">
            <a:r>
              <a:t/>
            </a:r>
          </a:p>
          <a:p xmlns:a="http://schemas.openxmlformats.org/drawingml/2006/main">
            <a:r>
              <a:t>[Visual Brief]</a:t>
            </a:r>
          </a:p>
          <a:p xmlns:a="http://schemas.openxmlformats.org/drawingml/2006/main">
            <a:r>
              <a:t>Data arrows cross labelled public, application, provider, and storage trust zones.</a:t>
            </a:r>
          </a:p>
          <a:p xmlns:a="http://schemas.openxmlformats.org/drawingml/2006/main">
            <a:r>
              <a:t/>
            </a:r>
          </a:p>
          <a:p xmlns:a="http://schemas.openxmlformats.org/drawingml/2006/main">
            <a:r>
              <a:t>[Instructor Notes]</a:t>
            </a:r>
          </a:p>
          <a:p xmlns:a="http://schemas.openxmlformats.org/drawingml/2006/main">
            <a:r>
              <a:t>Make learners identify secrets and personal data before discussing frameworks.</a:t>
            </a:r>
          </a:p>
          <a:p xmlns:a="http://schemas.openxmlformats.org/drawingml/2006/main">
            <a:r>
              <a:t/>
            </a:r>
          </a:p>
          <a:p xmlns:a="http://schemas.openxmlformats.org/drawingml/2006/main">
            <a:r>
              <a:t>[Notebook Connection]</a:t>
            </a:r>
          </a:p>
          <a:p xmlns:a="http://schemas.openxmlformats.org/drawingml/2006/main">
            <a:r>
              <a:t>Tool and RAG notebook code is placed only inside approved trust boundaries.</a:t>
            </a:r>
          </a:p>
          <a:p xmlns:a="http://schemas.openxmlformats.org/drawingml/2006/main">
            <a:r>
              <a:t/>
            </a:r>
          </a:p>
          <a:p xmlns:a="http://schemas.openxmlformats.org/drawingml/2006/main">
            <a:r>
              <a:t>[Sources]</a:t>
            </a:r>
          </a:p>
          <a:p xmlns:a="http://schemas.openxmlformats.org/drawingml/2006/main">
            <a:r>
              <a:t>- https://cheatsheetseries.owasp.org/cheatsheets/Threat_Modeling_Cheat_Sheet.html</a:t>
            </a:r>
          </a:p>
          <a:p xmlns:a="http://schemas.openxmlformats.org/drawingml/2006/main">
            <a:r>
              <a:t>- https://www.nist.gov/itl/ai-risk-management-framework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selection should compare:</a:t>
            </a:r>
          </a:p>
          <a:p xmlns:a="http://schemas.openxmlformats.org/drawingml/2006/main">
            <a:r>
              <a:t/>
            </a:r>
          </a:p>
          <a:p xmlns:a="http://schemas.openxmlformats.org/drawingml/2006/main">
            <a:r>
              <a:t>- baseline;</a:t>
            </a:r>
          </a:p>
          <a:p xmlns:a="http://schemas.openxmlformats.org/drawingml/2006/main">
            <a:r>
              <a:t>- at least two suitable candidates;</a:t>
            </a:r>
          </a:p>
          <a:p xmlns:a="http://schemas.openxmlformats.org/drawingml/2006/main">
            <a:r>
              <a:t>- quality on the same test cases;</a:t>
            </a:r>
          </a:p>
          <a:p xmlns:a="http://schemas.openxmlformats.org/drawingml/2006/main">
            <a:r>
              <a:t>- structured-output and tool capability;</a:t>
            </a:r>
          </a:p>
          <a:p xmlns:a="http://schemas.openxmlformats.org/drawingml/2006/main">
            <a:r>
              <a:t>- latency and token use;</a:t>
            </a:r>
          </a:p>
          <a:p xmlns:a="http://schemas.openxmlformats.org/drawingml/2006/main">
            <a:r>
              <a:t>- cost;</a:t>
            </a:r>
          </a:p>
          <a:p xmlns:a="http://schemas.openxmlformats.org/drawingml/2006/main">
            <a:r>
              <a:t>- data policy;</a:t>
            </a:r>
          </a:p>
          <a:p xmlns:a="http://schemas.openxmlformats.org/drawingml/2006/main">
            <a:r>
              <a:t>- deployment fit.</a:t>
            </a:r>
          </a:p>
          <a:p xmlns:a="http://schemas.openxmlformats.org/drawingml/2006/main">
            <a:r>
              <a:t/>
            </a:r>
          </a:p>
          <a:p xmlns:a="http://schemas.openxmlformats.org/drawingml/2006/main">
            <a:r>
              <a:t>Record exact model identifiers and configuration. A larger model is not automatically the correct production choice.</a:t>
            </a:r>
          </a:p>
          <a:p xmlns:a="http://schemas.openxmlformats.org/drawingml/2006/main">
            <a:r>
              <a:t/>
            </a:r>
          </a:p>
          <a:p xmlns:a="http://schemas.openxmlformats.org/drawingml/2006/main">
            <a:r>
              <a:t>[Worked Example]</a:t>
            </a:r>
          </a:p>
          <a:p xmlns:a="http://schemas.openxmlformats.org/drawingml/2006/main">
            <a:r>
              <a:t>Candidate A: groundedness `0.97`, p95 `4.5s`, cost `$0.03`  </a:t>
            </a:r>
          </a:p>
          <a:p xmlns:a="http://schemas.openxmlformats.org/drawingml/2006/main">
            <a:r>
              <a:t>Candidate B: groundedness `0.95`, p95 `2.2s`, cost `$0.01`</a:t>
            </a:r>
          </a:p>
          <a:p xmlns:a="http://schemas.openxmlformats.org/drawingml/2006/main">
            <a:r>
              <a:t/>
            </a:r>
          </a:p>
          <a:p xmlns:a="http://schemas.openxmlformats.org/drawingml/2006/main">
            <a:r>
              <a:t>If minimum groundedness is `0.95`, p95 maximum `3s`, and cost maximum `$0.02`, only B passes all constraints.</a:t>
            </a:r>
          </a:p>
          <a:p xmlns:a="http://schemas.openxmlformats.org/drawingml/2006/main">
            <a:r>
              <a:t/>
            </a:r>
          </a:p>
          <a:p xmlns:a="http://schemas.openxmlformats.org/drawingml/2006/main">
            <a:r>
              <a:t>[Visual Brief]</a:t>
            </a:r>
          </a:p>
          <a:p xmlns:a="http://schemas.openxmlformats.org/drawingml/2006/main">
            <a:r>
              <a:t>A requirements gate filters model experiment rows; the selected model is traceable to evidence.</a:t>
            </a:r>
          </a:p>
          <a:p xmlns:a="http://schemas.openxmlformats.org/drawingml/2006/main">
            <a:r>
              <a:t/>
            </a:r>
          </a:p>
          <a:p xmlns:a="http://schemas.openxmlformats.org/drawingml/2006/main">
            <a:r>
              <a:t>[Instructor Notes]</a:t>
            </a:r>
          </a:p>
          <a:p xmlns:a="http://schemas.openxmlformats.org/drawingml/2006/main">
            <a:r>
              <a:t>Keep current vendor and price decisions in configuration and reports, not permanent slide claims.</a:t>
            </a:r>
          </a:p>
          <a:p xmlns:a="http://schemas.openxmlformats.org/drawingml/2006/main">
            <a:r>
              <a:t/>
            </a:r>
          </a:p>
          <a:p xmlns:a="http://schemas.openxmlformats.org/drawingml/2006/main">
            <a:r>
              <a:t>[Notebook Connection]</a:t>
            </a:r>
          </a:p>
          <a:p xmlns:a="http://schemas.openxmlformats.org/drawingml/2006/main">
            <a:r>
              <a:t>Provider comparison from Week 14 becomes a capstone selection report.</a:t>
            </a:r>
          </a:p>
          <a:p xmlns:a="http://schemas.openxmlformats.org/drawingml/2006/main">
            <a:r>
              <a:t/>
            </a:r>
          </a:p>
          <a:p xmlns:a="http://schemas.openxmlformats.org/drawingml/2006/main">
            <a:r>
              <a:t>[Sources]</a:t>
            </a:r>
          </a:p>
          <a:p xmlns:a="http://schemas.openxmlformats.org/drawingml/2006/main">
            <a:r>
              <a:t>- https://docs.langchain.com/langsmith/evaluation</a:t>
            </a:r>
          </a:p>
          <a:p xmlns:a="http://schemas.openxmlformats.org/drawingml/2006/main">
            <a:r>
              <a:t>- https://docs.litellm.ai/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**structured output** when downstream code needs fields and types.</a:t>
            </a:r>
          </a:p>
          <a:p xmlns:a="http://schemas.openxmlformats.org/drawingml/2006/main">
            <a:r>
              <a:t/>
            </a:r>
          </a:p>
          <a:p xmlns:a="http://schemas.openxmlformats.org/drawingml/2006/main">
            <a:r>
              <a:t>Use **RAG** when answers require current, private, or cited evidence.</a:t>
            </a:r>
          </a:p>
          <a:p xmlns:a="http://schemas.openxmlformats.org/drawingml/2006/main">
            <a:r>
              <a:t/>
            </a:r>
          </a:p>
          <a:p xmlns:a="http://schemas.openxmlformats.org/drawingml/2006/main">
            <a:r>
              <a:t>Use **tools** when the system must retrieve live data or perform a bounded operation.</a:t>
            </a:r>
          </a:p>
          <a:p xmlns:a="http://schemas.openxmlformats.org/drawingml/2006/main">
            <a:r>
              <a:t/>
            </a:r>
          </a:p>
          <a:p xmlns:a="http://schemas.openxmlformats.org/drawingml/2006/main">
            <a:r>
              <a:t>Use a **workflow** when steps are known. Use agent choice only when deciding among allowed actions adds measurable value.</a:t>
            </a:r>
          </a:p>
          <a:p xmlns:a="http://schemas.openxmlformats.org/drawingml/2006/main">
            <a:r>
              <a:t/>
            </a:r>
          </a:p>
          <a:p xmlns:a="http://schemas.openxmlformats.org/drawingml/2006/main">
            <a:r>
              <a:t>Each capability needs its own validation and evaluation.</a:t>
            </a:r>
          </a:p>
          <a:p xmlns:a="http://schemas.openxmlformats.org/drawingml/2006/main">
            <a:r>
              <a:t/>
            </a:r>
          </a:p>
          <a:p xmlns:a="http://schemas.openxmlformats.org/drawingml/2006/main">
            <a:r>
              <a:t>[Worked Example]</a:t>
            </a:r>
          </a:p>
          <a:p xmlns:a="http://schemas.openxmlformats.org/drawingml/2006/main">
            <a:r>
              <a:t>Policy assistant:</a:t>
            </a:r>
          </a:p>
          <a:p xmlns:a="http://schemas.openxmlformats.org/drawingml/2006/main">
            <a:r>
              <a:t/>
            </a:r>
          </a:p>
          <a:p xmlns:a="http://schemas.openxmlformats.org/drawingml/2006/main">
            <a:r>
              <a:t>- structured output: answer, status, citation IDs;</a:t>
            </a:r>
          </a:p>
          <a:p xmlns:a="http://schemas.openxmlformats.org/drawingml/2006/main">
            <a:r>
              <a:t>- RAG: approved handbook;</a:t>
            </a:r>
          </a:p>
          <a:p xmlns:a="http://schemas.openxmlformats.org/drawingml/2006/main">
            <a:r>
              <a:t>- tool: read-only ticket lookup only if ticket context is required;</a:t>
            </a:r>
          </a:p>
          <a:p xmlns:a="http://schemas.openxmlformats.org/drawingml/2006/main">
            <a:r>
              <a:t>- no write-capable agent because the requirement is answer support.</a:t>
            </a:r>
          </a:p>
          <a:p xmlns:a="http://schemas.openxmlformats.org/drawingml/2006/main">
            <a:r>
              <a:t/>
            </a:r>
          </a:p>
          <a:p xmlns:a="http://schemas.openxmlformats.org/drawingml/2006/main">
            <a:r>
              <a:t>[Visual Brief]</a:t>
            </a:r>
          </a:p>
          <a:p xmlns:a="http://schemas.openxmlformats.org/drawingml/2006/main">
            <a:r>
              <a:t>Requirements connect to optional capability blocks; unused blocks remain outside the architecture.</a:t>
            </a:r>
          </a:p>
          <a:p xmlns:a="http://schemas.openxmlformats.org/drawingml/2006/main">
            <a:r>
              <a:t/>
            </a:r>
          </a:p>
          <a:p xmlns:a="http://schemas.openxmlformats.org/drawingml/2006/main">
            <a:r>
              <a:t>[Instructor Notes]</a:t>
            </a:r>
          </a:p>
          <a:p xmlns:a="http://schemas.openxmlformats.org/drawingml/2006/main">
            <a:r>
              <a:t>Challenge decorative agent or tool additions that lack an acceptance criterion.</a:t>
            </a:r>
          </a:p>
          <a:p xmlns:a="http://schemas.openxmlformats.org/drawingml/2006/main">
            <a:r>
              <a:t/>
            </a:r>
          </a:p>
          <a:p xmlns:a="http://schemas.openxmlformats.org/drawingml/2006/main">
            <a:r>
              <a:t>[Notebook Connection]</a:t>
            </a:r>
          </a:p>
          <a:p xmlns:a="http://schemas.openxmlformats.org/drawingml/2006/main">
            <a:r>
              <a:t>Learners select one primary capstone notebook and use others only for justified components.</a:t>
            </a:r>
          </a:p>
          <a:p xmlns:a="http://schemas.openxmlformats.org/drawingml/2006/main">
            <a:r>
              <a:t/>
            </a:r>
          </a:p>
          <a:p xmlns:a="http://schemas.openxmlformats.org/drawingml/2006/main">
            <a:r>
              <a:t>[Sources]</a:t>
            </a:r>
          </a:p>
          <a:p xmlns:a="http://schemas.openxmlformats.org/drawingml/2006/main">
            <a:r>
              <a:t>- https://docs.langchain.com/oss/python/langchain/overview</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Capstone state should track:</a:t>
            </a:r>
          </a:p>
          <a:p xmlns:a="http://schemas.openxmlformats.org/drawingml/2006/main">
            <a:r>
              <a:t/>
            </a:r>
          </a:p>
          <a:p xmlns:a="http://schemas.openxmlformats.org/drawingml/2006/main">
            <a:r>
              <a:t>- request and user context;</a:t>
            </a:r>
          </a:p>
          <a:p xmlns:a="http://schemas.openxmlformats.org/drawingml/2006/main">
            <a:r>
              <a:t>- validated inputs;</a:t>
            </a:r>
          </a:p>
          <a:p xmlns:a="http://schemas.openxmlformats.org/drawingml/2006/main">
            <a:r>
              <a:t>- retrieved evidence;</a:t>
            </a:r>
          </a:p>
          <a:p xmlns:a="http://schemas.openxmlformats.org/drawingml/2006/main">
            <a:r>
              <a:t>- model outputs;</a:t>
            </a:r>
          </a:p>
          <a:p xmlns:a="http://schemas.openxmlformats.org/drawingml/2006/main">
            <a:r>
              <a:t>- tool proposals and observations;</a:t>
            </a:r>
          </a:p>
          <a:p xmlns:a="http://schemas.openxmlformats.org/drawingml/2006/main">
            <a:r>
              <a:t>- attempts, tokens, latency, and cost;</a:t>
            </a:r>
          </a:p>
          <a:p xmlns:a="http://schemas.openxmlformats.org/drawingml/2006/main">
            <a:r>
              <a:t>- approvals;</a:t>
            </a:r>
          </a:p>
          <a:p xmlns:a="http://schemas.openxmlformats.org/drawingml/2006/main">
            <a:r>
              <a:t>- current status;</a:t>
            </a:r>
          </a:p>
          <a:p xmlns:a="http://schemas.openxmlformats.org/drawingml/2006/main">
            <a:r>
              <a:t>- final result and errors.</a:t>
            </a:r>
          </a:p>
          <a:p xmlns:a="http://schemas.openxmlformats.org/drawingml/2006/main">
            <a:r>
              <a:t/>
            </a:r>
          </a:p>
          <a:p xmlns:a="http://schemas.openxmlformats.org/drawingml/2006/main">
            <a:r>
              <a:t>Declare terminal statuses such as `supported`, `insufficient`, `denied`, `rejected`, `timeout`, and `failed`.</a:t>
            </a:r>
          </a:p>
          <a:p xmlns:a="http://schemas.openxmlformats.org/drawingml/2006/main">
            <a:r>
              <a:t/>
            </a:r>
          </a:p>
          <a:p xmlns:a="http://schemas.openxmlformats.org/drawingml/2006/main">
            <a:r>
              <a:t>[Worked Example]</a:t>
            </a:r>
          </a:p>
          <a:p xmlns:a="http://schemas.openxmlformats.org/drawingml/2006/main">
            <a:r>
              <a:t>Route:</a:t>
            </a:r>
          </a:p>
          <a:p xmlns:a="http://schemas.openxmlformats.org/drawingml/2006/main">
            <a:r>
              <a:t/>
            </a:r>
          </a:p>
          <a:p xmlns:a="http://schemas.openxmlformats.org/drawingml/2006/main">
            <a:r>
              <a:t>`validate -&gt; retrieve`</a:t>
            </a:r>
          </a:p>
          <a:p xmlns:a="http://schemas.openxmlformats.org/drawingml/2006/main">
            <a:r>
              <a:t/>
            </a:r>
          </a:p>
          <a:p xmlns:a="http://schemas.openxmlformats.org/drawingml/2006/main">
            <a:r>
              <a:t>- denied -&gt; END</a:t>
            </a:r>
          </a:p>
          <a:p xmlns:a="http://schemas.openxmlformats.org/drawingml/2006/main">
            <a:r>
              <a:t>- no evidence -&gt; insufficient -&gt; END</a:t>
            </a:r>
          </a:p>
          <a:p xmlns:a="http://schemas.openxmlformats.org/drawingml/2006/main">
            <a:r>
              <a:t>- evidence -&gt; generate -&gt; verify</a:t>
            </a:r>
          </a:p>
          <a:p xmlns:a="http://schemas.openxmlformats.org/drawingml/2006/main">
            <a:r>
              <a:t>- unsupported draft -&gt; one bounded repair</a:t>
            </a:r>
          </a:p>
          <a:p xmlns:a="http://schemas.openxmlformats.org/drawingml/2006/main">
            <a:r>
              <a:t>- supported -&gt; END</a:t>
            </a:r>
          </a:p>
          <a:p xmlns:a="http://schemas.openxmlformats.org/drawingml/2006/main">
            <a:r>
              <a:t/>
            </a:r>
          </a:p>
          <a:p xmlns:a="http://schemas.openxmlformats.org/drawingml/2006/main">
            <a:r>
              <a:t>[Visual Brief]</a:t>
            </a:r>
          </a:p>
          <a:p xmlns:a="http://schemas.openxmlformats.org/drawingml/2006/main">
            <a:r>
              <a:t>A state-machine diagram labels branches, limits, retries, and terminal states.</a:t>
            </a:r>
          </a:p>
          <a:p xmlns:a="http://schemas.openxmlformats.org/drawingml/2006/main">
            <a:r>
              <a:t/>
            </a:r>
          </a:p>
          <a:p xmlns:a="http://schemas.openxmlformats.org/drawingml/2006/main">
            <a:r>
              <a:t>[Instructor Notes]</a:t>
            </a:r>
          </a:p>
          <a:p xmlns:a="http://schemas.openxmlformats.org/drawingml/2006/main">
            <a:r>
              <a:t>Require explicit non-success endings rather than converting every failure into prose.</a:t>
            </a:r>
          </a:p>
          <a:p xmlns:a="http://schemas.openxmlformats.org/drawingml/2006/main">
            <a:r>
              <a:t/>
            </a:r>
          </a:p>
          <a:p xmlns:a="http://schemas.openxmlformats.org/drawingml/2006/main">
            <a:r>
              <a:t>[Notebook Connection]</a:t>
            </a:r>
          </a:p>
          <a:p xmlns:a="http://schemas.openxmlformats.org/drawingml/2006/main">
            <a:r>
              <a:t>The LangGraph quickstart provides the graph-building mechanics.</a:t>
            </a:r>
          </a:p>
          <a:p xmlns:a="http://schemas.openxmlformats.org/drawingml/2006/main">
            <a:r>
              <a:t/>
            </a:r>
          </a:p>
          <a:p xmlns:a="http://schemas.openxmlformats.org/drawingml/2006/main">
            <a:r>
              <a:t>[Sources]</a:t>
            </a:r>
          </a:p>
          <a:p xmlns:a="http://schemas.openxmlformats.org/drawingml/2006/main">
            <a:r>
              <a:t>- https://docs.langchain.com/oss/python/langgraph/graph-api</a:t>
            </a:r>
          </a:p>
          <a:p xmlns:a="http://schemas.openxmlformats.org/drawingml/2006/main">
            <a:r>
              <a:t>- https://docs.langchain.com/oss/python/langgraph/thinking-in-langgraph</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a:t>
            </a:r>
          </a:p>
          <a:p xmlns:a="http://schemas.openxmlformats.org/drawingml/2006/main">
            <a:r>
              <a:t/>
            </a:r>
          </a:p>
          <a:p xmlns:a="http://schemas.openxmlformats.org/drawingml/2006/main">
            <a:r>
              <a:t>- request schema;</a:t>
            </a:r>
          </a:p>
          <a:p xmlns:a="http://schemas.openxmlformats.org/drawingml/2006/main">
            <a:r>
              <a:t>- response schema;</a:t>
            </a:r>
          </a:p>
          <a:p xmlns:a="http://schemas.openxmlformats.org/drawingml/2006/main">
            <a:r>
              <a:t>- authentication;</a:t>
            </a:r>
          </a:p>
          <a:p xmlns:a="http://schemas.openxmlformats.org/drawingml/2006/main">
            <a:r>
              <a:t>- authorization;</a:t>
            </a:r>
          </a:p>
          <a:p xmlns:a="http://schemas.openxmlformats.org/drawingml/2006/main">
            <a:r>
              <a:t>- status codes;</a:t>
            </a:r>
          </a:p>
          <a:p xmlns:a="http://schemas.openxmlformats.org/drawingml/2006/main">
            <a:r>
              <a:t>- idempotency where actions occur;</a:t>
            </a:r>
          </a:p>
          <a:p xmlns:a="http://schemas.openxmlformats.org/drawingml/2006/main">
            <a:r>
              <a:t>- request-size and rate limits;</a:t>
            </a:r>
          </a:p>
          <a:p xmlns:a="http://schemas.openxmlformats.org/drawingml/2006/main">
            <a:r>
              <a:t>- health checks;</a:t>
            </a:r>
          </a:p>
          <a:p xmlns:a="http://schemas.openxmlformats.org/drawingml/2006/main">
            <a:r>
              <a:t>- model and corpus versions.</a:t>
            </a:r>
          </a:p>
          <a:p xmlns:a="http://schemas.openxmlformats.org/drawingml/2006/main">
            <a:r>
              <a:t/>
            </a:r>
          </a:p>
          <a:p xmlns:a="http://schemas.openxmlformats.org/drawingml/2006/main">
            <a:r>
              <a:t>Clients must distinguish supported answer, insufficient evidence, denied access, invalid input, and unavailable service.</a:t>
            </a:r>
          </a:p>
          <a:p xmlns:a="http://schemas.openxmlformats.org/drawingml/2006/main">
            <a:r>
              <a:t/>
            </a:r>
          </a:p>
          <a:p xmlns:a="http://schemas.openxmlformats.org/drawingml/2006/main">
            <a:r>
              <a:t>[Worked Example]</a:t>
            </a:r>
          </a:p>
          <a:p xmlns:a="http://schemas.openxmlformats.org/drawingml/2006/main">
            <a:r>
              <a:t>`200` supported answer  </a:t>
            </a:r>
          </a:p>
          <a:p xmlns:a="http://schemas.openxmlformats.org/drawingml/2006/main">
            <a:r>
              <a:t>`200` typed insufficient-evidence response when the request is valid but evidence is absent  </a:t>
            </a:r>
          </a:p>
          <a:p xmlns:a="http://schemas.openxmlformats.org/drawingml/2006/main">
            <a:r>
              <a:t>`403` denied authorization  </a:t>
            </a:r>
          </a:p>
          <a:p xmlns:a="http://schemas.openxmlformats.org/drawingml/2006/main">
            <a:r>
              <a:t>`422` invalid request  </a:t>
            </a:r>
          </a:p>
          <a:p xmlns:a="http://schemas.openxmlformats.org/drawingml/2006/main">
            <a:r>
              <a:t>`503` provider unavailable</a:t>
            </a:r>
          </a:p>
          <a:p xmlns:a="http://schemas.openxmlformats.org/drawingml/2006/main">
            <a:r>
              <a:t/>
            </a:r>
          </a:p>
          <a:p xmlns:a="http://schemas.openxmlformats.org/drawingml/2006/main">
            <a:r>
              <a:t>The contract documents which body accompanies each status.</a:t>
            </a:r>
          </a:p>
          <a:p xmlns:a="http://schemas.openxmlformats.org/drawingml/2006/main">
            <a:r>
              <a:t/>
            </a:r>
          </a:p>
          <a:p xmlns:a="http://schemas.openxmlformats.org/drawingml/2006/main">
            <a:r>
              <a:t>[Visual Brief]</a:t>
            </a:r>
          </a:p>
          <a:p xmlns:a="http://schemas.openxmlformats.org/drawingml/2006/main">
            <a:r>
              <a:t>One endpoint branches into documented success, insufficient, denied, invalid, and unavailable responses.</a:t>
            </a:r>
          </a:p>
          <a:p xmlns:a="http://schemas.openxmlformats.org/drawingml/2006/main">
            <a:r>
              <a:t/>
            </a:r>
          </a:p>
          <a:p xmlns:a="http://schemas.openxmlformats.org/drawingml/2006/main">
            <a:r>
              <a:t>[Instructor Notes]</a:t>
            </a:r>
          </a:p>
          <a:p xmlns:a="http://schemas.openxmlformats.org/drawingml/2006/main">
            <a:r>
              <a:t>Ensure health checks do not call expensive model paths on every probe.</a:t>
            </a:r>
          </a:p>
          <a:p xmlns:a="http://schemas.openxmlformats.org/drawingml/2006/main">
            <a:r>
              <a:t/>
            </a:r>
          </a:p>
          <a:p xmlns:a="http://schemas.openxmlformats.org/drawingml/2006/main">
            <a:r>
              <a:t>[Notebook Connection]</a:t>
            </a:r>
          </a:p>
          <a:p xmlns:a="http://schemas.openxmlformats.org/drawingml/2006/main">
            <a:r>
              <a:t>Week 11 deployment patterns wrap the final workflow.</a:t>
            </a:r>
          </a:p>
          <a:p xmlns:a="http://schemas.openxmlformats.org/drawingml/2006/main">
            <a:r>
              <a:t/>
            </a:r>
          </a:p>
          <a:p xmlns:a="http://schemas.openxmlformats.org/drawingml/2006/main">
            <a:r>
              <a:t>[Sources]</a:t>
            </a:r>
          </a:p>
          <a:p xmlns:a="http://schemas.openxmlformats.org/drawingml/2006/main">
            <a:r>
              <a:t>- https://fastapi.tiangolo.com/tutorial/</a:t>
            </a:r>
          </a:p>
          <a:p xmlns:a="http://schemas.openxmlformats.org/drawingml/2006/main">
            <a:r>
              <a:t>- https://fastapi.tiangolo.com/tutorial/response-status-code/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Evaluate:</a:t>
            </a:r>
          </a:p>
          <a:p xmlns:a="http://schemas.openxmlformats.org/drawingml/2006/main">
            <a:r>
              <a:t/>
            </a:r>
          </a:p>
          <a:p xmlns:a="http://schemas.openxmlformats.org/drawingml/2006/main">
            <a:r>
              <a:t>- request validation;</a:t>
            </a:r>
          </a:p>
          <a:p xmlns:a="http://schemas.openxmlformats.org/drawingml/2006/main">
            <a:r>
              <a:t>- retrieval precision and recall;</a:t>
            </a:r>
          </a:p>
          <a:p xmlns:a="http://schemas.openxmlformats.org/drawingml/2006/main">
            <a:r>
              <a:t>- groundedness and citation support;</a:t>
            </a:r>
          </a:p>
          <a:p xmlns:a="http://schemas.openxmlformats.org/drawingml/2006/main">
            <a:r>
              <a:t>- structured-output validity;</a:t>
            </a:r>
          </a:p>
          <a:p xmlns:a="http://schemas.openxmlformats.org/drawingml/2006/main">
            <a:r>
              <a:t>- tool selection and arguments;</a:t>
            </a:r>
          </a:p>
          <a:p xmlns:a="http://schemas.openxmlformats.org/drawingml/2006/main">
            <a:r>
              <a:t>- workflow path and stopping;</a:t>
            </a:r>
          </a:p>
          <a:p xmlns:a="http://schemas.openxmlformats.org/drawingml/2006/main">
            <a:r>
              <a:t>- latency and cost;</a:t>
            </a:r>
          </a:p>
          <a:p xmlns:a="http://schemas.openxmlformats.org/drawingml/2006/main">
            <a:r>
              <a:t>- security and access isolation;</a:t>
            </a:r>
          </a:p>
          <a:p xmlns:a="http://schemas.openxmlformats.org/drawingml/2006/main">
            <a:r>
              <a:t>- user task success.</a:t>
            </a:r>
          </a:p>
          <a:p xmlns:a="http://schemas.openxmlformats.org/drawingml/2006/main">
            <a:r>
              <a:t/>
            </a:r>
          </a:p>
          <a:p xmlns:a="http://schemas.openxmlformats.org/drawingml/2006/main">
            <a:r>
              <a:t>Use a versioned dataset containing normal, difficult, unsupported, denied, and failure cases.</a:t>
            </a:r>
          </a:p>
          <a:p xmlns:a="http://schemas.openxmlformats.org/drawingml/2006/main">
            <a:r>
              <a:t/>
            </a:r>
          </a:p>
          <a:p xmlns:a="http://schemas.openxmlformats.org/drawingml/2006/main">
            <a:r>
              <a:t>[Worked Example]</a:t>
            </a:r>
          </a:p>
          <a:p xmlns:a="http://schemas.openxmlformats.org/drawingml/2006/main">
            <a:r>
              <a:t>Release thresholds:</a:t>
            </a:r>
          </a:p>
          <a:p xmlns:a="http://schemas.openxmlformats.org/drawingml/2006/main">
            <a:r>
              <a:t/>
            </a:r>
          </a:p>
          <a:p xmlns:a="http://schemas.openxmlformats.org/drawingml/2006/main">
            <a:r>
              <a:t>- schema validity `100%`;</a:t>
            </a:r>
          </a:p>
          <a:p xmlns:a="http://schemas.openxmlformats.org/drawingml/2006/main">
            <a:r>
              <a:t>- citation IDs valid `100%`;</a:t>
            </a:r>
          </a:p>
          <a:p xmlns:a="http://schemas.openxmlformats.org/drawingml/2006/main">
            <a:r>
              <a:t>- groundedness at least `95%`;</a:t>
            </a:r>
          </a:p>
          <a:p xmlns:a="http://schemas.openxmlformats.org/drawingml/2006/main">
            <a:r>
              <a:t>- cross-tenant retrieval failures `0`;</a:t>
            </a:r>
          </a:p>
          <a:p xmlns:a="http://schemas.openxmlformats.org/drawingml/2006/main">
            <a:r>
              <a:t>- p95 latency under `3s`;</a:t>
            </a:r>
          </a:p>
          <a:p xmlns:a="http://schemas.openxmlformats.org/drawingml/2006/main">
            <a:r>
              <a:t>- p95 cost under `$0.02`.</a:t>
            </a:r>
          </a:p>
          <a:p xmlns:a="http://schemas.openxmlformats.org/drawingml/2006/main">
            <a:r>
              <a:t/>
            </a:r>
          </a:p>
          <a:p xmlns:a="http://schemas.openxmlformats.org/drawingml/2006/main">
            <a:r>
              <a:t>[Visual Brief]</a:t>
            </a:r>
          </a:p>
          <a:p xmlns:a="http://schemas.openxmlformats.org/drawingml/2006/main">
            <a:r>
              <a:t>An evaluation matrix maps components to datasets, metrics, thresholds, and owners.</a:t>
            </a:r>
          </a:p>
          <a:p xmlns:a="http://schemas.openxmlformats.org/drawingml/2006/main">
            <a:r>
              <a:t/>
            </a:r>
          </a:p>
          <a:p xmlns:a="http://schemas.openxmlformats.org/drawingml/2006/main">
            <a:r>
              <a:t>[Instructor Notes]</a:t>
            </a:r>
          </a:p>
          <a:p xmlns:a="http://schemas.openxmlformats.org/drawingml/2006/main">
            <a:r>
              <a:t>Require failed examples and not only aggregate scores.</a:t>
            </a:r>
          </a:p>
          <a:p xmlns:a="http://schemas.openxmlformats.org/drawingml/2006/main">
            <a:r>
              <a:t/>
            </a:r>
          </a:p>
          <a:p xmlns:a="http://schemas.openxmlformats.org/drawingml/2006/main">
            <a:r>
              <a:t>[Notebook Connection]</a:t>
            </a:r>
          </a:p>
          <a:p xmlns:a="http://schemas.openxmlformats.org/drawingml/2006/main">
            <a:r>
              <a:t>Week 16's evaluation harness becomes the capstone release gate.</a:t>
            </a:r>
          </a:p>
          <a:p xmlns:a="http://schemas.openxmlformats.org/drawingml/2006/main">
            <a:r>
              <a:t/>
            </a:r>
          </a:p>
          <a:p xmlns:a="http://schemas.openxmlformats.org/drawingml/2006/main">
            <a:r>
              <a:t>[Sources]</a:t>
            </a:r>
          </a:p>
          <a:p xmlns:a="http://schemas.openxmlformats.org/drawingml/2006/main">
            <a:r>
              <a:t>- https://docs.langchain.com/langsmith/evaluation-concepts</a:t>
            </a:r>
          </a:p>
          <a:p xmlns:a="http://schemas.openxmlformats.org/drawingml/2006/main">
            <a:r>
              <a:t>- https://docs.langchain.com/langsmith/evaluate-rag-tutorial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request, record:</a:t>
            </a:r>
          </a:p>
          <a:p xmlns:a="http://schemas.openxmlformats.org/drawingml/2006/main">
            <a:r>
              <a:t/>
            </a:r>
          </a:p>
          <a:p xmlns:a="http://schemas.openxmlformats.org/drawingml/2006/main">
            <a:r>
              <a:t>- request and trace ID;</a:t>
            </a:r>
          </a:p>
          <a:p xmlns:a="http://schemas.openxmlformats.org/drawingml/2006/main">
            <a:r>
              <a:t>- code, model, prompt, schema, and corpus versions;</a:t>
            </a:r>
          </a:p>
          <a:p xmlns:a="http://schemas.openxmlformats.org/drawingml/2006/main">
            <a:r>
              <a:t>- graph path and node timings;</a:t>
            </a:r>
          </a:p>
          <a:p xmlns:a="http://schemas.openxmlformats.org/drawingml/2006/main">
            <a:r>
              <a:t>- retrieved chunk IDs and ranks;</a:t>
            </a:r>
          </a:p>
          <a:p xmlns:a="http://schemas.openxmlformats.org/drawingml/2006/main">
            <a:r>
              <a:t>- tool calls and outcomes;</a:t>
            </a:r>
          </a:p>
          <a:p xmlns:a="http://schemas.openxmlformats.org/drawingml/2006/main">
            <a:r>
              <a:t>- validation results;</a:t>
            </a:r>
          </a:p>
          <a:p xmlns:a="http://schemas.openxmlformats.org/drawingml/2006/main">
            <a:r>
              <a:t>- input/output tokens and cost;</a:t>
            </a:r>
          </a:p>
          <a:p xmlns:a="http://schemas.openxmlformats.org/drawingml/2006/main">
            <a:r>
              <a:t>- final status and error category.</a:t>
            </a:r>
          </a:p>
          <a:p xmlns:a="http://schemas.openxmlformats.org/drawingml/2006/main">
            <a:r>
              <a:t/>
            </a:r>
          </a:p>
          <a:p xmlns:a="http://schemas.openxmlformats.org/drawingml/2006/main">
            <a:r>
              <a:t>Monitor availability, latency, errors, cost, retrieval drift, and delayed model-quality signals.</a:t>
            </a:r>
          </a:p>
          <a:p xmlns:a="http://schemas.openxmlformats.org/drawingml/2006/main">
            <a:r>
              <a:t/>
            </a:r>
          </a:p>
          <a:p xmlns:a="http://schemas.openxmlformats.org/drawingml/2006/main">
            <a:r>
              <a:t>[Worked Example]</a:t>
            </a:r>
          </a:p>
          <a:p xmlns:a="http://schemas.openxmlformats.org/drawingml/2006/main">
            <a:r>
              <a:t>Latency trace:</a:t>
            </a:r>
          </a:p>
          <a:p xmlns:a="http://schemas.openxmlformats.org/drawingml/2006/main">
            <a:r>
              <a:t/>
            </a:r>
          </a:p>
          <a:p xmlns:a="http://schemas.openxmlformats.org/drawingml/2006/main">
            <a:r>
              <a:t>validation `5ms`  </a:t>
            </a:r>
          </a:p>
          <a:p xmlns:a="http://schemas.openxmlformats.org/drawingml/2006/main">
            <a:r>
              <a:t>retrieval `120ms`  </a:t>
            </a:r>
          </a:p>
          <a:p xmlns:a="http://schemas.openxmlformats.org/drawingml/2006/main">
            <a:r>
              <a:t>generation `1,600ms`  </a:t>
            </a:r>
          </a:p>
          <a:p xmlns:a="http://schemas.openxmlformats.org/drawingml/2006/main">
            <a:r>
              <a:t>verification `80ms`</a:t>
            </a:r>
          </a:p>
          <a:p xmlns:a="http://schemas.openxmlformats.org/drawingml/2006/main">
            <a:r>
              <a:t/>
            </a:r>
          </a:p>
          <a:p xmlns:a="http://schemas.openxmlformats.org/drawingml/2006/main">
            <a:r>
              <a:t>Total `1,805ms`; generation owns most latency.</a:t>
            </a:r>
          </a:p>
          <a:p xmlns:a="http://schemas.openxmlformats.org/drawingml/2006/main">
            <a:r>
              <a:t/>
            </a:r>
          </a:p>
          <a:p xmlns:a="http://schemas.openxmlformats.org/drawingml/2006/main">
            <a:r>
              <a:t>[Visual Brief]</a:t>
            </a:r>
          </a:p>
          <a:p xmlns:a="http://schemas.openxmlformats.org/drawingml/2006/main">
            <a:r>
              <a:t>A trace waterfall links versions, evidence, tools, validation, result, and monitoring dashboards.</a:t>
            </a:r>
          </a:p>
          <a:p xmlns:a="http://schemas.openxmlformats.org/drawingml/2006/main">
            <a:r>
              <a:t/>
            </a:r>
          </a:p>
          <a:p xmlns:a="http://schemas.openxmlformats.org/drawingml/2006/main">
            <a:r>
              <a:t>[Instructor Notes]</a:t>
            </a:r>
          </a:p>
          <a:p xmlns:a="http://schemas.openxmlformats.org/drawingml/2006/main">
            <a:r>
              <a:t>Define redaction and retention before logging prompts or document content.</a:t>
            </a:r>
          </a:p>
          <a:p xmlns:a="http://schemas.openxmlformats.org/drawingml/2006/main">
            <a:r>
              <a:t/>
            </a:r>
          </a:p>
          <a:p xmlns:a="http://schemas.openxmlformats.org/drawingml/2006/main">
            <a:r>
              <a:t>[Notebook Connection]</a:t>
            </a:r>
          </a:p>
          <a:p xmlns:a="http://schemas.openxmlformats.org/drawingml/2006/main">
            <a:r>
              <a:t>Tracing from Week 14 covers every graph node and external call.</a:t>
            </a:r>
          </a:p>
          <a:p xmlns:a="http://schemas.openxmlformats.org/drawingml/2006/main">
            <a:r>
              <a:t/>
            </a:r>
          </a:p>
          <a:p xmlns:a="http://schemas.openxmlformats.org/drawingml/2006/main">
            <a:r>
              <a:t>[Sources]</a:t>
            </a:r>
          </a:p>
          <a:p xmlns:a="http://schemas.openxmlformats.org/drawingml/2006/main">
            <a:r>
              <a:t>- https://docs.langchain.com/langsmith/observability</a:t>
            </a:r>
          </a:p>
          <a:p xmlns:a="http://schemas.openxmlformats.org/drawingml/2006/main">
            <a:r>
              <a:t>- https://opentelemetry.io/docs/concepts/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controls:</a:t>
            </a:r>
          </a:p>
          <a:p xmlns:a="http://schemas.openxmlformats.org/drawingml/2006/main">
            <a:r>
              <a:t/>
            </a:r>
          </a:p>
          <a:p xmlns:a="http://schemas.openxmlformats.org/drawingml/2006/main">
            <a:r>
              <a:t>- scoped identities and secrets;</a:t>
            </a:r>
          </a:p>
          <a:p xmlns:a="http://schemas.openxmlformats.org/drawingml/2006/main">
            <a:r>
              <a:t>- tenant-aware retrieval;</a:t>
            </a:r>
          </a:p>
          <a:p xmlns:a="http://schemas.openxmlformats.org/drawingml/2006/main">
            <a:r>
              <a:t>- input and output validation;</a:t>
            </a:r>
          </a:p>
          <a:p xmlns:a="http://schemas.openxmlformats.org/drawingml/2006/main">
            <a:r>
              <a:t>- tool allowlists and argument checks;</a:t>
            </a:r>
          </a:p>
          <a:p xmlns:a="http://schemas.openxmlformats.org/drawingml/2006/main">
            <a:r>
              <a:t>- human approval for high impact;</a:t>
            </a:r>
          </a:p>
          <a:p xmlns:a="http://schemas.openxmlformats.org/drawingml/2006/main">
            <a:r>
              <a:t>- dependency scanning;</a:t>
            </a:r>
          </a:p>
          <a:p xmlns:a="http://schemas.openxmlformats.org/drawingml/2006/main">
            <a:r>
              <a:t>- patching and rollback;</a:t>
            </a:r>
          </a:p>
          <a:p xmlns:a="http://schemas.openxmlformats.org/drawingml/2006/main">
            <a:r>
              <a:t>- log redaction.</a:t>
            </a:r>
          </a:p>
          <a:p xmlns:a="http://schemas.openxmlformats.org/drawingml/2006/main">
            <a:r>
              <a:t/>
            </a:r>
          </a:p>
          <a:p xmlns:a="http://schemas.openxmlformats.org/drawingml/2006/main">
            <a:r>
              <a:t>Cost controls:</a:t>
            </a:r>
          </a:p>
          <a:p xmlns:a="http://schemas.openxmlformats.org/drawingml/2006/main">
            <a:r>
              <a:t/>
            </a:r>
          </a:p>
          <a:p xmlns:a="http://schemas.openxmlformats.org/drawingml/2006/main">
            <a:r>
              <a:t>- token and tool-call budgets;</a:t>
            </a:r>
          </a:p>
          <a:p xmlns:a="http://schemas.openxmlformats.org/drawingml/2006/main">
            <a:r>
              <a:t>- rate limits;</a:t>
            </a:r>
          </a:p>
          <a:p xmlns:a="http://schemas.openxmlformats.org/drawingml/2006/main">
            <a:r>
              <a:t>- smallest suitable infrastructure;</a:t>
            </a:r>
          </a:p>
          <a:p xmlns:a="http://schemas.openxmlformats.org/drawingml/2006/main">
            <a:r>
              <a:t>- budget alerts;</a:t>
            </a:r>
          </a:p>
          <a:p xmlns:a="http://schemas.openxmlformats.org/drawingml/2006/main">
            <a:r>
              <a:t>- resource tags and cleanup;</a:t>
            </a:r>
          </a:p>
          <a:p xmlns:a="http://schemas.openxmlformats.org/drawingml/2006/main">
            <a:r>
              <a:t>- per-request and daily caps.</a:t>
            </a:r>
          </a:p>
          <a:p xmlns:a="http://schemas.openxmlformats.org/drawingml/2006/main">
            <a:r>
              <a:t/>
            </a:r>
          </a:p>
          <a:p xmlns:a="http://schemas.openxmlformats.org/drawingml/2006/main">
            <a:r>
              <a:t>[Worked Example]</a:t>
            </a:r>
          </a:p>
          <a:p xmlns:a="http://schemas.openxmlformats.org/drawingml/2006/main">
            <a:r>
              <a:t>Attack: document contains tool instructions requesting data export.</a:t>
            </a:r>
          </a:p>
          <a:p xmlns:a="http://schemas.openxmlformats.org/drawingml/2006/main">
            <a:r>
              <a:t/>
            </a:r>
          </a:p>
          <a:p xmlns:a="http://schemas.openxmlformats.org/drawingml/2006/main">
            <a:r>
              <a:t>Controls:</a:t>
            </a:r>
          </a:p>
          <a:p xmlns:a="http://schemas.openxmlformats.org/drawingml/2006/main">
            <a:r>
              <a:t/>
            </a:r>
          </a:p>
          <a:p xmlns:a="http://schemas.openxmlformats.org/drawingml/2006/main">
            <a:r>
              <a:t>- retrieved text remains untrusted;</a:t>
            </a:r>
          </a:p>
          <a:p xmlns:a="http://schemas.openxmlformats.org/drawingml/2006/main">
            <a:r>
              <a:t>- export tool absent from allowlist;</a:t>
            </a:r>
          </a:p>
          <a:p xmlns:a="http://schemas.openxmlformats.org/drawingml/2006/main">
            <a:r>
              <a:t>- model has no credentials;</a:t>
            </a:r>
          </a:p>
          <a:p xmlns:a="http://schemas.openxmlformats.org/drawingml/2006/main">
            <a:r>
              <a:t>- authorization denies cross-tenant data;</a:t>
            </a:r>
          </a:p>
          <a:p xmlns:a="http://schemas.openxmlformats.org/drawingml/2006/main">
            <a:r>
              <a:t>- trace records denial.</a:t>
            </a:r>
          </a:p>
          <a:p xmlns:a="http://schemas.openxmlformats.org/drawingml/2006/main">
            <a:r>
              <a:t/>
            </a:r>
          </a:p>
          <a:p xmlns:a="http://schemas.openxmlformats.org/drawingml/2006/main">
            <a:r>
              <a:t>[Visual Brief]</a:t>
            </a:r>
          </a:p>
          <a:p xmlns:a="http://schemas.openxmlformats.org/drawingml/2006/main">
            <a:r>
              <a:t>Threats meet preventive, detective, and response controls beside cost budget gates.</a:t>
            </a:r>
          </a:p>
          <a:p xmlns:a="http://schemas.openxmlformats.org/drawingml/2006/main">
            <a:r>
              <a:t/>
            </a:r>
          </a:p>
          <a:p xmlns:a="http://schemas.openxmlformats.org/drawingml/2006/main">
            <a:r>
              <a:t>[Instructor Notes]</a:t>
            </a:r>
          </a:p>
          <a:p xmlns:a="http://schemas.openxmlformats.org/drawingml/2006/main">
            <a:r>
              <a:t>Require demonstration of one real blocked path and one budget-exhausted path.</a:t>
            </a:r>
          </a:p>
          <a:p xmlns:a="http://schemas.openxmlformats.org/drawingml/2006/main">
            <a:r>
              <a:t/>
            </a:r>
          </a:p>
          <a:p xmlns:a="http://schemas.openxmlformats.org/drawingml/2006/main">
            <a:r>
              <a:t>[Notebook Connection]</a:t>
            </a:r>
          </a:p>
          <a:p xmlns:a="http://schemas.openxmlformats.org/drawingml/2006/main">
            <a:r>
              <a:t>The capstone integrates Week 11 deployment controls and Week 17 agent limits.</a:t>
            </a:r>
          </a:p>
          <a:p xmlns:a="http://schemas.openxmlformats.org/drawingml/2006/main">
            <a:r>
              <a:t/>
            </a:r>
          </a:p>
          <a:p xmlns:a="http://schemas.openxmlformats.org/drawingml/2006/main">
            <a:r>
              <a:t>[Sources]</a:t>
            </a:r>
          </a:p>
          <a:p xmlns:a="http://schemas.openxmlformats.org/drawingml/2006/main">
            <a:r>
              <a:t>- https://genai.owasp.org/llm-top-10/</a:t>
            </a:r>
          </a:p>
          <a:p xmlns:a="http://schemas.openxmlformats.org/drawingml/2006/main">
            <a:r>
              <a:t>- https://docs.aws.amazon.com/hands-on/latest/control-your-costs-free-tier-budgets/control-your-costs-free-tier-budgets.html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release, demonstrate:</a:t>
            </a:r>
          </a:p>
          <a:p xmlns:a="http://schemas.openxmlformats.org/drawingml/2006/main">
            <a:r>
              <a:t/>
            </a:r>
          </a:p>
          <a:p xmlns:a="http://schemas.openxmlformats.org/drawingml/2006/main">
            <a:r>
              <a:t>- malformed request;</a:t>
            </a:r>
          </a:p>
          <a:p xmlns:a="http://schemas.openxmlformats.org/drawingml/2006/main">
            <a:r>
              <a:t>- unsupported question;</a:t>
            </a:r>
          </a:p>
          <a:p xmlns:a="http://schemas.openxmlformats.org/drawingml/2006/main">
            <a:r>
              <a:t>- unauthorized access;</a:t>
            </a:r>
          </a:p>
          <a:p xmlns:a="http://schemas.openxmlformats.org/drawingml/2006/main">
            <a:r>
              <a:t>- prompt injection;</a:t>
            </a:r>
          </a:p>
          <a:p xmlns:a="http://schemas.openxmlformats.org/drawingml/2006/main">
            <a:r>
              <a:t>- provider timeout;</a:t>
            </a:r>
          </a:p>
          <a:p xmlns:a="http://schemas.openxmlformats.org/drawingml/2006/main">
            <a:r>
              <a:t>- invalid model output;</a:t>
            </a:r>
          </a:p>
          <a:p xmlns:a="http://schemas.openxmlformats.org/drawingml/2006/main">
            <a:r>
              <a:t>- tool denial;</a:t>
            </a:r>
          </a:p>
          <a:p xmlns:a="http://schemas.openxmlformats.org/drawingml/2006/main">
            <a:r>
              <a:t>- budget exhaustion;</a:t>
            </a:r>
          </a:p>
          <a:p xmlns:a="http://schemas.openxmlformats.org/drawingml/2006/main">
            <a:r>
              <a:t>- health-check failure;</a:t>
            </a:r>
          </a:p>
          <a:p xmlns:a="http://schemas.openxmlformats.org/drawingml/2006/main">
            <a:r>
              <a:t>- rollback to previous artifact.</a:t>
            </a:r>
          </a:p>
          <a:p xmlns:a="http://schemas.openxmlformats.org/drawingml/2006/main">
            <a:r>
              <a:t/>
            </a:r>
          </a:p>
          <a:p xmlns:a="http://schemas.openxmlformats.org/drawingml/2006/main">
            <a:r>
              <a:t>Create a runbook describing alerts, diagnosis, mitigation, rollback, owners, and cleanup.</a:t>
            </a:r>
          </a:p>
          <a:p xmlns:a="http://schemas.openxmlformats.org/drawingml/2006/main">
            <a:r>
              <a:t/>
            </a:r>
          </a:p>
          <a:p xmlns:a="http://schemas.openxmlformats.org/drawingml/2006/main">
            <a:r>
              <a:t>[Worked Example]</a:t>
            </a:r>
          </a:p>
          <a:p xmlns:a="http://schemas.openxmlformats.org/drawingml/2006/main">
            <a:r>
              <a:t>New corpus index reduces groundedness below threshold.</a:t>
            </a:r>
          </a:p>
          <a:p xmlns:a="http://schemas.openxmlformats.org/drawingml/2006/main">
            <a:r>
              <a:t/>
            </a:r>
          </a:p>
          <a:p xmlns:a="http://schemas.openxmlformats.org/drawingml/2006/main">
            <a:r>
              <a:t>Rollback:</a:t>
            </a:r>
          </a:p>
          <a:p xmlns:a="http://schemas.openxmlformats.org/drawingml/2006/main">
            <a:r>
              <a:t/>
            </a:r>
          </a:p>
          <a:p xmlns:a="http://schemas.openxmlformats.org/drawingml/2006/main">
            <a:r>
              <a:t>1. stop routing to new index version;</a:t>
            </a:r>
          </a:p>
          <a:p xmlns:a="http://schemas.openxmlformats.org/drawingml/2006/main">
            <a:r>
              <a:t>2. restore previous version alias;</a:t>
            </a:r>
          </a:p>
          <a:p xmlns:a="http://schemas.openxmlformats.org/drawingml/2006/main">
            <a:r>
              <a:t>3. verify health and test cases;</a:t>
            </a:r>
          </a:p>
          <a:p xmlns:a="http://schemas.openxmlformats.org/drawingml/2006/main">
            <a:r>
              <a:t>4. record incident and failed changes;</a:t>
            </a:r>
          </a:p>
          <a:p xmlns:a="http://schemas.openxmlformats.org/drawingml/2006/main">
            <a:r>
              <a:t>5. correct ingestion before another release.</a:t>
            </a:r>
          </a:p>
          <a:p xmlns:a="http://schemas.openxmlformats.org/drawingml/2006/main">
            <a:r>
              <a:t/>
            </a:r>
          </a:p>
          <a:p xmlns:a="http://schemas.openxmlformats.org/drawingml/2006/main">
            <a:r>
              <a:t>[Visual Brief]</a:t>
            </a:r>
          </a:p>
          <a:p xmlns:a="http://schemas.openxmlformats.org/drawingml/2006/main">
            <a:r>
              <a:t>A release pipeline points to versioned artifacts, canary checks, and a rollback arrow to the prior version.</a:t>
            </a:r>
          </a:p>
          <a:p xmlns:a="http://schemas.openxmlformats.org/drawingml/2006/main">
            <a:r>
              <a:t/>
            </a:r>
          </a:p>
          <a:p xmlns:a="http://schemas.openxmlformats.org/drawingml/2006/main">
            <a:r>
              <a:t>[Instructor Notes]</a:t>
            </a:r>
          </a:p>
          <a:p xmlns:a="http://schemas.openxmlformats.org/drawingml/2006/main">
            <a:r>
              <a:t>Require rollback evidence, not only a written claim that rollback is possible.</a:t>
            </a:r>
          </a:p>
          <a:p xmlns:a="http://schemas.openxmlformats.org/drawingml/2006/main">
            <a:r>
              <a:t/>
            </a:r>
          </a:p>
          <a:p xmlns:a="http://schemas.openxmlformats.org/drawingml/2006/main">
            <a:r>
              <a:t>[Notebook Connection]</a:t>
            </a:r>
          </a:p>
          <a:p xmlns:a="http://schemas.openxmlformats.org/drawingml/2006/main">
            <a:r>
              <a:t>The final notebook workflow is packaged with versioned model, corpus, prompt, and graph artifacts.</a:t>
            </a:r>
          </a:p>
          <a:p xmlns:a="http://schemas.openxmlformats.org/drawingml/2006/main">
            <a:r>
              <a:t/>
            </a:r>
          </a:p>
          <a:p xmlns:a="http://schemas.openxmlformats.org/drawingml/2006/main">
            <a:r>
              <a:t>[Sources]</a:t>
            </a:r>
          </a:p>
          <a:p xmlns:a="http://schemas.openxmlformats.org/drawingml/2006/main">
            <a:r>
              <a:t>- https://docs.aws.amazon.com/wellarchitected/latest/reliability-pillar/welcome.html</a:t>
            </a:r>
          </a:p>
          <a:p xmlns:a="http://schemas.openxmlformats.org/drawingml/2006/main">
            <a:r>
              <a:t>- https://www.nist.gov/itl/ai-risk-management-framework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Submit:</a:t>
            </a:r>
          </a:p>
          <a:p xmlns:a="http://schemas.openxmlformats.org/drawingml/2006/main">
            <a:r>
              <a:t/>
            </a:r>
          </a:p>
          <a:p xmlns:a="http://schemas.openxmlformats.org/drawingml/2006/main">
            <a:r>
              <a:t>1. problem statement and acceptance criteria;</a:t>
            </a:r>
          </a:p>
          <a:p xmlns:a="http://schemas.openxmlformats.org/drawingml/2006/main">
            <a:r>
              <a:t>2. architecture and data-flow diagrams;</a:t>
            </a:r>
          </a:p>
          <a:p xmlns:a="http://schemas.openxmlformats.org/drawingml/2006/main">
            <a:r>
              <a:t>3. threat model and cost estimate;</a:t>
            </a:r>
          </a:p>
          <a:p xmlns:a="http://schemas.openxmlformats.org/drawingml/2006/main">
            <a:r>
              <a:t>4. versioned source, configuration, and environment;</a:t>
            </a:r>
          </a:p>
          <a:p xmlns:a="http://schemas.openxmlformats.org/drawingml/2006/main">
            <a:r>
              <a:t>5. model and retrieval selection report;</a:t>
            </a:r>
          </a:p>
          <a:p xmlns:a="http://schemas.openxmlformats.org/drawingml/2006/main">
            <a:r>
              <a:t>6. API and workflow contracts;</a:t>
            </a:r>
          </a:p>
          <a:p xmlns:a="http://schemas.openxmlformats.org/drawingml/2006/main">
            <a:r>
              <a:t>7. evaluation dataset and results;</a:t>
            </a:r>
          </a:p>
          <a:p xmlns:a="http://schemas.openxmlformats.org/drawingml/2006/main">
            <a:r>
              <a:t>8. failure-analysis report;</a:t>
            </a:r>
          </a:p>
          <a:p xmlns:a="http://schemas.openxmlformats.org/drawingml/2006/main">
            <a:r>
              <a:t>9. deployment and health evidence;</a:t>
            </a:r>
          </a:p>
          <a:p xmlns:a="http://schemas.openxmlformats.org/drawingml/2006/main">
            <a:r>
              <a:t>10. traces, monitoring, and budget alerts;</a:t>
            </a:r>
          </a:p>
          <a:p xmlns:a="http://schemas.openxmlformats.org/drawingml/2006/main">
            <a:r>
              <a:t>11. runbook and rollback proof;</a:t>
            </a:r>
          </a:p>
          <a:p xmlns:a="http://schemas.openxmlformats.org/drawingml/2006/main">
            <a:r>
              <a:t>12. limitations and responsible-use statement.</a:t>
            </a:r>
          </a:p>
          <a:p xmlns:a="http://schemas.openxmlformats.org/drawingml/2006/main">
            <a:r>
              <a:t/>
            </a:r>
          </a:p>
          <a:p xmlns:a="http://schemas.openxmlformats.org/drawingml/2006/main">
            <a:r>
              <a:t>Demonstrate failure paths before the polished success path.</a:t>
            </a:r>
          </a:p>
          <a:p xmlns:a="http://schemas.openxmlformats.org/drawingml/2006/main">
            <a:r>
              <a:t/>
            </a:r>
          </a:p>
          <a:p xmlns:a="http://schemas.openxmlformats.org/drawingml/2006/main">
            <a:r>
              <a:t>[Worked Example]</a:t>
            </a:r>
          </a:p>
          <a:p xmlns:a="http://schemas.openxmlformats.org/drawingml/2006/main">
            <a:r>
              <a:t>Final demonstration:</a:t>
            </a:r>
          </a:p>
          <a:p xmlns:a="http://schemas.openxmlformats.org/drawingml/2006/main">
            <a:r>
              <a:t/>
            </a:r>
          </a:p>
          <a:p xmlns:a="http://schemas.openxmlformats.org/drawingml/2006/main">
            <a:r>
              <a:t>1. denied cross-tenant request;</a:t>
            </a:r>
          </a:p>
          <a:p xmlns:a="http://schemas.openxmlformats.org/drawingml/2006/main">
            <a:r>
              <a:t>2. unsupported question;</a:t>
            </a:r>
          </a:p>
          <a:p xmlns:a="http://schemas.openxmlformats.org/drawingml/2006/main">
            <a:r>
              <a:t>3. malformed output caught by validation;</a:t>
            </a:r>
          </a:p>
          <a:p xmlns:a="http://schemas.openxmlformats.org/drawingml/2006/main">
            <a:r>
              <a:t>4. provider timeout and controlled response;</a:t>
            </a:r>
          </a:p>
          <a:p xmlns:a="http://schemas.openxmlformats.org/drawingml/2006/main">
            <a:r>
              <a:t>5. grounded answer with verified citations;</a:t>
            </a:r>
          </a:p>
          <a:p xmlns:a="http://schemas.openxmlformats.org/drawingml/2006/main">
            <a:r>
              <a:t>6. rollback to previous artifact.</a:t>
            </a:r>
          </a:p>
          <a:p xmlns:a="http://schemas.openxmlformats.org/drawingml/2006/main">
            <a:r>
              <a:t/>
            </a:r>
          </a:p>
          <a:p xmlns:a="http://schemas.openxmlformats.org/drawingml/2006/main">
            <a:r>
              <a:t>[Visual Brief]</a:t>
            </a:r>
          </a:p>
          <a:p xmlns:a="http://schemas.openxmlformats.org/drawingml/2006/main">
            <a:r>
              <a:t>A final evidence board connects requirements to implementation, tests, deployment, operations, rollback, and presentation.</a:t>
            </a:r>
          </a:p>
          <a:p xmlns:a="http://schemas.openxmlformats.org/drawingml/2006/main">
            <a:r>
              <a:t/>
            </a:r>
          </a:p>
          <a:p xmlns:a="http://schemas.openxmlformats.org/drawingml/2006/main">
            <a:r>
              <a:t>[Instructor Notes]</a:t>
            </a:r>
          </a:p>
          <a:p xmlns:a="http://schemas.openxmlformats.org/drawingml/2006/main">
            <a:r>
              <a:t>Grade the evidence chain and failure handling more heavily than interface polish.</a:t>
            </a:r>
          </a:p>
          <a:p xmlns:a="http://schemas.openxmlformats.org/drawingml/2006/main">
            <a:r>
              <a:t/>
            </a:r>
          </a:p>
          <a:p xmlns:a="http://schemas.openxmlformats.org/drawingml/2006/main">
            <a:r>
              <a:t>[Notebook Connection]</a:t>
            </a:r>
          </a:p>
          <a:p xmlns:a="http://schemas.openxmlformats.org/drawingml/2006/main">
            <a:r>
              <a:t>Use one selected agentic capstone notebook as a starting pattern and document every modernization or replacement.</a:t>
            </a:r>
          </a:p>
          <a:p xmlns:a="http://schemas.openxmlformats.org/drawingml/2006/main">
            <a:r>
              <a:t/>
            </a:r>
          </a:p>
          <a:p xmlns:a="http://schemas.openxmlformats.org/drawingml/2006/main">
            <a:r>
              <a:t>[Sources]</a:t>
            </a:r>
          </a:p>
          <a:p xmlns:a="http://schemas.openxmlformats.org/drawingml/2006/main">
            <a:r>
              <a:t>- https://github.com/curiousily/AI-Bootcamp</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de9df1c48a48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b606e2e3844e7f" /><Relationship Type="http://schemas.openxmlformats.org/officeDocument/2006/relationships/slideLayout" Target="/ppt/slideLayouts/slideLayout1.xml" Id="R0025b5a1701e42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25b5a1701e42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762447aa9984402" /><Relationship Type="http://schemas.openxmlformats.org/officeDocument/2006/relationships/image" Target="/ppt/media/image.png" Id="Rbd222580b7cd4ffb" /><Relationship Type="http://schemas.openxmlformats.org/officeDocument/2006/relationships/image" Target="/ppt/media/image2.png" Id="R16ec8fa3edd04b89" /><Relationship Type="http://schemas.openxmlformats.org/officeDocument/2006/relationships/notesSlide" Target="/ppt/notesSlides/notesSlide1.xml" Id="Rd6a8b5c4b53745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2dd92d8b22b42f4" /><Relationship Type="http://schemas.openxmlformats.org/officeDocument/2006/relationships/notesSlide" Target="/ppt/notesSlides/notesSlide2.xml" Id="R9441f5c422184bc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b21ad8730084034" /><Relationship Type="http://schemas.openxmlformats.org/officeDocument/2006/relationships/notesSlide" Target="/ppt/notesSlides/notesSlide3.xml" Id="R4f4245a8a7e840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028659cf49e4331" /><Relationship Type="http://schemas.openxmlformats.org/officeDocument/2006/relationships/notesSlide" Target="/ppt/notesSlides/notesSlide4.xml" Id="R04cb872e659142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4d49aebffc44dc3" /><Relationship Type="http://schemas.openxmlformats.org/officeDocument/2006/relationships/notesSlide" Target="/ppt/notesSlides/notesSlide5.xml" Id="Ree02d0234c9c43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c69d3999cf14154" /><Relationship Type="http://schemas.openxmlformats.org/officeDocument/2006/relationships/notesSlide" Target="/ppt/notesSlides/notesSlide6.xml" Id="R8f87daa4d99c4a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c81cc59ef864230" /><Relationship Type="http://schemas.openxmlformats.org/officeDocument/2006/relationships/notesSlide" Target="/ppt/notesSlides/notesSlide7.xml" Id="Reae7747910de4e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759f6ccc4aa4fa5" /><Relationship Type="http://schemas.openxmlformats.org/officeDocument/2006/relationships/notesSlide" Target="/ppt/notesSlides/notesSlide8.xml" Id="R8650489a9e0541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2563d8c342e4242" /><Relationship Type="http://schemas.openxmlformats.org/officeDocument/2006/relationships/notesSlide" Target="/ppt/notesSlides/notesSlide9.xml" Id="Rde80f063bccb45e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ebd9f4442844633" /><Relationship Type="http://schemas.openxmlformats.org/officeDocument/2006/relationships/notesSlide" Target="/ppt/notesSlides/notesSlide10.xml" Id="R36a539a99ea2480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68944a3452144e9" /><Relationship Type="http://schemas.openxmlformats.org/officeDocument/2006/relationships/notesSlide" Target="/ppt/notesSlides/notesSlide11.xml" Id="Rdbe457aa002043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6f06cf4ada249b6" /><Relationship Type="http://schemas.openxmlformats.org/officeDocument/2006/relationships/notesSlide" Target="/ppt/notesSlides/notesSlide12.xml" Id="R36c2670d26c449ae" /></Relationships>
</file>

<file path=ppt/slides/slide1.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65D3677-8DF0-4B99-9F4E-440F167CB97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d222580b7cd4ffb"/>
          <a:srcRect xmlns:a="http://schemas.openxmlformats.org/drawingml/2006/main" l="28270" t="0" r="28270" b="0"/>
          <a:stretch xmlns:a="http://schemas.openxmlformats.org/drawingml/2006/main">
            <a:fillRect l="0" t="0" r="0" b="0"/>
          </a:stretch>
        </p:blipFill>
        <p:spPr>
          <a:xfrm xmlns:a="http://schemas.openxmlformats.org/drawingml/2006/main">
            <a:off x="6896100" y="0"/>
            <a:ext cx="52959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D2114AE-B97C-4E11-9544-7EB4307202F9}"/>
              </a:ext>
            </a:extLst>
          </p:cNvPr>
          <p:cNvSpPr>
            <a:spLocks xmlns:a="http://schemas.openxmlformats.org/drawingml/2006/main" noGrp="1"/>
          </p:cNvSpPr>
          <p:nvPr/>
        </p:nvSpPr>
        <p:spPr>
          <a:xfrm xmlns:a="http://schemas.openxmlformats.org/drawingml/2006/main">
            <a:off x="6591300" y="0"/>
            <a:ext cx="304800" cy="685800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D313C7F-CB27-4480-8434-2600B7DBCB55}"/>
              </a:ext>
            </a:extLst>
          </p:cNvPr>
          <p:cNvSpPr>
            <a:spLocks xmlns:a="http://schemas.openxmlformats.org/drawingml/2006/main" noGrp="1"/>
          </p:cNvSpPr>
          <p:nvPr/>
        </p:nvSpPr>
        <p:spPr>
          <a:xfrm xmlns:a="http://schemas.openxmlformats.org/drawingml/2006/main">
            <a:off x="666750" y="6667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MODULE 18  /  LESSON 01</a:t>
            </a:r>
          </a:p>
        </p:txBody>
      </p:sp>
      <p:sp>
        <p:nvSpPr>
          <p:cNvPr id="5" name="">
            <a:extLst xmlns:a="http://schemas.openxmlformats.org/drawingml/2006/main">
              <a:ext uri="{FF2B5EF4-FFF2-40B4-BE49-F238E27FC236}">
                <a16:creationId xmlns:a16="http://schemas.microsoft.com/office/drawing/2014/main" id="{5D36C9B8-4C94-4A90-8E06-146FA74625FE}"/>
              </a:ext>
            </a:extLst>
          </p:cNvPr>
          <p:cNvSpPr>
            <a:spLocks xmlns:a="http://schemas.openxmlformats.org/drawingml/2006/main" noGrp="1"/>
          </p:cNvSpPr>
          <p:nvPr/>
        </p:nvSpPr>
        <p:spPr>
          <a:xfrm xmlns:a="http://schemas.openxmlformats.org/drawingml/2006/main">
            <a:off x="666750" y="1409700"/>
            <a:ext cx="5219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FFFFFF"/>
                </a:solidFill>
              </a:defRPr>
            </a:pPr>
            <a:r>
              <a:rPr sz="3900" b="1">
                <a:solidFill>
                  <a:srgbClr val="FFFFFF"/>
                </a:solidFill>
              </a:rPr>
              <a:t>Start with a Testable User Need</a:t>
            </a:r>
          </a:p>
        </p:txBody>
      </p:sp>
      <p:sp>
        <p:nvSpPr>
          <p:cNvPr id="6" name="">
            <a:extLst xmlns:a="http://schemas.openxmlformats.org/drawingml/2006/main">
              <a:ext uri="{FF2B5EF4-FFF2-40B4-BE49-F238E27FC236}">
                <a16:creationId xmlns:a16="http://schemas.microsoft.com/office/drawing/2014/main" id="{7F9764BC-CC8F-45CD-A9CE-726E60C36982}"/>
              </a:ext>
            </a:extLst>
          </p:cNvPr>
          <p:cNvSpPr>
            <a:spLocks xmlns:a="http://schemas.openxmlformats.org/drawingml/2006/main" noGrp="1"/>
          </p:cNvSpPr>
          <p:nvPr/>
        </p:nvSpPr>
        <p:spPr>
          <a:xfrm xmlns:a="http://schemas.openxmlformats.org/drawingml/2006/main">
            <a:off x="666750" y="4095750"/>
            <a:ext cx="914400" cy="5715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29CC8C8-2C7F-47D5-8224-9B097C9A527E}"/>
              </a:ext>
            </a:extLst>
          </p:cNvPr>
          <p:cNvSpPr>
            <a:spLocks xmlns:a="http://schemas.openxmlformats.org/drawingml/2006/main" noGrp="1"/>
          </p:cNvSpPr>
          <p:nvPr/>
        </p:nvSpPr>
        <p:spPr>
          <a:xfrm xmlns:a="http://schemas.openxmlformats.org/drawingml/2006/main">
            <a:off x="666750" y="4495800"/>
            <a:ext cx="5048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D5E2EC"/>
                </a:solidFill>
              </a:defRPr>
            </a:pPr>
            <a:r>
              <a:rPr sz="1650">
                <a:solidFill>
                  <a:srgbClr val="D5E2EC"/>
                </a:solidFill>
              </a:rPr>
              <a:t>A requirement is a testable statement of needed behaviour or constraint.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6ec8fa3edd04b89"/>
          <a:stretch xmlns:a="http://schemas.openxmlformats.org/drawingml/2006/main"/>
        </p:blipFill>
        <p:spPr>
          <a:xfrm xmlns:a="http://schemas.openxmlformats.org/drawingml/2006/main">
            <a:off x="790575" y="5905500"/>
            <a:ext cx="1485900" cy="495300"/>
          </a:xfrm>
          <a:prstGeom xmlns:a="http://schemas.openxmlformats.org/drawingml/2006/main" prst="rect">
            <a:avLst/>
          </a:prstGeom>
        </p:spPr>
      </p:pic>
    </p:spTree>
    <p:extLst>
      <p:ext uri="{BB962C8B-B14F-4D97-AF65-F5344CB8AC3E}">
        <p14:creationId xmlns:p14="http://schemas.microsoft.com/office/powerpoint/2010/main" val="1336005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C14C5CA-2B86-48B6-8F73-17CDB1DA13B7}"/>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M18 / L01</a:t>
            </a:r>
          </a:p>
        </p:txBody>
      </p:sp>
      <p:sp>
        <p:nvSpPr>
          <p:cNvPr id="2" name="">
            <a:extLst xmlns:a="http://schemas.openxmlformats.org/drawingml/2006/main">
              <a:ext uri="{FF2B5EF4-FFF2-40B4-BE49-F238E27FC236}">
                <a16:creationId xmlns:a16="http://schemas.microsoft.com/office/drawing/2014/main" id="{6EF6FAFD-7366-48D8-8C13-83E6249F09AB}"/>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Start with a Testable User Need</a:t>
            </a:r>
          </a:p>
        </p:txBody>
      </p:sp>
      <p:sp>
        <p:nvSpPr>
          <p:cNvPr id="3" name="">
            <a:extLst xmlns:a="http://schemas.openxmlformats.org/drawingml/2006/main">
              <a:ext uri="{FF2B5EF4-FFF2-40B4-BE49-F238E27FC236}">
                <a16:creationId xmlns:a16="http://schemas.microsoft.com/office/drawing/2014/main" id="{CAB1CC1C-279E-480D-A2C7-1C287DF01774}"/>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02</a:t>
            </a:r>
          </a:p>
        </p:txBody>
      </p:sp>
      <p:sp>
        <p:nvSpPr>
          <p:cNvPr id="4" name="">
            <a:extLst xmlns:a="http://schemas.openxmlformats.org/drawingml/2006/main">
              <a:ext uri="{FF2B5EF4-FFF2-40B4-BE49-F238E27FC236}">
                <a16:creationId xmlns:a16="http://schemas.microsoft.com/office/drawing/2014/main" id="{1F674BCF-7FC0-4EB2-A791-115219CCA831}"/>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CORE CONCEPT</a:t>
            </a:r>
          </a:p>
        </p:txBody>
      </p:sp>
      <p:sp>
        <p:nvSpPr>
          <p:cNvPr id="5" name="">
            <a:extLst xmlns:a="http://schemas.openxmlformats.org/drawingml/2006/main">
              <a:ext uri="{FF2B5EF4-FFF2-40B4-BE49-F238E27FC236}">
                <a16:creationId xmlns:a16="http://schemas.microsoft.com/office/drawing/2014/main" id="{D8D70691-4453-47AD-8D6E-CD0840E881E4}"/>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B1220"/>
                </a:solidFill>
              </a:defRPr>
            </a:pPr>
            <a:r>
              <a:rPr sz="3000" b="1">
                <a:solidFill>
                  <a:srgbClr val="0B1220"/>
                </a:solidFill>
              </a:rPr>
              <a:t>Architecture Assigns Responsibilities to Components</a:t>
            </a:r>
          </a:p>
        </p:txBody>
      </p:sp>
      <p:sp>
        <p:nvSpPr>
          <p:cNvPr id="6" name="">
            <a:extLst xmlns:a="http://schemas.openxmlformats.org/drawingml/2006/main">
              <a:ext uri="{FF2B5EF4-FFF2-40B4-BE49-F238E27FC236}">
                <a16:creationId xmlns:a16="http://schemas.microsoft.com/office/drawing/2014/main" id="{538A86F1-BDBB-4DFB-BD06-1BADA31FDC57}"/>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9D007F8-F3DD-4BC7-AA14-3045B77601F7}"/>
              </a:ext>
            </a:extLst>
          </p:cNvPr>
          <p:cNvSpPr>
            <a:spLocks xmlns:a="http://schemas.openxmlformats.org/drawingml/2006/main" noGrp="1"/>
          </p:cNvSpPr>
          <p:nvPr/>
        </p:nvSpPr>
        <p:spPr>
          <a:xfrm xmlns:a="http://schemas.openxmlformats.org/drawingml/2006/main">
            <a:off x="609600" y="2647950"/>
            <a:ext cx="10572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243244"/>
                </a:solidFill>
              </a:defRPr>
            </a:pPr>
            <a:r>
              <a:rPr sz="1425">
                <a:solidFill>
                  <a:srgbClr val="243244"/>
                </a:solidFill>
              </a:rPr>
              <a:t>An architecture identifies components, responsibilities, interfaces, and constraints. A capstone may include: Use the fewest components that satisfy requirements. Every additional service adds failure and cost.</a:t>
            </a:r>
          </a:p>
        </p:txBody>
      </p:sp>
      <p:sp>
        <p:nvSpPr>
          <p:cNvPr id="8" name="">
            <a:extLst xmlns:a="http://schemas.openxmlformats.org/drawingml/2006/main">
              <a:ext uri="{FF2B5EF4-FFF2-40B4-BE49-F238E27FC236}">
                <a16:creationId xmlns:a16="http://schemas.microsoft.com/office/drawing/2014/main" id="{3F8BA56A-4CB6-403E-9E82-5C5B1C12D413}"/>
              </a:ext>
            </a:extLst>
          </p:cNvPr>
          <p:cNvSpPr>
            <a:spLocks xmlns:a="http://schemas.openxmlformats.org/drawingml/2006/main" noGrp="1"/>
          </p:cNvSpPr>
          <p:nvPr/>
        </p:nvSpPr>
        <p:spPr>
          <a:xfrm xmlns:a="http://schemas.openxmlformats.org/drawingml/2006/main">
            <a:off x="609600" y="37147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F9E5861-1C8F-4581-92C4-CE3BCCA7E050}"/>
              </a:ext>
            </a:extLst>
          </p:cNvPr>
          <p:cNvSpPr>
            <a:spLocks xmlns:a="http://schemas.openxmlformats.org/drawingml/2006/main" noGrp="1"/>
          </p:cNvSpPr>
          <p:nvPr/>
        </p:nvSpPr>
        <p:spPr>
          <a:xfrm xmlns:a="http://schemas.openxmlformats.org/drawingml/2006/main">
            <a:off x="7810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web or API client;</a:t>
            </a:r>
          </a:p>
        </p:txBody>
      </p:sp>
      <p:sp>
        <p:nvSpPr>
          <p:cNvPr id="10" name="">
            <a:extLst xmlns:a="http://schemas.openxmlformats.org/drawingml/2006/main">
              <a:ext uri="{FF2B5EF4-FFF2-40B4-BE49-F238E27FC236}">
                <a16:creationId xmlns:a16="http://schemas.microsoft.com/office/drawing/2014/main" id="{BE64D4AF-D0C2-45E1-B188-9EE26DE8C08C}"/>
              </a:ext>
            </a:extLst>
          </p:cNvPr>
          <p:cNvSpPr>
            <a:spLocks xmlns:a="http://schemas.openxmlformats.org/drawingml/2006/main" noGrp="1"/>
          </p:cNvSpPr>
          <p:nvPr/>
        </p:nvSpPr>
        <p:spPr>
          <a:xfrm xmlns:a="http://schemas.openxmlformats.org/drawingml/2006/main">
            <a:off x="4114800" y="37147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AEC2B82-E9C5-4E83-BE74-8B381D43C907}"/>
              </a:ext>
            </a:extLst>
          </p:cNvPr>
          <p:cNvSpPr>
            <a:spLocks xmlns:a="http://schemas.openxmlformats.org/drawingml/2006/main" noGrp="1"/>
          </p:cNvSpPr>
          <p:nvPr/>
        </p:nvSpPr>
        <p:spPr>
          <a:xfrm xmlns:a="http://schemas.openxmlformats.org/drawingml/2006/main">
            <a:off x="42862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request validation;</a:t>
            </a:r>
          </a:p>
        </p:txBody>
      </p:sp>
      <p:sp>
        <p:nvSpPr>
          <p:cNvPr id="12" name="">
            <a:extLst xmlns:a="http://schemas.openxmlformats.org/drawingml/2006/main">
              <a:ext uri="{FF2B5EF4-FFF2-40B4-BE49-F238E27FC236}">
                <a16:creationId xmlns:a16="http://schemas.microsoft.com/office/drawing/2014/main" id="{1F7A2443-E7AD-4E85-ACDA-D9A0EDFB303A}"/>
              </a:ext>
            </a:extLst>
          </p:cNvPr>
          <p:cNvSpPr>
            <a:spLocks xmlns:a="http://schemas.openxmlformats.org/drawingml/2006/main" noGrp="1"/>
          </p:cNvSpPr>
          <p:nvPr/>
        </p:nvSpPr>
        <p:spPr>
          <a:xfrm xmlns:a="http://schemas.openxmlformats.org/drawingml/2006/main">
            <a:off x="7620000" y="37147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E2A4155-C0DD-4F56-833A-9A086DDB236A}"/>
              </a:ext>
            </a:extLst>
          </p:cNvPr>
          <p:cNvSpPr>
            <a:spLocks xmlns:a="http://schemas.openxmlformats.org/drawingml/2006/main" noGrp="1"/>
          </p:cNvSpPr>
          <p:nvPr/>
        </p:nvSpPr>
        <p:spPr>
          <a:xfrm xmlns:a="http://schemas.openxmlformats.org/drawingml/2006/main">
            <a:off x="77914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workflow state;</a:t>
            </a:r>
          </a:p>
        </p:txBody>
      </p:sp>
      <p:sp>
        <p:nvSpPr>
          <p:cNvPr id="14" name="">
            <a:extLst xmlns:a="http://schemas.openxmlformats.org/drawingml/2006/main">
              <a:ext uri="{FF2B5EF4-FFF2-40B4-BE49-F238E27FC236}">
                <a16:creationId xmlns:a16="http://schemas.microsoft.com/office/drawing/2014/main" id="{2ECE0928-E292-47FE-B8DE-D5AE8CE4A292}"/>
              </a:ext>
            </a:extLst>
          </p:cNvPr>
          <p:cNvSpPr>
            <a:spLocks xmlns:a="http://schemas.openxmlformats.org/drawingml/2006/main" noGrp="1"/>
          </p:cNvSpPr>
          <p:nvPr/>
        </p:nvSpPr>
        <p:spPr>
          <a:xfrm xmlns:a="http://schemas.openxmlformats.org/drawingml/2006/main">
            <a:off x="609600" y="48196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A3AB0FE-D0AB-4767-8B6E-DFC4C084E397}"/>
              </a:ext>
            </a:extLst>
          </p:cNvPr>
          <p:cNvSpPr>
            <a:spLocks xmlns:a="http://schemas.openxmlformats.org/drawingml/2006/main" noGrp="1"/>
          </p:cNvSpPr>
          <p:nvPr/>
        </p:nvSpPr>
        <p:spPr>
          <a:xfrm xmlns:a="http://schemas.openxmlformats.org/drawingml/2006/main">
            <a:off x="7810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retrieval and vector store;</a:t>
            </a:r>
          </a:p>
        </p:txBody>
      </p:sp>
      <p:sp>
        <p:nvSpPr>
          <p:cNvPr id="16" name="">
            <a:extLst xmlns:a="http://schemas.openxmlformats.org/drawingml/2006/main">
              <a:ext uri="{FF2B5EF4-FFF2-40B4-BE49-F238E27FC236}">
                <a16:creationId xmlns:a16="http://schemas.microsoft.com/office/drawing/2014/main" id="{13B317D6-16E4-4584-A9AB-66BF0F09454F}"/>
              </a:ext>
            </a:extLst>
          </p:cNvPr>
          <p:cNvSpPr>
            <a:spLocks xmlns:a="http://schemas.openxmlformats.org/drawingml/2006/main" noGrp="1"/>
          </p:cNvSpPr>
          <p:nvPr/>
        </p:nvSpPr>
        <p:spPr>
          <a:xfrm xmlns:a="http://schemas.openxmlformats.org/drawingml/2006/main">
            <a:off x="4114800" y="48196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2E0622F-CA0B-4593-BED8-1B734E677EB5}"/>
              </a:ext>
            </a:extLst>
          </p:cNvPr>
          <p:cNvSpPr>
            <a:spLocks xmlns:a="http://schemas.openxmlformats.org/drawingml/2006/main" noGrp="1"/>
          </p:cNvSpPr>
          <p:nvPr/>
        </p:nvSpPr>
        <p:spPr>
          <a:xfrm xmlns:a="http://schemas.openxmlformats.org/drawingml/2006/main">
            <a:off x="42862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model provider;</a:t>
            </a:r>
          </a:p>
        </p:txBody>
      </p:sp>
      <p:sp>
        <p:nvSpPr>
          <p:cNvPr id="18" name="">
            <a:extLst xmlns:a="http://schemas.openxmlformats.org/drawingml/2006/main">
              <a:ext uri="{FF2B5EF4-FFF2-40B4-BE49-F238E27FC236}">
                <a16:creationId xmlns:a16="http://schemas.microsoft.com/office/drawing/2014/main" id="{B81793F5-E632-4F05-BA86-68E688F52317}"/>
              </a:ext>
            </a:extLst>
          </p:cNvPr>
          <p:cNvSpPr>
            <a:spLocks xmlns:a="http://schemas.openxmlformats.org/drawingml/2006/main" noGrp="1"/>
          </p:cNvSpPr>
          <p:nvPr/>
        </p:nvSpPr>
        <p:spPr>
          <a:xfrm xmlns:a="http://schemas.openxmlformats.org/drawingml/2006/main">
            <a:off x="7620000" y="4819650"/>
            <a:ext cx="32766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E99A1E0-5392-48E1-B256-0A3C5C3EE918}"/>
              </a:ext>
            </a:extLst>
          </p:cNvPr>
          <p:cNvSpPr>
            <a:spLocks xmlns:a="http://schemas.openxmlformats.org/drawingml/2006/main" noGrp="1"/>
          </p:cNvSpPr>
          <p:nvPr/>
        </p:nvSpPr>
        <p:spPr>
          <a:xfrm xmlns:a="http://schemas.openxmlformats.org/drawingml/2006/main">
            <a:off x="77914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structured output;</a:t>
            </a:r>
          </a:p>
        </p:txBody>
      </p:sp>
    </p:spTree>
    <p:extLst>
      <p:ext uri="{BB962C8B-B14F-4D97-AF65-F5344CB8AC3E}">
        <p14:creationId xmlns:p14="http://schemas.microsoft.com/office/powerpoint/2010/main" val="1166120019"/>
      </p:ext>
    </p:extLst>
  </p:cSld>
</p:sld>
</file>

<file path=ppt/slides/slide3.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162C885-12A4-4680-AE6F-4A782B139B8B}"/>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M18 / L01</a:t>
            </a:r>
          </a:p>
        </p:txBody>
      </p:sp>
      <p:sp>
        <p:nvSpPr>
          <p:cNvPr id="2" name="">
            <a:extLst xmlns:a="http://schemas.openxmlformats.org/drawingml/2006/main">
              <a:ext uri="{FF2B5EF4-FFF2-40B4-BE49-F238E27FC236}">
                <a16:creationId xmlns:a16="http://schemas.microsoft.com/office/drawing/2014/main" id="{DB5DFED1-3131-430F-A7CD-733928CCB212}"/>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Start with a Testable User Need</a:t>
            </a:r>
          </a:p>
        </p:txBody>
      </p:sp>
      <p:sp>
        <p:nvSpPr>
          <p:cNvPr id="3" name="">
            <a:extLst xmlns:a="http://schemas.openxmlformats.org/drawingml/2006/main">
              <a:ext uri="{FF2B5EF4-FFF2-40B4-BE49-F238E27FC236}">
                <a16:creationId xmlns:a16="http://schemas.microsoft.com/office/drawing/2014/main" id="{0B2FE859-8F57-4F62-9A09-40BC82AEE492}"/>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03</a:t>
            </a:r>
          </a:p>
        </p:txBody>
      </p:sp>
      <p:sp>
        <p:nvSpPr>
          <p:cNvPr id="4" name="">
            <a:extLst xmlns:a="http://schemas.openxmlformats.org/drawingml/2006/main">
              <a:ext uri="{FF2B5EF4-FFF2-40B4-BE49-F238E27FC236}">
                <a16:creationId xmlns:a16="http://schemas.microsoft.com/office/drawing/2014/main" id="{2FEFC2B5-0458-4316-907C-BAF68AEF9AF7}"/>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3ED76B9E-DF75-4D50-8004-B404A095FDB1}"/>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Data Flow Reveals Trust Boundaries</a:t>
            </a:r>
          </a:p>
        </p:txBody>
      </p:sp>
      <p:sp>
        <p:nvSpPr>
          <p:cNvPr id="6" name="">
            <a:extLst xmlns:a="http://schemas.openxmlformats.org/drawingml/2006/main">
              <a:ext uri="{FF2B5EF4-FFF2-40B4-BE49-F238E27FC236}">
                <a16:creationId xmlns:a16="http://schemas.microsoft.com/office/drawing/2014/main" id="{3F0976F9-D824-4A57-8840-248012A4766C}"/>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A53B649-F709-4769-AD6B-9A05F00294C4}"/>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BBB32C1-6515-494E-962F-69B4E572A04B}"/>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7830148-4E53-449F-863C-33830EF9840E}"/>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2852FAD-1281-45CA-B3CA-F5A571239864}"/>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7D5D317-18D2-49ED-8803-5267F99959A3}"/>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[User] --untrusted question--&gt; [API validation]</a:t>
            </a:r>
          </a:p>
          <a:p xmlns:a="http://schemas.openxmlformats.org/drawingml/2006/main">
            <a:pPr>
              <a:defRPr sz="1125">
                <a:solidFill>
                  <a:srgbClr val="E8F1F7"/>
                </a:solidFill>
              </a:defRPr>
            </a:pPr>
            <a:r>
              <a:rPr sz="1125">
                <a:solidFill>
                  <a:srgbClr val="E8F1F7"/>
                </a:solidFill>
              </a:rPr>
              <a:t>[Retriever] --authorized chunks--&gt; [Model]</a:t>
            </a:r>
          </a:p>
          <a:p xmlns:a="http://schemas.openxmlformats.org/drawingml/2006/main">
            <a:pPr>
              <a:defRPr sz="1125">
                <a:solidFill>
                  <a:srgbClr val="E8F1F7"/>
                </a:solidFill>
              </a:defRPr>
            </a:pPr>
            <a:r>
              <a:rPr sz="1125">
                <a:solidFill>
                  <a:srgbClr val="E8F1F7"/>
                </a:solidFill>
              </a:rPr>
              <a:t>[Model] --untrusted draft--&gt; [Output validation]</a:t>
            </a:r>
          </a:p>
        </p:txBody>
      </p:sp>
      <p:sp>
        <p:nvSpPr>
          <p:cNvPr id="12" name="">
            <a:extLst xmlns:a="http://schemas.openxmlformats.org/drawingml/2006/main">
              <a:ext uri="{FF2B5EF4-FFF2-40B4-BE49-F238E27FC236}">
                <a16:creationId xmlns:a16="http://schemas.microsoft.com/office/drawing/2014/main" id="{2C6AD389-77DB-42A1-9810-22A2D600D31A}"/>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DAEBD93B-58EE-41B3-880A-5036FDAD554A}"/>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CCEF210D-5798-45A7-89E8-BE56B1B7F4A4}"/>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Every boundary has an owner and required check.</a:t>
            </a:r>
          </a:p>
        </p:txBody>
      </p:sp>
      <p:sp>
        <p:nvSpPr>
          <p:cNvPr id="15" name="">
            <a:extLst xmlns:a="http://schemas.openxmlformats.org/drawingml/2006/main">
              <a:ext uri="{FF2B5EF4-FFF2-40B4-BE49-F238E27FC236}">
                <a16:creationId xmlns:a16="http://schemas.microsoft.com/office/drawing/2014/main" id="{B38B6CD7-613E-4AA1-BE8F-B72EB497E181}"/>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CD12CFB-3AE7-454F-A5AF-E7B1FBA2E4E2}"/>
              </a:ext>
            </a:extLst>
          </p:cNvPr>
          <p:cNvSpPr>
            <a:spLocks xmlns:a="http://schemas.openxmlformats.org/drawingml/2006/main" noGrp="1"/>
          </p:cNvSpPr>
          <p:nvPr/>
        </p:nvSpPr>
        <p:spPr>
          <a:xfrm xmlns:a="http://schemas.openxmlformats.org/drawingml/2006/main">
            <a:off x="723900" y="5829300"/>
            <a:ext cx="10744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Policy documents are approved internally, but their extracted text may contain parser errors. User question is untrusted. Model output is untrusted. Final response is released only after schema, citation, and authorization checks.</a:t>
            </a:r>
          </a:p>
        </p:txBody>
      </p:sp>
    </p:spTree>
    <p:extLst>
      <p:ext uri="{BB962C8B-B14F-4D97-AF65-F5344CB8AC3E}">
        <p14:creationId xmlns:p14="http://schemas.microsoft.com/office/powerpoint/2010/main" val="43281033"/>
      </p:ext>
    </p:extLst>
  </p:cSld>
</p:sld>
</file>

<file path=ppt/slides/slide4.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C458408-74CB-4767-992B-95595F5B1762}"/>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M18 / L01</a:t>
            </a:r>
          </a:p>
        </p:txBody>
      </p:sp>
      <p:sp>
        <p:nvSpPr>
          <p:cNvPr id="2" name="">
            <a:extLst xmlns:a="http://schemas.openxmlformats.org/drawingml/2006/main">
              <a:ext uri="{FF2B5EF4-FFF2-40B4-BE49-F238E27FC236}">
                <a16:creationId xmlns:a16="http://schemas.microsoft.com/office/drawing/2014/main" id="{16476F23-3638-4CA0-9EA1-9C0460A34E5E}"/>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Start with a Testable User Need</a:t>
            </a:r>
          </a:p>
        </p:txBody>
      </p:sp>
      <p:sp>
        <p:nvSpPr>
          <p:cNvPr id="3" name="">
            <a:extLst xmlns:a="http://schemas.openxmlformats.org/drawingml/2006/main">
              <a:ext uri="{FF2B5EF4-FFF2-40B4-BE49-F238E27FC236}">
                <a16:creationId xmlns:a16="http://schemas.microsoft.com/office/drawing/2014/main" id="{99C1C214-8CBD-4208-B7DE-46FD1849D9AB}"/>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04</a:t>
            </a:r>
          </a:p>
        </p:txBody>
      </p:sp>
      <p:sp>
        <p:nvSpPr>
          <p:cNvPr id="4" name="">
            <a:extLst xmlns:a="http://schemas.openxmlformats.org/drawingml/2006/main">
              <a:ext uri="{FF2B5EF4-FFF2-40B4-BE49-F238E27FC236}">
                <a16:creationId xmlns:a16="http://schemas.microsoft.com/office/drawing/2014/main" id="{68450B7B-D74A-4DE6-8384-59B99B85E162}"/>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REASONING SEQUENCE</a:t>
            </a:r>
          </a:p>
        </p:txBody>
      </p:sp>
      <p:sp>
        <p:nvSpPr>
          <p:cNvPr id="5" name="">
            <a:extLst xmlns:a="http://schemas.openxmlformats.org/drawingml/2006/main">
              <a:ext uri="{FF2B5EF4-FFF2-40B4-BE49-F238E27FC236}">
                <a16:creationId xmlns:a16="http://schemas.microsoft.com/office/drawing/2014/main" id="{29E709DA-4FAD-4FD5-9292-6A5B460DA4FE}"/>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FFFFF"/>
                </a:solidFill>
              </a:defRPr>
            </a:pPr>
            <a:r>
              <a:rPr sz="2850" b="1">
                <a:solidFill>
                  <a:srgbClr val="FFFFFF"/>
                </a:solidFill>
              </a:rPr>
              <a:t>Select Models from Evaluation Evidence</a:t>
            </a:r>
          </a:p>
        </p:txBody>
      </p:sp>
      <p:sp>
        <p:nvSpPr>
          <p:cNvPr id="6" name="">
            <a:extLst xmlns:a="http://schemas.openxmlformats.org/drawingml/2006/main">
              <a:ext uri="{FF2B5EF4-FFF2-40B4-BE49-F238E27FC236}">
                <a16:creationId xmlns:a16="http://schemas.microsoft.com/office/drawing/2014/main" id="{250CA490-1BB6-455B-93A7-2E416E92A03E}"/>
              </a:ext>
            </a:extLst>
          </p:cNvPr>
          <p:cNvSpPr>
            <a:spLocks xmlns:a="http://schemas.openxmlformats.org/drawingml/2006/main" noGrp="1"/>
          </p:cNvSpPr>
          <p:nvPr/>
        </p:nvSpPr>
        <p:spPr>
          <a:xfrm xmlns:a="http://schemas.openxmlformats.org/drawingml/2006/main">
            <a:off x="5905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Frame</a:t>
            </a:r>
          </a:p>
        </p:txBody>
      </p:sp>
      <p:sp>
        <p:nvSpPr>
          <p:cNvPr id="7" name="">
            <a:extLst xmlns:a="http://schemas.openxmlformats.org/drawingml/2006/main">
              <a:ext uri="{FF2B5EF4-FFF2-40B4-BE49-F238E27FC236}">
                <a16:creationId xmlns:a16="http://schemas.microsoft.com/office/drawing/2014/main" id="{C9E50BED-5764-47F5-A407-687D8603CBC4}"/>
              </a:ext>
            </a:extLst>
          </p:cNvPr>
          <p:cNvSpPr>
            <a:spLocks xmlns:a="http://schemas.openxmlformats.org/drawingml/2006/main" noGrp="1"/>
          </p:cNvSpPr>
          <p:nvPr/>
        </p:nvSpPr>
        <p:spPr>
          <a:xfrm xmlns:a="http://schemas.openxmlformats.org/drawingml/2006/main">
            <a:off x="5905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baseline;</a:t>
            </a:r>
          </a:p>
        </p:txBody>
      </p:sp>
      <p:sp>
        <p:nvSpPr>
          <p:cNvPr id="8" name="">
            <a:extLst xmlns:a="http://schemas.openxmlformats.org/drawingml/2006/main">
              <a:ext uri="{FF2B5EF4-FFF2-40B4-BE49-F238E27FC236}">
                <a16:creationId xmlns:a16="http://schemas.microsoft.com/office/drawing/2014/main" id="{68E0133B-FAE2-4912-BE0B-CF5AFDA69615}"/>
              </a:ext>
            </a:extLst>
          </p:cNvPr>
          <p:cNvSpPr>
            <a:spLocks xmlns:a="http://schemas.openxmlformats.org/drawingml/2006/main" noGrp="1"/>
          </p:cNvSpPr>
          <p:nvPr/>
        </p:nvSpPr>
        <p:spPr>
          <a:xfrm xmlns:a="http://schemas.openxmlformats.org/drawingml/2006/main">
            <a:off x="5905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8E7E6B3-635B-4629-ABD9-C9EA1424D5AA}"/>
              </a:ext>
            </a:extLst>
          </p:cNvPr>
          <p:cNvSpPr>
            <a:spLocks xmlns:a="http://schemas.openxmlformats.org/drawingml/2006/main" noGrp="1"/>
          </p:cNvSpPr>
          <p:nvPr/>
        </p:nvSpPr>
        <p:spPr>
          <a:xfrm xmlns:a="http://schemas.openxmlformats.org/drawingml/2006/main">
            <a:off x="5905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1</a:t>
            </a:r>
          </a:p>
        </p:txBody>
      </p:sp>
      <p:sp>
        <p:nvSpPr>
          <p:cNvPr id="10" name="">
            <a:extLst xmlns:a="http://schemas.openxmlformats.org/drawingml/2006/main">
              <a:ext uri="{FF2B5EF4-FFF2-40B4-BE49-F238E27FC236}">
                <a16:creationId xmlns:a16="http://schemas.microsoft.com/office/drawing/2014/main" id="{9CE219EF-D54D-46A8-877C-2F67187AA5F3}"/>
              </a:ext>
            </a:extLst>
          </p:cNvPr>
          <p:cNvSpPr>
            <a:spLocks xmlns:a="http://schemas.openxmlformats.org/drawingml/2006/main" noGrp="1"/>
          </p:cNvSpPr>
          <p:nvPr/>
        </p:nvSpPr>
        <p:spPr>
          <a:xfrm xmlns:a="http://schemas.openxmlformats.org/drawingml/2006/main">
            <a:off x="34099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Transform</a:t>
            </a:r>
          </a:p>
        </p:txBody>
      </p:sp>
      <p:sp>
        <p:nvSpPr>
          <p:cNvPr id="11" name="">
            <a:extLst xmlns:a="http://schemas.openxmlformats.org/drawingml/2006/main">
              <a:ext uri="{FF2B5EF4-FFF2-40B4-BE49-F238E27FC236}">
                <a16:creationId xmlns:a16="http://schemas.microsoft.com/office/drawing/2014/main" id="{4FE01FB2-695F-4D4E-9858-2861923C0EFE}"/>
              </a:ext>
            </a:extLst>
          </p:cNvPr>
          <p:cNvSpPr>
            <a:spLocks xmlns:a="http://schemas.openxmlformats.org/drawingml/2006/main" noGrp="1"/>
          </p:cNvSpPr>
          <p:nvPr/>
        </p:nvSpPr>
        <p:spPr>
          <a:xfrm xmlns:a="http://schemas.openxmlformats.org/drawingml/2006/main">
            <a:off x="34099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at least two suitable candidates;</a:t>
            </a:r>
          </a:p>
        </p:txBody>
      </p:sp>
      <p:sp>
        <p:nvSpPr>
          <p:cNvPr id="12" name="">
            <a:extLst xmlns:a="http://schemas.openxmlformats.org/drawingml/2006/main">
              <a:ext uri="{FF2B5EF4-FFF2-40B4-BE49-F238E27FC236}">
                <a16:creationId xmlns:a16="http://schemas.microsoft.com/office/drawing/2014/main" id="{DC11D5C0-C778-4B36-97DE-F9F641D2C8CF}"/>
              </a:ext>
            </a:extLst>
          </p:cNvPr>
          <p:cNvSpPr>
            <a:spLocks xmlns:a="http://schemas.openxmlformats.org/drawingml/2006/main" noGrp="1"/>
          </p:cNvSpPr>
          <p:nvPr/>
        </p:nvSpPr>
        <p:spPr>
          <a:xfrm xmlns:a="http://schemas.openxmlformats.org/drawingml/2006/main">
            <a:off x="34099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1F7D89C-9360-4EFA-AC8F-7F136E1DBF77}"/>
              </a:ext>
            </a:extLst>
          </p:cNvPr>
          <p:cNvSpPr>
            <a:spLocks xmlns:a="http://schemas.openxmlformats.org/drawingml/2006/main" noGrp="1"/>
          </p:cNvSpPr>
          <p:nvPr/>
        </p:nvSpPr>
        <p:spPr>
          <a:xfrm xmlns:a="http://schemas.openxmlformats.org/drawingml/2006/main">
            <a:off x="34099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2</a:t>
            </a:r>
          </a:p>
        </p:txBody>
      </p:sp>
      <p:sp>
        <p:nvSpPr>
          <p:cNvPr id="14" name="">
            <a:extLst xmlns:a="http://schemas.openxmlformats.org/drawingml/2006/main">
              <a:ext uri="{FF2B5EF4-FFF2-40B4-BE49-F238E27FC236}">
                <a16:creationId xmlns:a16="http://schemas.microsoft.com/office/drawing/2014/main" id="{14F6345C-570E-471A-81A9-F189F1A53E74}"/>
              </a:ext>
            </a:extLst>
          </p:cNvPr>
          <p:cNvSpPr>
            <a:spLocks xmlns:a="http://schemas.openxmlformats.org/drawingml/2006/main" noGrp="1"/>
          </p:cNvSpPr>
          <p:nvPr/>
        </p:nvSpPr>
        <p:spPr>
          <a:xfrm xmlns:a="http://schemas.openxmlformats.org/drawingml/2006/main">
            <a:off x="62293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Validate</a:t>
            </a:r>
          </a:p>
        </p:txBody>
      </p:sp>
      <p:sp>
        <p:nvSpPr>
          <p:cNvPr id="15" name="">
            <a:extLst xmlns:a="http://schemas.openxmlformats.org/drawingml/2006/main">
              <a:ext uri="{FF2B5EF4-FFF2-40B4-BE49-F238E27FC236}">
                <a16:creationId xmlns:a16="http://schemas.microsoft.com/office/drawing/2014/main" id="{EB6FAE3F-A487-42B7-8E53-954F47E5AD65}"/>
              </a:ext>
            </a:extLst>
          </p:cNvPr>
          <p:cNvSpPr>
            <a:spLocks xmlns:a="http://schemas.openxmlformats.org/drawingml/2006/main" noGrp="1"/>
          </p:cNvSpPr>
          <p:nvPr/>
        </p:nvSpPr>
        <p:spPr>
          <a:xfrm xmlns:a="http://schemas.openxmlformats.org/drawingml/2006/main">
            <a:off x="62293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quality on the same test cases;</a:t>
            </a:r>
          </a:p>
        </p:txBody>
      </p:sp>
      <p:sp>
        <p:nvSpPr>
          <p:cNvPr id="16" name="">
            <a:extLst xmlns:a="http://schemas.openxmlformats.org/drawingml/2006/main">
              <a:ext uri="{FF2B5EF4-FFF2-40B4-BE49-F238E27FC236}">
                <a16:creationId xmlns:a16="http://schemas.microsoft.com/office/drawing/2014/main" id="{CE247CF1-626F-4976-8A73-400A247538B1}"/>
              </a:ext>
            </a:extLst>
          </p:cNvPr>
          <p:cNvSpPr>
            <a:spLocks xmlns:a="http://schemas.openxmlformats.org/drawingml/2006/main" noGrp="1"/>
          </p:cNvSpPr>
          <p:nvPr/>
        </p:nvSpPr>
        <p:spPr>
          <a:xfrm xmlns:a="http://schemas.openxmlformats.org/drawingml/2006/main">
            <a:off x="62293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094DD5D-725E-4625-9073-4E30F8832493}"/>
              </a:ext>
            </a:extLst>
          </p:cNvPr>
          <p:cNvSpPr>
            <a:spLocks xmlns:a="http://schemas.openxmlformats.org/drawingml/2006/main" noGrp="1"/>
          </p:cNvSpPr>
          <p:nvPr/>
        </p:nvSpPr>
        <p:spPr>
          <a:xfrm xmlns:a="http://schemas.openxmlformats.org/drawingml/2006/main">
            <a:off x="62293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3</a:t>
            </a:r>
          </a:p>
        </p:txBody>
      </p:sp>
      <p:sp>
        <p:nvSpPr>
          <p:cNvPr id="18" name="">
            <a:extLst xmlns:a="http://schemas.openxmlformats.org/drawingml/2006/main">
              <a:ext uri="{FF2B5EF4-FFF2-40B4-BE49-F238E27FC236}">
                <a16:creationId xmlns:a16="http://schemas.microsoft.com/office/drawing/2014/main" id="{5CCAE006-4F5F-4052-9FC2-E4B529DDDE12}"/>
              </a:ext>
            </a:extLst>
          </p:cNvPr>
          <p:cNvSpPr>
            <a:spLocks xmlns:a="http://schemas.openxmlformats.org/drawingml/2006/main" noGrp="1"/>
          </p:cNvSpPr>
          <p:nvPr/>
        </p:nvSpPr>
        <p:spPr>
          <a:xfrm xmlns:a="http://schemas.openxmlformats.org/drawingml/2006/main">
            <a:off x="90487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F06B5F"/>
                </a:solidFill>
              </a:defRPr>
            </a:pPr>
            <a:r>
              <a:rPr sz="2025" b="1">
                <a:solidFill>
                  <a:srgbClr val="F06B5F"/>
                </a:solidFill>
              </a:rPr>
              <a:t>Explain</a:t>
            </a:r>
          </a:p>
        </p:txBody>
      </p:sp>
      <p:sp>
        <p:nvSpPr>
          <p:cNvPr id="19" name="">
            <a:extLst xmlns:a="http://schemas.openxmlformats.org/drawingml/2006/main">
              <a:ext uri="{FF2B5EF4-FFF2-40B4-BE49-F238E27FC236}">
                <a16:creationId xmlns:a16="http://schemas.microsoft.com/office/drawing/2014/main" id="{8E0FFAA5-F3B0-4EFC-8509-67A728FDD80B}"/>
              </a:ext>
            </a:extLst>
          </p:cNvPr>
          <p:cNvSpPr>
            <a:spLocks xmlns:a="http://schemas.openxmlformats.org/drawingml/2006/main" noGrp="1"/>
          </p:cNvSpPr>
          <p:nvPr/>
        </p:nvSpPr>
        <p:spPr>
          <a:xfrm xmlns:a="http://schemas.openxmlformats.org/drawingml/2006/main">
            <a:off x="90487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structured-output and tool capability;</a:t>
            </a:r>
          </a:p>
        </p:txBody>
      </p:sp>
      <p:sp>
        <p:nvSpPr>
          <p:cNvPr id="20" name="">
            <a:extLst xmlns:a="http://schemas.openxmlformats.org/drawingml/2006/main">
              <a:ext uri="{FF2B5EF4-FFF2-40B4-BE49-F238E27FC236}">
                <a16:creationId xmlns:a16="http://schemas.microsoft.com/office/drawing/2014/main" id="{7794B55A-5B88-466D-A5A7-CDFCD21A3252}"/>
              </a:ext>
            </a:extLst>
          </p:cNvPr>
          <p:cNvSpPr>
            <a:spLocks xmlns:a="http://schemas.openxmlformats.org/drawingml/2006/main" noGrp="1"/>
          </p:cNvSpPr>
          <p:nvPr/>
        </p:nvSpPr>
        <p:spPr>
          <a:xfrm xmlns:a="http://schemas.openxmlformats.org/drawingml/2006/main">
            <a:off x="9048750" y="3752850"/>
            <a:ext cx="2190750" cy="3810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3188A5E-A75C-4075-B906-EBFC9ACB5EE3}"/>
              </a:ext>
            </a:extLst>
          </p:cNvPr>
          <p:cNvSpPr>
            <a:spLocks xmlns:a="http://schemas.openxmlformats.org/drawingml/2006/main" noGrp="1"/>
          </p:cNvSpPr>
          <p:nvPr/>
        </p:nvSpPr>
        <p:spPr>
          <a:xfrm xmlns:a="http://schemas.openxmlformats.org/drawingml/2006/main">
            <a:off x="90487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4</a:t>
            </a:r>
          </a:p>
        </p:txBody>
      </p:sp>
      <p:sp>
        <p:nvSpPr>
          <p:cNvPr id="22" name="">
            <a:extLst xmlns:a="http://schemas.openxmlformats.org/drawingml/2006/main">
              <a:ext uri="{FF2B5EF4-FFF2-40B4-BE49-F238E27FC236}">
                <a16:creationId xmlns:a16="http://schemas.microsoft.com/office/drawing/2014/main" id="{F1E01D3B-64C7-4F12-9823-E88A318F2CB0}"/>
              </a:ext>
            </a:extLst>
          </p:cNvPr>
          <p:cNvSpPr>
            <a:spLocks xmlns:a="http://schemas.openxmlformats.org/drawingml/2006/main" noGrp="1"/>
          </p:cNvSpPr>
          <p:nvPr/>
        </p:nvSpPr>
        <p:spPr>
          <a:xfrm xmlns:a="http://schemas.openxmlformats.org/drawingml/2006/main">
            <a:off x="590550" y="5181600"/>
            <a:ext cx="1057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D1DEE8"/>
                </a:solidFill>
              </a:defRPr>
            </a:pPr>
            <a:r>
              <a:rPr sz="1350">
                <a:solidFill>
                  <a:srgbClr val="D1DEE8"/>
                </a:solidFill>
              </a:rPr>
              <a:t>Candidate A: groundedness 0.97, p95 4.5s, cost $0.03 Candidate B: groundedness 0.95, p95 2.2s, cost $0.01 If minimum groundedness is 0.95, p95 maximum 3s, and cost maximum $0.02, only B passes all constraints.</a:t>
            </a:r>
          </a:p>
        </p:txBody>
      </p:sp>
    </p:spTree>
    <p:extLst>
      <p:ext uri="{BB962C8B-B14F-4D97-AF65-F5344CB8AC3E}">
        <p14:creationId xmlns:p14="http://schemas.microsoft.com/office/powerpoint/2010/main" val="413354058"/>
      </p:ext>
    </p:extLst>
  </p:cSld>
</p:sld>
</file>

<file path=ppt/slides/slide5.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4BAB752-951C-45C5-BAD0-94F6376F56D0}"/>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M18 / L01</a:t>
            </a:r>
          </a:p>
        </p:txBody>
      </p:sp>
      <p:sp>
        <p:nvSpPr>
          <p:cNvPr id="2" name="">
            <a:extLst xmlns:a="http://schemas.openxmlformats.org/drawingml/2006/main">
              <a:ext uri="{FF2B5EF4-FFF2-40B4-BE49-F238E27FC236}">
                <a16:creationId xmlns:a16="http://schemas.microsoft.com/office/drawing/2014/main" id="{D6D66AE2-C654-43ED-9A5B-0884A2EE6D36}"/>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Start with a Testable User Need</a:t>
            </a:r>
          </a:p>
        </p:txBody>
      </p:sp>
      <p:sp>
        <p:nvSpPr>
          <p:cNvPr id="3" name="">
            <a:extLst xmlns:a="http://schemas.openxmlformats.org/drawingml/2006/main">
              <a:ext uri="{FF2B5EF4-FFF2-40B4-BE49-F238E27FC236}">
                <a16:creationId xmlns:a16="http://schemas.microsoft.com/office/drawing/2014/main" id="{4DE80C09-79E1-4DD3-B150-19B4BD837E91}"/>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05</a:t>
            </a:r>
          </a:p>
        </p:txBody>
      </p:sp>
      <p:sp>
        <p:nvSpPr>
          <p:cNvPr id="4" name="">
            <a:extLst xmlns:a="http://schemas.openxmlformats.org/drawingml/2006/main">
              <a:ext uri="{FF2B5EF4-FFF2-40B4-BE49-F238E27FC236}">
                <a16:creationId xmlns:a16="http://schemas.microsoft.com/office/drawing/2014/main" id="{2CCD1970-67B5-4B22-B988-F196B006830E}"/>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CORE CONCEPT</a:t>
            </a:r>
          </a:p>
        </p:txBody>
      </p:sp>
      <p:sp>
        <p:nvSpPr>
          <p:cNvPr id="5" name="">
            <a:extLst xmlns:a="http://schemas.openxmlformats.org/drawingml/2006/main">
              <a:ext uri="{FF2B5EF4-FFF2-40B4-BE49-F238E27FC236}">
                <a16:creationId xmlns:a16="http://schemas.microsoft.com/office/drawing/2014/main" id="{7675989B-5F46-4B83-9DD3-42A6267DD401}"/>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FFFFFF"/>
                </a:solidFill>
              </a:defRPr>
            </a:pPr>
            <a:r>
              <a:rPr sz="3000" b="1">
                <a:solidFill>
                  <a:srgbClr val="FFFFFF"/>
                </a:solidFill>
              </a:rPr>
              <a:t>Use Structured Output, RAG, and Tools Only When Needed</a:t>
            </a:r>
          </a:p>
        </p:txBody>
      </p:sp>
      <p:sp>
        <p:nvSpPr>
          <p:cNvPr id="6" name="">
            <a:extLst xmlns:a="http://schemas.openxmlformats.org/drawingml/2006/main">
              <a:ext uri="{FF2B5EF4-FFF2-40B4-BE49-F238E27FC236}">
                <a16:creationId xmlns:a16="http://schemas.microsoft.com/office/drawing/2014/main" id="{23207FE2-8BF1-4CF2-84EA-746F54FB6528}"/>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4E0BDA9-376E-4E7D-A374-386716E13681}"/>
              </a:ext>
            </a:extLst>
          </p:cNvPr>
          <p:cNvSpPr>
            <a:spLocks xmlns:a="http://schemas.openxmlformats.org/drawingml/2006/main" noGrp="1"/>
          </p:cNvSpPr>
          <p:nvPr/>
        </p:nvSpPr>
        <p:spPr>
          <a:xfrm xmlns:a="http://schemas.openxmlformats.org/drawingml/2006/main">
            <a:off x="609600" y="2647950"/>
            <a:ext cx="10572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D6E2EB"/>
                </a:solidFill>
              </a:defRPr>
            </a:pPr>
            <a:r>
              <a:rPr sz="1425">
                <a:solidFill>
                  <a:srgbClr val="D6E2EB"/>
                </a:solidFill>
              </a:rPr>
              <a:t>Use structured output when downstream code needs fields and types. Use RAG when answers require current, private, or cited evidence. Use tools when the system must retrieve live data or perform a bounded operation.</a:t>
            </a:r>
          </a:p>
        </p:txBody>
      </p:sp>
      <p:sp>
        <p:nvSpPr>
          <p:cNvPr id="8" name="">
            <a:extLst xmlns:a="http://schemas.openxmlformats.org/drawingml/2006/main">
              <a:ext uri="{FF2B5EF4-FFF2-40B4-BE49-F238E27FC236}">
                <a16:creationId xmlns:a16="http://schemas.microsoft.com/office/drawing/2014/main" id="{DA3E9D35-9EA3-44A0-835F-88AC4388B1A0}"/>
              </a:ext>
            </a:extLst>
          </p:cNvPr>
          <p:cNvSpPr>
            <a:spLocks xmlns:a="http://schemas.openxmlformats.org/drawingml/2006/main" noGrp="1"/>
          </p:cNvSpPr>
          <p:nvPr/>
        </p:nvSpPr>
        <p:spPr>
          <a:xfrm xmlns:a="http://schemas.openxmlformats.org/drawingml/2006/main">
            <a:off x="609600" y="3714750"/>
            <a:ext cx="51435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EED2D07-E36B-450F-918E-D25DC5116272}"/>
              </a:ext>
            </a:extLst>
          </p:cNvPr>
          <p:cNvSpPr>
            <a:spLocks xmlns:a="http://schemas.openxmlformats.org/drawingml/2006/main" noGrp="1"/>
          </p:cNvSpPr>
          <p:nvPr/>
        </p:nvSpPr>
        <p:spPr>
          <a:xfrm xmlns:a="http://schemas.openxmlformats.org/drawingml/2006/main">
            <a:off x="781050" y="3810000"/>
            <a:ext cx="4800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structured output: answer, status, citation IDs;</a:t>
            </a:r>
          </a:p>
        </p:txBody>
      </p:sp>
      <p:sp>
        <p:nvSpPr>
          <p:cNvPr id="10" name="">
            <a:extLst xmlns:a="http://schemas.openxmlformats.org/drawingml/2006/main">
              <a:ext uri="{FF2B5EF4-FFF2-40B4-BE49-F238E27FC236}">
                <a16:creationId xmlns:a16="http://schemas.microsoft.com/office/drawing/2014/main" id="{00C69B46-5A5C-43D0-B0D8-02C56CDB08D8}"/>
              </a:ext>
            </a:extLst>
          </p:cNvPr>
          <p:cNvSpPr>
            <a:spLocks xmlns:a="http://schemas.openxmlformats.org/drawingml/2006/main" noGrp="1"/>
          </p:cNvSpPr>
          <p:nvPr/>
        </p:nvSpPr>
        <p:spPr>
          <a:xfrm xmlns:a="http://schemas.openxmlformats.org/drawingml/2006/main">
            <a:off x="6076950" y="3714750"/>
            <a:ext cx="51435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F208873-9F30-4AF7-A056-32C6093A4158}"/>
              </a:ext>
            </a:extLst>
          </p:cNvPr>
          <p:cNvSpPr>
            <a:spLocks xmlns:a="http://schemas.openxmlformats.org/drawingml/2006/main" noGrp="1"/>
          </p:cNvSpPr>
          <p:nvPr/>
        </p:nvSpPr>
        <p:spPr>
          <a:xfrm xmlns:a="http://schemas.openxmlformats.org/drawingml/2006/main">
            <a:off x="6248400" y="3810000"/>
            <a:ext cx="4800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RAG: approved handbook;</a:t>
            </a:r>
          </a:p>
        </p:txBody>
      </p:sp>
      <p:sp>
        <p:nvSpPr>
          <p:cNvPr id="12" name="">
            <a:extLst xmlns:a="http://schemas.openxmlformats.org/drawingml/2006/main">
              <a:ext uri="{FF2B5EF4-FFF2-40B4-BE49-F238E27FC236}">
                <a16:creationId xmlns:a16="http://schemas.microsoft.com/office/drawing/2014/main" id="{E0920B39-4309-4596-B96D-6D8EAD8A31BC}"/>
              </a:ext>
            </a:extLst>
          </p:cNvPr>
          <p:cNvSpPr>
            <a:spLocks xmlns:a="http://schemas.openxmlformats.org/drawingml/2006/main" noGrp="1"/>
          </p:cNvSpPr>
          <p:nvPr/>
        </p:nvSpPr>
        <p:spPr>
          <a:xfrm xmlns:a="http://schemas.openxmlformats.org/drawingml/2006/main">
            <a:off x="609600" y="4819650"/>
            <a:ext cx="51435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7794CAC-D3B7-4CDC-9DCB-027CB4E3D0C7}"/>
              </a:ext>
            </a:extLst>
          </p:cNvPr>
          <p:cNvSpPr>
            <a:spLocks xmlns:a="http://schemas.openxmlformats.org/drawingml/2006/main" noGrp="1"/>
          </p:cNvSpPr>
          <p:nvPr/>
        </p:nvSpPr>
        <p:spPr>
          <a:xfrm xmlns:a="http://schemas.openxmlformats.org/drawingml/2006/main">
            <a:off x="781050" y="4914900"/>
            <a:ext cx="4800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tool: read-only ticket lookup only if ticket context is required;</a:t>
            </a:r>
          </a:p>
        </p:txBody>
      </p:sp>
      <p:sp>
        <p:nvSpPr>
          <p:cNvPr id="14" name="">
            <a:extLst xmlns:a="http://schemas.openxmlformats.org/drawingml/2006/main">
              <a:ext uri="{FF2B5EF4-FFF2-40B4-BE49-F238E27FC236}">
                <a16:creationId xmlns:a16="http://schemas.microsoft.com/office/drawing/2014/main" id="{F81ED063-528E-47A2-AC17-FDACD08180B0}"/>
              </a:ext>
            </a:extLst>
          </p:cNvPr>
          <p:cNvSpPr>
            <a:spLocks xmlns:a="http://schemas.openxmlformats.org/drawingml/2006/main" noGrp="1"/>
          </p:cNvSpPr>
          <p:nvPr/>
        </p:nvSpPr>
        <p:spPr>
          <a:xfrm xmlns:a="http://schemas.openxmlformats.org/drawingml/2006/main">
            <a:off x="6076950" y="4819650"/>
            <a:ext cx="51435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2D853E6-185F-48A6-925C-E28147F25010}"/>
              </a:ext>
            </a:extLst>
          </p:cNvPr>
          <p:cNvSpPr>
            <a:spLocks xmlns:a="http://schemas.openxmlformats.org/drawingml/2006/main" noGrp="1"/>
          </p:cNvSpPr>
          <p:nvPr/>
        </p:nvSpPr>
        <p:spPr>
          <a:xfrm xmlns:a="http://schemas.openxmlformats.org/drawingml/2006/main">
            <a:off x="6248400" y="4914900"/>
            <a:ext cx="4800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no write-capable agent because the requirement is answer support.</a:t>
            </a:r>
          </a:p>
        </p:txBody>
      </p:sp>
    </p:spTree>
    <p:extLst>
      <p:ext uri="{BB962C8B-B14F-4D97-AF65-F5344CB8AC3E}">
        <p14:creationId xmlns:p14="http://schemas.microsoft.com/office/powerpoint/2010/main" val="1427129729"/>
      </p:ext>
    </p:extLst>
  </p:cSld>
</p:sld>
</file>

<file path=ppt/slides/slide6.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C398C0C-1944-48F3-880E-2A5541EE5FD8}"/>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M18 / L01</a:t>
            </a:r>
          </a:p>
        </p:txBody>
      </p:sp>
      <p:sp>
        <p:nvSpPr>
          <p:cNvPr id="2" name="">
            <a:extLst xmlns:a="http://schemas.openxmlformats.org/drawingml/2006/main">
              <a:ext uri="{FF2B5EF4-FFF2-40B4-BE49-F238E27FC236}">
                <a16:creationId xmlns:a16="http://schemas.microsoft.com/office/drawing/2014/main" id="{CD370E2C-27C5-4F70-9428-8299EA43EE50}"/>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Start with a Testable User Need</a:t>
            </a:r>
          </a:p>
        </p:txBody>
      </p:sp>
      <p:sp>
        <p:nvSpPr>
          <p:cNvPr id="3" name="">
            <a:extLst xmlns:a="http://schemas.openxmlformats.org/drawingml/2006/main">
              <a:ext uri="{FF2B5EF4-FFF2-40B4-BE49-F238E27FC236}">
                <a16:creationId xmlns:a16="http://schemas.microsoft.com/office/drawing/2014/main" id="{12FA7B67-0623-4201-A078-7541ADEB5215}"/>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06</a:t>
            </a:r>
          </a:p>
        </p:txBody>
      </p:sp>
      <p:sp>
        <p:nvSpPr>
          <p:cNvPr id="4" name="">
            <a:extLst xmlns:a="http://schemas.openxmlformats.org/drawingml/2006/main">
              <a:ext uri="{FF2B5EF4-FFF2-40B4-BE49-F238E27FC236}">
                <a16:creationId xmlns:a16="http://schemas.microsoft.com/office/drawing/2014/main" id="{8DF46580-F55C-41E5-8886-4FF727D34B11}"/>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10825DE4-D907-40F5-8A18-420290C8AF5D}"/>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Workflow State Makes Behaviour Inspectable</a:t>
            </a:r>
          </a:p>
        </p:txBody>
      </p:sp>
      <p:sp>
        <p:nvSpPr>
          <p:cNvPr id="6" name="">
            <a:extLst xmlns:a="http://schemas.openxmlformats.org/drawingml/2006/main">
              <a:ext uri="{FF2B5EF4-FFF2-40B4-BE49-F238E27FC236}">
                <a16:creationId xmlns:a16="http://schemas.microsoft.com/office/drawing/2014/main" id="{F3046957-AE2F-41DA-8E29-F28EBDC44FD2}"/>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7189DC5-5739-473F-96EE-B62D322D0564}"/>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DD68199-36D5-4D2F-B608-CDD62E25045F}"/>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3E1BCD5-351C-4A62-98FF-467DC360AA4F}"/>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710F395-3145-419A-98F9-7CF59CCD13DA}"/>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AFAE9F3-5D36-4C3D-9797-3579615870F5}"/>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class CapstoneState(TypedDict):</a:t>
            </a:r>
          </a:p>
          <a:p xmlns:a="http://schemas.openxmlformats.org/drawingml/2006/main">
            <a:pPr>
              <a:defRPr sz="1125">
                <a:solidFill>
                  <a:srgbClr val="E8F1F7"/>
                </a:solidFill>
              </a:defRPr>
            </a:pPr>
            <a:r>
              <a:rPr sz="1125">
                <a:solidFill>
                  <a:srgbClr val="E8F1F7"/>
                </a:solidFill>
              </a:rPr>
              <a:t>    request_id: str</a:t>
            </a:r>
          </a:p>
          <a:p xmlns:a="http://schemas.openxmlformats.org/drawingml/2006/main">
            <a:pPr>
              <a:defRPr sz="1125">
                <a:solidFill>
                  <a:srgbClr val="E8F1F7"/>
                </a:solidFill>
              </a:defRPr>
            </a:pPr>
            <a:r>
              <a:rPr sz="1125">
                <a:solidFill>
                  <a:srgbClr val="E8F1F7"/>
                </a:solidFill>
              </a:rPr>
              <a:t>    evidence: list[Document]</a:t>
            </a:r>
          </a:p>
          <a:p xmlns:a="http://schemas.openxmlformats.org/drawingml/2006/main">
            <a:pPr>
              <a:defRPr sz="1125">
                <a:solidFill>
                  <a:srgbClr val="E8F1F7"/>
                </a:solidFill>
              </a:defRPr>
            </a:pPr>
            <a:r>
              <a:rPr sz="1125">
                <a:solidFill>
                  <a:srgbClr val="E8F1F7"/>
                </a:solidFill>
              </a:rPr>
              <a:t>    attempts: int</a:t>
            </a:r>
          </a:p>
          <a:p xmlns:a="http://schemas.openxmlformats.org/drawingml/2006/main">
            <a:pPr>
              <a:defRPr sz="1125">
                <a:solidFill>
                  <a:srgbClr val="E8F1F7"/>
                </a:solidFill>
              </a:defRPr>
            </a:pPr>
            <a:r>
              <a:rPr sz="1125">
                <a:solidFill>
                  <a:srgbClr val="E8F1F7"/>
                </a:solidFill>
              </a:rPr>
              <a:t>    cost: float</a:t>
            </a:r>
          </a:p>
          <a:p xmlns:a="http://schemas.openxmlformats.org/drawingml/2006/main">
            <a:pPr>
              <a:defRPr sz="1125">
                <a:solidFill>
                  <a:srgbClr val="E8F1F7"/>
                </a:solidFill>
              </a:defRPr>
            </a:pPr>
            <a:r>
              <a:rPr sz="1125">
                <a:solidFill>
                  <a:srgbClr val="E8F1F7"/>
                </a:solidFill>
              </a:rPr>
              <a:t>    status: str</a:t>
            </a:r>
          </a:p>
        </p:txBody>
      </p:sp>
      <p:sp>
        <p:nvSpPr>
          <p:cNvPr id="12" name="">
            <a:extLst xmlns:a="http://schemas.openxmlformats.org/drawingml/2006/main">
              <a:ext uri="{FF2B5EF4-FFF2-40B4-BE49-F238E27FC236}">
                <a16:creationId xmlns:a16="http://schemas.microsoft.com/office/drawing/2014/main" id="{F80B1CFC-E653-4EFA-8F14-CAE32289F904}"/>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C8302652-2609-49C5-8274-7137DD302A3C}"/>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76AA329F-8108-48F9-99CD-8845BF3064B8}"/>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A state record sufficient to explain every route and final outcome.</a:t>
            </a:r>
          </a:p>
        </p:txBody>
      </p:sp>
      <p:sp>
        <p:nvSpPr>
          <p:cNvPr id="15" name="">
            <a:extLst xmlns:a="http://schemas.openxmlformats.org/drawingml/2006/main">
              <a:ext uri="{FF2B5EF4-FFF2-40B4-BE49-F238E27FC236}">
                <a16:creationId xmlns:a16="http://schemas.microsoft.com/office/drawing/2014/main" id="{B89F3ED8-6D16-4AEB-9E43-16034D06F7DA}"/>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1227074-BF5D-438B-B5FB-2808680B570D}"/>
              </a:ext>
            </a:extLst>
          </p:cNvPr>
          <p:cNvSpPr>
            <a:spLocks xmlns:a="http://schemas.openxmlformats.org/drawingml/2006/main" noGrp="1"/>
          </p:cNvSpPr>
          <p:nvPr/>
        </p:nvSpPr>
        <p:spPr>
          <a:xfrm xmlns:a="http://schemas.openxmlformats.org/drawingml/2006/main">
            <a:off x="723900" y="5829300"/>
            <a:ext cx="10744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validate -&gt; retrieve</a:t>
            </a:r>
          </a:p>
        </p:txBody>
      </p:sp>
    </p:spTree>
    <p:extLst>
      <p:ext uri="{BB962C8B-B14F-4D97-AF65-F5344CB8AC3E}">
        <p14:creationId xmlns:p14="http://schemas.microsoft.com/office/powerpoint/2010/main" val="746912095"/>
      </p:ext>
    </p:extLst>
  </p:cSld>
</p:sld>
</file>

<file path=ppt/slides/slide7.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B3FF23D-E1AC-4030-9DC7-99407CE7965F}"/>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M18 / L01</a:t>
            </a:r>
          </a:p>
        </p:txBody>
      </p:sp>
      <p:sp>
        <p:nvSpPr>
          <p:cNvPr id="2" name="">
            <a:extLst xmlns:a="http://schemas.openxmlformats.org/drawingml/2006/main">
              <a:ext uri="{FF2B5EF4-FFF2-40B4-BE49-F238E27FC236}">
                <a16:creationId xmlns:a16="http://schemas.microsoft.com/office/drawing/2014/main" id="{4ED9BBE8-E6C0-4913-BC5E-B8CEEB584F1E}"/>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Start with a Testable User Need</a:t>
            </a:r>
          </a:p>
        </p:txBody>
      </p:sp>
      <p:sp>
        <p:nvSpPr>
          <p:cNvPr id="3" name="">
            <a:extLst xmlns:a="http://schemas.openxmlformats.org/drawingml/2006/main">
              <a:ext uri="{FF2B5EF4-FFF2-40B4-BE49-F238E27FC236}">
                <a16:creationId xmlns:a16="http://schemas.microsoft.com/office/drawing/2014/main" id="{B1360316-E89C-4EC0-9080-4A0091B96A29}"/>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07</a:t>
            </a:r>
          </a:p>
        </p:txBody>
      </p:sp>
      <p:sp>
        <p:nvSpPr>
          <p:cNvPr id="4" name="">
            <a:extLst xmlns:a="http://schemas.openxmlformats.org/drawingml/2006/main">
              <a:ext uri="{FF2B5EF4-FFF2-40B4-BE49-F238E27FC236}">
                <a16:creationId xmlns:a16="http://schemas.microsoft.com/office/drawing/2014/main" id="{6601B65B-3FC0-4CEF-B0D0-63FAE3100CAB}"/>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CORE CONCEPT</a:t>
            </a:r>
          </a:p>
        </p:txBody>
      </p:sp>
      <p:sp>
        <p:nvSpPr>
          <p:cNvPr id="5" name="">
            <a:extLst xmlns:a="http://schemas.openxmlformats.org/drawingml/2006/main">
              <a:ext uri="{FF2B5EF4-FFF2-40B4-BE49-F238E27FC236}">
                <a16:creationId xmlns:a16="http://schemas.microsoft.com/office/drawing/2014/main" id="{335AC4BB-AC63-40CB-8A07-D4461DC50BB0}"/>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FFFFFF"/>
                </a:solidFill>
              </a:defRPr>
            </a:pPr>
            <a:r>
              <a:rPr sz="3000" b="1">
                <a:solidFill>
                  <a:srgbClr val="FFFFFF"/>
                </a:solidFill>
              </a:rPr>
              <a:t>The API Contract Includes Failure Responses</a:t>
            </a:r>
          </a:p>
        </p:txBody>
      </p:sp>
      <p:sp>
        <p:nvSpPr>
          <p:cNvPr id="6" name="">
            <a:extLst xmlns:a="http://schemas.openxmlformats.org/drawingml/2006/main">
              <a:ext uri="{FF2B5EF4-FFF2-40B4-BE49-F238E27FC236}">
                <a16:creationId xmlns:a16="http://schemas.microsoft.com/office/drawing/2014/main" id="{47EB181A-19EF-42C6-B560-58E019B843EC}"/>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2A0D9B4-9309-402D-9AC8-6D61F7917B1A}"/>
              </a:ext>
            </a:extLst>
          </p:cNvPr>
          <p:cNvSpPr>
            <a:spLocks xmlns:a="http://schemas.openxmlformats.org/drawingml/2006/main" noGrp="1"/>
          </p:cNvSpPr>
          <p:nvPr/>
        </p:nvSpPr>
        <p:spPr>
          <a:xfrm xmlns:a="http://schemas.openxmlformats.org/drawingml/2006/main">
            <a:off x="609600" y="2647950"/>
            <a:ext cx="10572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D6E2EB"/>
                </a:solidFill>
              </a:defRPr>
            </a:pPr>
            <a:r>
              <a:rPr sz="1575">
                <a:solidFill>
                  <a:srgbClr val="D6E2EB"/>
                </a:solidFill>
              </a:rPr>
              <a:t>Define: Clients must distinguish supported answer, insufficient evidence, denied access, invalid input, and unavailable service.</a:t>
            </a:r>
          </a:p>
        </p:txBody>
      </p:sp>
      <p:sp>
        <p:nvSpPr>
          <p:cNvPr id="8" name="">
            <a:extLst xmlns:a="http://schemas.openxmlformats.org/drawingml/2006/main">
              <a:ext uri="{FF2B5EF4-FFF2-40B4-BE49-F238E27FC236}">
                <a16:creationId xmlns:a16="http://schemas.microsoft.com/office/drawing/2014/main" id="{C0DCE05D-DAF2-4ED0-AAC9-0BE83CDE69F6}"/>
              </a:ext>
            </a:extLst>
          </p:cNvPr>
          <p:cNvSpPr>
            <a:spLocks xmlns:a="http://schemas.openxmlformats.org/drawingml/2006/main" noGrp="1"/>
          </p:cNvSpPr>
          <p:nvPr/>
        </p:nvSpPr>
        <p:spPr>
          <a:xfrm xmlns:a="http://schemas.openxmlformats.org/drawingml/2006/main">
            <a:off x="6096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DD5E9C8-FF75-404F-882A-BD5F8854C4A8}"/>
              </a:ext>
            </a:extLst>
          </p:cNvPr>
          <p:cNvSpPr>
            <a:spLocks xmlns:a="http://schemas.openxmlformats.org/drawingml/2006/main" noGrp="1"/>
          </p:cNvSpPr>
          <p:nvPr/>
        </p:nvSpPr>
        <p:spPr>
          <a:xfrm xmlns:a="http://schemas.openxmlformats.org/drawingml/2006/main">
            <a:off x="7810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request schema;</a:t>
            </a:r>
          </a:p>
        </p:txBody>
      </p:sp>
      <p:sp>
        <p:nvSpPr>
          <p:cNvPr id="10" name="">
            <a:extLst xmlns:a="http://schemas.openxmlformats.org/drawingml/2006/main">
              <a:ext uri="{FF2B5EF4-FFF2-40B4-BE49-F238E27FC236}">
                <a16:creationId xmlns:a16="http://schemas.microsoft.com/office/drawing/2014/main" id="{D119AB4C-B631-4437-AD2A-2360EC4DB246}"/>
              </a:ext>
            </a:extLst>
          </p:cNvPr>
          <p:cNvSpPr>
            <a:spLocks xmlns:a="http://schemas.openxmlformats.org/drawingml/2006/main" noGrp="1"/>
          </p:cNvSpPr>
          <p:nvPr/>
        </p:nvSpPr>
        <p:spPr>
          <a:xfrm xmlns:a="http://schemas.openxmlformats.org/drawingml/2006/main">
            <a:off x="41148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59CEE49-1470-4FB0-9441-4E3C8154589B}"/>
              </a:ext>
            </a:extLst>
          </p:cNvPr>
          <p:cNvSpPr>
            <a:spLocks xmlns:a="http://schemas.openxmlformats.org/drawingml/2006/main" noGrp="1"/>
          </p:cNvSpPr>
          <p:nvPr/>
        </p:nvSpPr>
        <p:spPr>
          <a:xfrm xmlns:a="http://schemas.openxmlformats.org/drawingml/2006/main">
            <a:off x="42862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response schema;</a:t>
            </a:r>
          </a:p>
        </p:txBody>
      </p:sp>
      <p:sp>
        <p:nvSpPr>
          <p:cNvPr id="12" name="">
            <a:extLst xmlns:a="http://schemas.openxmlformats.org/drawingml/2006/main">
              <a:ext uri="{FF2B5EF4-FFF2-40B4-BE49-F238E27FC236}">
                <a16:creationId xmlns:a16="http://schemas.microsoft.com/office/drawing/2014/main" id="{91ED4CF8-FCFD-4A3F-9829-4FE8BB546F12}"/>
              </a:ext>
            </a:extLst>
          </p:cNvPr>
          <p:cNvSpPr>
            <a:spLocks xmlns:a="http://schemas.openxmlformats.org/drawingml/2006/main" noGrp="1"/>
          </p:cNvSpPr>
          <p:nvPr/>
        </p:nvSpPr>
        <p:spPr>
          <a:xfrm xmlns:a="http://schemas.openxmlformats.org/drawingml/2006/main">
            <a:off x="76200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999ACA5-0F01-4AE0-9F8D-2E1DA86D181A}"/>
              </a:ext>
            </a:extLst>
          </p:cNvPr>
          <p:cNvSpPr>
            <a:spLocks xmlns:a="http://schemas.openxmlformats.org/drawingml/2006/main" noGrp="1"/>
          </p:cNvSpPr>
          <p:nvPr/>
        </p:nvSpPr>
        <p:spPr>
          <a:xfrm xmlns:a="http://schemas.openxmlformats.org/drawingml/2006/main">
            <a:off x="77914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authentication;</a:t>
            </a:r>
          </a:p>
        </p:txBody>
      </p:sp>
      <p:sp>
        <p:nvSpPr>
          <p:cNvPr id="14" name="">
            <a:extLst xmlns:a="http://schemas.openxmlformats.org/drawingml/2006/main">
              <a:ext uri="{FF2B5EF4-FFF2-40B4-BE49-F238E27FC236}">
                <a16:creationId xmlns:a16="http://schemas.microsoft.com/office/drawing/2014/main" id="{2AFC4AE7-9C62-4DFE-B471-1864F2C0DD03}"/>
              </a:ext>
            </a:extLst>
          </p:cNvPr>
          <p:cNvSpPr>
            <a:spLocks xmlns:a="http://schemas.openxmlformats.org/drawingml/2006/main" noGrp="1"/>
          </p:cNvSpPr>
          <p:nvPr/>
        </p:nvSpPr>
        <p:spPr>
          <a:xfrm xmlns:a="http://schemas.openxmlformats.org/drawingml/2006/main">
            <a:off x="6096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97FFB51-91CB-481C-BCA7-891C285110AC}"/>
              </a:ext>
            </a:extLst>
          </p:cNvPr>
          <p:cNvSpPr>
            <a:spLocks xmlns:a="http://schemas.openxmlformats.org/drawingml/2006/main" noGrp="1"/>
          </p:cNvSpPr>
          <p:nvPr/>
        </p:nvSpPr>
        <p:spPr>
          <a:xfrm xmlns:a="http://schemas.openxmlformats.org/drawingml/2006/main">
            <a:off x="7810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authorization;</a:t>
            </a:r>
          </a:p>
        </p:txBody>
      </p:sp>
      <p:sp>
        <p:nvSpPr>
          <p:cNvPr id="16" name="">
            <a:extLst xmlns:a="http://schemas.openxmlformats.org/drawingml/2006/main">
              <a:ext uri="{FF2B5EF4-FFF2-40B4-BE49-F238E27FC236}">
                <a16:creationId xmlns:a16="http://schemas.microsoft.com/office/drawing/2014/main" id="{5B01E579-4448-4651-AB77-5B8119AB7780}"/>
              </a:ext>
            </a:extLst>
          </p:cNvPr>
          <p:cNvSpPr>
            <a:spLocks xmlns:a="http://schemas.openxmlformats.org/drawingml/2006/main" noGrp="1"/>
          </p:cNvSpPr>
          <p:nvPr/>
        </p:nvSpPr>
        <p:spPr>
          <a:xfrm xmlns:a="http://schemas.openxmlformats.org/drawingml/2006/main">
            <a:off x="41148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A4FFE3B-3C73-4999-A1A4-A6C69C46C71A}"/>
              </a:ext>
            </a:extLst>
          </p:cNvPr>
          <p:cNvSpPr>
            <a:spLocks xmlns:a="http://schemas.openxmlformats.org/drawingml/2006/main" noGrp="1"/>
          </p:cNvSpPr>
          <p:nvPr/>
        </p:nvSpPr>
        <p:spPr>
          <a:xfrm xmlns:a="http://schemas.openxmlformats.org/drawingml/2006/main">
            <a:off x="42862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status codes;</a:t>
            </a:r>
          </a:p>
        </p:txBody>
      </p:sp>
      <p:sp>
        <p:nvSpPr>
          <p:cNvPr id="18" name="">
            <a:extLst xmlns:a="http://schemas.openxmlformats.org/drawingml/2006/main">
              <a:ext uri="{FF2B5EF4-FFF2-40B4-BE49-F238E27FC236}">
                <a16:creationId xmlns:a16="http://schemas.microsoft.com/office/drawing/2014/main" id="{F9DA04FC-421E-4651-B1D8-2CEEA61D9A46}"/>
              </a:ext>
            </a:extLst>
          </p:cNvPr>
          <p:cNvSpPr>
            <a:spLocks xmlns:a="http://schemas.openxmlformats.org/drawingml/2006/main" noGrp="1"/>
          </p:cNvSpPr>
          <p:nvPr/>
        </p:nvSpPr>
        <p:spPr>
          <a:xfrm xmlns:a="http://schemas.openxmlformats.org/drawingml/2006/main">
            <a:off x="76200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7D2BD1E-82E1-4F65-8FA2-C2F5346624EF}"/>
              </a:ext>
            </a:extLst>
          </p:cNvPr>
          <p:cNvSpPr>
            <a:spLocks xmlns:a="http://schemas.openxmlformats.org/drawingml/2006/main" noGrp="1"/>
          </p:cNvSpPr>
          <p:nvPr/>
        </p:nvSpPr>
        <p:spPr>
          <a:xfrm xmlns:a="http://schemas.openxmlformats.org/drawingml/2006/main">
            <a:off x="77914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idempotency where actions occur;</a:t>
            </a:r>
          </a:p>
        </p:txBody>
      </p:sp>
    </p:spTree>
    <p:extLst>
      <p:ext uri="{BB962C8B-B14F-4D97-AF65-F5344CB8AC3E}">
        <p14:creationId xmlns:p14="http://schemas.microsoft.com/office/powerpoint/2010/main" val="1200935647"/>
      </p:ext>
    </p:extLst>
  </p:cSld>
</p:sld>
</file>

<file path=ppt/slides/slide8.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28E24E6-554D-469F-B696-A3EF23722BC6}"/>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M18 / L01</a:t>
            </a:r>
          </a:p>
        </p:txBody>
      </p:sp>
      <p:sp>
        <p:nvSpPr>
          <p:cNvPr id="2" name="">
            <a:extLst xmlns:a="http://schemas.openxmlformats.org/drawingml/2006/main">
              <a:ext uri="{FF2B5EF4-FFF2-40B4-BE49-F238E27FC236}">
                <a16:creationId xmlns:a16="http://schemas.microsoft.com/office/drawing/2014/main" id="{B7B101EE-8963-445A-86DD-6766F077FD6F}"/>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Start with a Testable User Need</a:t>
            </a:r>
          </a:p>
        </p:txBody>
      </p:sp>
      <p:sp>
        <p:nvSpPr>
          <p:cNvPr id="3" name="">
            <a:extLst xmlns:a="http://schemas.openxmlformats.org/drawingml/2006/main">
              <a:ext uri="{FF2B5EF4-FFF2-40B4-BE49-F238E27FC236}">
                <a16:creationId xmlns:a16="http://schemas.microsoft.com/office/drawing/2014/main" id="{9936A198-FC01-4E02-AB8F-842D6D8F6F64}"/>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08</a:t>
            </a:r>
          </a:p>
        </p:txBody>
      </p:sp>
      <p:sp>
        <p:nvSpPr>
          <p:cNvPr id="4" name="">
            <a:extLst xmlns:a="http://schemas.openxmlformats.org/drawingml/2006/main">
              <a:ext uri="{FF2B5EF4-FFF2-40B4-BE49-F238E27FC236}">
                <a16:creationId xmlns:a16="http://schemas.microsoft.com/office/drawing/2014/main" id="{1327C39B-3F8C-4C64-8634-05737F5E802D}"/>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REASONING SEQUENCE</a:t>
            </a:r>
          </a:p>
        </p:txBody>
      </p:sp>
      <p:sp>
        <p:nvSpPr>
          <p:cNvPr id="5" name="">
            <a:extLst xmlns:a="http://schemas.openxmlformats.org/drawingml/2006/main">
              <a:ext uri="{FF2B5EF4-FFF2-40B4-BE49-F238E27FC236}">
                <a16:creationId xmlns:a16="http://schemas.microsoft.com/office/drawing/2014/main" id="{3A74F873-DCFE-4A71-9A8A-87AABFB451F1}"/>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FFFFFF"/>
                </a:solidFill>
              </a:defRPr>
            </a:pPr>
            <a:r>
              <a:rPr sz="2625" b="1">
                <a:solidFill>
                  <a:srgbClr val="FFFFFF"/>
                </a:solidFill>
              </a:rPr>
              <a:t>Evaluation Covers Components and User Outcomes</a:t>
            </a:r>
          </a:p>
        </p:txBody>
      </p:sp>
      <p:sp>
        <p:nvSpPr>
          <p:cNvPr id="6" name="">
            <a:extLst xmlns:a="http://schemas.openxmlformats.org/drawingml/2006/main">
              <a:ext uri="{FF2B5EF4-FFF2-40B4-BE49-F238E27FC236}">
                <a16:creationId xmlns:a16="http://schemas.microsoft.com/office/drawing/2014/main" id="{8C38B28F-3BD2-48EA-B205-9AF85C9A5BBA}"/>
              </a:ext>
            </a:extLst>
          </p:cNvPr>
          <p:cNvSpPr>
            <a:spLocks xmlns:a="http://schemas.openxmlformats.org/drawingml/2006/main" noGrp="1"/>
          </p:cNvSpPr>
          <p:nvPr/>
        </p:nvSpPr>
        <p:spPr>
          <a:xfrm xmlns:a="http://schemas.openxmlformats.org/drawingml/2006/main">
            <a:off x="5905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Frame</a:t>
            </a:r>
          </a:p>
        </p:txBody>
      </p:sp>
      <p:sp>
        <p:nvSpPr>
          <p:cNvPr id="7" name="">
            <a:extLst xmlns:a="http://schemas.openxmlformats.org/drawingml/2006/main">
              <a:ext uri="{FF2B5EF4-FFF2-40B4-BE49-F238E27FC236}">
                <a16:creationId xmlns:a16="http://schemas.microsoft.com/office/drawing/2014/main" id="{6CA858A0-7925-4D7C-AA35-303FA202E253}"/>
              </a:ext>
            </a:extLst>
          </p:cNvPr>
          <p:cNvSpPr>
            <a:spLocks xmlns:a="http://schemas.openxmlformats.org/drawingml/2006/main" noGrp="1"/>
          </p:cNvSpPr>
          <p:nvPr/>
        </p:nvSpPr>
        <p:spPr>
          <a:xfrm xmlns:a="http://schemas.openxmlformats.org/drawingml/2006/main">
            <a:off x="5905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request validation;</a:t>
            </a:r>
          </a:p>
        </p:txBody>
      </p:sp>
      <p:sp>
        <p:nvSpPr>
          <p:cNvPr id="8" name="">
            <a:extLst xmlns:a="http://schemas.openxmlformats.org/drawingml/2006/main">
              <a:ext uri="{FF2B5EF4-FFF2-40B4-BE49-F238E27FC236}">
                <a16:creationId xmlns:a16="http://schemas.microsoft.com/office/drawing/2014/main" id="{D6201C0B-913B-4EDC-8DBF-F7DE01678BFE}"/>
              </a:ext>
            </a:extLst>
          </p:cNvPr>
          <p:cNvSpPr>
            <a:spLocks xmlns:a="http://schemas.openxmlformats.org/drawingml/2006/main" noGrp="1"/>
          </p:cNvSpPr>
          <p:nvPr/>
        </p:nvSpPr>
        <p:spPr>
          <a:xfrm xmlns:a="http://schemas.openxmlformats.org/drawingml/2006/main">
            <a:off x="5905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56C5280-5F25-4B3C-A944-3B0EBDCAC59F}"/>
              </a:ext>
            </a:extLst>
          </p:cNvPr>
          <p:cNvSpPr>
            <a:spLocks xmlns:a="http://schemas.openxmlformats.org/drawingml/2006/main" noGrp="1"/>
          </p:cNvSpPr>
          <p:nvPr/>
        </p:nvSpPr>
        <p:spPr>
          <a:xfrm xmlns:a="http://schemas.openxmlformats.org/drawingml/2006/main">
            <a:off x="5905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1</a:t>
            </a:r>
          </a:p>
        </p:txBody>
      </p:sp>
      <p:sp>
        <p:nvSpPr>
          <p:cNvPr id="10" name="">
            <a:extLst xmlns:a="http://schemas.openxmlformats.org/drawingml/2006/main">
              <a:ext uri="{FF2B5EF4-FFF2-40B4-BE49-F238E27FC236}">
                <a16:creationId xmlns:a16="http://schemas.microsoft.com/office/drawing/2014/main" id="{2C7A9F0E-A67F-4729-94DF-A8477DD435BB}"/>
              </a:ext>
            </a:extLst>
          </p:cNvPr>
          <p:cNvSpPr>
            <a:spLocks xmlns:a="http://schemas.openxmlformats.org/drawingml/2006/main" noGrp="1"/>
          </p:cNvSpPr>
          <p:nvPr/>
        </p:nvSpPr>
        <p:spPr>
          <a:xfrm xmlns:a="http://schemas.openxmlformats.org/drawingml/2006/main">
            <a:off x="34099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Transform</a:t>
            </a:r>
          </a:p>
        </p:txBody>
      </p:sp>
      <p:sp>
        <p:nvSpPr>
          <p:cNvPr id="11" name="">
            <a:extLst xmlns:a="http://schemas.openxmlformats.org/drawingml/2006/main">
              <a:ext uri="{FF2B5EF4-FFF2-40B4-BE49-F238E27FC236}">
                <a16:creationId xmlns:a16="http://schemas.microsoft.com/office/drawing/2014/main" id="{61050DBD-1D64-4584-8446-B7E54B357F93}"/>
              </a:ext>
            </a:extLst>
          </p:cNvPr>
          <p:cNvSpPr>
            <a:spLocks xmlns:a="http://schemas.openxmlformats.org/drawingml/2006/main" noGrp="1"/>
          </p:cNvSpPr>
          <p:nvPr/>
        </p:nvSpPr>
        <p:spPr>
          <a:xfrm xmlns:a="http://schemas.openxmlformats.org/drawingml/2006/main">
            <a:off x="34099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retrieval precision and recall;</a:t>
            </a:r>
          </a:p>
        </p:txBody>
      </p:sp>
      <p:sp>
        <p:nvSpPr>
          <p:cNvPr id="12" name="">
            <a:extLst xmlns:a="http://schemas.openxmlformats.org/drawingml/2006/main">
              <a:ext uri="{FF2B5EF4-FFF2-40B4-BE49-F238E27FC236}">
                <a16:creationId xmlns:a16="http://schemas.microsoft.com/office/drawing/2014/main" id="{B7E97F55-EE56-44EE-9BE6-6E864D0A1DBA}"/>
              </a:ext>
            </a:extLst>
          </p:cNvPr>
          <p:cNvSpPr>
            <a:spLocks xmlns:a="http://schemas.openxmlformats.org/drawingml/2006/main" noGrp="1"/>
          </p:cNvSpPr>
          <p:nvPr/>
        </p:nvSpPr>
        <p:spPr>
          <a:xfrm xmlns:a="http://schemas.openxmlformats.org/drawingml/2006/main">
            <a:off x="34099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3B11F1A-405B-43A6-A94D-0590254FC400}"/>
              </a:ext>
            </a:extLst>
          </p:cNvPr>
          <p:cNvSpPr>
            <a:spLocks xmlns:a="http://schemas.openxmlformats.org/drawingml/2006/main" noGrp="1"/>
          </p:cNvSpPr>
          <p:nvPr/>
        </p:nvSpPr>
        <p:spPr>
          <a:xfrm xmlns:a="http://schemas.openxmlformats.org/drawingml/2006/main">
            <a:off x="34099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2</a:t>
            </a:r>
          </a:p>
        </p:txBody>
      </p:sp>
      <p:sp>
        <p:nvSpPr>
          <p:cNvPr id="14" name="">
            <a:extLst xmlns:a="http://schemas.openxmlformats.org/drawingml/2006/main">
              <a:ext uri="{FF2B5EF4-FFF2-40B4-BE49-F238E27FC236}">
                <a16:creationId xmlns:a16="http://schemas.microsoft.com/office/drawing/2014/main" id="{4F376B42-69C9-48D6-AE22-2F3D14666289}"/>
              </a:ext>
            </a:extLst>
          </p:cNvPr>
          <p:cNvSpPr>
            <a:spLocks xmlns:a="http://schemas.openxmlformats.org/drawingml/2006/main" noGrp="1"/>
          </p:cNvSpPr>
          <p:nvPr/>
        </p:nvSpPr>
        <p:spPr>
          <a:xfrm xmlns:a="http://schemas.openxmlformats.org/drawingml/2006/main">
            <a:off x="62293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Validate</a:t>
            </a:r>
          </a:p>
        </p:txBody>
      </p:sp>
      <p:sp>
        <p:nvSpPr>
          <p:cNvPr id="15" name="">
            <a:extLst xmlns:a="http://schemas.openxmlformats.org/drawingml/2006/main">
              <a:ext uri="{FF2B5EF4-FFF2-40B4-BE49-F238E27FC236}">
                <a16:creationId xmlns:a16="http://schemas.microsoft.com/office/drawing/2014/main" id="{83D7C7E9-2945-45C8-9CD0-55B54EFD8074}"/>
              </a:ext>
            </a:extLst>
          </p:cNvPr>
          <p:cNvSpPr>
            <a:spLocks xmlns:a="http://schemas.openxmlformats.org/drawingml/2006/main" noGrp="1"/>
          </p:cNvSpPr>
          <p:nvPr/>
        </p:nvSpPr>
        <p:spPr>
          <a:xfrm xmlns:a="http://schemas.openxmlformats.org/drawingml/2006/main">
            <a:off x="62293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groundedness and citation support;</a:t>
            </a:r>
          </a:p>
        </p:txBody>
      </p:sp>
      <p:sp>
        <p:nvSpPr>
          <p:cNvPr id="16" name="">
            <a:extLst xmlns:a="http://schemas.openxmlformats.org/drawingml/2006/main">
              <a:ext uri="{FF2B5EF4-FFF2-40B4-BE49-F238E27FC236}">
                <a16:creationId xmlns:a16="http://schemas.microsoft.com/office/drawing/2014/main" id="{CC14C388-55EC-419F-97EB-8A483B81E7CD}"/>
              </a:ext>
            </a:extLst>
          </p:cNvPr>
          <p:cNvSpPr>
            <a:spLocks xmlns:a="http://schemas.openxmlformats.org/drawingml/2006/main" noGrp="1"/>
          </p:cNvSpPr>
          <p:nvPr/>
        </p:nvSpPr>
        <p:spPr>
          <a:xfrm xmlns:a="http://schemas.openxmlformats.org/drawingml/2006/main">
            <a:off x="62293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F0B39CC-E562-48E4-A67E-A758204B308F}"/>
              </a:ext>
            </a:extLst>
          </p:cNvPr>
          <p:cNvSpPr>
            <a:spLocks xmlns:a="http://schemas.openxmlformats.org/drawingml/2006/main" noGrp="1"/>
          </p:cNvSpPr>
          <p:nvPr/>
        </p:nvSpPr>
        <p:spPr>
          <a:xfrm xmlns:a="http://schemas.openxmlformats.org/drawingml/2006/main">
            <a:off x="62293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3</a:t>
            </a:r>
          </a:p>
        </p:txBody>
      </p:sp>
      <p:sp>
        <p:nvSpPr>
          <p:cNvPr id="18" name="">
            <a:extLst xmlns:a="http://schemas.openxmlformats.org/drawingml/2006/main">
              <a:ext uri="{FF2B5EF4-FFF2-40B4-BE49-F238E27FC236}">
                <a16:creationId xmlns:a16="http://schemas.microsoft.com/office/drawing/2014/main" id="{A2982C75-7341-41B6-AC62-65BD0A9C60D3}"/>
              </a:ext>
            </a:extLst>
          </p:cNvPr>
          <p:cNvSpPr>
            <a:spLocks xmlns:a="http://schemas.openxmlformats.org/drawingml/2006/main" noGrp="1"/>
          </p:cNvSpPr>
          <p:nvPr/>
        </p:nvSpPr>
        <p:spPr>
          <a:xfrm xmlns:a="http://schemas.openxmlformats.org/drawingml/2006/main">
            <a:off x="90487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F06B5F"/>
                </a:solidFill>
              </a:defRPr>
            </a:pPr>
            <a:r>
              <a:rPr sz="2025" b="1">
                <a:solidFill>
                  <a:srgbClr val="F06B5F"/>
                </a:solidFill>
              </a:rPr>
              <a:t>Explain</a:t>
            </a:r>
          </a:p>
        </p:txBody>
      </p:sp>
      <p:sp>
        <p:nvSpPr>
          <p:cNvPr id="19" name="">
            <a:extLst xmlns:a="http://schemas.openxmlformats.org/drawingml/2006/main">
              <a:ext uri="{FF2B5EF4-FFF2-40B4-BE49-F238E27FC236}">
                <a16:creationId xmlns:a16="http://schemas.microsoft.com/office/drawing/2014/main" id="{B0A1FDCD-0819-4C59-BDDF-555C81936BB6}"/>
              </a:ext>
            </a:extLst>
          </p:cNvPr>
          <p:cNvSpPr>
            <a:spLocks xmlns:a="http://schemas.openxmlformats.org/drawingml/2006/main" noGrp="1"/>
          </p:cNvSpPr>
          <p:nvPr/>
        </p:nvSpPr>
        <p:spPr>
          <a:xfrm xmlns:a="http://schemas.openxmlformats.org/drawingml/2006/main">
            <a:off x="90487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structured-output validity;</a:t>
            </a:r>
          </a:p>
        </p:txBody>
      </p:sp>
      <p:sp>
        <p:nvSpPr>
          <p:cNvPr id="20" name="">
            <a:extLst xmlns:a="http://schemas.openxmlformats.org/drawingml/2006/main">
              <a:ext uri="{FF2B5EF4-FFF2-40B4-BE49-F238E27FC236}">
                <a16:creationId xmlns:a16="http://schemas.microsoft.com/office/drawing/2014/main" id="{8852C0EC-57F9-43E7-9447-D7BCD4060C5D}"/>
              </a:ext>
            </a:extLst>
          </p:cNvPr>
          <p:cNvSpPr>
            <a:spLocks xmlns:a="http://schemas.openxmlformats.org/drawingml/2006/main" noGrp="1"/>
          </p:cNvSpPr>
          <p:nvPr/>
        </p:nvSpPr>
        <p:spPr>
          <a:xfrm xmlns:a="http://schemas.openxmlformats.org/drawingml/2006/main">
            <a:off x="9048750" y="3752850"/>
            <a:ext cx="2190750" cy="3810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AE802DA-1E8B-4587-9B0C-9E89B187C1DC}"/>
              </a:ext>
            </a:extLst>
          </p:cNvPr>
          <p:cNvSpPr>
            <a:spLocks xmlns:a="http://schemas.openxmlformats.org/drawingml/2006/main" noGrp="1"/>
          </p:cNvSpPr>
          <p:nvPr/>
        </p:nvSpPr>
        <p:spPr>
          <a:xfrm xmlns:a="http://schemas.openxmlformats.org/drawingml/2006/main">
            <a:off x="90487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4</a:t>
            </a:r>
          </a:p>
        </p:txBody>
      </p:sp>
      <p:sp>
        <p:nvSpPr>
          <p:cNvPr id="22" name="">
            <a:extLst xmlns:a="http://schemas.openxmlformats.org/drawingml/2006/main">
              <a:ext uri="{FF2B5EF4-FFF2-40B4-BE49-F238E27FC236}">
                <a16:creationId xmlns:a16="http://schemas.microsoft.com/office/drawing/2014/main" id="{C3168362-E7B3-408A-980D-9BFA5639D66B}"/>
              </a:ext>
            </a:extLst>
          </p:cNvPr>
          <p:cNvSpPr>
            <a:spLocks xmlns:a="http://schemas.openxmlformats.org/drawingml/2006/main" noGrp="1"/>
          </p:cNvSpPr>
          <p:nvPr/>
        </p:nvSpPr>
        <p:spPr>
          <a:xfrm xmlns:a="http://schemas.openxmlformats.org/drawingml/2006/main">
            <a:off x="590550" y="5181600"/>
            <a:ext cx="1057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D1DEE8"/>
                </a:solidFill>
              </a:defRPr>
            </a:pPr>
            <a:r>
              <a:rPr sz="1500">
                <a:solidFill>
                  <a:srgbClr val="D1DEE8"/>
                </a:solidFill>
              </a:rPr>
              <a:t>Release thresholds:</a:t>
            </a:r>
          </a:p>
        </p:txBody>
      </p:sp>
    </p:spTree>
    <p:extLst>
      <p:ext uri="{BB962C8B-B14F-4D97-AF65-F5344CB8AC3E}">
        <p14:creationId xmlns:p14="http://schemas.microsoft.com/office/powerpoint/2010/main" val="1802238620"/>
      </p:ext>
    </p:extLst>
  </p:cSld>
</p:sld>
</file>

<file path=ppt/slides/slide9.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0A830A2-80D9-464D-923F-47D2EA04192C}"/>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M18 / L01</a:t>
            </a:r>
          </a:p>
        </p:txBody>
      </p:sp>
      <p:sp>
        <p:nvSpPr>
          <p:cNvPr id="2" name="">
            <a:extLst xmlns:a="http://schemas.openxmlformats.org/drawingml/2006/main">
              <a:ext uri="{FF2B5EF4-FFF2-40B4-BE49-F238E27FC236}">
                <a16:creationId xmlns:a16="http://schemas.microsoft.com/office/drawing/2014/main" id="{12F2E041-467B-449A-9D45-E6013275805C}"/>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Start with a Testable User Need</a:t>
            </a:r>
          </a:p>
        </p:txBody>
      </p:sp>
      <p:sp>
        <p:nvSpPr>
          <p:cNvPr id="3" name="">
            <a:extLst xmlns:a="http://schemas.openxmlformats.org/drawingml/2006/main">
              <a:ext uri="{FF2B5EF4-FFF2-40B4-BE49-F238E27FC236}">
                <a16:creationId xmlns:a16="http://schemas.microsoft.com/office/drawing/2014/main" id="{1BE44AB8-87BF-4190-93E2-17601D059169}"/>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09</a:t>
            </a:r>
          </a:p>
        </p:txBody>
      </p:sp>
      <p:sp>
        <p:nvSpPr>
          <p:cNvPr id="4" name="">
            <a:extLst xmlns:a="http://schemas.openxmlformats.org/drawingml/2006/main">
              <a:ext uri="{FF2B5EF4-FFF2-40B4-BE49-F238E27FC236}">
                <a16:creationId xmlns:a16="http://schemas.microsoft.com/office/drawing/2014/main" id="{739E7341-3C73-4FBB-9B31-CDE9274E82E4}"/>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54FDF983-9780-451F-98EA-09FEA616492F}"/>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0B1220"/>
                </a:solidFill>
              </a:defRPr>
            </a:pPr>
            <a:r>
              <a:rPr sz="2625" b="1">
                <a:solidFill>
                  <a:srgbClr val="0B1220"/>
                </a:solidFill>
              </a:rPr>
              <a:t>Observability Connects a Result to Its Causes</a:t>
            </a:r>
          </a:p>
        </p:txBody>
      </p:sp>
      <p:sp>
        <p:nvSpPr>
          <p:cNvPr id="6" name="">
            <a:extLst xmlns:a="http://schemas.openxmlformats.org/drawingml/2006/main">
              <a:ext uri="{FF2B5EF4-FFF2-40B4-BE49-F238E27FC236}">
                <a16:creationId xmlns:a16="http://schemas.microsoft.com/office/drawing/2014/main" id="{63FFFE9D-28D5-4350-A2E4-C8729D139E8C}"/>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9B15732-515E-4163-8642-76A8069AF72F}"/>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1F71029-EAF7-467E-AFE2-3F5A1771E57F}"/>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FA58533-1C9D-486A-9575-E0130F02AE1D}"/>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1D27BD9-3C4B-494F-B168-9EF061435E48}"/>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5CC568C-8654-4F3A-8A94-048CD973DDE4}"/>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trace.set_attributes({</a:t>
            </a:r>
          </a:p>
          <a:p xmlns:a="http://schemas.openxmlformats.org/drawingml/2006/main">
            <a:pPr>
              <a:defRPr sz="1125">
                <a:solidFill>
                  <a:srgbClr val="E8F1F7"/>
                </a:solidFill>
              </a:defRPr>
            </a:pPr>
            <a:r>
              <a:rPr sz="1125">
                <a:solidFill>
                  <a:srgbClr val="E8F1F7"/>
                </a:solidFill>
              </a:rPr>
              <a:t>    "model_version": MODEL_VERSION,</a:t>
            </a:r>
          </a:p>
          <a:p xmlns:a="http://schemas.openxmlformats.org/drawingml/2006/main">
            <a:pPr>
              <a:defRPr sz="1125">
                <a:solidFill>
                  <a:srgbClr val="E8F1F7"/>
                </a:solidFill>
              </a:defRPr>
            </a:pPr>
            <a:r>
              <a:rPr sz="1125">
                <a:solidFill>
                  <a:srgbClr val="E8F1F7"/>
                </a:solidFill>
              </a:rPr>
              <a:t>    "corpus_version": CORPUS_VERSION,</a:t>
            </a:r>
          </a:p>
          <a:p xmlns:a="http://schemas.openxmlformats.org/drawingml/2006/main">
            <a:pPr>
              <a:defRPr sz="1125">
                <a:solidFill>
                  <a:srgbClr val="E8F1F7"/>
                </a:solidFill>
              </a:defRPr>
            </a:pPr>
            <a:r>
              <a:rPr sz="1125">
                <a:solidFill>
                  <a:srgbClr val="E8F1F7"/>
                </a:solidFill>
              </a:rPr>
              <a:t>    "final_status": state["status"],</a:t>
            </a:r>
          </a:p>
          <a:p xmlns:a="http://schemas.openxmlformats.org/drawingml/2006/main">
            <a:pPr>
              <a:defRPr sz="1125">
                <a:solidFill>
                  <a:srgbClr val="E8F1F7"/>
                </a:solidFill>
              </a:defRPr>
            </a:pPr>
            <a:r>
              <a:rPr sz="1125">
                <a:solidFill>
                  <a:srgbClr val="E8F1F7"/>
                </a:solidFill>
              </a:rPr>
              <a:t>})</a:t>
            </a:r>
          </a:p>
        </p:txBody>
      </p:sp>
      <p:sp>
        <p:nvSpPr>
          <p:cNvPr id="12" name="">
            <a:extLst xmlns:a="http://schemas.openxmlformats.org/drawingml/2006/main">
              <a:ext uri="{FF2B5EF4-FFF2-40B4-BE49-F238E27FC236}">
                <a16:creationId xmlns:a16="http://schemas.microsoft.com/office/drawing/2014/main" id="{C069926E-AD61-4D8E-8FB6-2A2FED6F3690}"/>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C787A386-647A-4D8D-B94A-1692B5400BF2}"/>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12E5B347-168D-4ED4-A032-D504C61EC5D5}"/>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A trace that can reproduce the component path behind one result.</a:t>
            </a:r>
          </a:p>
        </p:txBody>
      </p:sp>
      <p:sp>
        <p:nvSpPr>
          <p:cNvPr id="15" name="">
            <a:extLst xmlns:a="http://schemas.openxmlformats.org/drawingml/2006/main">
              <a:ext uri="{FF2B5EF4-FFF2-40B4-BE49-F238E27FC236}">
                <a16:creationId xmlns:a16="http://schemas.microsoft.com/office/drawing/2014/main" id="{764CC03C-BFF8-4CA6-8473-A756D91C60D6}"/>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489DCED-96C2-4E6D-AAF9-55CAA0DD59C2}"/>
              </a:ext>
            </a:extLst>
          </p:cNvPr>
          <p:cNvSpPr>
            <a:spLocks xmlns:a="http://schemas.openxmlformats.org/drawingml/2006/main" noGrp="1"/>
          </p:cNvSpPr>
          <p:nvPr/>
        </p:nvSpPr>
        <p:spPr>
          <a:xfrm xmlns:a="http://schemas.openxmlformats.org/drawingml/2006/main">
            <a:off x="723900" y="5829300"/>
            <a:ext cx="10744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Total 1,805ms; generation owns most latency.</a:t>
            </a:r>
          </a:p>
        </p:txBody>
      </p:sp>
    </p:spTree>
    <p:extLst>
      <p:ext uri="{BB962C8B-B14F-4D97-AF65-F5344CB8AC3E}">
        <p14:creationId xmlns:p14="http://schemas.microsoft.com/office/powerpoint/2010/main" val="1635936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801A97A-E927-4DC8-8510-5B637FA61B3D}"/>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M18 / L01</a:t>
            </a:r>
          </a:p>
        </p:txBody>
      </p:sp>
      <p:sp>
        <p:nvSpPr>
          <p:cNvPr id="2" name="">
            <a:extLst xmlns:a="http://schemas.openxmlformats.org/drawingml/2006/main">
              <a:ext uri="{FF2B5EF4-FFF2-40B4-BE49-F238E27FC236}">
                <a16:creationId xmlns:a16="http://schemas.microsoft.com/office/drawing/2014/main" id="{8DABA809-4554-4FA7-B236-BC133C592AF3}"/>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Start with a Testable User Need</a:t>
            </a:r>
          </a:p>
        </p:txBody>
      </p:sp>
      <p:sp>
        <p:nvSpPr>
          <p:cNvPr id="3" name="">
            <a:extLst xmlns:a="http://schemas.openxmlformats.org/drawingml/2006/main">
              <a:ext uri="{FF2B5EF4-FFF2-40B4-BE49-F238E27FC236}">
                <a16:creationId xmlns:a16="http://schemas.microsoft.com/office/drawing/2014/main" id="{FFE9A702-9E0B-48C6-AB0A-EBAEE487F1DC}"/>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10</a:t>
            </a:r>
          </a:p>
        </p:txBody>
      </p:sp>
      <p:sp>
        <p:nvSpPr>
          <p:cNvPr id="4" name="">
            <a:extLst xmlns:a="http://schemas.openxmlformats.org/drawingml/2006/main">
              <a:ext uri="{FF2B5EF4-FFF2-40B4-BE49-F238E27FC236}">
                <a16:creationId xmlns:a16="http://schemas.microsoft.com/office/drawing/2014/main" id="{CAD97A51-7714-4548-B1A3-72CCA5699065}"/>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QUALITY GATE</a:t>
            </a:r>
          </a:p>
        </p:txBody>
      </p:sp>
      <p:sp>
        <p:nvSpPr>
          <p:cNvPr id="5" name="">
            <a:extLst xmlns:a="http://schemas.openxmlformats.org/drawingml/2006/main">
              <a:ext uri="{FF2B5EF4-FFF2-40B4-BE49-F238E27FC236}">
                <a16:creationId xmlns:a16="http://schemas.microsoft.com/office/drawing/2014/main" id="{429E4C34-27B2-4303-A0B9-2D0A6C605AE7}"/>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Security and Cost Are Release Requirements</a:t>
            </a:r>
          </a:p>
        </p:txBody>
      </p:sp>
      <p:sp>
        <p:nvSpPr>
          <p:cNvPr id="6" name="">
            <a:extLst xmlns:a="http://schemas.openxmlformats.org/drawingml/2006/main">
              <a:ext uri="{FF2B5EF4-FFF2-40B4-BE49-F238E27FC236}">
                <a16:creationId xmlns:a16="http://schemas.microsoft.com/office/drawing/2014/main" id="{2518DCF4-8388-4D90-9E16-F94AC694E293}"/>
              </a:ext>
            </a:extLst>
          </p:cNvPr>
          <p:cNvSpPr>
            <a:spLocks xmlns:a="http://schemas.openxmlformats.org/drawingml/2006/main" noGrp="1"/>
          </p:cNvSpPr>
          <p:nvPr/>
        </p:nvSpPr>
        <p:spPr>
          <a:xfrm xmlns:a="http://schemas.openxmlformats.org/drawingml/2006/main">
            <a:off x="685800" y="17621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7" name="">
            <a:extLst xmlns:a="http://schemas.openxmlformats.org/drawingml/2006/main">
              <a:ext uri="{FF2B5EF4-FFF2-40B4-BE49-F238E27FC236}">
                <a16:creationId xmlns:a16="http://schemas.microsoft.com/office/drawing/2014/main" id="{058BEADE-9665-4D7B-B90C-41CAFDA72F7F}"/>
              </a:ext>
            </a:extLst>
          </p:cNvPr>
          <p:cNvSpPr>
            <a:spLocks xmlns:a="http://schemas.openxmlformats.org/drawingml/2006/main" noGrp="1"/>
          </p:cNvSpPr>
          <p:nvPr/>
        </p:nvSpPr>
        <p:spPr>
          <a:xfrm xmlns:a="http://schemas.openxmlformats.org/drawingml/2006/main">
            <a:off x="695325" y="17430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8" name="">
            <a:extLst xmlns:a="http://schemas.openxmlformats.org/drawingml/2006/main">
              <a:ext uri="{FF2B5EF4-FFF2-40B4-BE49-F238E27FC236}">
                <a16:creationId xmlns:a16="http://schemas.microsoft.com/office/drawing/2014/main" id="{9C253E06-A04B-4691-8F59-A7A2FD06EE0F}"/>
              </a:ext>
            </a:extLst>
          </p:cNvPr>
          <p:cNvSpPr>
            <a:spLocks xmlns:a="http://schemas.openxmlformats.org/drawingml/2006/main" noGrp="1"/>
          </p:cNvSpPr>
          <p:nvPr/>
        </p:nvSpPr>
        <p:spPr>
          <a:xfrm xmlns:a="http://schemas.openxmlformats.org/drawingml/2006/main">
            <a:off x="1390650" y="16954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scoped identities and secrets;</a:t>
            </a:r>
          </a:p>
        </p:txBody>
      </p:sp>
      <p:sp>
        <p:nvSpPr>
          <p:cNvPr id="9" name="">
            <a:extLst xmlns:a="http://schemas.openxmlformats.org/drawingml/2006/main">
              <a:ext uri="{FF2B5EF4-FFF2-40B4-BE49-F238E27FC236}">
                <a16:creationId xmlns:a16="http://schemas.microsoft.com/office/drawing/2014/main" id="{EED75974-59DA-40EA-AFE1-2779BC686DCC}"/>
              </a:ext>
            </a:extLst>
          </p:cNvPr>
          <p:cNvSpPr>
            <a:spLocks xmlns:a="http://schemas.openxmlformats.org/drawingml/2006/main" noGrp="1"/>
          </p:cNvSpPr>
          <p:nvPr/>
        </p:nvSpPr>
        <p:spPr>
          <a:xfrm xmlns:a="http://schemas.openxmlformats.org/drawingml/2006/main">
            <a:off x="1390650" y="24574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C266D88-DEDD-4755-8CB7-7CD0B2AB96B6}"/>
              </a:ext>
            </a:extLst>
          </p:cNvPr>
          <p:cNvSpPr>
            <a:spLocks xmlns:a="http://schemas.openxmlformats.org/drawingml/2006/main" noGrp="1"/>
          </p:cNvSpPr>
          <p:nvPr/>
        </p:nvSpPr>
        <p:spPr>
          <a:xfrm xmlns:a="http://schemas.openxmlformats.org/drawingml/2006/main">
            <a:off x="685800" y="28289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1" name="">
            <a:extLst xmlns:a="http://schemas.openxmlformats.org/drawingml/2006/main">
              <a:ext uri="{FF2B5EF4-FFF2-40B4-BE49-F238E27FC236}">
                <a16:creationId xmlns:a16="http://schemas.microsoft.com/office/drawing/2014/main" id="{7338046A-BA62-4A23-B244-63519B120703}"/>
              </a:ext>
            </a:extLst>
          </p:cNvPr>
          <p:cNvSpPr>
            <a:spLocks xmlns:a="http://schemas.openxmlformats.org/drawingml/2006/main" noGrp="1"/>
          </p:cNvSpPr>
          <p:nvPr/>
        </p:nvSpPr>
        <p:spPr>
          <a:xfrm xmlns:a="http://schemas.openxmlformats.org/drawingml/2006/main">
            <a:off x="695325" y="28098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2" name="">
            <a:extLst xmlns:a="http://schemas.openxmlformats.org/drawingml/2006/main">
              <a:ext uri="{FF2B5EF4-FFF2-40B4-BE49-F238E27FC236}">
                <a16:creationId xmlns:a16="http://schemas.microsoft.com/office/drawing/2014/main" id="{2FA99B67-47E9-4F27-946D-EEBCA4C608A8}"/>
              </a:ext>
            </a:extLst>
          </p:cNvPr>
          <p:cNvSpPr>
            <a:spLocks xmlns:a="http://schemas.openxmlformats.org/drawingml/2006/main" noGrp="1"/>
          </p:cNvSpPr>
          <p:nvPr/>
        </p:nvSpPr>
        <p:spPr>
          <a:xfrm xmlns:a="http://schemas.openxmlformats.org/drawingml/2006/main">
            <a:off x="1390650" y="27622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tenant-aware retrieval;</a:t>
            </a:r>
          </a:p>
        </p:txBody>
      </p:sp>
      <p:sp>
        <p:nvSpPr>
          <p:cNvPr id="13" name="">
            <a:extLst xmlns:a="http://schemas.openxmlformats.org/drawingml/2006/main">
              <a:ext uri="{FF2B5EF4-FFF2-40B4-BE49-F238E27FC236}">
                <a16:creationId xmlns:a16="http://schemas.microsoft.com/office/drawing/2014/main" id="{FF33421B-1DB9-4041-B71F-B398684F41BA}"/>
              </a:ext>
            </a:extLst>
          </p:cNvPr>
          <p:cNvSpPr>
            <a:spLocks xmlns:a="http://schemas.openxmlformats.org/drawingml/2006/main" noGrp="1"/>
          </p:cNvSpPr>
          <p:nvPr/>
        </p:nvSpPr>
        <p:spPr>
          <a:xfrm xmlns:a="http://schemas.openxmlformats.org/drawingml/2006/main">
            <a:off x="1390650" y="35242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FCE154A-862F-418E-803F-B07445394941}"/>
              </a:ext>
            </a:extLst>
          </p:cNvPr>
          <p:cNvSpPr>
            <a:spLocks xmlns:a="http://schemas.openxmlformats.org/drawingml/2006/main" noGrp="1"/>
          </p:cNvSpPr>
          <p:nvPr/>
        </p:nvSpPr>
        <p:spPr>
          <a:xfrm xmlns:a="http://schemas.openxmlformats.org/drawingml/2006/main">
            <a:off x="685800" y="38957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5" name="">
            <a:extLst xmlns:a="http://schemas.openxmlformats.org/drawingml/2006/main">
              <a:ext uri="{FF2B5EF4-FFF2-40B4-BE49-F238E27FC236}">
                <a16:creationId xmlns:a16="http://schemas.microsoft.com/office/drawing/2014/main" id="{03139EF9-89DF-4DCB-AB8B-D222E3A9B2B1}"/>
              </a:ext>
            </a:extLst>
          </p:cNvPr>
          <p:cNvSpPr>
            <a:spLocks xmlns:a="http://schemas.openxmlformats.org/drawingml/2006/main" noGrp="1"/>
          </p:cNvSpPr>
          <p:nvPr/>
        </p:nvSpPr>
        <p:spPr>
          <a:xfrm xmlns:a="http://schemas.openxmlformats.org/drawingml/2006/main">
            <a:off x="695325" y="38766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6" name="">
            <a:extLst xmlns:a="http://schemas.openxmlformats.org/drawingml/2006/main">
              <a:ext uri="{FF2B5EF4-FFF2-40B4-BE49-F238E27FC236}">
                <a16:creationId xmlns:a16="http://schemas.microsoft.com/office/drawing/2014/main" id="{64D5A2D1-C9C1-4E2E-8F8F-CE551BA0D9A8}"/>
              </a:ext>
            </a:extLst>
          </p:cNvPr>
          <p:cNvSpPr>
            <a:spLocks xmlns:a="http://schemas.openxmlformats.org/drawingml/2006/main" noGrp="1"/>
          </p:cNvSpPr>
          <p:nvPr/>
        </p:nvSpPr>
        <p:spPr>
          <a:xfrm xmlns:a="http://schemas.openxmlformats.org/drawingml/2006/main">
            <a:off x="1390650" y="38290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input and output validation;</a:t>
            </a:r>
          </a:p>
        </p:txBody>
      </p:sp>
      <p:sp>
        <p:nvSpPr>
          <p:cNvPr id="17" name="">
            <a:extLst xmlns:a="http://schemas.openxmlformats.org/drawingml/2006/main">
              <a:ext uri="{FF2B5EF4-FFF2-40B4-BE49-F238E27FC236}">
                <a16:creationId xmlns:a16="http://schemas.microsoft.com/office/drawing/2014/main" id="{81826781-5C74-4C02-BE84-61B343DCF1A4}"/>
              </a:ext>
            </a:extLst>
          </p:cNvPr>
          <p:cNvSpPr>
            <a:spLocks xmlns:a="http://schemas.openxmlformats.org/drawingml/2006/main" noGrp="1"/>
          </p:cNvSpPr>
          <p:nvPr/>
        </p:nvSpPr>
        <p:spPr>
          <a:xfrm xmlns:a="http://schemas.openxmlformats.org/drawingml/2006/main">
            <a:off x="1390650" y="45910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FEB251A-BB9E-419A-9FA6-9A4E1FAF4853}"/>
              </a:ext>
            </a:extLst>
          </p:cNvPr>
          <p:cNvSpPr>
            <a:spLocks xmlns:a="http://schemas.openxmlformats.org/drawingml/2006/main" noGrp="1"/>
          </p:cNvSpPr>
          <p:nvPr/>
        </p:nvSpPr>
        <p:spPr>
          <a:xfrm xmlns:a="http://schemas.openxmlformats.org/drawingml/2006/main">
            <a:off x="685800" y="49625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9" name="">
            <a:extLst xmlns:a="http://schemas.openxmlformats.org/drawingml/2006/main">
              <a:ext uri="{FF2B5EF4-FFF2-40B4-BE49-F238E27FC236}">
                <a16:creationId xmlns:a16="http://schemas.microsoft.com/office/drawing/2014/main" id="{B7B8CDAB-5291-4F26-8B02-23B6B1836A1F}"/>
              </a:ext>
            </a:extLst>
          </p:cNvPr>
          <p:cNvSpPr>
            <a:spLocks xmlns:a="http://schemas.openxmlformats.org/drawingml/2006/main" noGrp="1"/>
          </p:cNvSpPr>
          <p:nvPr/>
        </p:nvSpPr>
        <p:spPr>
          <a:xfrm xmlns:a="http://schemas.openxmlformats.org/drawingml/2006/main">
            <a:off x="695325" y="49434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20" name="">
            <a:extLst xmlns:a="http://schemas.openxmlformats.org/drawingml/2006/main">
              <a:ext uri="{FF2B5EF4-FFF2-40B4-BE49-F238E27FC236}">
                <a16:creationId xmlns:a16="http://schemas.microsoft.com/office/drawing/2014/main" id="{A64D5CE7-43EB-4FA3-8FF0-5E974CA5EF33}"/>
              </a:ext>
            </a:extLst>
          </p:cNvPr>
          <p:cNvSpPr>
            <a:spLocks xmlns:a="http://schemas.openxmlformats.org/drawingml/2006/main" noGrp="1"/>
          </p:cNvSpPr>
          <p:nvPr/>
        </p:nvSpPr>
        <p:spPr>
          <a:xfrm xmlns:a="http://schemas.openxmlformats.org/drawingml/2006/main">
            <a:off x="1390650" y="48958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tool allowlists and argument checks;</a:t>
            </a:r>
          </a:p>
        </p:txBody>
      </p:sp>
      <p:sp>
        <p:nvSpPr>
          <p:cNvPr id="21" name="">
            <a:extLst xmlns:a="http://schemas.openxmlformats.org/drawingml/2006/main">
              <a:ext uri="{FF2B5EF4-FFF2-40B4-BE49-F238E27FC236}">
                <a16:creationId xmlns:a16="http://schemas.microsoft.com/office/drawing/2014/main" id="{DC2D2083-4917-4579-8FE6-754CE34F6A58}"/>
              </a:ext>
            </a:extLst>
          </p:cNvPr>
          <p:cNvSpPr>
            <a:spLocks xmlns:a="http://schemas.openxmlformats.org/drawingml/2006/main" noGrp="1"/>
          </p:cNvSpPr>
          <p:nvPr/>
        </p:nvSpPr>
        <p:spPr>
          <a:xfrm xmlns:a="http://schemas.openxmlformats.org/drawingml/2006/main">
            <a:off x="1390650" y="56578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Tree>
    <p:extLst>
      <p:ext uri="{BB962C8B-B14F-4D97-AF65-F5344CB8AC3E}">
        <p14:creationId xmlns:p14="http://schemas.microsoft.com/office/powerpoint/2010/main" val="132180263"/>
      </p:ext>
    </p:extLst>
  </p:cSld>
</p:sld>
</file>

<file path=ppt/slides/slide11.xml><?xml version="1.0" encoding="utf-8"?>
<p:sld xmlns:p="http://schemas.openxmlformats.org/presentationml/2006/main">
  <p:cSld>
    <p:bg>
      <p:bgPr>
        <a:solidFill xmlns:a="http://schemas.openxmlformats.org/drawingml/2006/main">
          <a:srgbClr val="FFF8F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13112EA-127C-4819-A7AA-3B15C3CECC01}"/>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M18 / L01</a:t>
            </a:r>
          </a:p>
        </p:txBody>
      </p:sp>
      <p:sp>
        <p:nvSpPr>
          <p:cNvPr id="2" name="">
            <a:extLst xmlns:a="http://schemas.openxmlformats.org/drawingml/2006/main">
              <a:ext uri="{FF2B5EF4-FFF2-40B4-BE49-F238E27FC236}">
                <a16:creationId xmlns:a16="http://schemas.microsoft.com/office/drawing/2014/main" id="{19EAB13A-51D5-421C-9822-48B0BD096B14}"/>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Start with a Testable User Need</a:t>
            </a:r>
          </a:p>
        </p:txBody>
      </p:sp>
      <p:sp>
        <p:nvSpPr>
          <p:cNvPr id="3" name="">
            <a:extLst xmlns:a="http://schemas.openxmlformats.org/drawingml/2006/main">
              <a:ext uri="{FF2B5EF4-FFF2-40B4-BE49-F238E27FC236}">
                <a16:creationId xmlns:a16="http://schemas.microsoft.com/office/drawing/2014/main" id="{F1E77C78-BDA0-48FB-817F-B186419A5F05}"/>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11</a:t>
            </a:r>
          </a:p>
        </p:txBody>
      </p:sp>
      <p:sp>
        <p:nvSpPr>
          <p:cNvPr id="4" name="">
            <a:extLst xmlns:a="http://schemas.openxmlformats.org/drawingml/2006/main">
              <a:ext uri="{FF2B5EF4-FFF2-40B4-BE49-F238E27FC236}">
                <a16:creationId xmlns:a16="http://schemas.microsoft.com/office/drawing/2014/main" id="{E2763522-DE7C-4BAB-9704-72FB22ED6E48}"/>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RISK REVIEW</a:t>
            </a:r>
          </a:p>
        </p:txBody>
      </p:sp>
      <p:sp>
        <p:nvSpPr>
          <p:cNvPr id="5" name="">
            <a:extLst xmlns:a="http://schemas.openxmlformats.org/drawingml/2006/main">
              <a:ext uri="{FF2B5EF4-FFF2-40B4-BE49-F238E27FC236}">
                <a16:creationId xmlns:a16="http://schemas.microsoft.com/office/drawing/2014/main" id="{A49E743B-1110-45AE-B383-EBC5C1F1DAFB}"/>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0B1220"/>
                </a:solidFill>
              </a:defRPr>
            </a:pPr>
            <a:r>
              <a:rPr sz="2625" b="1">
                <a:solidFill>
                  <a:srgbClr val="0B1220"/>
                </a:solidFill>
              </a:rPr>
              <a:t>Release Includes Rollback and Failure Demonstrations</a:t>
            </a:r>
          </a:p>
        </p:txBody>
      </p:sp>
      <p:sp>
        <p:nvSpPr>
          <p:cNvPr id="6" name="">
            <a:extLst xmlns:a="http://schemas.openxmlformats.org/drawingml/2006/main">
              <a:ext uri="{FF2B5EF4-FFF2-40B4-BE49-F238E27FC236}">
                <a16:creationId xmlns:a16="http://schemas.microsoft.com/office/drawing/2014/main" id="{A937DD7A-CE15-4039-A4A0-EF89275B1A92}"/>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A981077-019B-4D82-A4F2-A8109D118198}"/>
              </a:ext>
            </a:extLst>
          </p:cNvPr>
          <p:cNvSpPr>
            <a:spLocks xmlns:a="http://schemas.openxmlformats.org/drawingml/2006/main" noGrp="1"/>
          </p:cNvSpPr>
          <p:nvPr/>
        </p:nvSpPr>
        <p:spPr>
          <a:xfrm xmlns:a="http://schemas.openxmlformats.org/drawingml/2006/main">
            <a:off x="704850" y="186690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06B5F"/>
                </a:solidFill>
              </a:defRPr>
            </a:pPr>
            <a:r>
              <a:rPr sz="1350" b="1">
                <a:solidFill>
                  <a:srgbClr val="F06B5F"/>
                </a:solidFill>
              </a:rPr>
              <a:t>01</a:t>
            </a:r>
          </a:p>
        </p:txBody>
      </p:sp>
      <p:sp>
        <p:nvSpPr>
          <p:cNvPr id="8" name="">
            <a:extLst xmlns:a="http://schemas.openxmlformats.org/drawingml/2006/main">
              <a:ext uri="{FF2B5EF4-FFF2-40B4-BE49-F238E27FC236}">
                <a16:creationId xmlns:a16="http://schemas.microsoft.com/office/drawing/2014/main" id="{94E0FC7C-667A-4631-A707-5D3C77D169A3}"/>
              </a:ext>
            </a:extLst>
          </p:cNvPr>
          <p:cNvSpPr>
            <a:spLocks xmlns:a="http://schemas.openxmlformats.org/drawingml/2006/main" noGrp="1"/>
          </p:cNvSpPr>
          <p:nvPr/>
        </p:nvSpPr>
        <p:spPr>
          <a:xfrm xmlns:a="http://schemas.openxmlformats.org/drawingml/2006/main">
            <a:off x="1809750" y="1790700"/>
            <a:ext cx="885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malformed request;</a:t>
            </a:r>
          </a:p>
        </p:txBody>
      </p:sp>
      <p:sp>
        <p:nvSpPr>
          <p:cNvPr id="9" name="">
            <a:extLst xmlns:a="http://schemas.openxmlformats.org/drawingml/2006/main">
              <a:ext uri="{FF2B5EF4-FFF2-40B4-BE49-F238E27FC236}">
                <a16:creationId xmlns:a16="http://schemas.microsoft.com/office/drawing/2014/main" id="{7D3836EE-AE59-478F-A13F-CA8E66566FA3}"/>
              </a:ext>
            </a:extLst>
          </p:cNvPr>
          <p:cNvSpPr>
            <a:spLocks xmlns:a="http://schemas.openxmlformats.org/drawingml/2006/main" noGrp="1"/>
          </p:cNvSpPr>
          <p:nvPr/>
        </p:nvSpPr>
        <p:spPr>
          <a:xfrm xmlns:a="http://schemas.openxmlformats.org/drawingml/2006/main">
            <a:off x="704850" y="2867025"/>
            <a:ext cx="9982200" cy="19050"/>
          </a:xfrm>
          <a:prstGeom xmlns:a="http://schemas.openxmlformats.org/drawingml/2006/main" prst="rect">
            <a:avLst/>
          </a:prstGeom>
          <a:solidFill xmlns:a="http://schemas.openxmlformats.org/drawingml/2006/main">
            <a:srgbClr val="E7C9C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5EAC709-2675-4C60-9DFD-D95E6EAC6AF0}"/>
              </a:ext>
            </a:extLst>
          </p:cNvPr>
          <p:cNvSpPr>
            <a:spLocks xmlns:a="http://schemas.openxmlformats.org/drawingml/2006/main" noGrp="1"/>
          </p:cNvSpPr>
          <p:nvPr/>
        </p:nvSpPr>
        <p:spPr>
          <a:xfrm xmlns:a="http://schemas.openxmlformats.org/drawingml/2006/main">
            <a:off x="704850" y="327660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06B5F"/>
                </a:solidFill>
              </a:defRPr>
            </a:pPr>
            <a:r>
              <a:rPr sz="1350" b="1">
                <a:solidFill>
                  <a:srgbClr val="F06B5F"/>
                </a:solidFill>
              </a:rPr>
              <a:t>02</a:t>
            </a:r>
          </a:p>
        </p:txBody>
      </p:sp>
      <p:sp>
        <p:nvSpPr>
          <p:cNvPr id="11" name="">
            <a:extLst xmlns:a="http://schemas.openxmlformats.org/drawingml/2006/main">
              <a:ext uri="{FF2B5EF4-FFF2-40B4-BE49-F238E27FC236}">
                <a16:creationId xmlns:a16="http://schemas.microsoft.com/office/drawing/2014/main" id="{C3B1909D-DDC0-46F9-9C3E-7A1C1AA97787}"/>
              </a:ext>
            </a:extLst>
          </p:cNvPr>
          <p:cNvSpPr>
            <a:spLocks xmlns:a="http://schemas.openxmlformats.org/drawingml/2006/main" noGrp="1"/>
          </p:cNvSpPr>
          <p:nvPr/>
        </p:nvSpPr>
        <p:spPr>
          <a:xfrm xmlns:a="http://schemas.openxmlformats.org/drawingml/2006/main">
            <a:off x="1809750" y="3200400"/>
            <a:ext cx="885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unsupported question;</a:t>
            </a:r>
          </a:p>
        </p:txBody>
      </p:sp>
      <p:sp>
        <p:nvSpPr>
          <p:cNvPr id="12" name="">
            <a:extLst xmlns:a="http://schemas.openxmlformats.org/drawingml/2006/main">
              <a:ext uri="{FF2B5EF4-FFF2-40B4-BE49-F238E27FC236}">
                <a16:creationId xmlns:a16="http://schemas.microsoft.com/office/drawing/2014/main" id="{8D615836-85AD-4B46-8184-865F13738115}"/>
              </a:ext>
            </a:extLst>
          </p:cNvPr>
          <p:cNvSpPr>
            <a:spLocks xmlns:a="http://schemas.openxmlformats.org/drawingml/2006/main" noGrp="1"/>
          </p:cNvSpPr>
          <p:nvPr/>
        </p:nvSpPr>
        <p:spPr>
          <a:xfrm xmlns:a="http://schemas.openxmlformats.org/drawingml/2006/main">
            <a:off x="704850" y="4276725"/>
            <a:ext cx="9982200" cy="19050"/>
          </a:xfrm>
          <a:prstGeom xmlns:a="http://schemas.openxmlformats.org/drawingml/2006/main" prst="rect">
            <a:avLst/>
          </a:prstGeom>
          <a:solidFill xmlns:a="http://schemas.openxmlformats.org/drawingml/2006/main">
            <a:srgbClr val="E7C9C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A36886A-4486-4805-BD8C-D718D8F58811}"/>
              </a:ext>
            </a:extLst>
          </p:cNvPr>
          <p:cNvSpPr>
            <a:spLocks xmlns:a="http://schemas.openxmlformats.org/drawingml/2006/main" noGrp="1"/>
          </p:cNvSpPr>
          <p:nvPr/>
        </p:nvSpPr>
        <p:spPr>
          <a:xfrm xmlns:a="http://schemas.openxmlformats.org/drawingml/2006/main">
            <a:off x="704850" y="468630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06B5F"/>
                </a:solidFill>
              </a:defRPr>
            </a:pPr>
            <a:r>
              <a:rPr sz="1350" b="1">
                <a:solidFill>
                  <a:srgbClr val="F06B5F"/>
                </a:solidFill>
              </a:rPr>
              <a:t>03</a:t>
            </a:r>
          </a:p>
        </p:txBody>
      </p:sp>
      <p:sp>
        <p:nvSpPr>
          <p:cNvPr id="14" name="">
            <a:extLst xmlns:a="http://schemas.openxmlformats.org/drawingml/2006/main">
              <a:ext uri="{FF2B5EF4-FFF2-40B4-BE49-F238E27FC236}">
                <a16:creationId xmlns:a16="http://schemas.microsoft.com/office/drawing/2014/main" id="{28B8A58E-6352-4254-B782-B28B85CB87E8}"/>
              </a:ext>
            </a:extLst>
          </p:cNvPr>
          <p:cNvSpPr>
            <a:spLocks xmlns:a="http://schemas.openxmlformats.org/drawingml/2006/main" noGrp="1"/>
          </p:cNvSpPr>
          <p:nvPr/>
        </p:nvSpPr>
        <p:spPr>
          <a:xfrm xmlns:a="http://schemas.openxmlformats.org/drawingml/2006/main">
            <a:off x="1809750" y="4610100"/>
            <a:ext cx="885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unauthorized access;</a:t>
            </a:r>
          </a:p>
        </p:txBody>
      </p:sp>
      <p:sp>
        <p:nvSpPr>
          <p:cNvPr id="15" name="">
            <a:extLst xmlns:a="http://schemas.openxmlformats.org/drawingml/2006/main">
              <a:ext uri="{FF2B5EF4-FFF2-40B4-BE49-F238E27FC236}">
                <a16:creationId xmlns:a16="http://schemas.microsoft.com/office/drawing/2014/main" id="{D7CE40AC-5C8C-498D-A2E6-CEFAFDB6F446}"/>
              </a:ext>
            </a:extLst>
          </p:cNvPr>
          <p:cNvSpPr>
            <a:spLocks xmlns:a="http://schemas.openxmlformats.org/drawingml/2006/main" noGrp="1"/>
          </p:cNvSpPr>
          <p:nvPr/>
        </p:nvSpPr>
        <p:spPr>
          <a:xfrm xmlns:a="http://schemas.openxmlformats.org/drawingml/2006/main">
            <a:off x="704850" y="5686425"/>
            <a:ext cx="9982200" cy="19050"/>
          </a:xfrm>
          <a:prstGeom xmlns:a="http://schemas.openxmlformats.org/drawingml/2006/main" prst="rect">
            <a:avLst/>
          </a:prstGeom>
          <a:solidFill xmlns:a="http://schemas.openxmlformats.org/drawingml/2006/main">
            <a:srgbClr val="E7C9C4"/>
          </a:solidFill>
          <a:ln xmlns:a="http://schemas.openxmlformats.org/drawingml/2006/main" w="0">
            <a:noFill/>
            <a:prstDash val="solid"/>
          </a:ln>
        </p:spPr>
      </p:sp>
    </p:spTree>
    <p:extLst>
      <p:ext uri="{BB962C8B-B14F-4D97-AF65-F5344CB8AC3E}">
        <p14:creationId xmlns:p14="http://schemas.microsoft.com/office/powerpoint/2010/main" val="295546058"/>
      </p:ext>
    </p:extLst>
  </p:cSld>
</p:sld>
</file>

<file path=ppt/slides/slide12.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7FB797C-059B-45AC-B4DB-5208076ED78D}"/>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M18 / L01</a:t>
            </a:r>
          </a:p>
        </p:txBody>
      </p:sp>
      <p:sp>
        <p:nvSpPr>
          <p:cNvPr id="2" name="">
            <a:extLst xmlns:a="http://schemas.openxmlformats.org/drawingml/2006/main">
              <a:ext uri="{FF2B5EF4-FFF2-40B4-BE49-F238E27FC236}">
                <a16:creationId xmlns:a16="http://schemas.microsoft.com/office/drawing/2014/main" id="{B4644DC3-511A-44EF-8EFB-FEA2C970C7E7}"/>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Start with a Testable User Need</a:t>
            </a:r>
          </a:p>
        </p:txBody>
      </p:sp>
      <p:sp>
        <p:nvSpPr>
          <p:cNvPr id="3" name="">
            <a:extLst xmlns:a="http://schemas.openxmlformats.org/drawingml/2006/main">
              <a:ext uri="{FF2B5EF4-FFF2-40B4-BE49-F238E27FC236}">
                <a16:creationId xmlns:a16="http://schemas.microsoft.com/office/drawing/2014/main" id="{09834125-0753-44FD-A704-952E190C3DC3}"/>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12</a:t>
            </a:r>
          </a:p>
        </p:txBody>
      </p:sp>
      <p:sp>
        <p:nvSpPr>
          <p:cNvPr id="4" name="">
            <a:extLst xmlns:a="http://schemas.openxmlformats.org/drawingml/2006/main">
              <a:ext uri="{FF2B5EF4-FFF2-40B4-BE49-F238E27FC236}">
                <a16:creationId xmlns:a16="http://schemas.microsoft.com/office/drawing/2014/main" id="{91DB6305-CF88-4257-A767-9CAF35571075}"/>
              </a:ext>
            </a:extLst>
          </p:cNvPr>
          <p:cNvSpPr>
            <a:spLocks xmlns:a="http://schemas.openxmlformats.org/drawingml/2006/main" noGrp="1"/>
          </p:cNvSpPr>
          <p:nvPr/>
        </p:nvSpPr>
        <p:spPr>
          <a:xfrm xmlns:a="http://schemas.openxmlformats.org/drawingml/2006/main">
            <a:off x="609600" y="8763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GUIDED LAB</a:t>
            </a:r>
          </a:p>
        </p:txBody>
      </p:sp>
      <p:sp>
        <p:nvSpPr>
          <p:cNvPr id="5" name="">
            <a:extLst xmlns:a="http://schemas.openxmlformats.org/drawingml/2006/main">
              <a:ext uri="{FF2B5EF4-FFF2-40B4-BE49-F238E27FC236}">
                <a16:creationId xmlns:a16="http://schemas.microsoft.com/office/drawing/2014/main" id="{00E5F6CF-81CC-471B-96BC-6AA674646C92}"/>
              </a:ext>
            </a:extLst>
          </p:cNvPr>
          <p:cNvSpPr>
            <a:spLocks xmlns:a="http://schemas.openxmlformats.org/drawingml/2006/main" noGrp="1"/>
          </p:cNvSpPr>
          <p:nvPr/>
        </p:nvSpPr>
        <p:spPr>
          <a:xfrm xmlns:a="http://schemas.openxmlformats.org/drawingml/2006/main">
            <a:off x="609600" y="1466850"/>
            <a:ext cx="10477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FFFFFF"/>
                </a:solidFill>
              </a:defRPr>
            </a:pPr>
            <a:r>
              <a:rPr sz="2550" b="1">
                <a:solidFill>
                  <a:srgbClr val="FFFFFF"/>
                </a:solidFill>
              </a:rPr>
              <a:t>Capstone Deliverable: Evidence before Presentation</a:t>
            </a:r>
          </a:p>
        </p:txBody>
      </p:sp>
      <p:sp>
        <p:nvSpPr>
          <p:cNvPr id="6" name="">
            <a:extLst xmlns:a="http://schemas.openxmlformats.org/drawingml/2006/main">
              <a:ext uri="{FF2B5EF4-FFF2-40B4-BE49-F238E27FC236}">
                <a16:creationId xmlns:a16="http://schemas.microsoft.com/office/drawing/2014/main" id="{94FDFF5F-2142-4D20-A099-5FC42F2392E0}"/>
              </a:ext>
            </a:extLst>
          </p:cNvPr>
          <p:cNvSpPr>
            <a:spLocks xmlns:a="http://schemas.openxmlformats.org/drawingml/2006/main" noGrp="1"/>
          </p:cNvSpPr>
          <p:nvPr/>
        </p:nvSpPr>
        <p:spPr>
          <a:xfrm xmlns:a="http://schemas.openxmlformats.org/drawingml/2006/main">
            <a:off x="60960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01</a:t>
            </a:r>
          </a:p>
        </p:txBody>
      </p:sp>
      <p:sp>
        <p:nvSpPr>
          <p:cNvPr id="7" name="">
            <a:extLst xmlns:a="http://schemas.openxmlformats.org/drawingml/2006/main">
              <a:ext uri="{FF2B5EF4-FFF2-40B4-BE49-F238E27FC236}">
                <a16:creationId xmlns:a16="http://schemas.microsoft.com/office/drawing/2014/main" id="{F286A8C1-CB2D-4044-BDD2-E143AA1391A3}"/>
              </a:ext>
            </a:extLst>
          </p:cNvPr>
          <p:cNvSpPr>
            <a:spLocks xmlns:a="http://schemas.openxmlformats.org/drawingml/2006/main" noGrp="1"/>
          </p:cNvSpPr>
          <p:nvPr/>
        </p:nvSpPr>
        <p:spPr>
          <a:xfrm xmlns:a="http://schemas.openxmlformats.org/drawingml/2006/main">
            <a:off x="60960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22A1FF4-400A-4EC6-B822-CA7E8CF1CA6E}"/>
              </a:ext>
            </a:extLst>
          </p:cNvPr>
          <p:cNvSpPr>
            <a:spLocks xmlns:a="http://schemas.openxmlformats.org/drawingml/2006/main" noGrp="1"/>
          </p:cNvSpPr>
          <p:nvPr/>
        </p:nvSpPr>
        <p:spPr>
          <a:xfrm xmlns:a="http://schemas.openxmlformats.org/drawingml/2006/main">
            <a:off x="6096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FFFFFF"/>
                </a:solidFill>
              </a:defRPr>
            </a:pPr>
            <a:r>
              <a:rPr sz="1425" b="1">
                <a:solidFill>
                  <a:srgbClr val="FFFFFF"/>
                </a:solidFill>
              </a:rPr>
              <a:t>problem statement and acceptance criteria</a:t>
            </a:r>
          </a:p>
        </p:txBody>
      </p:sp>
      <p:sp>
        <p:nvSpPr>
          <p:cNvPr id="9" name="">
            <a:extLst xmlns:a="http://schemas.openxmlformats.org/drawingml/2006/main">
              <a:ext uri="{FF2B5EF4-FFF2-40B4-BE49-F238E27FC236}">
                <a16:creationId xmlns:a16="http://schemas.microsoft.com/office/drawing/2014/main" id="{3025D8E3-FDD0-4D34-B1A9-1370B3CB3004}"/>
              </a:ext>
            </a:extLst>
          </p:cNvPr>
          <p:cNvSpPr>
            <a:spLocks xmlns:a="http://schemas.openxmlformats.org/drawingml/2006/main" noGrp="1"/>
          </p:cNvSpPr>
          <p:nvPr/>
        </p:nvSpPr>
        <p:spPr>
          <a:xfrm xmlns:a="http://schemas.openxmlformats.org/drawingml/2006/main">
            <a:off x="337185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0" name="">
            <a:extLst xmlns:a="http://schemas.openxmlformats.org/drawingml/2006/main">
              <a:ext uri="{FF2B5EF4-FFF2-40B4-BE49-F238E27FC236}">
                <a16:creationId xmlns:a16="http://schemas.microsoft.com/office/drawing/2014/main" id="{61A544D5-A1BE-4CCD-81D4-900D380644CA}"/>
              </a:ext>
            </a:extLst>
          </p:cNvPr>
          <p:cNvSpPr>
            <a:spLocks xmlns:a="http://schemas.openxmlformats.org/drawingml/2006/main" noGrp="1"/>
          </p:cNvSpPr>
          <p:nvPr/>
        </p:nvSpPr>
        <p:spPr>
          <a:xfrm xmlns:a="http://schemas.openxmlformats.org/drawingml/2006/main">
            <a:off x="337185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98F7A76-2BDB-4084-AFFF-7227B54C8DFB}"/>
              </a:ext>
            </a:extLst>
          </p:cNvPr>
          <p:cNvSpPr>
            <a:spLocks xmlns:a="http://schemas.openxmlformats.org/drawingml/2006/main" noGrp="1"/>
          </p:cNvSpPr>
          <p:nvPr/>
        </p:nvSpPr>
        <p:spPr>
          <a:xfrm xmlns:a="http://schemas.openxmlformats.org/drawingml/2006/main">
            <a:off x="337185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FFFFFF"/>
                </a:solidFill>
              </a:defRPr>
            </a:pPr>
            <a:r>
              <a:rPr sz="1650" b="1">
                <a:solidFill>
                  <a:srgbClr val="FFFFFF"/>
                </a:solidFill>
              </a:rPr>
              <a:t>architecture and data-flow diagrams</a:t>
            </a:r>
          </a:p>
        </p:txBody>
      </p:sp>
      <p:sp>
        <p:nvSpPr>
          <p:cNvPr id="12" name="">
            <a:extLst xmlns:a="http://schemas.openxmlformats.org/drawingml/2006/main">
              <a:ext uri="{FF2B5EF4-FFF2-40B4-BE49-F238E27FC236}">
                <a16:creationId xmlns:a16="http://schemas.microsoft.com/office/drawing/2014/main" id="{6B860954-639E-4354-BF16-C823B0C43615}"/>
              </a:ext>
            </a:extLst>
          </p:cNvPr>
          <p:cNvSpPr>
            <a:spLocks xmlns:a="http://schemas.openxmlformats.org/drawingml/2006/main" noGrp="1"/>
          </p:cNvSpPr>
          <p:nvPr/>
        </p:nvSpPr>
        <p:spPr>
          <a:xfrm xmlns:a="http://schemas.openxmlformats.org/drawingml/2006/main">
            <a:off x="613410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03</a:t>
            </a:r>
          </a:p>
        </p:txBody>
      </p:sp>
      <p:sp>
        <p:nvSpPr>
          <p:cNvPr id="13" name="">
            <a:extLst xmlns:a="http://schemas.openxmlformats.org/drawingml/2006/main">
              <a:ext uri="{FF2B5EF4-FFF2-40B4-BE49-F238E27FC236}">
                <a16:creationId xmlns:a16="http://schemas.microsoft.com/office/drawing/2014/main" id="{83E07BD1-6EF4-4758-9E99-CEE1E52E715B}"/>
              </a:ext>
            </a:extLst>
          </p:cNvPr>
          <p:cNvSpPr>
            <a:spLocks xmlns:a="http://schemas.openxmlformats.org/drawingml/2006/main" noGrp="1"/>
          </p:cNvSpPr>
          <p:nvPr/>
        </p:nvSpPr>
        <p:spPr>
          <a:xfrm xmlns:a="http://schemas.openxmlformats.org/drawingml/2006/main">
            <a:off x="613410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53B3322-FC04-4A05-ABF3-6F4E089E8BF3}"/>
              </a:ext>
            </a:extLst>
          </p:cNvPr>
          <p:cNvSpPr>
            <a:spLocks xmlns:a="http://schemas.openxmlformats.org/drawingml/2006/main" noGrp="1"/>
          </p:cNvSpPr>
          <p:nvPr/>
        </p:nvSpPr>
        <p:spPr>
          <a:xfrm xmlns:a="http://schemas.openxmlformats.org/drawingml/2006/main">
            <a:off x="61341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FFFFFF"/>
                </a:solidFill>
              </a:defRPr>
            </a:pPr>
            <a:r>
              <a:rPr sz="1650" b="1">
                <a:solidFill>
                  <a:srgbClr val="FFFFFF"/>
                </a:solidFill>
              </a:rPr>
              <a:t>threat model and cost estimate</a:t>
            </a:r>
          </a:p>
        </p:txBody>
      </p:sp>
      <p:sp>
        <p:nvSpPr>
          <p:cNvPr id="15" name="">
            <a:extLst xmlns:a="http://schemas.openxmlformats.org/drawingml/2006/main">
              <a:ext uri="{FF2B5EF4-FFF2-40B4-BE49-F238E27FC236}">
                <a16:creationId xmlns:a16="http://schemas.microsoft.com/office/drawing/2014/main" id="{261C334D-5AC9-418D-A269-85E88F1AFCBC}"/>
              </a:ext>
            </a:extLst>
          </p:cNvPr>
          <p:cNvSpPr>
            <a:spLocks xmlns:a="http://schemas.openxmlformats.org/drawingml/2006/main" noGrp="1"/>
          </p:cNvSpPr>
          <p:nvPr/>
        </p:nvSpPr>
        <p:spPr>
          <a:xfrm xmlns:a="http://schemas.openxmlformats.org/drawingml/2006/main">
            <a:off x="889635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04</a:t>
            </a:r>
          </a:p>
        </p:txBody>
      </p:sp>
      <p:sp>
        <p:nvSpPr>
          <p:cNvPr id="16" name="">
            <a:extLst xmlns:a="http://schemas.openxmlformats.org/drawingml/2006/main">
              <a:ext uri="{FF2B5EF4-FFF2-40B4-BE49-F238E27FC236}">
                <a16:creationId xmlns:a16="http://schemas.microsoft.com/office/drawing/2014/main" id="{6A36C442-3814-4F6F-9535-C4B79A769AD1}"/>
              </a:ext>
            </a:extLst>
          </p:cNvPr>
          <p:cNvSpPr>
            <a:spLocks xmlns:a="http://schemas.openxmlformats.org/drawingml/2006/main" noGrp="1"/>
          </p:cNvSpPr>
          <p:nvPr/>
        </p:nvSpPr>
        <p:spPr>
          <a:xfrm xmlns:a="http://schemas.openxmlformats.org/drawingml/2006/main">
            <a:off x="8896350" y="4400550"/>
            <a:ext cx="203835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F0B245D-DBE5-4F47-B8C5-E47452E58155}"/>
              </a:ext>
            </a:extLst>
          </p:cNvPr>
          <p:cNvSpPr>
            <a:spLocks xmlns:a="http://schemas.openxmlformats.org/drawingml/2006/main" noGrp="1"/>
          </p:cNvSpPr>
          <p:nvPr/>
        </p:nvSpPr>
        <p:spPr>
          <a:xfrm xmlns:a="http://schemas.openxmlformats.org/drawingml/2006/main">
            <a:off x="889635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FFFFFF"/>
                </a:solidFill>
              </a:defRPr>
            </a:pPr>
            <a:r>
              <a:rPr sz="1425" b="1">
                <a:solidFill>
                  <a:srgbClr val="FFFFFF"/>
                </a:solidFill>
              </a:rPr>
              <a:t>versioned source, configuration, and environment</a:t>
            </a:r>
          </a:p>
        </p:txBody>
      </p:sp>
    </p:spTree>
    <p:extLst>
      <p:ext uri="{BB962C8B-B14F-4D97-AF65-F5344CB8AC3E}">
        <p14:creationId xmlns:p14="http://schemas.microsoft.com/office/powerpoint/2010/main" val="1176760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2026-07-28T19:30:04.2310000Z</dcterms:created>
  <dcterms:modified xsi:type="dcterms:W3CDTF">2026-07-28T19:30:04.2310000Z</dcterms:modified>
</coreProperties>
</file>