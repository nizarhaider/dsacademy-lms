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b121be05e764c40" /><Relationship Type="http://schemas.openxmlformats.org/officeDocument/2006/relationships/extended-properties" Target="/docProps/app.xml" Id="R3c41c61de9d4482c" /><Relationship Type="http://schemas.openxmlformats.org/officeDocument/2006/relationships/officeDocument" Target="/ppt/presentation.xml" Id="Ra5322a938057469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06ff81dd3c741ce"/>
  </p:sldMasterIdLst>
  <p:notesMasterIdLst>
    <p:notesMasterId xmlns:r="http://schemas.openxmlformats.org/officeDocument/2006/relationships" r:id="R46817b5106d44e54"/>
  </p:notesMasterIdLst>
  <p:sldIdLst>
    <p:sldId xmlns:r="http://schemas.openxmlformats.org/officeDocument/2006/relationships" id="256" r:id="Rfb4d380e076243ad"/>
    <p:sldId xmlns:r="http://schemas.openxmlformats.org/officeDocument/2006/relationships" id="257" r:id="R4a54022711134cec"/>
    <p:sldId xmlns:r="http://schemas.openxmlformats.org/officeDocument/2006/relationships" id="258" r:id="R60648ec7d9c34d26"/>
    <p:sldId xmlns:r="http://schemas.openxmlformats.org/officeDocument/2006/relationships" id="259" r:id="R1b5fcfd4fd184120"/>
    <p:sldId xmlns:r="http://schemas.openxmlformats.org/officeDocument/2006/relationships" id="260" r:id="R11fe0a1b4b49497a"/>
    <p:sldId xmlns:r="http://schemas.openxmlformats.org/officeDocument/2006/relationships" id="261" r:id="R014cb476a48b4b40"/>
    <p:sldId xmlns:r="http://schemas.openxmlformats.org/officeDocument/2006/relationships" id="262" r:id="R0a6808aa1b1046ab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81248478b4141fe" /><Relationship Type="http://schemas.openxmlformats.org/officeDocument/2006/relationships/slideMaster" Target="/ppt/slideMasters/slideMaster1.xml" Id="R406ff81dd3c741ce" /><Relationship Type="http://schemas.openxmlformats.org/officeDocument/2006/relationships/notesMaster" Target="/ppt/notesMasters/notesMaster1.xml" Id="R46817b5106d44e54" /><Relationship Type="http://schemas.openxmlformats.org/officeDocument/2006/relationships/presProps" Target="/ppt/presProps.xml" Id="R501e72cf19704825" /><Relationship Type="http://schemas.openxmlformats.org/officeDocument/2006/relationships/tableStyles" Target="/ppt/tableStyles.xml" Id="Rd00bca202ad94661" /><Relationship Type="http://schemas.openxmlformats.org/officeDocument/2006/relationships/slide" Target="/ppt/slides/slide1.xml" Id="Rfb4d380e076243ad" /><Relationship Type="http://schemas.openxmlformats.org/officeDocument/2006/relationships/slide" Target="/ppt/slides/slide2.xml" Id="R4a54022711134cec" /><Relationship Type="http://schemas.openxmlformats.org/officeDocument/2006/relationships/slide" Target="/ppt/slides/slide3.xml" Id="R60648ec7d9c34d26" /><Relationship Type="http://schemas.openxmlformats.org/officeDocument/2006/relationships/slide" Target="/ppt/slides/slide4.xml" Id="R1b5fcfd4fd184120" /><Relationship Type="http://schemas.openxmlformats.org/officeDocument/2006/relationships/slide" Target="/ppt/slides/slide5.xml" Id="R11fe0a1b4b49497a" /><Relationship Type="http://schemas.openxmlformats.org/officeDocument/2006/relationships/slide" Target="/ppt/slides/slide6.xml" Id="R014cb476a48b4b40" /><Relationship Type="http://schemas.openxmlformats.org/officeDocument/2006/relationships/slide" Target="/ppt/slides/slide7.xml" Id="R0a6808aa1b1046a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0037fe64ed941d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6cd6bd492284e66" /><Relationship Type="http://schemas.openxmlformats.org/officeDocument/2006/relationships/notesMaster" Target="/ppt/notesMasters/notesMaster1.xml" Id="R4ee7e534f9414c0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4671928c6c446b3" /><Relationship Type="http://schemas.openxmlformats.org/officeDocument/2006/relationships/notesMaster" Target="/ppt/notesMasters/notesMaster1.xml" Id="R9bca9d03de16465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ea13759d44240f5" /><Relationship Type="http://schemas.openxmlformats.org/officeDocument/2006/relationships/notesMaster" Target="/ppt/notesMasters/notesMaster1.xml" Id="Rc6f86660202d467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0a704380232480d" /><Relationship Type="http://schemas.openxmlformats.org/officeDocument/2006/relationships/notesMaster" Target="/ppt/notesMasters/notesMaster1.xml" Id="Rbdaffe851b8f410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7b05c1a65fca46bd" /><Relationship Type="http://schemas.openxmlformats.org/officeDocument/2006/relationships/notesMaster" Target="/ppt/notesMasters/notesMaster1.xml" Id="R29f678e8a4b54e0f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da8ff718a35142f1" /><Relationship Type="http://schemas.openxmlformats.org/officeDocument/2006/relationships/notesMaster" Target="/ppt/notesMasters/notesMaster1.xml" Id="R8c19d0abb0bf4459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5864c5964f4f432e" /><Relationship Type="http://schemas.openxmlformats.org/officeDocument/2006/relationships/notesMaster" Target="/ppt/notesMasters/notesMaster1.xml" Id="R6274e686bc61463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NumPy gives numerical data a shape and makes whole-array operations concise. We inspect dimensions first, select with masks, and broadcast only when alignment is clear.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DS Academy curriculum manifest: Week 1, session 2: Python for Data Science II: NumPy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By the end of this session, learners should be able to Represent numerical data with arrays and meaningful shapes. Replace slow loops with vectorized operations. Explain broadcasting and shape mismatches.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DS Academy curriculum manifest: Learning outcomes for Python for Data Science II: NumPy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these four concepts as a system rather than isolated vocabulary: ndarrays, indexing, vectorization, broadcasting.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DS Academy curriculum manifest: Core concepts for Python for Data Science II: NumPy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Apply the session content through a four-stage reasoning loop: define the question, transform deliberately, validate assumptions, and communicate the evidence.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DS Academy curriculum manifest: DS Academy teaching framework applied to Python for Data Science II: NumPy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Guide learners through the lab without completing the reasoning for them. Ask for an explicit frame, a minimal implementation, boundary tests, and an evidence note.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DS Academy curriculum manifest: Guided lab for Python for Data Science II: NumPy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deliverable is A notebook comparing loop and vectorized implementations. Use the weekly assessment rubric as a quality gate, not as an after-the-fact scoring checklist.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DS Academy curriculum manifest: Portfolio deliverable and assessment rubric for week 1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NumPy gives numerical data a shape and makes whole-array operations concise. We inspect dimensions first, select with masks, and broadcast only when alignment is clear.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DS Academy curriculum manifest: Session summary for Python for Data Science II: NumPy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0054d6c38414d4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a555a5c5b334b02" /><Relationship Type="http://schemas.openxmlformats.org/officeDocument/2006/relationships/slideLayout" Target="/ppt/slideLayouts/slideLayout1.xml" Id="R9a0b2188e1a247d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a0b2188e1a247d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b921260c5844cdd" /><Relationship Type="http://schemas.openxmlformats.org/officeDocument/2006/relationships/image" Target="/ppt/media/image.png" Id="R46a82300772541ae" /><Relationship Type="http://schemas.openxmlformats.org/officeDocument/2006/relationships/image" Target="/ppt/media/image2.png" Id="Rea08613a1d8f4f2b" /><Relationship Type="http://schemas.openxmlformats.org/officeDocument/2006/relationships/notesSlide" Target="/ppt/notesSlides/notesSlide1.xml" Id="R8d3bdc33385a46e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e5f8a391cbc4d69" /><Relationship Type="http://schemas.openxmlformats.org/officeDocument/2006/relationships/notesSlide" Target="/ppt/notesSlides/notesSlide2.xml" Id="Rd0d87b0909b8421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58a6cb27d774d7b" /><Relationship Type="http://schemas.openxmlformats.org/officeDocument/2006/relationships/notesSlide" Target="/ppt/notesSlides/notesSlide3.xml" Id="Rcb462e8dcaf948b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155375cce7e4d6d" /><Relationship Type="http://schemas.openxmlformats.org/officeDocument/2006/relationships/notesSlide" Target="/ppt/notesSlides/notesSlide4.xml" Id="Ra13bead44ce2402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7d4da451787431b" /><Relationship Type="http://schemas.openxmlformats.org/officeDocument/2006/relationships/notesSlide" Target="/ppt/notesSlides/notesSlide5.xml" Id="R03be414e6da64630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e4768f3124f4e40" /><Relationship Type="http://schemas.openxmlformats.org/officeDocument/2006/relationships/notesSlide" Target="/ppt/notesSlides/notesSlide6.xml" Id="R77c765cad2e6401a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394d84e899c4f04" /><Relationship Type="http://schemas.openxmlformats.org/officeDocument/2006/relationships/notesSlide" Target="/ppt/notesSlides/notesSlide7.xml" Id="R87cd33416f544208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F809812-6622-47FD-9549-FAD5CFDAE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A7C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4CE521F-08D5-4BD4-B8DB-F0B43EDCE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0"/>
            <a:ext cx="56197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6a82300772541ae"/>
          <a:srcRect xmlns:a="http://schemas.openxmlformats.org/drawingml/2006/main" l="23736" t="0" r="23736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791200" y="0"/>
            <a:ext cx="6400800" cy="685800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628F38E-EF77-42B4-BAE1-9430038C0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62000"/>
            <a:ext cx="3905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76BDB"/>
                </a:solidFill>
              </a:defRPr>
            </a:pPr>
            <a:r>
              <a:rPr sz="1050" b="1">
                <a:solidFill>
                  <a:srgbClr val="176BDB"/>
                </a:solidFill>
              </a:rPr>
              <a:t>WEEK 01  ·  SESSION 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2A376A7-5155-4750-8B87-F4B5C311D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85900"/>
            <a:ext cx="4514850" cy="1790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675" b="1">
                <a:solidFill>
                  <a:srgbClr val="172033"/>
                </a:solidFill>
              </a:defRPr>
            </a:pPr>
            <a:r>
              <a:rPr sz="3675" b="1">
                <a:solidFill>
                  <a:srgbClr val="172033"/>
                </a:solidFill>
              </a:rPr>
              <a:t>Python for Data Science II: NumPy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7FD4A34-1786-4989-9C9F-6CB671DEE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524250"/>
            <a:ext cx="7048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77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3E4AAE4-54F7-42E4-8351-CF6837299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86200"/>
            <a:ext cx="44386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58657A"/>
                </a:solidFill>
              </a:defRPr>
            </a:pPr>
            <a:r>
              <a:rPr sz="1575">
                <a:solidFill>
                  <a:srgbClr val="58657A"/>
                </a:solidFill>
              </a:rPr>
              <a:t>Write clear, testable Python and reason about data transformations.</a:t>
            </a:r>
          </a:p>
        </p:txBody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a08613a1d8f4f2b"/>
          <a:stretch xmlns:a="http://schemas.openxmlformats.org/drawingml/2006/main"/>
        </p:blipFill>
        <p:spPr>
          <a:xfrm xmlns:a="http://schemas.openxmlformats.org/drawingml/2006/main">
            <a:off x="666750" y="5810250"/>
            <a:ext cx="1714500" cy="5715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81991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A25C57E-83CA-4D8E-BE55-67D8B36B6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A7C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8C61F52-9421-4E7B-B468-66624DFC1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66700"/>
            <a:ext cx="3238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176BDB"/>
                </a:solidFill>
              </a:defRPr>
            </a:pPr>
            <a:r>
              <a:rPr sz="900" b="1">
                <a:solidFill>
                  <a:srgbClr val="176BDB"/>
                </a:solidFill>
              </a:rPr>
              <a:t>WEEK 01  /  SESSION 02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30D69BA-E870-4A12-9FA6-242DD1722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42925"/>
            <a:ext cx="8763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72033"/>
                </a:solidFill>
              </a:defRPr>
            </a:pPr>
            <a:r>
              <a:rPr sz="2550" b="1">
                <a:solidFill>
                  <a:srgbClr val="172033"/>
                </a:solidFill>
              </a:rPr>
              <a:t>Learning outcomes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B0E3538-3515-4701-87E4-15D7C7583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4625" y="323850"/>
            <a:ext cx="13811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58657A"/>
                </a:solidFill>
              </a:defRPr>
            </a:pPr>
            <a:r>
              <a:rPr sz="900" b="1">
                <a:solidFill>
                  <a:srgbClr val="58657A"/>
                </a:solidFill>
              </a:rPr>
              <a:t>DS ACADEMY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ADDDA99-B42D-49E8-9014-E0D3BD724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181100"/>
            <a:ext cx="112204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2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01267F8-C0CF-435F-9B3A-487F10914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562100"/>
            <a:ext cx="8001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76BDB"/>
                </a:solidFill>
              </a:defRPr>
            </a:pPr>
            <a:r>
              <a:rPr sz="2700" b="1">
                <a:solidFill>
                  <a:srgbClr val="176BDB"/>
                </a:solidFill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0387CCD-ABC6-4D65-BCF7-C8C9FB2A8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" y="1809750"/>
            <a:ext cx="800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2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8C4F709-6A88-4795-9129-7E9D84160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1533525"/>
            <a:ext cx="8096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72033"/>
                </a:solidFill>
              </a:defRPr>
            </a:pPr>
            <a:r>
              <a:rPr sz="1875" b="1">
                <a:solidFill>
                  <a:srgbClr val="172033"/>
                </a:solidFill>
              </a:rPr>
              <a:t>Represent numerical data with arrays and meaningful shapes.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2B372CC-08EC-4101-9D05-2F1D358E3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990850"/>
            <a:ext cx="8001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8A7C9"/>
                </a:solidFill>
              </a:defRPr>
            </a:pPr>
            <a:r>
              <a:rPr sz="2700" b="1">
                <a:solidFill>
                  <a:srgbClr val="08A7C9"/>
                </a:solidFill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56F68D0-AA0B-4F92-BD03-B21201D40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" y="3238500"/>
            <a:ext cx="800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2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FFAED75-BD81-4AA8-B034-4E2CEEACF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2962275"/>
            <a:ext cx="8096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72033"/>
                </a:solidFill>
              </a:defRPr>
            </a:pPr>
            <a:r>
              <a:rPr sz="1875" b="1">
                <a:solidFill>
                  <a:srgbClr val="172033"/>
                </a:solidFill>
              </a:rPr>
              <a:t>Replace slow loops with vectorized operations.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91CFC10-03FF-4C02-964C-37CA6A38F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419600"/>
            <a:ext cx="8001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76BDB"/>
                </a:solidFill>
              </a:defRPr>
            </a:pPr>
            <a:r>
              <a:rPr sz="2700" b="1">
                <a:solidFill>
                  <a:srgbClr val="176BDB"/>
                </a:solidFill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1E98B49-5C5C-4B19-92C0-DEBD0F3CB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" y="4667250"/>
            <a:ext cx="800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77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D4E6C87-1451-4957-B317-6A6CC8AE2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4391025"/>
            <a:ext cx="8096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72033"/>
                </a:solidFill>
              </a:defRPr>
            </a:pPr>
            <a:r>
              <a:rPr sz="1875" b="1">
                <a:solidFill>
                  <a:srgbClr val="172033"/>
                </a:solidFill>
              </a:rPr>
              <a:t>Explain broadcasting and shape mismatches.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640576B-7720-4F99-8CCF-BBBC8CF83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77000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58657A"/>
                </a:solidFill>
              </a:defRPr>
            </a:pPr>
            <a:r>
              <a:rPr sz="750">
                <a:solidFill>
                  <a:srgbClr val="58657A"/>
                </a:solidFill>
              </a:rPr>
              <a:t>End-to-End Data Science &amp; AI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E214109-FBB4-487D-BC9A-D5A809E26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77000"/>
            <a:ext cx="438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176BDB"/>
                </a:solidFill>
              </a:defRPr>
            </a:pPr>
            <a:r>
              <a:rPr sz="750" b="1">
                <a:solidFill>
                  <a:srgbClr val="176BDB"/>
                </a:solidFill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14172893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1CAD91E-56C4-4D4A-A809-84BB0C4DD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A7C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44F9292-84CA-42A9-8A53-9222B7CAE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66700"/>
            <a:ext cx="3238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176BDB"/>
                </a:solidFill>
              </a:defRPr>
            </a:pPr>
            <a:r>
              <a:rPr sz="900" b="1">
                <a:solidFill>
                  <a:srgbClr val="176BDB"/>
                </a:solidFill>
              </a:rPr>
              <a:t>WEEK 01  /  SESSION 02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1D971A4-422F-45A0-BAA1-B7503D872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42925"/>
            <a:ext cx="8763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72033"/>
                </a:solidFill>
              </a:defRPr>
            </a:pPr>
            <a:r>
              <a:rPr sz="2550" b="1">
                <a:solidFill>
                  <a:srgbClr val="172033"/>
                </a:solidFill>
              </a:rPr>
              <a:t>The concept system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73CA4CB-C1B3-4F5C-A178-EA6EA61C5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4625" y="323850"/>
            <a:ext cx="13811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58657A"/>
                </a:solidFill>
              </a:defRPr>
            </a:pPr>
            <a:r>
              <a:rPr sz="900" b="1">
                <a:solidFill>
                  <a:srgbClr val="58657A"/>
                </a:solidFill>
              </a:rPr>
              <a:t>DS ACADEMY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035685A-BC39-45E1-A30D-1AA17A663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181100"/>
            <a:ext cx="112204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2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C7CFE44-BA6F-4DCE-8FA4-27614DAF7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733550"/>
            <a:ext cx="476250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EDF4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AC83D87-9B76-470E-84AB-2B7B89E72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733550"/>
            <a:ext cx="9525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D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CD1BB5D-37CB-4819-B799-9D1041E95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971675"/>
            <a:ext cx="552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58657A"/>
                </a:solidFill>
              </a:defRPr>
            </a:pPr>
            <a:r>
              <a:rPr sz="1050" b="1">
                <a:solidFill>
                  <a:srgbClr val="58657A"/>
                </a:solidFill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F6D45E3-23EE-4DA1-AF92-84168BDF9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390775"/>
            <a:ext cx="4000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72033"/>
                </a:solidFill>
              </a:defRPr>
            </a:pPr>
            <a:r>
              <a:rPr sz="2025" b="1">
                <a:solidFill>
                  <a:srgbClr val="172033"/>
                </a:solidFill>
              </a:rPr>
              <a:t>ndarrays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581D859-5421-4233-8B51-26591BC35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1733550"/>
            <a:ext cx="476250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2EC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616E2F5-163E-4A5D-B51A-40F4C8022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1733550"/>
            <a:ext cx="9525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A7C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21349B6-2F6A-4990-A6B7-C5FA67B4C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1971675"/>
            <a:ext cx="552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58657A"/>
                </a:solidFill>
              </a:defRPr>
            </a:pPr>
            <a:r>
              <a:rPr sz="1050" b="1">
                <a:solidFill>
                  <a:srgbClr val="58657A"/>
                </a:solidFill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090A4A1-936C-4728-B5B2-F87D0A366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390775"/>
            <a:ext cx="4000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72033"/>
                </a:solidFill>
              </a:defRPr>
            </a:pPr>
            <a:r>
              <a:rPr sz="2025" b="1">
                <a:solidFill>
                  <a:srgbClr val="172033"/>
                </a:solidFill>
              </a:rPr>
              <a:t>indexing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50034BC-523B-4F31-9951-8FB726FF0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00500"/>
            <a:ext cx="476250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EDF4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6A4596F-EBB9-44A3-87B7-45284428F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00500"/>
            <a:ext cx="9525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D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8792DA5-6C58-42E2-BCD9-AE5566859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238625"/>
            <a:ext cx="552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58657A"/>
                </a:solidFill>
              </a:defRPr>
            </a:pPr>
            <a:r>
              <a:rPr sz="1050" b="1">
                <a:solidFill>
                  <a:srgbClr val="58657A"/>
                </a:solidFill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33D26A7-261C-4ACB-B9B4-BF3748BD1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657725"/>
            <a:ext cx="4000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72033"/>
                </a:solidFill>
              </a:defRPr>
            </a:pPr>
            <a:r>
              <a:rPr sz="2025" b="1">
                <a:solidFill>
                  <a:srgbClr val="172033"/>
                </a:solidFill>
              </a:rPr>
              <a:t>vectorization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8FA7394-0144-4C73-B0D0-8B8B9693D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4000500"/>
            <a:ext cx="476250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2EC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2A69AEE-F9DB-4A4D-80FE-19AC445B3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4000500"/>
            <a:ext cx="9525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77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B87F1A1-BEEB-4AEA-B056-A0100BFFB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4238625"/>
            <a:ext cx="552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58657A"/>
                </a:solidFill>
              </a:defRPr>
            </a:pPr>
            <a:r>
              <a:rPr sz="1050" b="1">
                <a:solidFill>
                  <a:srgbClr val="58657A"/>
                </a:solidFill>
              </a:rPr>
              <a:t>04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05B4D53-624D-457B-9114-3357EAD4C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4657725"/>
            <a:ext cx="4000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72033"/>
                </a:solidFill>
              </a:defRPr>
            </a:pPr>
            <a:r>
              <a:rPr sz="2025" b="1">
                <a:solidFill>
                  <a:srgbClr val="172033"/>
                </a:solidFill>
              </a:rPr>
              <a:t>broadcasting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930102E-41B2-416A-AA29-7BF7D5A54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77000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58657A"/>
                </a:solidFill>
              </a:defRPr>
            </a:pPr>
            <a:r>
              <a:rPr sz="750">
                <a:solidFill>
                  <a:srgbClr val="58657A"/>
                </a:solidFill>
              </a:rPr>
              <a:t>End-to-End Data Science &amp; AI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6D7D74F-6277-4485-8A2A-7BD69D0DA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77000"/>
            <a:ext cx="438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176BDB"/>
                </a:solidFill>
              </a:defRPr>
            </a:pPr>
            <a:r>
              <a:rPr sz="750" b="1">
                <a:solidFill>
                  <a:srgbClr val="176BDB"/>
                </a:solidFill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208270784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12253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2D51726-88E2-4BDD-B491-BD3F03EE6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"/>
            <a:ext cx="3905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08A7C9"/>
                </a:solidFill>
              </a:defRPr>
            </a:pPr>
            <a:r>
              <a:rPr sz="975" b="1">
                <a:solidFill>
                  <a:srgbClr val="08A7C9"/>
                </a:solidFill>
              </a:rPr>
              <a:t>FROM QUESTION TO 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2ECAAFF-1095-4686-88E4-8D3EED5A9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685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FFFFFF"/>
                </a:solidFill>
              </a:defRPr>
            </a:pPr>
            <a:r>
              <a:rPr sz="2850" b="1">
                <a:solidFill>
                  <a:srgbClr val="FFFFFF"/>
                </a:solidFill>
              </a:rPr>
              <a:t>A repeatable reasoning loop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68726DA-8720-4F50-A3D4-7DF30C2BE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0"/>
            <a:ext cx="2247900" cy="1600200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176BD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9510BDE-7D2E-4142-A666-DDCF433FB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68605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281C19F-387C-4FAF-981F-FEB29D158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238500"/>
            <a:ext cx="1809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FFFFFF"/>
                </a:solidFill>
              </a:defRPr>
            </a:pPr>
            <a:r>
              <a:rPr sz="1875" b="1">
                <a:solidFill>
                  <a:srgbClr val="FFFFFF"/>
                </a:solidFill>
              </a:rPr>
              <a:t>Define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BEA41B8-1189-41BE-89FC-AA319C6CF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3067050"/>
            <a:ext cx="4000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FFFFFF"/>
                </a:solidFill>
              </a:defRPr>
            </a:pPr>
            <a:r>
              <a:rPr sz="2250" b="1">
                <a:solidFill>
                  <a:srgbClr val="FFFFFF"/>
                </a:solidFill>
              </a:rPr>
              <a:t>→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B468427-327D-4D9F-B716-FFF36B813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2476500"/>
            <a:ext cx="2247900" cy="1600200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08A7C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5FE6FF6-00FD-4223-B12A-7CE541C36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68605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451C4E8-B8E7-4FF8-9AB0-838ED551B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3238500"/>
            <a:ext cx="1809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FFFFFF"/>
                </a:solidFill>
              </a:defRPr>
            </a:pPr>
            <a:r>
              <a:rPr sz="1875" b="1">
                <a:solidFill>
                  <a:srgbClr val="FFFFFF"/>
                </a:solidFill>
              </a:rPr>
              <a:t>Transform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B27E331-2C16-4802-94C6-8115BFC95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3067050"/>
            <a:ext cx="4000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FFFFFF"/>
                </a:solidFill>
              </a:defRPr>
            </a:pPr>
            <a:r>
              <a:rPr sz="2250" b="1">
                <a:solidFill>
                  <a:srgbClr val="FFFFFF"/>
                </a:solidFill>
              </a:rPr>
              <a:t>→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B7AAFBB-76CF-4931-AFFA-CC14398E1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476500"/>
            <a:ext cx="2247900" cy="1600200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FA33F25-1229-445D-8E31-3328E786C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68605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58657A"/>
                </a:solidFill>
              </a:defRPr>
            </a:pPr>
            <a:r>
              <a:rPr sz="975" b="1">
                <a:solidFill>
                  <a:srgbClr val="58657A"/>
                </a:solidFill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D7E2357-0C6B-4F47-8890-C058902F6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238500"/>
            <a:ext cx="1809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72033"/>
                </a:solidFill>
              </a:defRPr>
            </a:pPr>
            <a:r>
              <a:rPr sz="1875" b="1">
                <a:solidFill>
                  <a:srgbClr val="172033"/>
                </a:solidFill>
              </a:rPr>
              <a:t>Validate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5112C6F-08D7-46AC-941D-0C913E52D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3067050"/>
            <a:ext cx="4000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FFFFFF"/>
                </a:solidFill>
              </a:defRPr>
            </a:pPr>
            <a:r>
              <a:rPr sz="2250" b="1">
                <a:solidFill>
                  <a:srgbClr val="FFFFFF"/>
                </a:solidFill>
              </a:rPr>
              <a:t>→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72B3ED7-0ED4-4002-97E7-3F890D84D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2476500"/>
            <a:ext cx="2247900" cy="1600200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EF77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A66C577-B00E-45B4-B40D-B9F62F586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268605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04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B5E6EC7-1882-4026-B4A1-74E6CEB9E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3238500"/>
            <a:ext cx="1809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FFFFFF"/>
                </a:solidFill>
              </a:defRPr>
            </a:pPr>
            <a:r>
              <a:rPr sz="1875" b="1">
                <a:solidFill>
                  <a:srgbClr val="FFFFFF"/>
                </a:solidFill>
              </a:rPr>
              <a:t>Communicate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D750D43-27E6-4F6F-A74D-C14F14E44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95850"/>
            <a:ext cx="10668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FFFFFF"/>
                </a:solidFill>
              </a:defRPr>
            </a:pPr>
            <a:r>
              <a:rPr sz="1650">
                <a:solidFill>
                  <a:srgbClr val="FFFFFF"/>
                </a:solidFill>
              </a:rPr>
              <a:t>Calculate cohort retention and normalized scores from matrix data.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51A5F63-D94B-40C2-9829-3D58C0B6B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34125"/>
            <a:ext cx="3810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AFC4D9"/>
                </a:solidFill>
              </a:defRPr>
            </a:pPr>
            <a:r>
              <a:rPr sz="750" b="1">
                <a:solidFill>
                  <a:srgbClr val="AFC4D9"/>
                </a:solidFill>
              </a:rPr>
              <a:t>DS ACADEMY  ·  PRACTICAL REASONING</a:t>
            </a:r>
          </a:p>
        </p:txBody>
      </p:sp>
    </p:spTree>
    <p:extLst>
      <p:ext uri="{BB962C8B-B14F-4D97-AF65-F5344CB8AC3E}">
        <p14:creationId xmlns:p14="http://schemas.microsoft.com/office/powerpoint/2010/main" val="210699251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D0658B4-FEC6-4441-8224-2ADA6E1AE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A7C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8A5F58B-096F-44B7-B517-46337B1CF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66700"/>
            <a:ext cx="3238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176BDB"/>
                </a:solidFill>
              </a:defRPr>
            </a:pPr>
            <a:r>
              <a:rPr sz="900" b="1">
                <a:solidFill>
                  <a:srgbClr val="176BDB"/>
                </a:solidFill>
              </a:rPr>
              <a:t>WEEK 01  /  SESSION 02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2349FF8-09A4-45D4-8C89-FDD036952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42925"/>
            <a:ext cx="8763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72033"/>
                </a:solidFill>
              </a:defRPr>
            </a:pPr>
            <a:r>
              <a:rPr sz="2550" b="1">
                <a:solidFill>
                  <a:srgbClr val="172033"/>
                </a:solidFill>
              </a:rPr>
              <a:t>Guided lab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19C82A3-CFFA-4CD5-8436-9C1C3559F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4625" y="323850"/>
            <a:ext cx="13811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58657A"/>
                </a:solidFill>
              </a:defRPr>
            </a:pPr>
            <a:r>
              <a:rPr sz="900" b="1">
                <a:solidFill>
                  <a:srgbClr val="58657A"/>
                </a:solidFill>
              </a:rPr>
              <a:t>DS ACADEMY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6255F13-9880-427C-8741-4A8751785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181100"/>
            <a:ext cx="112204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2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921A4EB-A953-453D-99F4-583132437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4857750" cy="4000500"/>
          </a:xfrm>
          <a:prstGeom xmlns:a="http://schemas.openxmlformats.org/drawingml/2006/main" prst="roundRect">
            <a:avLst>
              <a:gd name="adj" fmla="val 1905"/>
            </a:avLst>
          </a:prstGeom>
          <a:solidFill xmlns:a="http://schemas.openxmlformats.org/drawingml/2006/main">
            <a:srgbClr val="12253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BF4418D-4CBC-4557-BB14-24B3AA5FA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962150"/>
            <a:ext cx="1714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08A7C9"/>
                </a:solidFill>
              </a:defRPr>
            </a:pPr>
            <a:r>
              <a:rPr sz="900" b="1">
                <a:solidFill>
                  <a:srgbClr val="08A7C9"/>
                </a:solidFill>
              </a:rPr>
              <a:t>LAB BRIEF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47FACE8-E526-40CE-9FE6-8ACDAC4E2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514600"/>
            <a:ext cx="3962400" cy="1581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FFFFFF"/>
                </a:solidFill>
              </a:defRPr>
            </a:pPr>
            <a:r>
              <a:rPr sz="2025" b="1">
                <a:solidFill>
                  <a:srgbClr val="FFFFFF"/>
                </a:solidFill>
              </a:rPr>
              <a:t>Calculate cohort retention and normalized scores from matrix data.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356BD9A-69C4-490C-B967-710E9D9E8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972050"/>
            <a:ext cx="3619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AFC4D9"/>
                </a:solidFill>
              </a:defRPr>
            </a:pPr>
            <a:r>
              <a:rPr sz="975">
                <a:solidFill>
                  <a:srgbClr val="AFC4D9"/>
                </a:solidFill>
              </a:rPr>
              <a:t>workbook  /  tests  /  evidence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75B5BD5-9951-4E43-B52D-7A4FB7536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165735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176BDB"/>
                </a:solidFill>
              </a:defRPr>
            </a:pPr>
            <a:r>
              <a:rPr sz="975" b="1">
                <a:solidFill>
                  <a:srgbClr val="176BDB"/>
                </a:solidFill>
              </a:rPr>
              <a:t>01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375FF90-8ADF-4B22-81D8-24EE8850B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1628775"/>
            <a:ext cx="152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72033"/>
                </a:solidFill>
              </a:defRPr>
            </a:pPr>
            <a:r>
              <a:rPr sz="1575" b="1">
                <a:solidFill>
                  <a:srgbClr val="172033"/>
                </a:solidFill>
              </a:rPr>
              <a:t>Frame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F424F1C-F973-4455-A6FD-CF312A22B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1981200"/>
            <a:ext cx="4286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8657A"/>
                </a:solidFill>
              </a:defRPr>
            </a:pPr>
            <a:r>
              <a:rPr sz="1200">
                <a:solidFill>
                  <a:srgbClr val="58657A"/>
                </a:solidFill>
              </a:rPr>
              <a:t>Define inputs, outputs, and success criteria.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6A8C3C3-9DC2-4EA5-B771-A53D8F913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495550"/>
            <a:ext cx="48958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2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3917D23-D0D1-430D-9C1F-0AC9C688F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62890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176BDB"/>
                </a:solidFill>
              </a:defRPr>
            </a:pPr>
            <a:r>
              <a:rPr sz="975" b="1">
                <a:solidFill>
                  <a:srgbClr val="176BDB"/>
                </a:solidFill>
              </a:rPr>
              <a:t>02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B1FA4A4-DB0F-4642-BD77-C398CFA44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600325"/>
            <a:ext cx="152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72033"/>
                </a:solidFill>
              </a:defRPr>
            </a:pPr>
            <a:r>
              <a:rPr sz="1575" b="1">
                <a:solidFill>
                  <a:srgbClr val="172033"/>
                </a:solidFill>
              </a:rPr>
              <a:t>Build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D90768C-0731-4518-B3A0-080B16675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952750"/>
            <a:ext cx="4286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8657A"/>
                </a:solidFill>
              </a:defRPr>
            </a:pPr>
            <a:r>
              <a:rPr sz="1200">
                <a:solidFill>
                  <a:srgbClr val="58657A"/>
                </a:solidFill>
              </a:rPr>
              <a:t>Implement the smallest correct workflow.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49578D6-AAC2-4925-93A4-D36E2310E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3467100"/>
            <a:ext cx="48958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2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33353A1-FAC8-4E91-8366-F5535C319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360045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176BDB"/>
                </a:solidFill>
              </a:defRPr>
            </a:pPr>
            <a:r>
              <a:rPr sz="975" b="1">
                <a:solidFill>
                  <a:srgbClr val="176BDB"/>
                </a:solidFill>
              </a:rPr>
              <a:t>03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83E8867-7010-4358-AD98-FE379F61C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571875"/>
            <a:ext cx="152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72033"/>
                </a:solidFill>
              </a:defRPr>
            </a:pPr>
            <a:r>
              <a:rPr sz="1575" b="1">
                <a:solidFill>
                  <a:srgbClr val="172033"/>
                </a:solidFill>
              </a:rPr>
              <a:t>Verify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D838272-6781-4DCB-9C37-8215A46C0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924300"/>
            <a:ext cx="4286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8657A"/>
                </a:solidFill>
              </a:defRPr>
            </a:pPr>
            <a:r>
              <a:rPr sz="1200">
                <a:solidFill>
                  <a:srgbClr val="58657A"/>
                </a:solidFill>
              </a:rPr>
              <a:t>Test normal, boundary, and failure cases.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07B9CA1-3DF3-42E5-B84E-E32BB00E4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4438650"/>
            <a:ext cx="48958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2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0ED0EF0-F641-4340-B76B-F77E8E2D3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457200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EF7768"/>
                </a:solidFill>
              </a:defRPr>
            </a:pPr>
            <a:r>
              <a:rPr sz="975" b="1">
                <a:solidFill>
                  <a:srgbClr val="EF7768"/>
                </a:solidFill>
              </a:rPr>
              <a:t>04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06C6562-0B0A-40FF-A83D-80F71002B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543425"/>
            <a:ext cx="152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72033"/>
                </a:solidFill>
              </a:defRPr>
            </a:pPr>
            <a:r>
              <a:rPr sz="1575" b="1">
                <a:solidFill>
                  <a:srgbClr val="172033"/>
                </a:solidFill>
              </a:rPr>
              <a:t>Explain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2916BC0-5A61-4774-9FE3-0E56EF6E7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895850"/>
            <a:ext cx="4286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8657A"/>
                </a:solidFill>
              </a:defRPr>
            </a:pPr>
            <a:r>
              <a:rPr sz="1200">
                <a:solidFill>
                  <a:srgbClr val="58657A"/>
                </a:solidFill>
              </a:rPr>
              <a:t>Record the evidence and remaining limits.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41723AE-55C9-4972-B32C-39D9A7EC3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77000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58657A"/>
                </a:solidFill>
              </a:defRPr>
            </a:pPr>
            <a:r>
              <a:rPr sz="750">
                <a:solidFill>
                  <a:srgbClr val="58657A"/>
                </a:solidFill>
              </a:rPr>
              <a:t>End-to-End Data Science &amp; AI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7D075B1-127C-485C-A55A-9C79E11F2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77000"/>
            <a:ext cx="438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176BDB"/>
                </a:solidFill>
              </a:defRPr>
            </a:pPr>
            <a:r>
              <a:rPr sz="750" b="1">
                <a:solidFill>
                  <a:srgbClr val="176BDB"/>
                </a:solidFill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204947659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83D128C-B650-494F-8700-74101F56B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A7C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BF64680-6373-4742-8CC3-21A88CF2F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66700"/>
            <a:ext cx="3238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176BDB"/>
                </a:solidFill>
              </a:defRPr>
            </a:pPr>
            <a:r>
              <a:rPr sz="900" b="1">
                <a:solidFill>
                  <a:srgbClr val="176BDB"/>
                </a:solidFill>
              </a:rPr>
              <a:t>WEEK 01  /  SESSION 02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7975B1A-2E19-434D-9FB0-5B08793A3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42925"/>
            <a:ext cx="8763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72033"/>
                </a:solidFill>
              </a:defRPr>
            </a:pPr>
            <a:r>
              <a:rPr sz="2550" b="1">
                <a:solidFill>
                  <a:srgbClr val="172033"/>
                </a:solidFill>
              </a:rPr>
              <a:t>Portfolio deliverable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78E5E7A-77C0-4419-BD4B-3C5A33FBF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4625" y="323850"/>
            <a:ext cx="13811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58657A"/>
                </a:solidFill>
              </a:defRPr>
            </a:pPr>
            <a:r>
              <a:rPr sz="900" b="1">
                <a:solidFill>
                  <a:srgbClr val="58657A"/>
                </a:solidFill>
              </a:rPr>
              <a:t>DS ACADEMY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5913675-4138-4F05-83C9-D893CEAED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181100"/>
            <a:ext cx="112204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2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4237B6B-24AA-43C9-848B-EDC141825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72390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172033"/>
                </a:solidFill>
              </a:defRPr>
            </a:pPr>
            <a:r>
              <a:rPr sz="2325" b="1">
                <a:solidFill>
                  <a:srgbClr val="172033"/>
                </a:solidFill>
              </a:rPr>
              <a:t>A notebook comparing loop and vectorized implementations.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713D69B-FEB4-4898-B6A7-AE1EF4C5D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181350"/>
            <a:ext cx="171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176BDB"/>
                </a:solidFill>
              </a:defRPr>
            </a:pPr>
            <a:r>
              <a:rPr sz="900" b="1">
                <a:solidFill>
                  <a:srgbClr val="176BDB"/>
                </a:solidFill>
              </a:rPr>
              <a:t>QUALITY GATE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6E5A947-59EF-4F49-82D8-EDE2CCC83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76650"/>
            <a:ext cx="190500" cy="19050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08A7C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598321B-7CE2-4A54-B1E2-2F50C2871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600450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72033"/>
                </a:solidFill>
              </a:defRPr>
            </a:pPr>
            <a:r>
              <a:rPr sz="1500" b="1">
                <a:solidFill>
                  <a:srgbClr val="172033"/>
                </a:solidFill>
              </a:rPr>
              <a:t>Reproducible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CC55A0E-7356-4FD1-97C6-93F0D8563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95775"/>
            <a:ext cx="190500" cy="19050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08A7C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48F3057-57B5-4AF1-80B5-5FEBBA78B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19575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72033"/>
                </a:solidFill>
              </a:defRPr>
            </a:pPr>
            <a:r>
              <a:rPr sz="1500" b="1">
                <a:solidFill>
                  <a:srgbClr val="172033"/>
                </a:solidFill>
              </a:rPr>
              <a:t>Tested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897DBF6-A0A9-4F0F-9DA9-92DF570F8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914900"/>
            <a:ext cx="190500" cy="19050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EF77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652B7F3-983A-4CD7-AC1F-70EEBB596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838700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72033"/>
                </a:solidFill>
              </a:defRPr>
            </a:pPr>
            <a:r>
              <a:rPr sz="1500" b="1">
                <a:solidFill>
                  <a:srgbClr val="172033"/>
                </a:solidFill>
              </a:rPr>
              <a:t>Decision-relevant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E11D635-5D63-4F8C-ACBE-99E548ED4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1600200"/>
            <a:ext cx="3143250" cy="4057650"/>
          </a:xfrm>
          <a:prstGeom xmlns:a="http://schemas.openxmlformats.org/drawingml/2006/main" prst="roundRect">
            <a:avLst>
              <a:gd name="adj" fmla="val 2424"/>
            </a:avLst>
          </a:prstGeom>
          <a:solidFill xmlns:a="http://schemas.openxmlformats.org/drawingml/2006/main">
            <a:srgbClr val="EDF4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39EA1F8-F3AF-48BE-B27F-43C506E01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962150"/>
            <a:ext cx="238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176BDB"/>
                </a:solidFill>
              </a:defRPr>
            </a:pPr>
            <a:r>
              <a:rPr sz="900" b="1">
                <a:solidFill>
                  <a:srgbClr val="176BDB"/>
                </a:solidFill>
              </a:rPr>
              <a:t>WEEKLY ASSESSMENT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2CAE6A2-2915-4B6A-8BC9-43C9942AC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476500"/>
            <a:ext cx="2381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72033"/>
                </a:solidFill>
              </a:defRPr>
            </a:pPr>
            <a:r>
              <a:rPr sz="1875" b="1">
                <a:solidFill>
                  <a:srgbClr val="172033"/>
                </a:solidFill>
              </a:rPr>
              <a:t>Transaction Quality Profiler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580E7B8-D931-4C15-A59C-84D8D20C5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695700"/>
            <a:ext cx="238125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8657A"/>
                </a:solidFill>
              </a:defRPr>
            </a:pPr>
            <a:r>
              <a:rPr sz="1200">
                <a:solidFill>
                  <a:srgbClr val="58657A"/>
                </a:solidFill>
              </a:rPr>
              <a:t>Correctness 40%, clarity 25%, tests 20%, explanation 15%.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39C9F70-169C-4726-9D6F-5CE90A285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77000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58657A"/>
                </a:solidFill>
              </a:defRPr>
            </a:pPr>
            <a:r>
              <a:rPr sz="750">
                <a:solidFill>
                  <a:srgbClr val="58657A"/>
                </a:solidFill>
              </a:rPr>
              <a:t>End-to-End Data Science &amp; AI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7A7B98C-A0BB-468E-9616-0610073D2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77000"/>
            <a:ext cx="438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176BDB"/>
                </a:solidFill>
              </a:defRPr>
            </a:pPr>
            <a:r>
              <a:rPr sz="750" b="1">
                <a:solidFill>
                  <a:srgbClr val="176BDB"/>
                </a:solidFill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13311219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BA16EC8-E6B0-493C-9B0C-0F3F2C827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A7C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497C6FC-A314-40E6-B75A-C19AFDC94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176BDB"/>
                </a:solidFill>
              </a:defRPr>
            </a:pPr>
            <a:r>
              <a:rPr sz="975" b="1">
                <a:solidFill>
                  <a:srgbClr val="176BDB"/>
                </a:solidFill>
              </a:rPr>
              <a:t>SESSION CHECKPOINT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3FD0738-68A0-46A0-B602-E2F051F1F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04900"/>
            <a:ext cx="8763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72033"/>
                </a:solidFill>
              </a:defRPr>
            </a:pPr>
            <a:r>
              <a:rPr sz="2850" b="1">
                <a:solidFill>
                  <a:srgbClr val="172033"/>
                </a:solidFill>
              </a:rPr>
              <a:t>What should remain after the lesson?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BB8C8A3-6533-4953-A909-4E275C801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324100"/>
            <a:ext cx="1333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08A7C9"/>
                </a:solidFill>
              </a:defRPr>
            </a:pPr>
            <a:r>
              <a:rPr sz="900" b="1">
                <a:solidFill>
                  <a:srgbClr val="08A7C9"/>
                </a:solidFill>
              </a:rPr>
              <a:t>CONCEPT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ED2860C-28C0-4295-8D3A-A222D5BEA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2257425"/>
            <a:ext cx="8382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72033"/>
                </a:solidFill>
              </a:defRPr>
            </a:pPr>
            <a:r>
              <a:rPr sz="1725" b="1">
                <a:solidFill>
                  <a:srgbClr val="172033"/>
                </a:solidFill>
              </a:rPr>
              <a:t>ndarrays + indexing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C344651-38EA-4D42-8833-9D7487DF2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124200"/>
            <a:ext cx="101727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2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7649D01-53B4-46D1-8452-8E8480C06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467100"/>
            <a:ext cx="1333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08A7C9"/>
                </a:solidFill>
              </a:defRPr>
            </a:pPr>
            <a:r>
              <a:rPr sz="900" b="1">
                <a:solidFill>
                  <a:srgbClr val="08A7C9"/>
                </a:solidFill>
              </a:rPr>
              <a:t>PRACTICE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E96CB34-F5B6-4C9A-8C15-EF34C28D8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3400425"/>
            <a:ext cx="8382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72033"/>
                </a:solidFill>
              </a:defRPr>
            </a:pPr>
            <a:r>
              <a:rPr sz="1725" b="1">
                <a:solidFill>
                  <a:srgbClr val="172033"/>
                </a:solidFill>
              </a:rPr>
              <a:t>Calculate cohort retention and normalized scores from matrix data.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5CB4E32-9899-466C-A0FA-3589D36D8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267200"/>
            <a:ext cx="101727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2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F378F7C-4614-4175-856E-0E3F0A063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610100"/>
            <a:ext cx="1333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EF7768"/>
                </a:solidFill>
              </a:defRPr>
            </a:pPr>
            <a:r>
              <a:rPr sz="900" b="1">
                <a:solidFill>
                  <a:srgbClr val="EF7768"/>
                </a:solidFill>
              </a:rPr>
              <a:t>EVIDENCE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9BCBD88-25C8-4BAD-82DA-EFE105484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4543425"/>
            <a:ext cx="8382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72033"/>
                </a:solidFill>
              </a:defRPr>
            </a:pPr>
            <a:r>
              <a:rPr sz="1725" b="1">
                <a:solidFill>
                  <a:srgbClr val="172033"/>
                </a:solidFill>
              </a:rPr>
              <a:t>A notebook comparing loop and vectorized implementations.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3FCBF3D-DDA7-4BD5-BC55-D6E11E958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410200"/>
            <a:ext cx="101727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2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2AC474A-CCEE-46EA-82FC-E2554B0AE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981700"/>
            <a:ext cx="2905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176BDB"/>
                </a:solidFill>
              </a:defRPr>
            </a:pPr>
            <a:r>
              <a:rPr sz="1125" b="1">
                <a:solidFill>
                  <a:srgbClr val="176BDB"/>
                </a:solidFill>
              </a:rPr>
              <a:t>Narration available in English and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0A6CA79-09F3-4FE8-9B64-14386543C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5953125"/>
            <a:ext cx="876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76BDB"/>
                </a:solidFill>
              </a:defRPr>
            </a:pPr>
            <a:r>
              <a:rPr sz="1200" b="1">
                <a:solidFill>
                  <a:srgbClr val="176BDB"/>
                </a:solidFill>
              </a:rPr>
              <a:t>සිංහල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379C013-C659-4FE9-91FC-E73EC9D99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5981700"/>
            <a:ext cx="133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58657A"/>
                </a:solidFill>
              </a:defRPr>
            </a:pPr>
            <a:r>
              <a:rPr sz="900" b="1">
                <a:solidFill>
                  <a:srgbClr val="58657A"/>
                </a:solidFill>
              </a:rPr>
              <a:t>DS ACADEMY</a:t>
            </a:r>
          </a:p>
        </p:txBody>
      </p:sp>
    </p:spTree>
    <p:extLst>
      <p:ext uri="{BB962C8B-B14F-4D97-AF65-F5344CB8AC3E}">
        <p14:creationId xmlns:p14="http://schemas.microsoft.com/office/powerpoint/2010/main" val="68003334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2026-07-27T08:00:59.9060000Z</dcterms:created>
  <dcterms:modified xsi:type="dcterms:W3CDTF">2026-07-27T08:00:59.9060000Z</dcterms:modified>
</coreProperties>
</file>