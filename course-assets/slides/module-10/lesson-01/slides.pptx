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f38c7eb994a43" /><Relationship Type="http://schemas.openxmlformats.org/officeDocument/2006/relationships/extended-properties" Target="/docProps/app.xml" Id="R232f52ddce56468f" /><Relationship Type="http://schemas.openxmlformats.org/officeDocument/2006/relationships/officeDocument" Target="/ppt/presentation.xml" Id="R46ca6e812d67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362e517db4dcc"/>
  </p:sldMasterIdLst>
  <p:notesMasterIdLst>
    <p:notesMasterId xmlns:r="http://schemas.openxmlformats.org/officeDocument/2006/relationships" r:id="R2947a5606a704e26"/>
  </p:notesMasterIdLst>
  <p:sldIdLst>
    <p:sldId xmlns:r="http://schemas.openxmlformats.org/officeDocument/2006/relationships" id="256" r:id="R2a04160179ff405c"/>
    <p:sldId xmlns:r="http://schemas.openxmlformats.org/officeDocument/2006/relationships" id="257" r:id="Rd762c203b0b345b5"/>
    <p:sldId xmlns:r="http://schemas.openxmlformats.org/officeDocument/2006/relationships" id="258" r:id="R6bc8308eebb14fc5"/>
    <p:sldId xmlns:r="http://schemas.openxmlformats.org/officeDocument/2006/relationships" id="259" r:id="R5aec484579024adc"/>
    <p:sldId xmlns:r="http://schemas.openxmlformats.org/officeDocument/2006/relationships" id="260" r:id="Rc7ae0467b6fd4e00"/>
    <p:sldId xmlns:r="http://schemas.openxmlformats.org/officeDocument/2006/relationships" id="261" r:id="Rb6936f6a891042ca"/>
    <p:sldId xmlns:r="http://schemas.openxmlformats.org/officeDocument/2006/relationships" id="262" r:id="Rf88e404a33574bcd"/>
    <p:sldId xmlns:r="http://schemas.openxmlformats.org/officeDocument/2006/relationships" id="263" r:id="Rd8c7e7f275b54714"/>
    <p:sldId xmlns:r="http://schemas.openxmlformats.org/officeDocument/2006/relationships" id="264" r:id="R15e2357d3b924c76"/>
    <p:sldId xmlns:r="http://schemas.openxmlformats.org/officeDocument/2006/relationships" id="265" r:id="Rf4ee5f2994e94c3a"/>
    <p:sldId xmlns:r="http://schemas.openxmlformats.org/officeDocument/2006/relationships" id="266" r:id="R7af25c5af2c04f8d"/>
    <p:sldId xmlns:r="http://schemas.openxmlformats.org/officeDocument/2006/relationships" id="267" r:id="Rc775da192e474b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d4d0a5cb894f6e" /><Relationship Type="http://schemas.openxmlformats.org/officeDocument/2006/relationships/slideMaster" Target="/ppt/slideMasters/slideMaster1.xml" Id="R712362e517db4dcc" /><Relationship Type="http://schemas.openxmlformats.org/officeDocument/2006/relationships/notesMaster" Target="/ppt/notesMasters/notesMaster1.xml" Id="R2947a5606a704e26" /><Relationship Type="http://schemas.openxmlformats.org/officeDocument/2006/relationships/presProps" Target="/ppt/presProps.xml" Id="R98b135071b0f46f2" /><Relationship Type="http://schemas.openxmlformats.org/officeDocument/2006/relationships/tableStyles" Target="/ppt/tableStyles.xml" Id="R657de50025c9490c" /><Relationship Type="http://schemas.openxmlformats.org/officeDocument/2006/relationships/slide" Target="/ppt/slides/slide1.xml" Id="R2a04160179ff405c" /><Relationship Type="http://schemas.openxmlformats.org/officeDocument/2006/relationships/slide" Target="/ppt/slides/slide2.xml" Id="Rd762c203b0b345b5" /><Relationship Type="http://schemas.openxmlformats.org/officeDocument/2006/relationships/slide" Target="/ppt/slides/slide3.xml" Id="R6bc8308eebb14fc5" /><Relationship Type="http://schemas.openxmlformats.org/officeDocument/2006/relationships/slide" Target="/ppt/slides/slide4.xml" Id="R5aec484579024adc" /><Relationship Type="http://schemas.openxmlformats.org/officeDocument/2006/relationships/slide" Target="/ppt/slides/slide5.xml" Id="Rc7ae0467b6fd4e00" /><Relationship Type="http://schemas.openxmlformats.org/officeDocument/2006/relationships/slide" Target="/ppt/slides/slide6.xml" Id="Rb6936f6a891042ca" /><Relationship Type="http://schemas.openxmlformats.org/officeDocument/2006/relationships/slide" Target="/ppt/slides/slide7.xml" Id="Rf88e404a33574bcd" /><Relationship Type="http://schemas.openxmlformats.org/officeDocument/2006/relationships/slide" Target="/ppt/slides/slide8.xml" Id="Rd8c7e7f275b54714" /><Relationship Type="http://schemas.openxmlformats.org/officeDocument/2006/relationships/slide" Target="/ppt/slides/slide9.xml" Id="R15e2357d3b924c76" /><Relationship Type="http://schemas.openxmlformats.org/officeDocument/2006/relationships/slide" Target="/ppt/slides/slide10.xml" Id="Rf4ee5f2994e94c3a" /><Relationship Type="http://schemas.openxmlformats.org/officeDocument/2006/relationships/slide" Target="/ppt/slides/slide11.xml" Id="R7af25c5af2c04f8d" /><Relationship Type="http://schemas.openxmlformats.org/officeDocument/2006/relationships/slide" Target="/ppt/slides/slide12.xml" Id="Rc775da192e47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b768cb429045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17b4986d34ff7" /><Relationship Type="http://schemas.openxmlformats.org/officeDocument/2006/relationships/notesMaster" Target="/ppt/notesMasters/notesMaster1.xml" Id="Rba922700d60449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0eed287e15456b" /><Relationship Type="http://schemas.openxmlformats.org/officeDocument/2006/relationships/notesMaster" Target="/ppt/notesMasters/notesMaster1.xml" Id="Rc90e347d260a4b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6ea7734317497d" /><Relationship Type="http://schemas.openxmlformats.org/officeDocument/2006/relationships/notesMaster" Target="/ppt/notesMasters/notesMaster1.xml" Id="R64a352f1e6e545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b3f643565498c" /><Relationship Type="http://schemas.openxmlformats.org/officeDocument/2006/relationships/notesMaster" Target="/ppt/notesMasters/notesMaster1.xml" Id="R398fc88e450641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cf605508545b5" /><Relationship Type="http://schemas.openxmlformats.org/officeDocument/2006/relationships/notesMaster" Target="/ppt/notesMasters/notesMaster1.xml" Id="R60edfdfc06b540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566a38c68549a1" /><Relationship Type="http://schemas.openxmlformats.org/officeDocument/2006/relationships/notesMaster" Target="/ppt/notesMasters/notesMaster1.xml" Id="R7332e4f0c4a84b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b50b147cae49e2" /><Relationship Type="http://schemas.openxmlformats.org/officeDocument/2006/relationships/notesMaster" Target="/ppt/notesMasters/notesMaster1.xml" Id="R4ee630c14b92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a0b2b1e0b244e0" /><Relationship Type="http://schemas.openxmlformats.org/officeDocument/2006/relationships/notesMaster" Target="/ppt/notesMasters/notesMaster1.xml" Id="R073ebb9e899f41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af1431562f4af8" /><Relationship Type="http://schemas.openxmlformats.org/officeDocument/2006/relationships/notesMaster" Target="/ppt/notesMasters/notesMaster1.xml" Id="R6ae923d4695947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745dded07645d1" /><Relationship Type="http://schemas.openxmlformats.org/officeDocument/2006/relationships/notesMaster" Target="/ppt/notesMasters/notesMaster1.xml" Id="R0350fa0e3a9943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55f1213d8847cd" /><Relationship Type="http://schemas.openxmlformats.org/officeDocument/2006/relationships/notesMaster" Target="/ppt/notesMasters/notesMaster1.xml" Id="R62b9a9fa64a84e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d4309ab1c94419" /><Relationship Type="http://schemas.openxmlformats.org/officeDocument/2006/relationships/notesMaster" Target="/ppt/notesMasters/notesMaster1.xml" Id="R92352177121a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tables often need **preprocessing** before a model can use them: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impute missing values;</a:t>
            </a:r>
          </a:p>
          <a:p xmlns:a="http://schemas.openxmlformats.org/drawingml/2006/main">
            <a:r>
              <a:t>- scale numerical features;</a:t>
            </a:r>
          </a:p>
          <a:p xmlns:a="http://schemas.openxmlformats.org/drawingml/2006/main">
            <a:r>
              <a:t>- encode categories;</a:t>
            </a:r>
          </a:p>
          <a:p xmlns:a="http://schemas.openxmlformats.org/drawingml/2006/main">
            <a:r>
              <a:t>- select and order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steps learn parameters from training data, so they are part of the fitted model. Production inference must apply the same fitted transformations in the same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**pipeline** binds preprocessing and prediction into one object with a shared `fit()` and `predict()`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Training learns: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median age `34`;</a:t>
            </a:r>
          </a:p>
          <a:p xmlns:a="http://schemas.openxmlformats.org/drawingml/2006/main">
            <a:r>
              <a:t>- salary mean and standard deviation;</a:t>
            </a:r>
          </a:p>
          <a:p xmlns:a="http://schemas.openxmlformats.org/drawingml/2006/main">
            <a:r>
              <a:t>- category mapping for 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New rows must use those stored training values. Recalculating them on each request changes the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Raw columns flow through fitted preprocessing and model blocks as one bounded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which steps learn from data. Any learned step must stay inside the training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model-development notebook builds and saves a complete preprocessing and model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https://scikit-learn.org/stable/modules/compose.html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**Imputation** replaces declared missing values using a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simple rules: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numerical median;</a:t>
            </a:r>
          </a:p>
          <a:p xmlns:a="http://schemas.openxmlformats.org/drawingml/2006/main">
            <a:r>
              <a:t>- numerical mean;</a:t>
            </a:r>
          </a:p>
          <a:p xmlns:a="http://schemas.openxmlformats.org/drawingml/2006/main">
            <a:r>
              <a:t>- most frequent category;</a:t>
            </a:r>
          </a:p>
          <a:p xmlns:a="http://schemas.openxmlformats.org/drawingml/2006/main">
            <a:r>
              <a:t>- constant marker such as `"missing"`.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replacement value is a learned parameter. Fit it on training data, then apply the same value to validation, test, and production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Imputation does not recover the unknown truth; it creates a usable value under an explicit assumption.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Training ages `[20, 30, missing, 100]`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Observed sorted values `[20,30,100]`; median `30`.  </a:t>
            </a:r>
          </a:p>
          <a:p xmlns:a="http://schemas.openxmlformats.org/drawingml/2006/main">
            <a:r>
              <a:t>Imputed training ages `[20,30,30,100]`.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test ages are `[missing, 40]`, use training median `30`, not the test median.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Training data determines median `30`; the stored value then fills missing cells in train and test branches.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why `dropna()` is also a policy with possible selection bias, not a neutral cleanup.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inspect missing markers and justify each imputation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https://scikit-learn.org/stable/modules/impute.html</a:t>
            </a:r>
          </a:p>
          <a:p xmlns:a="http://schemas.openxmlformats.org/drawingml/2006/main">
            <a:r>
              <a:t>- https://scikit-learn.org/stable/modules/generated/sklearn.impute.SimpleImputer.html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**Standardization** transforms a numerical value: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`z = (x - μ) / σ`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`x`: original value</a:t>
            </a:r>
          </a:p>
          <a:p xmlns:a="http://schemas.openxmlformats.org/drawingml/2006/main">
            <a:r>
              <a:t>- `μ`: training-column mean</a:t>
            </a:r>
          </a:p>
          <a:p xmlns:a="http://schemas.openxmlformats.org/drawingml/2006/main">
            <a:r>
              <a:t>- `σ`: training-column standard deviation</a:t>
            </a:r>
          </a:p>
          <a:p xmlns:a="http://schemas.openxmlformats.org/drawingml/2006/main">
            <a:r>
              <a:t>- `z`: standardized value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After fitting, the training column has mean near zero and standard deviation near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Scaling matters for distance-based models, gradient optimization, and coefficient penalties. It does not make bad data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Training mean `μ = 50`, standard deviation `σ = 10`.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`x = 70`: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`z = (70 - 50) / 10`  </a:t>
            </a:r>
          </a:p>
          <a:p xmlns:a="http://schemas.openxmlformats.org/drawingml/2006/main">
            <a:r>
              <a:t>`= 20 / 10`  </a:t>
            </a:r>
          </a:p>
          <a:p xmlns:a="http://schemas.openxmlformats.org/drawingml/2006/main">
            <a:r>
              <a:t>`= 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value is two standard deviations above the training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features with different raw ranges are transformed to centred comparable scales; row order stays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tree models often do not require scaling, but mixed pipelines still need deliberate column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numerical preprocessing branch fits scaling inside the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https://scikit-learn.org/stable/modules/generated/sklearn.preprocessing.StandardScaler.html</a:t>
            </a:r>
          </a:p>
          <a:p xmlns:a="http://schemas.openxmlformats.org/drawingml/2006/main">
            <a:r>
              <a:t>- https://scikit-learn.org/stable/modules/preprocessing.html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Models usually require numerical inputs. **One-hot encoding** creates one binary column for each known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City values `Colombo`, `Kandy`, and `Galle` become columns such as: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`city_Colombo`, `city_Kandy`, `city_Galle`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One-hot encoding does not impose a false numerical order. The encoder must define what happens when production data contains an unseen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`Kandy` becomes: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`[0, 1, 0]`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three positions correspond to the fitted category order. If `Jaffna` was unseen, `handle_unknown="ignore"` produces zeros for known category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city column expands into three binary columns with one active position per known 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Contrast with replacing cities by `1,2,3`, which invents order and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categorical branch encodes values using categories learned only from training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https://scikit-learn.org/stable/modules/generated/sklearn.preprocessing.OneHotEncoder.html</a:t>
            </a:r>
          </a:p>
          <a:p xmlns:a="http://schemas.openxmlformats.org/drawingml/2006/main">
            <a:r>
              <a:t>- https://scikit-learn.org/stable/modules/preprocessing.html#encoding-categorical-features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**ColumnTransformer** applies different transformer sequences to selected columns and concatenates their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numerical columns -&gt; median imputer -&gt; standard scaler;</a:t>
            </a:r>
          </a:p>
          <a:p xmlns:a="http://schemas.openxmlformats.org/drawingml/2006/main">
            <a:r>
              <a:t>- categorical columns -&gt; most-frequent imputer -&gt; one-hot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transformed feature matrix may contain more columns than the raw table because one category column expands into several indicator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Raw columns: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`age`, `income`, `city`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city has three fitted categories, transformed columns are approximately: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`scaled_age`, `scaled_income`, `city_A`, `city_B`, `city_C`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raw columns become five model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table splits into numerical and categorical lanes, then recombines into one feature matrix.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to predict output column count and explain what happens to unspecified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 uses `ColumnTransformer` to keep feature-specific preprocessing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https://scikit-learn.org/stable/modules/generated/sklearn.compose.ColumnTransformer.html</a:t>
            </a:r>
          </a:p>
          <a:p xmlns:a="http://schemas.openxmlformats.org/drawingml/2006/main">
            <a:r>
              <a:t>- https://scikit-learn.org/stable/auto_examples/compose/plot_column_transformer_mixed_types.html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scikit-learn **Pipeline** chains transformers and a final estimator.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`fit(X_train, y_train)`: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fit the first transformer;</a:t>
            </a:r>
          </a:p>
          <a:p xmlns:a="http://schemas.openxmlformats.org/drawingml/2006/main">
            <a:r>
              <a:t>2. transform training data;</a:t>
            </a:r>
          </a:p>
          <a:p xmlns:a="http://schemas.openxmlformats.org/drawingml/2006/main">
            <a:r>
              <a:t>3. fit and transform each next transformer;</a:t>
            </a:r>
          </a:p>
          <a:p xmlns:a="http://schemas.openxmlformats.org/drawingml/2006/main">
            <a:r>
              <a:t>4. fit the final estimator.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During `predict(X_new)`: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transform with already-fitted transformers;</a:t>
            </a:r>
          </a:p>
          <a:p xmlns:a="http://schemas.openxmlformats.org/drawingml/2006/main">
            <a:r>
              <a:t>2. call the already-fitted estimator;</a:t>
            </a:r>
          </a:p>
          <a:p xmlns:a="http://schemas.openxmlformats.org/drawingml/2006/main">
            <a:r>
              <a:t>3. return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Pipeline: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`preprocess -&gt; LogisticRegression`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call to `fit()` learns imputers, scaler, encoder, and classifier. One call to `predict()` reuses all learned pieces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Training arrows include fit-and-transform at each stage; inference arrows show transform-only then predict.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why all steps except the last must transform data. Use named steps for inspection and 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source notebook's saved artifact is a pipeline rather than an estimator detached from preprocessing.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https://scikit-learn.org/stable/modules/generated/sklearn.pipeline.Pipeline.html</a:t>
            </a:r>
          </a:p>
          <a:p xmlns:a="http://schemas.openxmlformats.org/drawingml/2006/main">
            <a:r>
              <a:t>- https://scikit-learn.org/stable/getting_started.html#pipelines-chaining-pre-processors-and-estimators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Unsafe sequence: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fit scaler on the complete dataset;</a:t>
            </a:r>
          </a:p>
          <a:p xmlns:a="http://schemas.openxmlformats.org/drawingml/2006/main">
            <a:r>
              <a:t>2. transform all rows;</a:t>
            </a:r>
          </a:p>
          <a:p xmlns:a="http://schemas.openxmlformats.org/drawingml/2006/main">
            <a:r>
              <a:t>3. split or cross-validate.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 information influences the scaler.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Safe sequence: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split training and test data;</a:t>
            </a:r>
          </a:p>
          <a:p xmlns:a="http://schemas.openxmlformats.org/drawingml/2006/main">
            <a:r>
              <a:t>2. put scaler and estimator inside a pipeline;</a:t>
            </a:r>
          </a:p>
          <a:p xmlns:a="http://schemas.openxmlformats.org/drawingml/2006/main">
            <a:r>
              <a:t>3. for each validation fold, fit the complete pipeline only on that fold's training rows;</a:t>
            </a:r>
          </a:p>
          <a:p xmlns:a="http://schemas.openxmlformats.org/drawingml/2006/main">
            <a:r>
              <a:t>4. transform the held-out fold with those fitted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Training fold values `[0,10]` have mean `5`. Validation value `[100]` must not change that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all values are used, mean becomes `(0+10+100)/3 = 36.67`, leaking validation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unsafe all-data scaler is crossed out. Five safe fold diagrams each contain their own fitted preprocessing.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Use this example to show that leakage can occur without the target column.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never preprocess the complete table before notebook cross-validation.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https://scikit-learn.org/stable/common_pitfalls.html#data-leakage</a:t>
            </a:r>
          </a:p>
          <a:p xmlns:a="http://schemas.openxmlformats.org/drawingml/2006/main">
            <a:r>
              <a:t>- https://scikit-learn.org/stable/modules/compose.html#pipeline-chaining-estimators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**k-fold cross-validation**: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split training data into `k` folds;</a:t>
            </a:r>
          </a:p>
          <a:p xmlns:a="http://schemas.openxmlformats.org/drawingml/2006/main">
            <a:r>
              <a:t>2. fit on `k-1` folds;</a:t>
            </a:r>
          </a:p>
          <a:p xmlns:a="http://schemas.openxmlformats.org/drawingml/2006/main">
            <a:r>
              <a:t>3. validate on the remaining fold;</a:t>
            </a:r>
          </a:p>
          <a:p xmlns:a="http://schemas.openxmlformats.org/drawingml/2006/main">
            <a:r>
              <a:t>4. repeat until every fold has served as validation;</a:t>
            </a:r>
          </a:p>
          <a:p xmlns:a="http://schemas.openxmlformats.org/drawingml/2006/main">
            <a:r>
              <a:t>5. report scores and their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Cross-validation supports model selection using training data. The untouched test set remains for final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stratified, grouped, or time-aware splitting when the data structure requires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Five validation scores: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`[0.72, 0.75, 0.68, 0.78, 0.71]`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`3.64 / 5 = 0.728`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Range `0.68` to `0.78` shows split-to-split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five-row fold diagram rotates the validation block, followed by a score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present mean plus/minus standard deviation as a guaranteed confidence interval.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will compare candidate pipelines using the same split strategy and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https://scikit-learn.org/stable/modules/cross_validation.html</a:t>
            </a:r>
          </a:p>
          <a:p xmlns:a="http://schemas.openxmlformats.org/drawingml/2006/main">
            <a:r>
              <a:t>- https://scikit-learn.org/stable/model_selection.html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**hyperparameter** is a setting chosen before fitting, such as Ridge `alpha` or tree depth.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fair comparison: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use the same training rows and folds;</a:t>
            </a:r>
          </a:p>
          <a:p xmlns:a="http://schemas.openxmlformats.org/drawingml/2006/main">
            <a:r>
              <a:t>- fit each candidate's preprocessing inside each fold;</a:t>
            </a:r>
          </a:p>
          <a:p xmlns:a="http://schemas.openxmlformats.org/drawingml/2006/main">
            <a:r>
              <a:t>- use the same metric;</a:t>
            </a:r>
          </a:p>
          <a:p xmlns:a="http://schemas.openxmlformats.org/drawingml/2006/main">
            <a:r>
              <a:t>- compare baseline and candidate score distributions;</a:t>
            </a:r>
          </a:p>
          <a:p xmlns:a="http://schemas.openxmlformats.org/drawingml/2006/main">
            <a:r>
              <a:t>- consider latency, interpretability, memory, and failure behaviour;</a:t>
            </a:r>
          </a:p>
          <a:p xmlns:a="http://schemas.openxmlformats.org/drawingml/2006/main">
            <a:r>
              <a:t>- select using validation evidence;</a:t>
            </a:r>
          </a:p>
          <a:p xmlns:a="http://schemas.openxmlformats.org/drawingml/2006/main">
            <a:r>
              <a:t>- evaluate the final choice once on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Cross-validation ROC-AUC: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`0.50`  </a:t>
            </a:r>
          </a:p>
          <a:p xmlns:a="http://schemas.openxmlformats.org/drawingml/2006/main">
            <a:r>
              <a:t>Logistic pipeline `0.74 ± 0.03`  </a:t>
            </a:r>
          </a:p>
          <a:p xmlns:a="http://schemas.openxmlformats.org/drawingml/2006/main">
            <a:r>
              <a:t>Tree pipeline `0.75 ± 0.08`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tree's slightly higher mean comes with greater variation. The correct choice requires more than the largest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Candidate distributions, not single bars, are compared beside operational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double-underscore parameter names as step name plus parameter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estimator comparison should preserve identical preprocessing and folds.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https://scikit-learn.org/stable/modules/generated/sklearn.model_selection.GridSearchCV.html</a:t>
            </a:r>
          </a:p>
          <a:p xmlns:a="http://schemas.openxmlformats.org/drawingml/2006/main">
            <a:r>
              <a:t>- https://scikit-learn.org/stable/model_selection.html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**Reproducibility** means another run can reconstruct the procedure and obtain expected results within known sources of variation.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code revision;</a:t>
            </a:r>
          </a:p>
          <a:p xmlns:a="http://schemas.openxmlformats.org/drawingml/2006/main">
            <a:r>
              <a:t>- immutable data identity or checksum;</a:t>
            </a:r>
          </a:p>
          <a:p xmlns:a="http://schemas.openxmlformats.org/drawingml/2006/main">
            <a:r>
              <a:t>- feature and target schema;</a:t>
            </a:r>
          </a:p>
          <a:p xmlns:a="http://schemas.openxmlformats.org/drawingml/2006/main">
            <a:r>
              <a:t>- split method and random seed;</a:t>
            </a:r>
          </a:p>
          <a:p xmlns:a="http://schemas.openxmlformats.org/drawingml/2006/main">
            <a:r>
              <a:t>- library and Python versions;</a:t>
            </a:r>
          </a:p>
          <a:p xmlns:a="http://schemas.openxmlformats.org/drawingml/2006/main">
            <a:r>
              <a:t>- pipeline parameters;</a:t>
            </a:r>
          </a:p>
          <a:p xmlns:a="http://schemas.openxmlformats.org/drawingml/2006/main">
            <a:r>
              <a:t>- metrics for every fold and final test;</a:t>
            </a:r>
          </a:p>
          <a:p xmlns:a="http://schemas.openxmlformats.org/drawingml/2006/main">
            <a:r>
              <a:t>- hardware when relevant;</a:t>
            </a:r>
          </a:p>
          <a:p xmlns:a="http://schemas.openxmlformats.org/drawingml/2006/main">
            <a:r>
              <a:t>- generated model and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seed controls some randomness. It does not preserve changing data, code, packages, or hardware behaviour.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Two runs both use seed `42`, but one uses a changed CSV. Their results differ because the seed does not identify the training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experiment record links code, data, environment, parameters, metrics, and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Distinguish repeatability on one machine from broader reproducibility.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should save metadata beside the fitted pipeline and evaluation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https://scikit-learn.org/stable/common_pitfalls.html#controlling-randomness</a:t>
            </a:r>
          </a:p>
          <a:p xmlns:a="http://schemas.openxmlformats.org/drawingml/2006/main">
            <a:r>
              <a:t>- https://mlflow.org/docs/latest/ml/tracking/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**Serialization** stores a fitted object so it can be loaded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Persist: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complete preprocessing and estimator pipeline;</a:t>
            </a:r>
          </a:p>
          <a:p xmlns:a="http://schemas.openxmlformats.org/drawingml/2006/main">
            <a:r>
              <a:t>- input schema;</a:t>
            </a:r>
          </a:p>
          <a:p xmlns:a="http://schemas.openxmlformats.org/drawingml/2006/main">
            <a:r>
              <a:t>- label meanings and threshold;</a:t>
            </a:r>
          </a:p>
          <a:p xmlns:a="http://schemas.openxmlformats.org/drawingml/2006/main">
            <a:r>
              <a:t>- dependency versions;</a:t>
            </a:r>
          </a:p>
          <a:p xmlns:a="http://schemas.openxmlformats.org/drawingml/2006/main">
            <a:r>
              <a:t>- training data reference;</a:t>
            </a:r>
          </a:p>
          <a:p xmlns:a="http://schemas.openxmlformats.org/drawingml/2006/main">
            <a:r>
              <a:t>- validation and test evidence;</a:t>
            </a:r>
          </a:p>
          <a:p xmlns:a="http://schemas.openxmlformats.org/drawingml/2006/main">
            <a:r>
              <a:t>- artifact checksum.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Pickle-based formats can execute code when loaded. Load only trusted artifacts. Scikit-learn does not support loading a model across arbitrary version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Saving only `LogisticRegression` loses the fitted encoder and scaler. A production row may then have the wrong number, order, or scale of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Saving the complete pipeline preserves the transformation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complete sealed artifact contains preprocessing, estimator, schema, versions, metrics, and checksum. An incomplete estimator-only artifact is crossed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Emphasize trusted source and version compatibility before demonstrating loading.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notebook's save step should persist the full pipeline and its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https://scikit-learn.org/stable/model_persistence.html</a:t>
            </a:r>
          </a:p>
          <a:p xmlns:a="http://schemas.openxmlformats.org/drawingml/2006/main">
            <a:r>
              <a:t>- https://joblib.readthedocs.io/en/latest/persistence.html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and document: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numerical and categorical column lists;</a:t>
            </a:r>
          </a:p>
          <a:p xmlns:a="http://schemas.openxmlformats.org/drawingml/2006/main">
            <a:r>
              <a:t>2. missing-value policies;</a:t>
            </a:r>
          </a:p>
          <a:p xmlns:a="http://schemas.openxmlformats.org/drawingml/2006/main">
            <a:r>
              <a:t>3. numerical scaling;</a:t>
            </a:r>
          </a:p>
          <a:p xmlns:a="http://schemas.openxmlformats.org/drawingml/2006/main">
            <a:r>
              <a:t>4. categorical encoding with unknown handling;</a:t>
            </a:r>
          </a:p>
          <a:p xmlns:a="http://schemas.openxmlformats.org/drawingml/2006/main">
            <a:r>
              <a:t>5. `ColumnTransformer`;</a:t>
            </a:r>
          </a:p>
          <a:p xmlns:a="http://schemas.openxmlformats.org/drawingml/2006/main">
            <a:r>
              <a:t>6. estimator inside `Pipeline`;</a:t>
            </a:r>
          </a:p>
          <a:p xmlns:a="http://schemas.openxmlformats.org/drawingml/2006/main">
            <a:r>
              <a:t>7. task-appropriate cross-validation;</a:t>
            </a:r>
          </a:p>
          <a:p xmlns:a="http://schemas.openxmlformats.org/drawingml/2006/main">
            <a:r>
              <a:t>8. baseline and two candidate models;</a:t>
            </a:r>
          </a:p>
          <a:p xmlns:a="http://schemas.openxmlformats.org/drawingml/2006/main">
            <a:r>
              <a:t>9. selected hyperparameters;</a:t>
            </a:r>
          </a:p>
          <a:p xmlns:a="http://schemas.openxmlformats.org/drawingml/2006/main">
            <a:r>
              <a:t>10. untouched test result;</a:t>
            </a:r>
          </a:p>
          <a:p xmlns:a="http://schemas.openxmlformats.org/drawingml/2006/main">
            <a:r>
              <a:t>11. serialized complete pipeline and metadata;</a:t>
            </a:r>
          </a:p>
          <a:p xmlns:a="http://schemas.openxmlformats.org/drawingml/2006/main">
            <a:r>
              <a:t>12. a prediction after reload.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If the raw table has `2` numerical columns and one city column with `3` known categories, predict approximately `5` transformed columns. Confirm with `get_feature_names_out()` after fitting.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lab checklist spans schema, preprocessing branches, pipeline, cross-validation, test, persistence, and reload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Inspect fold boundaries and reject any preprocessing fitted before cross-validation.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the pipeline and save sections of `03.model-development.ipynb`.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https://github.com/curiousily/AI-Bootcamp/blob/master/03.model-development.ipynb</a:t>
            </a:r>
          </a:p>
          <a:p xmlns:a="http://schemas.openxmlformats.org/drawingml/2006/main">
            <a:r>
              <a:t>- https://scikit-learn.org/stable/modules/compose.html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cf62035d644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dec1315cd4766" /><Relationship Type="http://schemas.openxmlformats.org/officeDocument/2006/relationships/slideLayout" Target="/ppt/slideLayouts/slideLayout1.xml" Id="R6bb59ecee06c4f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59ecee06c4f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ee5bff9ca43ec" /><Relationship Type="http://schemas.openxmlformats.org/officeDocument/2006/relationships/image" Target="/ppt/media/image.png" Id="Ref084a4bb2254d28" /><Relationship Type="http://schemas.openxmlformats.org/officeDocument/2006/relationships/image" Target="/ppt/media/image2.png" Id="R33d926ac68084bbe" /><Relationship Type="http://schemas.openxmlformats.org/officeDocument/2006/relationships/notesSlide" Target="/ppt/notesSlides/notesSlide1.xml" Id="R1c8aa6aeba9e4b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f9b46e0f34eff" /><Relationship Type="http://schemas.openxmlformats.org/officeDocument/2006/relationships/notesSlide" Target="/ppt/notesSlides/notesSlide2.xml" Id="R15a3b89e76064f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38bea40b64fc2" /><Relationship Type="http://schemas.openxmlformats.org/officeDocument/2006/relationships/notesSlide" Target="/ppt/notesSlides/notesSlide3.xml" Id="Rce3719b085b3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e52edce5f4567" /><Relationship Type="http://schemas.openxmlformats.org/officeDocument/2006/relationships/notesSlide" Target="/ppt/notesSlides/notesSlide4.xml" Id="Rb2e823097143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80bfe092047fd" /><Relationship Type="http://schemas.openxmlformats.org/officeDocument/2006/relationships/notesSlide" Target="/ppt/notesSlides/notesSlide5.xml" Id="R405c5397904749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bf07356f841ee" /><Relationship Type="http://schemas.openxmlformats.org/officeDocument/2006/relationships/notesSlide" Target="/ppt/notesSlides/notesSlide6.xml" Id="Rc39d787b0526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c4f7d734b4549" /><Relationship Type="http://schemas.openxmlformats.org/officeDocument/2006/relationships/notesSlide" Target="/ppt/notesSlides/notesSlide7.xml" Id="Rad52a941b357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cb2c868e345c5" /><Relationship Type="http://schemas.openxmlformats.org/officeDocument/2006/relationships/notesSlide" Target="/ppt/notesSlides/notesSlide8.xml" Id="R123755b4a6d142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23ac846124ccc" /><Relationship Type="http://schemas.openxmlformats.org/officeDocument/2006/relationships/notesSlide" Target="/ppt/notesSlides/notesSlide9.xml" Id="R6930955537f647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55c0b5b7c4fe6" /><Relationship Type="http://schemas.openxmlformats.org/officeDocument/2006/relationships/notesSlide" Target="/ppt/notesSlides/notesSlide10.xml" Id="Rfd33d61415c64d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2793681ae41c5" /><Relationship Type="http://schemas.openxmlformats.org/officeDocument/2006/relationships/notesSlide" Target="/ppt/notesSlides/notesSlide11.xml" Id="Rf69530321c264f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3d39efa784291" /><Relationship Type="http://schemas.openxmlformats.org/officeDocument/2006/relationships/notesSlide" Target="/ppt/notesSlides/notesSlide12.xml" Id="R2ba0d78a52bc4a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1A49E-2912-4546-BA7E-C753AC7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84a4bb2254d28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84497-85C3-4149-8E56-FF053129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15937-8422-46E7-BE4A-43124BA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10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E730E-127C-4701-A9FF-AC5CA13E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Preprocessing Is Part of the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A3622-37A8-4A6C-B285-F2310E02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D01DD-9074-43EB-A9CE-D1917903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Raw tables often need preprocessing before a model can use them: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926ac68084bbe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10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C0D1B-BF9D-4291-A30B-A76D940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72540-D79B-4212-8912-2780FC6D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4BD5A-8B93-4494-ACF6-3C0584AC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26A8C-F2B5-4FB9-A009-539A653A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A76FC-E6B8-419C-B28E-753A9459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Imputation Learns a Replacement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DECEB-A84C-467A-BA91-3E3E52F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43214-47CF-4F94-8DF4-9DA1721D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244"/>
                </a:solidFill>
              </a:defRPr>
            </a:pPr>
            <a:r>
              <a:rPr sz="1425">
                <a:solidFill>
                  <a:srgbClr val="243244"/>
                </a:solidFill>
              </a:rPr>
              <a:t>Imputation replaces declared missing values using a rule. Common simple rules: The replacement value is a learned parameter. Fit it on training data, then apply the same value to validation, test, and production rows.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8A1B5-4B87-4120-9554-F8838328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2C20B-3708-4C97-845A-182370B9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numerical median;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BE8E6-DC00-4BFB-9179-5FE7EC8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89FCD-DE64-448B-AF29-263283FA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numerical mean;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16513-5F79-45F8-85FC-D6910E3E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AA949-4260-4430-B335-694C02D8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most frequent category;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D999E-72CC-4E7A-8FC6-6B8FDE85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68275-2D21-499D-945E-20ED4997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constant marker such as "missing".</a:t>
            </a:r>
          </a:p>
        </p:txBody>
      </p:sp>
    </p:spTree>
    <p:extLst>
      <p:ext uri="{BB962C8B-B14F-4D97-AF65-F5344CB8AC3E}">
        <p14:creationId xmlns:p14="http://schemas.microsoft.com/office/powerpoint/2010/main" val="1523902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70BBB-A1DB-4C20-B907-6D21A4BA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50CA-DA90-47CE-99F0-BBDB0CAF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0747A-38A0-431C-A3BF-57467C1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49A9-A129-47F7-853F-A6E3739A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90495-9949-48D5-AFED-3708A423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Scaling Changes Units, Not Row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E2777-F292-4AAB-9BA2-903035BE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9EC91-78CE-4D41-8C3E-4CC2D206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8B8EB-5D9E-4B23-A98B-479BA3FC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8DD8E-BF9E-4C09-9ADE-39A46434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4E0CF-B779-4441-9744-6DDF9B77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F99F8-5186-4990-8A56-7F81D69A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from sklearn.preprocessing import StandardScaler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scaler = StandardScaler()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scaler.fit(X_train[["income"]])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5ECEA-DFD7-454A-828E-ABB48D4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8621B-5834-406F-8720-D3AFC94E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58322-EC53-470A-B1BD-6F25A95D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The scaler stores training mean and variance for later transforms.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88DD6-6D4C-4653-BC97-9B1B2539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77F76-DAE1-45E0-9C64-0300838F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value is two standard deviations above the training mean.</a:t>
            </a:r>
          </a:p>
        </p:txBody>
      </p:sp>
    </p:spTree>
    <p:extLst>
      <p:ext uri="{BB962C8B-B14F-4D97-AF65-F5344CB8AC3E}">
        <p14:creationId xmlns:p14="http://schemas.microsoft.com/office/powerpoint/2010/main" val="1808087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5297B-FB23-45E1-BE70-9BF77F8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BF952-1B2B-4305-B605-70CE65B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1B7A2-1AB4-4A39-A169-76399BA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4C615-0A3F-4FDF-A124-754A1DC1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5851F-D628-4B59-8F64-DDCBD9B0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Encoding Represents Categories Numerically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071EA-245F-4515-AD65-599B1E1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E7E41-82D9-440B-A6BF-07EF90CC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Models usually require numerical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C4242-2680-4F63-9E8F-28A2926D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05491-AF1F-4148-9A56-0E228D8F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CC4C4-39E3-40A4-A062-8DF684A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A9D24-C68C-4D55-9831-AD03873E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One-hot encoding creates one binary column for each known category.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60999-902E-4D8F-A028-10C699D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8D723-13B4-46E5-8DD4-628E223F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89B85-85D2-45FF-A397-D6539D90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23456-AF82-4A46-8A63-BFA504A4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City values Colombo, Kandy, and Galle become columns such as: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D253D-E74A-42AB-A713-98B5D85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2E05B-2F4D-48A6-925B-30B9CC8E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5F2B2-55FC-4367-8DF9-E98893F3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89CC-AB5F-49E7-A23F-A83D2C33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cityColombo, cityKandy, cityGalle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C0167-1417-4F8E-B226-1A016F8E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7A8CD-2DC8-4D5C-B510-09F99707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ACA82-28CA-4035-8439-86BAF12E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Kandy becomes: [0, 1, 0] The three positions correspond to the fitted category order. If Jaffna was unseen, handleunknown="ignore" produces zeros for known category columns.</a:t>
            </a:r>
          </a:p>
        </p:txBody>
      </p:sp>
    </p:spTree>
    <p:extLst>
      <p:ext uri="{BB962C8B-B14F-4D97-AF65-F5344CB8AC3E}">
        <p14:creationId xmlns:p14="http://schemas.microsoft.com/office/powerpoint/2010/main" val="1889541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E64C32-F340-4068-80E4-21CE66E6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C5540-50DE-4F82-8E85-67174D5F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FAD01-36EB-4380-8E2C-B69D74E4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CAB72-A25B-4AC7-AE78-6361789E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511D-6D5B-47C7-A07D-44F628F1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ColumnTransformer Applies Rules by Column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0A486-3AF0-4BC1-9F19-D2B2BC6E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F762-9759-4128-85ED-F74D8E7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6E2EB"/>
                </a:solidFill>
              </a:defRPr>
            </a:pPr>
            <a:r>
              <a:rPr sz="1275">
                <a:solidFill>
                  <a:srgbClr val="D6E2EB"/>
                </a:solidFill>
              </a:rPr>
              <a:t>A ColumnTransformer applies different transformer sequences to selected columns and concatenates their outputs. Example: The transformed feature matrix may contain more columns than the raw table because one category column expands into several indicator columns.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E748B-7CCA-45FF-9394-F770BF36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FFFA8-FA89-4960-B5BA-7B95CFD5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numerical columns -&gt; median imputer -&gt; standard scaler;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76F93-FF14-4A5E-8409-6010993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252C9-B00B-4177-9D12-C9841A6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categorical columns -&gt; most-frequent imputer -&gt; one-hot encoder.</a:t>
            </a:r>
          </a:p>
        </p:txBody>
      </p:sp>
    </p:spTree>
    <p:extLst>
      <p:ext uri="{BB962C8B-B14F-4D97-AF65-F5344CB8AC3E}">
        <p14:creationId xmlns:p14="http://schemas.microsoft.com/office/powerpoint/2010/main" val="435116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13BDD-52BD-45C7-B519-7A33DDC4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F7FD6-67ED-45D9-AF4C-F2F2E33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87F3A-D2EE-4D14-8082-D74694CD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DEB87-E253-4F9C-9374-BF528A1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7A8E4-377F-4087-975A-6402D17B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Pipeline Gives One Fit and Predict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B1BAD-2D78-4D6E-A0E1-C28403C5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FBBDE-1C76-4909-A9AD-EE9081A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6193F-B59D-4577-AA29-E607CE4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FC0E2-27B2-4E43-A6C6-8E44F730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58A6B-B557-47F3-8ACF-EAE64978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8DC71-B8E2-43B3-95BA-12DB49C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from sklearn.pipeline import Pipeline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from sklearn.linear_model import LogisticRegression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model = Pipeline([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("preprocess", preprocess),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("classifier", LogisticRegression(max_iter=1000)),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488F3-83BA-4B28-B3AF-2857B89E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ECB73-F7E3-4EA7-BF03-581BE714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ECEEF-F691-4E51-A17D-89B3B4EC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composite estimator exposing fit, predict, and predict_proba.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FB71F-23E6-439F-BE2E-E9A00A1E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EC04E-C4C9-4E83-8DA0-19D8DFC3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One call to fit() learns imputers, scaler, encoder, and classifier. One call to predict() reuses all learned pieces in order.</a:t>
            </a:r>
          </a:p>
        </p:txBody>
      </p:sp>
    </p:spTree>
    <p:extLst>
      <p:ext uri="{BB962C8B-B14F-4D97-AF65-F5344CB8AC3E}">
        <p14:creationId xmlns:p14="http://schemas.microsoft.com/office/powerpoint/2010/main" val="1739737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FB278-6441-4A36-953A-1909CC13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C04A-955E-426B-B153-FFAC7135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B2C61-A3E1-411B-B431-F78F9CE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567C8-2DE4-4CB3-A457-DB46016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1C65-5760-4666-AF7C-31828E05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Pipelines Prevent Preprocessing Leakage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8C16A-EF0B-4B9A-A22D-C035F59F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E618E-B879-4172-8B5A-96E49672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6E2EB"/>
                </a:solidFill>
              </a:defRPr>
            </a:pPr>
            <a:r>
              <a:rPr sz="1575">
                <a:solidFill>
                  <a:srgbClr val="D6E2EB"/>
                </a:solidFill>
              </a:rPr>
              <a:t>Unsafe sequence: Validation information influences the scaler. Safe sequence: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54F82-F740-4399-ADED-7542A1C6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BDB81-091B-4865-A6E6-B9983F13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fit scaler on the complete dataset;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1990B-F910-4705-A1F7-5353AC86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C150E-83D8-4018-847B-BBA325E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transform all rows;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E81DB-2383-4A17-9190-C3B78794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D8309-3A74-42A1-A44C-5E7F3AFD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split or cross-validate.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127CF-FB81-4374-BD99-6354631A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F387F-E008-4F83-A6E3-6AE93759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split training and test data;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02D2-7595-4B88-9A39-2127892F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A3AF-EA1C-4DA1-96D0-21CE83B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put scaler and estimator inside a pipeline;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D15FE-18E7-4EE0-80BA-CFC24D18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44076-6809-42AF-8A84-E479B48E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for each validation fold, fit the complete pipeline only on that fold's training rows;</a:t>
            </a:r>
          </a:p>
        </p:txBody>
      </p:sp>
    </p:spTree>
    <p:extLst>
      <p:ext uri="{BB962C8B-B14F-4D97-AF65-F5344CB8AC3E}">
        <p14:creationId xmlns:p14="http://schemas.microsoft.com/office/powerpoint/2010/main" val="1123950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83C3B-BB11-424F-8812-5BC97AD4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12DF2-086B-40A5-AECF-69216D1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1A461-FFE2-45A5-9661-4601F800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98F98-0079-421D-98AA-2E2C7DC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F3AC2-3811-4A55-8EBD-BFE7601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Cross-Validation Measures Variation Across Splits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ED018-2ECC-4E2E-8B1E-80257C39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9B4E7-8951-441F-8E4D-0F5AF12E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split training data into k folds;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EB50D-D232-4C67-97B3-74A8814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D9875-85B5-4B92-B5D4-33A6ABC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8E191-1E24-4937-B93D-F8D115E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8DE77-77B2-4C00-B6FB-0BFBBDD9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fit on k-1 folds;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30A0B-669C-43B5-AD6E-C85317D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FF5956-323C-46B9-B9FE-6A48D85D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B467F-D743-4185-8EAF-C7AD906A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4D10F-49DE-44DE-A4D0-AB834FFB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validate on the remaining fold;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A5DCA-BF83-4C89-AD3A-E0279E8E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69AF8-22F9-4554-9C34-B291011E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1D86D-5BBB-48B9-AFC7-D072B0EC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917B1-7EBA-4236-94C7-853419F8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repeat until every fold has served as validation;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B197D-A089-41FC-8B86-DA4FC86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D16E0-9FC0-4A2D-BEDD-CDFB9C0F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5D6C0-6F98-43DA-AA74-7F21B218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1DEE8"/>
                </a:solidFill>
              </a:defRPr>
            </a:pPr>
            <a:r>
              <a:rPr sz="1500">
                <a:solidFill>
                  <a:srgbClr val="D1DEE8"/>
                </a:solidFill>
              </a:rPr>
              <a:t>Five validation scores: [0.72, 0.75, 0.68, 0.78, 0.71] Mean: 3.64 / 5 = 0.728 Range 0.68 to 0.78 shows split-to-split variation.</a:t>
            </a:r>
          </a:p>
        </p:txBody>
      </p:sp>
    </p:spTree>
    <p:extLst>
      <p:ext uri="{BB962C8B-B14F-4D97-AF65-F5344CB8AC3E}">
        <p14:creationId xmlns:p14="http://schemas.microsoft.com/office/powerpoint/2010/main" val="7102365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79436-A12E-4973-8B0A-A16D0C9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ABE07-2B49-4A05-816B-DC51BF2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C17B9-C508-4C4B-90C0-BD422259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4AD07-41FE-4BCB-AFB0-E27A1709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CE667-4A7C-4252-A37D-AE9CD2D3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Model Comparison Must Use the Same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2E038-E855-40B1-88FC-9CC7072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2EE7-D663-463A-ABFB-F70D6188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FEC75-6CD3-4715-A138-32EADC2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02B6E-BA86-458A-B1F4-5763E58F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7575F-D151-4BE6-83F6-D58F188A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FF94B-3712-465D-9C81-9EA9D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from sklearn.model_selection import GridSearchCV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search = GridSearchCV(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model, {"classifier__C": [0.1, 1, 10]},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cv=5, scoring="roc_auc"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FE266-51DE-47D5-AF6A-3020BBEB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EF0632-DE3B-4634-BD6B-A8A9DE32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A2249-4BC0-424D-A3A3-76B5735A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Each C value is evaluated through the complete pipeline across five folds.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284E6-499F-4C7D-819D-1B367F8F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1C4C2-C1A0-4F0C-BEF1-FC97240B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The tree's slightly higher mean comes with greater variation. The correct choice requires more than the largest mean.</a:t>
            </a:r>
          </a:p>
        </p:txBody>
      </p:sp>
    </p:spTree>
    <p:extLst>
      <p:ext uri="{BB962C8B-B14F-4D97-AF65-F5344CB8AC3E}">
        <p14:creationId xmlns:p14="http://schemas.microsoft.com/office/powerpoint/2010/main" val="1645566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A7D67-8058-4C8E-8F3A-9236F166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27A1B-3DEA-4528-83ED-CED94611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B8675-CF1F-4F1F-864A-7AD8E886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F2438-95C4-4E8E-879D-06898768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89E49-56FA-45F5-BB17-D6C28A0B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Reproducibility Requires More Than a Random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C5212-6916-4562-B613-05DB49B4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78A38-C33E-486B-8A4E-0FA3F4AE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365ED-6135-4E06-99AD-96F1DEC0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code revision;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BB9C5-C718-46FC-A3F1-6C90A374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B1314-A5D7-4E24-A6FD-14FB9DEE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83E27-65A2-4AED-A17A-EB2A692C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4DDE9-F766-4C05-A296-8EF56E6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immutable data identity or checksum;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72B3B-363E-4761-8097-998232A3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122D1-F6ED-4C92-A11E-2EA458E1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AFFEB-2077-4C42-B0E2-13C36728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F2C0C-9AC1-4D24-B946-DB59316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feature and target schema;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968AF-3740-49EB-A476-F42B718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C4C99-2B55-420E-84E8-D07C797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9F31A-A9C3-4AB5-B244-99637710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730E9-F28F-45C1-8B97-AE43895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split method and random seed;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DBD56-2819-4852-9207-A32C6818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13416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264DC-3EC9-4C72-BCDD-413DEBB0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D894C-290F-454A-A397-9DC1599D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496A2-66CD-4272-8B1B-166D841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D46D-650D-4EE4-998E-471CD3C8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8439A-6D17-46A8-902E-76F4241F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Persist the Whole Artifact and Load It Carefully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47185-0186-4EE9-A0BB-EE4AE093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2507A-6E48-4880-A239-25973E1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C0040-EC19-4ACB-BC94-B76D2626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complete preprocessing and estimator pipeline;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C283D-2331-4102-8575-12F7F6EF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9B4F3-40CE-412A-8C1D-A8A0BA8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DA37E-24D1-476E-A0AA-B8CF5B05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22245-1189-4067-8763-7BE04524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input schema;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C4780-2F8E-4653-8CD5-91A77E82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6080A-4AD8-4AA9-A359-E98BC0D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09627-E9C3-41B1-8974-C70A2E68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CB15C-36E6-4625-A36E-F1E3F12F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label meanings and threshold;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4E9CE-B2A7-4732-9A70-62151479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9FFEB-25C1-4418-B308-379A8947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62675-4DBD-4B4D-B066-F9BB41F5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AD9FD9-A6C7-49DE-A228-D011F534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dependency versions;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03803-87AA-446D-9992-666FBF3E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81975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2E74C-5263-45E6-87A6-9540BF57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M10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8B27C-61F0-4156-8C98-162E6B6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Preprocessing Is Part of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48B18-70C7-4584-A04A-8C9CA81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4D633-59D3-44E2-BF5B-00F2B68F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ED7A4-D02A-4CA2-84B9-C884A963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Guided Lab: Build a Leakage-Safe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BBD15-4154-41FE-ABE9-8B58A69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0F15B-1B6B-44AD-98BE-59AB276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A0D45-26A1-4F2B-A3CB-58CB428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numerical and categorical column lists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F92E6-D181-401A-B155-AEF749E2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57339-1E6A-4ED5-9B57-11AFDC35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3ED078-DC14-4BDA-9560-906F4BBA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missing-value policies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61B56-9D4B-4E3F-8CC2-66AA653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94645-6C63-4AFB-86EE-F314FDB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0A787-B0DD-4DF1-B117-5AB544C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numerical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E6993-7182-4380-9EA9-BEF487C8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5A5F6-4D1B-4692-A04F-9F9F73F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AA01-359E-4FA6-AE14-5F706BB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categorical encoding with unknown handling</a:t>
            </a:r>
          </a:p>
        </p:txBody>
      </p:sp>
    </p:spTree>
    <p:extLst>
      <p:ext uri="{BB962C8B-B14F-4D97-AF65-F5344CB8AC3E}">
        <p14:creationId xmlns:p14="http://schemas.microsoft.com/office/powerpoint/2010/main" val="153863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2026-07-28T19:28:18.2170000Z</dcterms:created>
  <dcterms:modified xsi:type="dcterms:W3CDTF">2026-07-28T19:28:18.2170000Z</dcterms:modified>
</coreProperties>
</file>