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436df9c3064a9a" /><Relationship Type="http://schemas.openxmlformats.org/officeDocument/2006/relationships/extended-properties" Target="/docProps/app.xml" Id="Rc6e658d43b4243fa" /><Relationship Type="http://schemas.openxmlformats.org/officeDocument/2006/relationships/officeDocument" Target="/ppt/presentation.xml" Id="Re7736dd7c6b446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c9de0fe102467f"/>
  </p:sldMasterIdLst>
  <p:notesMasterIdLst>
    <p:notesMasterId xmlns:r="http://schemas.openxmlformats.org/officeDocument/2006/relationships" r:id="Rc064295178bd4fb6"/>
  </p:notesMasterIdLst>
  <p:sldIdLst>
    <p:sldId xmlns:r="http://schemas.openxmlformats.org/officeDocument/2006/relationships" id="256" r:id="R8b03605057344d32"/>
    <p:sldId xmlns:r="http://schemas.openxmlformats.org/officeDocument/2006/relationships" id="257" r:id="R5791d2617dc54c1b"/>
    <p:sldId xmlns:r="http://schemas.openxmlformats.org/officeDocument/2006/relationships" id="258" r:id="R328019dc02644b82"/>
    <p:sldId xmlns:r="http://schemas.openxmlformats.org/officeDocument/2006/relationships" id="259" r:id="R724fffd45f48439b"/>
    <p:sldId xmlns:r="http://schemas.openxmlformats.org/officeDocument/2006/relationships" id="260" r:id="R90a5d73397cf431b"/>
    <p:sldId xmlns:r="http://schemas.openxmlformats.org/officeDocument/2006/relationships" id="261" r:id="R5127c6bb765240f4"/>
    <p:sldId xmlns:r="http://schemas.openxmlformats.org/officeDocument/2006/relationships" id="262" r:id="R7fb1bc94d57341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264bc8d4ee4438" /><Relationship Type="http://schemas.openxmlformats.org/officeDocument/2006/relationships/slideMaster" Target="/ppt/slideMasters/slideMaster1.xml" Id="R20c9de0fe102467f" /><Relationship Type="http://schemas.openxmlformats.org/officeDocument/2006/relationships/notesMaster" Target="/ppt/notesMasters/notesMaster1.xml" Id="Rc064295178bd4fb6" /><Relationship Type="http://schemas.openxmlformats.org/officeDocument/2006/relationships/presProps" Target="/ppt/presProps.xml" Id="Re88106f584fe4633" /><Relationship Type="http://schemas.openxmlformats.org/officeDocument/2006/relationships/tableStyles" Target="/ppt/tableStyles.xml" Id="R9ae212a95c344555" /><Relationship Type="http://schemas.openxmlformats.org/officeDocument/2006/relationships/slide" Target="/ppt/slides/slide1.xml" Id="R8b03605057344d32" /><Relationship Type="http://schemas.openxmlformats.org/officeDocument/2006/relationships/slide" Target="/ppt/slides/slide2.xml" Id="R5791d2617dc54c1b" /><Relationship Type="http://schemas.openxmlformats.org/officeDocument/2006/relationships/slide" Target="/ppt/slides/slide3.xml" Id="R328019dc02644b82" /><Relationship Type="http://schemas.openxmlformats.org/officeDocument/2006/relationships/slide" Target="/ppt/slides/slide4.xml" Id="R724fffd45f48439b" /><Relationship Type="http://schemas.openxmlformats.org/officeDocument/2006/relationships/slide" Target="/ppt/slides/slide5.xml" Id="R90a5d73397cf431b" /><Relationship Type="http://schemas.openxmlformats.org/officeDocument/2006/relationships/slide" Target="/ppt/slides/slide6.xml" Id="R5127c6bb765240f4" /><Relationship Type="http://schemas.openxmlformats.org/officeDocument/2006/relationships/slide" Target="/ppt/slides/slide7.xml" Id="R7fb1bc94d57341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4af28e781a4f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c6c3853b0f482c" /><Relationship Type="http://schemas.openxmlformats.org/officeDocument/2006/relationships/notesMaster" Target="/ppt/notesMasters/notesMaster1.xml" Id="R0a30e66f6b6549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f2c8a161404b18" /><Relationship Type="http://schemas.openxmlformats.org/officeDocument/2006/relationships/notesMaster" Target="/ppt/notesMasters/notesMaster1.xml" Id="Rd070b78ccdbb43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e5cd17eb834425" /><Relationship Type="http://schemas.openxmlformats.org/officeDocument/2006/relationships/notesMaster" Target="/ppt/notesMasters/notesMaster1.xml" Id="R2e1d87370e8648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89f34a75444479" /><Relationship Type="http://schemas.openxmlformats.org/officeDocument/2006/relationships/notesMaster" Target="/ppt/notesMasters/notesMaster1.xml" Id="Rb131260ffd9740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9198d586094383" /><Relationship Type="http://schemas.openxmlformats.org/officeDocument/2006/relationships/notesMaster" Target="/ppt/notesMasters/notesMaster1.xml" Id="Rcc01c95951b247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9d127a697f40b2" /><Relationship Type="http://schemas.openxmlformats.org/officeDocument/2006/relationships/notesMaster" Target="/ppt/notesMasters/notesMaster1.xml" Id="Rb540a958fa3041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04d257f9c84947" /><Relationship Type="http://schemas.openxmlformats.org/officeDocument/2006/relationships/notesMaster" Target="/ppt/notesMasters/notesMaster1.xml" Id="Rfb41bd7a064e4f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classifier produces a score before a class. The threshold belongs to the decision policy, so we choose it with costs, capacity, and calibrated probabilities.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Week 7, session 1: Logistic Regression, Probability and Thresholds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By the end of this session, learners should be able to Separate probability estimates from class decisions. Select a threshold from costs and capacity. Assess calibration and ranking.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Learning outcomes for Logistic Regression, Probability and Thresholds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four concepts as a system rather than isolated vocabulary: logistic regression, probability, thresholds, calibration.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Core concepts for Logistic Regression, Probability and Thresholds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the session content through a four-stage reasoning loop: define the question, transform deliberately, validate assumptions, and communicate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DS Academy teaching framework applied to Logistic Regression, Probability and Thresholds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 learners through the lab without completing the reasoning for them. Ask for an explicit frame, a minimal implementation, boundary tests, and an evidence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Guided lab for Logistic Regression, Probability and Thresholds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deliverable is A threshold policy with calibration and cost analysis. Use the weekly assessment rubric as a quality gate, not as an after-the-fact scoring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Portfolio deliverable and assessment rubric for week 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classifier produces a score before a class. The threshold belongs to the decision policy, so we choose it with costs, capacity, and calibrated probabilities.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Session summary for Logistic Regression, Probability and Thresholds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ac3804e00c41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a210772cd74a24" /><Relationship Type="http://schemas.openxmlformats.org/officeDocument/2006/relationships/slideLayout" Target="/ppt/slideLayouts/slideLayout1.xml" Id="R73fd006cae6146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fd006cae6146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d9f51dc99452b" /><Relationship Type="http://schemas.openxmlformats.org/officeDocument/2006/relationships/image" Target="/ppt/media/image.png" Id="Rcc292e8a9c2f4627" /><Relationship Type="http://schemas.openxmlformats.org/officeDocument/2006/relationships/image" Target="/ppt/media/image2.png" Id="Rca76081ba24d439a" /><Relationship Type="http://schemas.openxmlformats.org/officeDocument/2006/relationships/notesSlide" Target="/ppt/notesSlides/notesSlide1.xml" Id="R54354a84f9ef44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7d81532ae4061" /><Relationship Type="http://schemas.openxmlformats.org/officeDocument/2006/relationships/notesSlide" Target="/ppt/notesSlides/notesSlide2.xml" Id="Rfe2a010c8f9542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3128afcca4f06" /><Relationship Type="http://schemas.openxmlformats.org/officeDocument/2006/relationships/notesSlide" Target="/ppt/notesSlides/notesSlide3.xml" Id="R7b35b54f757c47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155e410d3456c" /><Relationship Type="http://schemas.openxmlformats.org/officeDocument/2006/relationships/notesSlide" Target="/ppt/notesSlides/notesSlide4.xml" Id="R1e46bfc9a48c47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5b4406c3645ae" /><Relationship Type="http://schemas.openxmlformats.org/officeDocument/2006/relationships/notesSlide" Target="/ppt/notesSlides/notesSlide5.xml" Id="R134a206b230741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6da4156284331" /><Relationship Type="http://schemas.openxmlformats.org/officeDocument/2006/relationships/notesSlide" Target="/ppt/notesSlides/notesSlide6.xml" Id="R4a10c241b7e848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07889d19a48c9" /><Relationship Type="http://schemas.openxmlformats.org/officeDocument/2006/relationships/notesSlide" Target="/ppt/notesSlides/notesSlide7.xml" Id="Rc405bd76a3d544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806E0-CA33-4B5D-9976-0DFB2B25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6FE3C-ED22-41FE-97B7-249C87E4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92e8a9c2f4627"/>
          <a:srcRect xmlns:a="http://schemas.openxmlformats.org/drawingml/2006/main" l="23736" t="0" r="237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0"/>
            <a:ext cx="64008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0A6FA-4199-4CD0-AE94-3B0A2E12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DB"/>
                </a:solidFill>
              </a:defRPr>
            </a:pPr>
            <a:r>
              <a:rPr sz="1050" b="1">
                <a:solidFill>
                  <a:srgbClr val="176BDB"/>
                </a:solidFill>
              </a:rPr>
              <a:t>WEEK 07  ·  SESSION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908DA-D612-4847-8053-37C7CAAF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14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033"/>
                </a:solidFill>
              </a:defRPr>
            </a:pPr>
            <a:r>
              <a:rPr sz="3675" b="1">
                <a:solidFill>
                  <a:srgbClr val="172033"/>
                </a:solidFill>
              </a:rPr>
              <a:t>Logistic Regression, Probability and Thresholds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DC523-B11E-4EC5-A22A-A971BBBD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75D84-BCF5-468E-BCBB-1BABFFE3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57A"/>
                </a:solidFill>
              </a:defRPr>
            </a:pPr>
            <a:r>
              <a:rPr sz="1575">
                <a:solidFill>
                  <a:srgbClr val="58657A"/>
                </a:solidFill>
              </a:rPr>
              <a:t>Build calibrated classification workflows and decision thresholds.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6081ba24d439a"/>
          <a:stretch xmlns:a="http://schemas.openxmlformats.org/drawingml/2006/main"/>
        </p:blipFill>
        <p:spPr>
          <a:xfrm xmlns:a="http://schemas.openxmlformats.org/drawingml/2006/main">
            <a:off x="666750" y="5810250"/>
            <a:ext cx="1714500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0941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B62F0-0EE1-4F78-A8CB-11A6F04C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22067-9A2D-4D45-A92E-A7B84779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07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DD6A3-AB45-4985-816D-A2EC4E31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022E1-0975-4F0A-B420-9A255EEC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9C1EC-626A-4853-8924-B34381BE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01316-E559-4CC1-AC8D-B11A0932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247FA-FA70-4F61-8F46-72D21465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097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BB00D-00A2-467D-A2AC-C2ADCDC4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335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Separate probability estimates from class decisions.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F4E1A-0719-4EDC-B79D-F6B08316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A7C9"/>
                </a:solidFill>
              </a:defRPr>
            </a:pPr>
            <a:r>
              <a:rPr sz="2700" b="1">
                <a:solidFill>
                  <a:srgbClr val="08A7C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C1CE7-DB64-419E-8582-0649A649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385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77CADA-40B8-4FF5-A58A-BAAD4DA8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6227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Select a threshold from costs and capacity.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458A6B-2321-411A-BCC3-7F1D1476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54C69-7E06-4B6D-95D7-C8A4D033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67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3E915-F386-4BD4-965D-8A86840F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910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Assess calibration and ranking.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44FD0-843A-4717-AE2A-23997DA3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032E4-9875-4F3F-8B9A-4B157A20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662921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9F1A8B-3126-485B-9A83-2378734D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5DB96-A3C6-4228-B3BA-1EA5C5B5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07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B9B53-AFAB-4BF8-B564-5C332F94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The concept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C9CA4-E2A6-4E02-BAA3-C00690E1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E8EEC-512B-4509-95A7-89FA3783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24EF6-E08E-4271-88E3-5B30A8E0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0731A-8BB6-4602-A026-D91EFAC1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19F13-507B-44C9-8822-2019D439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19CEF-F67A-4F1B-A306-8A8C957F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logistic regression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BBEFD-3AD7-4632-AEB1-C94EB9B7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CE40C-E697-42D1-B6BA-43C0BF68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6F0D3-E3F8-491C-898D-837616E1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06B6E7-733F-4C89-A8B3-D197DC8D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probability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F6E83-2C18-421B-ABBB-3FE14ED7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D68C0-7EA9-4607-B3A8-453B3CA8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8C4CBE-94EC-427A-A029-CDE893F7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016214-9304-471D-AFA6-3D14DB9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thresholds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04B236-4FCC-4298-8B1D-09D4C519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1F6D41-CD90-4DE6-848A-DF2F5007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7E7F9E-6E45-4E81-8BD4-FAD13FD6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2BBC2C-7B82-4F29-A369-CC0AE80B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calibration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A15239-033E-434B-951E-F3DEFC6F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26C1F3-CEB7-4383-9BBF-B969CC97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866869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5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D94422-EA21-44F5-9A38-FDCCDB0F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A7C9"/>
                </a:solidFill>
              </a:defRPr>
            </a:pPr>
            <a:r>
              <a:rPr sz="975" b="1">
                <a:solidFill>
                  <a:srgbClr val="08A7C9"/>
                </a:solidFill>
              </a:rPr>
              <a:t>FROM QUESTION TO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4AC40-F9B1-4EBB-8B35-79A2E82C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repeatable reasoning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6E4FA-9B42-492B-A17D-C35159D6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20869-FFE9-4CCE-8C73-3016CD85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79021-2B8C-48DA-802E-C42976A3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00E21-AAC7-4B44-9372-EB6D07A3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E7C47-E2E5-4372-A595-2D846A4E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94D85-8DC9-4FDE-81FD-AEAAB5FD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2AD92-712E-41DE-98C4-C29798CD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64DF5-12AE-4BBF-B951-8ABCB504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766D0-EF6C-4712-B08D-7D98AB35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A7D3E-73C5-44E0-AF81-E559D907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657A"/>
                </a:solidFill>
              </a:defRPr>
            </a:pPr>
            <a:r>
              <a:rPr sz="975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55B6E-6EEA-495F-8D6D-AB07045C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300B5-1AAE-4110-B3EB-AE018DD0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B92E2-BDE9-467B-A7F6-B8D5D80A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3AC548-80D3-4A54-8F70-00921B4B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E8C06F-3731-4352-81DC-95D6783B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Communicate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2C0045-8888-448C-8C70-10504C19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Build a lead-prioritization model under a review-capacity limit.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79B7E8-5D77-44DA-8D73-3C66EE75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FC4D9"/>
                </a:solidFill>
              </a:defRPr>
            </a:pPr>
            <a:r>
              <a:rPr sz="750" b="1">
                <a:solidFill>
                  <a:srgbClr val="AFC4D9"/>
                </a:solidFill>
              </a:rPr>
              <a:t>DS ACADEMY  ·  PRACTICAL REASONING</a:t>
            </a:r>
          </a:p>
        </p:txBody>
      </p:sp>
    </p:spTree>
    <p:extLst>
      <p:ext uri="{BB962C8B-B14F-4D97-AF65-F5344CB8AC3E}">
        <p14:creationId xmlns:p14="http://schemas.microsoft.com/office/powerpoint/2010/main" val="4448689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7234D2-5DC4-4B08-ADE0-3B617900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3FE0B-E304-48B9-892D-4326125C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07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CB421-E4F8-41C7-9F9C-1639E0E2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Guided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769D6-26F1-472C-AAD0-92BAC35C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3DCA9-6450-442E-A767-A874527A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D7E26-42A6-4A8F-B693-014AE480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2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75074-35BD-448C-A23A-C1B13D63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LAB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ED1C5-EB45-4AAE-990D-F6F1B827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962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Build a lead-prioritization model under a review-capacity limit.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E64DE-7BA5-4C01-B4B4-E19B3D5D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FC4D9"/>
                </a:solidFill>
              </a:defRPr>
            </a:pPr>
            <a:r>
              <a:rPr sz="975">
                <a:solidFill>
                  <a:srgbClr val="AFC4D9"/>
                </a:solidFill>
              </a:rPr>
              <a:t>workbook  /  tests  / 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90638-B9C1-4581-8C29-9A7BD09B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77DA4E-E9A2-4F3B-9232-1298E664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28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F4E93-D55F-451D-B1BD-6C330DE3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Define inputs, outputs, and success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BB1FF-D23C-44B7-8C34-AFE5AB5F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D821C-2939-4805-A651-F79AD11E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5246FC-B275-42D2-8394-2AC78AC8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34C9CD-0F19-4E10-A552-7654FE64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Implement the smallest correct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CB2E77-3272-4014-B1C5-55D80084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0C1E3-BEE6-4E32-8B14-E99730AE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B17F15-1F23-4D98-ACA0-0BC0F283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8320F7-7D07-4003-B3E9-37BD6699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Test normal, boundary, and failure cases.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BC5CC5-294B-4022-BB06-32098A48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CC431B-417D-4FED-A806-39516D3D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F7768"/>
                </a:solidFill>
              </a:defRPr>
            </a:pPr>
            <a:r>
              <a:rPr sz="975" b="1">
                <a:solidFill>
                  <a:srgbClr val="EF776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ED838F-B276-4901-A21D-ADCED8EC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434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Explain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A718DA-1E62-41ED-BAC8-211078A9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Record the evidence and remaining limits.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DD9BE4-549F-4D6B-B442-4C90144B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E402B2-F904-4000-8D09-69EDEC0D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92913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D5089B-7E72-453E-8644-D228F999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8E084-A768-4F71-8E44-17F3C66A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07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2DD90-31E8-4FAF-A055-20B2CE04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Portfolio deliverable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741EC-CD49-4C82-961B-F2E7E682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10749-F9F0-42E2-AAC2-04116A45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0107E-B247-46A3-8923-81C41810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A threshold policy with calibration and cost analysis.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BFBFF-49B0-439D-8837-72FA86A9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79919-925E-45C2-8114-209FD43B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4A22B-80B0-4E92-B930-9E347339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Reproducible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A35F3-93CC-4098-8EB4-D43DE6FB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D1BFC-4F8D-4F5D-940C-A4D3767A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B7118-5A3A-4042-A728-F33E8007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F7FE40-A287-41D4-9549-22181261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Decision-relevant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0FBF7-A83E-4C9F-9C67-9843DC24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143250" cy="40576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4CE63-ADDF-4E79-B343-4F2F9D0D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WEEKLY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DD36B8-C210-47D8-AE3B-06BA0466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Rare-Event Classifier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3A58D4-113A-4505-BA12-BFA4FEAD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Leakage 25%, metrics 25%, threshold 20%, calibration 15%, communication 15%.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447BCB-27B8-4742-985E-0CFB3128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CBC04E-A33B-4770-809C-49A2A4BC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537191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DC710-648C-46E5-AF55-F4EDD3D9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E600D-6EE3-449B-AC49-519A4129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SESSION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9E5B5-624A-46EF-B82B-487C227D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What should remain after the lesson?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CFD31-0FC6-4A38-8D6E-9CA6C2D3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353B8-945F-4885-BB55-33C4A6BB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57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logistic regression + probability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BA383-C642-4C0F-9849-E97C3FB8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BBC33-6CC4-4939-B7D5-D319404C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PRACTICE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E6E99-8D26-428C-AFF2-968CD0BA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00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Build a lead-prioritization model under a review-capacity limit.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075140-BABE-4B89-A70D-CCEF7B3F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CECE91-EA9B-41D1-9A0B-421AC114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F7768"/>
                </a:solidFill>
              </a:defRPr>
            </a:pPr>
            <a:r>
              <a:rPr sz="900" b="1">
                <a:solidFill>
                  <a:srgbClr val="EF7768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B5004-7189-458D-9C56-7689A878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43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 threshold policy with calibration and cost analysis.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3D6008-787D-4FFC-9425-BEDA684B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30401-CBFA-459F-85EE-984C6E13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DB"/>
                </a:solidFill>
              </a:defRPr>
            </a:pPr>
            <a:r>
              <a:rPr sz="1125" b="1">
                <a:solidFill>
                  <a:srgbClr val="176BDB"/>
                </a:solidFill>
              </a:rPr>
              <a:t>Narration available in English 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FB4C57-CF65-4DD7-BA7D-CF7E31AA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531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සිංහල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E2A14-C65C-45CC-A477-2A3262D2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8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</p:spTree>
    <p:extLst>
      <p:ext uri="{BB962C8B-B14F-4D97-AF65-F5344CB8AC3E}">
        <p14:creationId xmlns:p14="http://schemas.microsoft.com/office/powerpoint/2010/main" val="1029860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2026-07-27T08:01:06.9170000Z</dcterms:created>
  <dcterms:modified xsi:type="dcterms:W3CDTF">2026-07-27T08:01:06.9170000Z</dcterms:modified>
</coreProperties>
</file>