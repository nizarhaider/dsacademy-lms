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b2a660951634a42" /><Relationship Type="http://schemas.openxmlformats.org/officeDocument/2006/relationships/extended-properties" Target="/docProps/app.xml" Id="R8aace0a565cf439e" /><Relationship Type="http://schemas.openxmlformats.org/officeDocument/2006/relationships/officeDocument" Target="/ppt/presentation.xml" Id="Rc853759cb546483b" /></Relationships>
</file>

<file path=ppt/presentation.xml><?xml version="1.0" encoding="utf-8"?>
<p:presentation xmlns:p="http://schemas.openxmlformats.org/presentationml/2006/main">
  <p:sldMasterIdLst>
    <p:sldMasterId xmlns:r="http://schemas.openxmlformats.org/officeDocument/2006/relationships" id="2147483648" r:id="R8d306bbf04d64cba"/>
  </p:sldMasterIdLst>
  <p:notesMasterIdLst>
    <p:notesMasterId xmlns:r="http://schemas.openxmlformats.org/officeDocument/2006/relationships" r:id="Ra4778898af004e84"/>
  </p:notesMasterIdLst>
  <p:sldIdLst>
    <p:sldId xmlns:r="http://schemas.openxmlformats.org/officeDocument/2006/relationships" id="256" r:id="Ra01dbbe75b4b46b5"/>
    <p:sldId xmlns:r="http://schemas.openxmlformats.org/officeDocument/2006/relationships" id="257" r:id="R74bf2bdc50004309"/>
    <p:sldId xmlns:r="http://schemas.openxmlformats.org/officeDocument/2006/relationships" id="258" r:id="R76676abbe7ef43c3"/>
    <p:sldId xmlns:r="http://schemas.openxmlformats.org/officeDocument/2006/relationships" id="259" r:id="R67bd0f347f1245be"/>
    <p:sldId xmlns:r="http://schemas.openxmlformats.org/officeDocument/2006/relationships" id="260" r:id="R9a7f7a22c11e472f"/>
    <p:sldId xmlns:r="http://schemas.openxmlformats.org/officeDocument/2006/relationships" id="261" r:id="R353acb5c56a9452f"/>
    <p:sldId xmlns:r="http://schemas.openxmlformats.org/officeDocument/2006/relationships" id="262" r:id="R0644e2ef63964ae7"/>
    <p:sldId xmlns:r="http://schemas.openxmlformats.org/officeDocument/2006/relationships" id="263" r:id="R3ff0f4e9de49469e"/>
    <p:sldId xmlns:r="http://schemas.openxmlformats.org/officeDocument/2006/relationships" id="264" r:id="Re3787ed1b1f140db"/>
    <p:sldId xmlns:r="http://schemas.openxmlformats.org/officeDocument/2006/relationships" id="265" r:id="Rd88ba231f30a4be3"/>
    <p:sldId xmlns:r="http://schemas.openxmlformats.org/officeDocument/2006/relationships" id="266" r:id="R42b208f1e3e645b3"/>
    <p:sldId xmlns:r="http://schemas.openxmlformats.org/officeDocument/2006/relationships" id="267" r:id="R2f864748911c4f9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2c237f814674e0a" /><Relationship Type="http://schemas.openxmlformats.org/officeDocument/2006/relationships/slideMaster" Target="/ppt/slideMasters/slideMaster1.xml" Id="R8d306bbf04d64cba" /><Relationship Type="http://schemas.openxmlformats.org/officeDocument/2006/relationships/notesMaster" Target="/ppt/notesMasters/notesMaster1.xml" Id="Ra4778898af004e84" /><Relationship Type="http://schemas.openxmlformats.org/officeDocument/2006/relationships/presProps" Target="/ppt/presProps.xml" Id="R9ace7ce7def44a41" /><Relationship Type="http://schemas.openxmlformats.org/officeDocument/2006/relationships/tableStyles" Target="/ppt/tableStyles.xml" Id="Rf3efde9c265547dc" /><Relationship Type="http://schemas.openxmlformats.org/officeDocument/2006/relationships/slide" Target="/ppt/slides/slide1.xml" Id="Ra01dbbe75b4b46b5" /><Relationship Type="http://schemas.openxmlformats.org/officeDocument/2006/relationships/slide" Target="/ppt/slides/slide2.xml" Id="R74bf2bdc50004309" /><Relationship Type="http://schemas.openxmlformats.org/officeDocument/2006/relationships/slide" Target="/ppt/slides/slide3.xml" Id="R76676abbe7ef43c3" /><Relationship Type="http://schemas.openxmlformats.org/officeDocument/2006/relationships/slide" Target="/ppt/slides/slide4.xml" Id="R67bd0f347f1245be" /><Relationship Type="http://schemas.openxmlformats.org/officeDocument/2006/relationships/slide" Target="/ppt/slides/slide5.xml" Id="R9a7f7a22c11e472f" /><Relationship Type="http://schemas.openxmlformats.org/officeDocument/2006/relationships/slide" Target="/ppt/slides/slide6.xml" Id="R353acb5c56a9452f" /><Relationship Type="http://schemas.openxmlformats.org/officeDocument/2006/relationships/slide" Target="/ppt/slides/slide7.xml" Id="R0644e2ef63964ae7" /><Relationship Type="http://schemas.openxmlformats.org/officeDocument/2006/relationships/slide" Target="/ppt/slides/slide8.xml" Id="R3ff0f4e9de49469e" /><Relationship Type="http://schemas.openxmlformats.org/officeDocument/2006/relationships/slide" Target="/ppt/slides/slide9.xml" Id="Re3787ed1b1f140db" /><Relationship Type="http://schemas.openxmlformats.org/officeDocument/2006/relationships/slide" Target="/ppt/slides/slide10.xml" Id="Rd88ba231f30a4be3" /><Relationship Type="http://schemas.openxmlformats.org/officeDocument/2006/relationships/slide" Target="/ppt/slides/slide11.xml" Id="R42b208f1e3e645b3" /><Relationship Type="http://schemas.openxmlformats.org/officeDocument/2006/relationships/slide" Target="/ppt/slides/slide12.xml" Id="R2f864748911c4f9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ad6c32a92444d6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82d8eaa5a2a4243" /><Relationship Type="http://schemas.openxmlformats.org/officeDocument/2006/relationships/notesMaster" Target="/ppt/notesMasters/notesMaster1.xml" Id="R36c75489be8a4334" /></Relationships>
</file>

<file path=ppt/notesSlides/_rels/notesSlide2.xml.rels>&#65279;<?xml version="1.0" encoding="utf-8"?><Relationships xmlns="http://schemas.openxmlformats.org/package/2006/relationships"><Relationship Type="http://schemas.openxmlformats.org/officeDocument/2006/relationships/slide" Target="/ppt/slides/slide2.xml" Id="Rb62bb5d38c6743f2" /><Relationship Type="http://schemas.openxmlformats.org/officeDocument/2006/relationships/notesMaster" Target="/ppt/notesMasters/notesMaster1.xml" Id="R199e5caf183b4712" /></Relationships>
</file>

<file path=ppt/notesSlides/_rels/notesSlide3.xml.rels>&#65279;<?xml version="1.0" encoding="utf-8"?><Relationships xmlns="http://schemas.openxmlformats.org/package/2006/relationships"><Relationship Type="http://schemas.openxmlformats.org/officeDocument/2006/relationships/slide" Target="/ppt/slides/slide3.xml" Id="Rbaf1f3e0ef7442c9" /><Relationship Type="http://schemas.openxmlformats.org/officeDocument/2006/relationships/notesMaster" Target="/ppt/notesMasters/notesMaster1.xml" Id="Rb402e2e0341a46cb" /></Relationships>
</file>

<file path=ppt/notesSlides/_rels/notesSlide4.xml.rels>&#65279;<?xml version="1.0" encoding="utf-8"?><Relationships xmlns="http://schemas.openxmlformats.org/package/2006/relationships"><Relationship Type="http://schemas.openxmlformats.org/officeDocument/2006/relationships/slide" Target="/ppt/slides/slide4.xml" Id="R68a9eca8e5f2468c" /><Relationship Type="http://schemas.openxmlformats.org/officeDocument/2006/relationships/notesMaster" Target="/ppt/notesMasters/notesMaster1.xml" Id="R961de5eff46e42be" /></Relationships>
</file>

<file path=ppt/notesSlides/_rels/notesSlide5.xml.rels>&#65279;<?xml version="1.0" encoding="utf-8"?><Relationships xmlns="http://schemas.openxmlformats.org/package/2006/relationships"><Relationship Type="http://schemas.openxmlformats.org/officeDocument/2006/relationships/slide" Target="/ppt/slides/slide5.xml" Id="R9d86896e9f654305" /><Relationship Type="http://schemas.openxmlformats.org/officeDocument/2006/relationships/notesMaster" Target="/ppt/notesMasters/notesMaster1.xml" Id="Rf9a457dcd7464d66" /></Relationships>
</file>

<file path=ppt/notesSlides/_rels/notesSlide6.xml.rels>&#65279;<?xml version="1.0" encoding="utf-8"?><Relationships xmlns="http://schemas.openxmlformats.org/package/2006/relationships"><Relationship Type="http://schemas.openxmlformats.org/officeDocument/2006/relationships/slide" Target="/ppt/slides/slide6.xml" Id="Rbf9bc1e17471426c" /><Relationship Type="http://schemas.openxmlformats.org/officeDocument/2006/relationships/notesMaster" Target="/ppt/notesMasters/notesMaster1.xml" Id="R67e2322779504392" /></Relationships>
</file>

<file path=ppt/notesSlides/_rels/notesSlide7.xml.rels>&#65279;<?xml version="1.0" encoding="utf-8"?><Relationships xmlns="http://schemas.openxmlformats.org/package/2006/relationships"><Relationship Type="http://schemas.openxmlformats.org/officeDocument/2006/relationships/slide" Target="/ppt/slides/slide7.xml" Id="R25da815f42d9466d" /><Relationship Type="http://schemas.openxmlformats.org/officeDocument/2006/relationships/notesMaster" Target="/ppt/notesMasters/notesMaster1.xml" Id="R5e23623c066b4eb2" /></Relationships>
</file>

<file path=ppt/notesSlides/_rels/notesSlide8.xml.rels>&#65279;<?xml version="1.0" encoding="utf-8"?><Relationships xmlns="http://schemas.openxmlformats.org/package/2006/relationships"><Relationship Type="http://schemas.openxmlformats.org/officeDocument/2006/relationships/slide" Target="/ppt/slides/slide8.xml" Id="Reac2cc99fd0d4e2b" /><Relationship Type="http://schemas.openxmlformats.org/officeDocument/2006/relationships/notesMaster" Target="/ppt/notesMasters/notesMaster1.xml" Id="Rdb14e7fe664b4ffa" /></Relationships>
</file>

<file path=ppt/notesSlides/_rels/notesSlide9.xml.rels>&#65279;<?xml version="1.0" encoding="utf-8"?><Relationships xmlns="http://schemas.openxmlformats.org/package/2006/relationships"><Relationship Type="http://schemas.openxmlformats.org/officeDocument/2006/relationships/slide" Target="/ppt/slides/slide9.xml" Id="R1ea2c22400db4a56" /><Relationship Type="http://schemas.openxmlformats.org/officeDocument/2006/relationships/notesMaster" Target="/ppt/notesMasters/notesMaster1.xml" Id="R8ae82777cb1c455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ba28e02d8244870" /><Relationship Type="http://schemas.openxmlformats.org/officeDocument/2006/relationships/notesMaster" Target="/ppt/notesMasters/notesMaster1.xml" Id="Re4e7945331714bd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0d9aca1b87048fb" /><Relationship Type="http://schemas.openxmlformats.org/officeDocument/2006/relationships/notesMaster" Target="/ppt/notesMasters/notesMaster1.xml" Id="R19d877a51a5c402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aa2cf35d2da4e45" /><Relationship Type="http://schemas.openxmlformats.org/officeDocument/2006/relationships/notesMaster" Target="/ppt/notesMasters/notesMaster1.xml" Id="R019d91d1b73f4df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serving** makes a fitted model available to another program.</a:t>
            </a:r>
          </a:p>
          <a:p xmlns:a="http://schemas.openxmlformats.org/drawingml/2006/main">
            <a:r>
              <a:t/>
            </a:r>
          </a:p>
          <a:p xmlns:a="http://schemas.openxmlformats.org/drawingml/2006/main">
            <a:r>
              <a:t>A serving request contains feature values. The service:</a:t>
            </a:r>
          </a:p>
          <a:p xmlns:a="http://schemas.openxmlformats.org/drawingml/2006/main">
            <a:r>
              <a:t/>
            </a:r>
          </a:p>
          <a:p xmlns:a="http://schemas.openxmlformats.org/drawingml/2006/main">
            <a:r>
              <a:t>1. validates the request;</a:t>
            </a:r>
          </a:p>
          <a:p xmlns:a="http://schemas.openxmlformats.org/drawingml/2006/main">
            <a:r>
              <a:t>2. applies the saved preprocessing pipeline;</a:t>
            </a:r>
          </a:p>
          <a:p xmlns:a="http://schemas.openxmlformats.org/drawingml/2006/main">
            <a:r>
              <a:t>3. calculates inference;</a:t>
            </a:r>
          </a:p>
          <a:p xmlns:a="http://schemas.openxmlformats.org/drawingml/2006/main">
            <a:r>
              <a:t>4. formats a response;</a:t>
            </a:r>
          </a:p>
          <a:p xmlns:a="http://schemas.openxmlformats.org/drawingml/2006/main">
            <a:r>
              <a:t>5. records operational evidence.</a:t>
            </a:r>
          </a:p>
          <a:p xmlns:a="http://schemas.openxmlformats.org/drawingml/2006/main">
            <a:r>
              <a:t/>
            </a:r>
          </a:p>
          <a:p xmlns:a="http://schemas.openxmlformats.org/drawingml/2006/main">
            <a:r>
              <a:t>Training and serving must use the same feature definitions and fitted artifact. A successful HTTP response does not prove the prediction is correct.</a:t>
            </a:r>
          </a:p>
          <a:p xmlns:a="http://schemas.openxmlformats.org/drawingml/2006/main">
            <a:r>
              <a:t/>
            </a:r>
          </a:p>
          <a:p xmlns:a="http://schemas.openxmlformats.org/drawingml/2006/main">
            <a:r>
              <a:t>[Worked Example]</a:t>
            </a:r>
          </a:p>
          <a:p xmlns:a="http://schemas.openxmlformats.org/drawingml/2006/main">
            <a:r>
              <a:t>Request: `{"age": 35, "city": "Kandy"}`</a:t>
            </a:r>
          </a:p>
          <a:p xmlns:a="http://schemas.openxmlformats.org/drawingml/2006/main">
            <a:r>
              <a:t/>
            </a:r>
          </a:p>
          <a:p xmlns:a="http://schemas.openxmlformats.org/drawingml/2006/main">
            <a:r>
              <a:t>The service validates types, applies the saved imputer and encoder, returns a probability and model version, then logs latency without exposing secrets.</a:t>
            </a:r>
          </a:p>
          <a:p xmlns:a="http://schemas.openxmlformats.org/drawingml/2006/main">
            <a:r>
              <a:t/>
            </a:r>
          </a:p>
          <a:p xmlns:a="http://schemas.openxmlformats.org/drawingml/2006/main">
            <a:r>
              <a:t>[Visual Brief]</a:t>
            </a:r>
          </a:p>
          <a:p xmlns:a="http://schemas.openxmlformats.org/drawingml/2006/main">
            <a:r>
              <a:t>Client, validation, preprocessing, model, response, and logging form a left-to-right request path.</a:t>
            </a:r>
          </a:p>
          <a:p xmlns:a="http://schemas.openxmlformats.org/drawingml/2006/main">
            <a:r>
              <a:t/>
            </a:r>
          </a:p>
          <a:p xmlns:a="http://schemas.openxmlformats.org/drawingml/2006/main">
            <a:r>
              <a:t>[Instructor Notes]</a:t>
            </a:r>
          </a:p>
          <a:p xmlns:a="http://schemas.openxmlformats.org/drawingml/2006/main">
            <a:r>
              <a:t>Separate training jobs from online inference. Re-emphasize that the persisted artifact includes preprocessing.</a:t>
            </a:r>
          </a:p>
          <a:p xmlns:a="http://schemas.openxmlformats.org/drawingml/2006/main">
            <a:r>
              <a:t/>
            </a:r>
          </a:p>
          <a:p xmlns:a="http://schemas.openxmlformats.org/drawingml/2006/main">
            <a:r>
              <a:t>[Notebook Connection]</a:t>
            </a:r>
          </a:p>
          <a:p xmlns:a="http://schemas.openxmlformats.org/drawingml/2006/main">
            <a:r>
              <a:t>This week wraps the Week 10 pipeline in an API rather than retraining it inside each request.</a:t>
            </a:r>
          </a:p>
          <a:p xmlns:a="http://schemas.openxmlformats.org/drawingml/2006/main">
            <a:r>
              <a:t/>
            </a:r>
          </a:p>
          <a:p xmlns:a="http://schemas.openxmlformats.org/drawingml/2006/main">
            <a:r>
              <a:t>[Sources]</a:t>
            </a:r>
          </a:p>
          <a:p xmlns:a="http://schemas.openxmlformats.org/drawingml/2006/main">
            <a:r>
              <a:t>- https://scikit-learn.org/stable/model_persistence.html</a:t>
            </a:r>
          </a:p>
          <a:p xmlns:a="http://schemas.openxmlformats.org/drawingml/2006/main">
            <a:r>
              <a:t>- https://fastapi.tiangolo.com/tutorial/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 is a protocol for exchanging requests and responses.</a:t>
            </a:r>
          </a:p>
          <a:p xmlns:a="http://schemas.openxmlformats.org/drawingml/2006/main">
            <a:r>
              <a:t/>
            </a:r>
          </a:p>
          <a:p xmlns:a="http://schemas.openxmlformats.org/drawingml/2006/main">
            <a:r>
              <a:t>A request contains:</a:t>
            </a:r>
          </a:p>
          <a:p xmlns:a="http://schemas.openxmlformats.org/drawingml/2006/main">
            <a:r>
              <a:t/>
            </a:r>
          </a:p>
          <a:p xmlns:a="http://schemas.openxmlformats.org/drawingml/2006/main">
            <a:r>
              <a:t>- method such as `GET` or `POST`;</a:t>
            </a:r>
          </a:p>
          <a:p xmlns:a="http://schemas.openxmlformats.org/drawingml/2006/main">
            <a:r>
              <a:t>- path such as `/predict`;</a:t>
            </a:r>
          </a:p>
          <a:p xmlns:a="http://schemas.openxmlformats.org/drawingml/2006/main">
            <a:r>
              <a:t>- headers such as content type or authorization;</a:t>
            </a:r>
          </a:p>
          <a:p xmlns:a="http://schemas.openxmlformats.org/drawingml/2006/main">
            <a:r>
              <a:t>- optional body containing input data.</a:t>
            </a:r>
          </a:p>
          <a:p xmlns:a="http://schemas.openxmlformats.org/drawingml/2006/main">
            <a:r>
              <a:t/>
            </a:r>
          </a:p>
          <a:p xmlns:a="http://schemas.openxmlformats.org/drawingml/2006/main">
            <a:r>
              <a:t>A response contains a status code, headers, and optional body.</a:t>
            </a:r>
          </a:p>
          <a:p xmlns:a="http://schemas.openxmlformats.org/drawingml/2006/main">
            <a:r>
              <a:t/>
            </a:r>
          </a:p>
          <a:p xmlns:a="http://schemas.openxmlformats.org/drawingml/2006/main">
            <a:r>
              <a:t>Common codes:</a:t>
            </a:r>
          </a:p>
          <a:p xmlns:a="http://schemas.openxmlformats.org/drawingml/2006/main">
            <a:r>
              <a:t/>
            </a:r>
          </a:p>
          <a:p xmlns:a="http://schemas.openxmlformats.org/drawingml/2006/main">
            <a:r>
              <a:t>- `200`: success</a:t>
            </a:r>
          </a:p>
          <a:p xmlns:a="http://schemas.openxmlformats.org/drawingml/2006/main">
            <a:r>
              <a:t>- `400` or `422`: invalid client input</a:t>
            </a:r>
          </a:p>
          <a:p xmlns:a="http://schemas.openxmlformats.org/drawingml/2006/main">
            <a:r>
              <a:t>- `401` or `403`: authentication or permission failure</a:t>
            </a:r>
          </a:p>
          <a:p xmlns:a="http://schemas.openxmlformats.org/drawingml/2006/main">
            <a:r>
              <a:t>- `500`: unexpected server failure</a:t>
            </a:r>
          </a:p>
          <a:p xmlns:a="http://schemas.openxmlformats.org/drawingml/2006/main">
            <a:r>
              <a:t/>
            </a:r>
          </a:p>
          <a:p xmlns:a="http://schemas.openxmlformats.org/drawingml/2006/main">
            <a:r>
              <a:t>[Worked Example]</a:t>
            </a:r>
          </a:p>
          <a:p xmlns:a="http://schemas.openxmlformats.org/drawingml/2006/main">
            <a:r>
              <a:t>`POST /predict` sends feature JSON because prediction creates a computation from a structured body.</a:t>
            </a:r>
          </a:p>
          <a:p xmlns:a="http://schemas.openxmlformats.org/drawingml/2006/main">
            <a:r>
              <a:t/>
            </a:r>
          </a:p>
          <a:p xmlns:a="http://schemas.openxmlformats.org/drawingml/2006/main">
            <a:r>
              <a:t>Valid input returns `200`. Missing required age returns a validation error, commonly `422` in FastAPI.</a:t>
            </a:r>
          </a:p>
          <a:p xmlns:a="http://schemas.openxmlformats.org/drawingml/2006/main">
            <a:r>
              <a:t/>
            </a:r>
          </a:p>
          <a:p xmlns:a="http://schemas.openxmlformats.org/drawingml/2006/main">
            <a:r>
              <a:t>[Visual Brief]</a:t>
            </a:r>
          </a:p>
          <a:p xmlns:a="http://schemas.openxmlformats.org/drawingml/2006/main">
            <a:r>
              <a:t>A request envelope and response envelope label method, path, headers, body, status, and response body.</a:t>
            </a:r>
          </a:p>
          <a:p xmlns:a="http://schemas.openxmlformats.org/drawingml/2006/main">
            <a:r>
              <a:t/>
            </a:r>
          </a:p>
          <a:p xmlns:a="http://schemas.openxmlformats.org/drawingml/2006/main">
            <a:r>
              <a:t>[Instructor Notes]</a:t>
            </a:r>
          </a:p>
          <a:p xmlns:a="http://schemas.openxmlformats.org/drawingml/2006/main">
            <a:r>
              <a:t>Explain that HTTP status and model result are different: a valid negative prediction still returns success.</a:t>
            </a:r>
          </a:p>
          <a:p xmlns:a="http://schemas.openxmlformats.org/drawingml/2006/main">
            <a:r>
              <a:t/>
            </a:r>
          </a:p>
          <a:p xmlns:a="http://schemas.openxmlformats.org/drawingml/2006/main">
            <a:r>
              <a:t>[Notebook Connection]</a:t>
            </a:r>
          </a:p>
          <a:p xmlns:a="http://schemas.openxmlformats.org/drawingml/2006/main">
            <a:r>
              <a:t>Learners will send test requests to the local FastAPI application.</a:t>
            </a:r>
          </a:p>
          <a:p xmlns:a="http://schemas.openxmlformats.org/drawingml/2006/main">
            <a:r>
              <a:t/>
            </a:r>
          </a:p>
          <a:p xmlns:a="http://schemas.openxmlformats.org/drawingml/2006/main">
            <a:r>
              <a:t>[Sources]</a:t>
            </a:r>
          </a:p>
          <a:p xmlns:a="http://schemas.openxmlformats.org/drawingml/2006/main">
            <a:r>
              <a:t>- https://developer.mozilla.org/en-US/docs/Web/HTTP/Overview</a:t>
            </a:r>
          </a:p>
          <a:p xmlns:a="http://schemas.openxmlformats.org/drawingml/2006/main">
            <a:r>
              <a:t>- https://fastapi.tiangolo.com/tutorial/first-steps/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**JSON** represents objects, arrays, strings, numbers, booleans, and null.</a:t>
            </a:r>
          </a:p>
          <a:p xmlns:a="http://schemas.openxmlformats.org/drawingml/2006/main">
            <a:r>
              <a:t/>
            </a:r>
          </a:p>
          <a:p xmlns:a="http://schemas.openxmlformats.org/drawingml/2006/main">
            <a:r>
              <a:t>An **API contract** states required fields, data types, ranges, response fields, and error behaviour.</a:t>
            </a:r>
          </a:p>
          <a:p xmlns:a="http://schemas.openxmlformats.org/drawingml/2006/main">
            <a:r>
              <a:t/>
            </a:r>
          </a:p>
          <a:p xmlns:a="http://schemas.openxmlformats.org/drawingml/2006/main">
            <a:r>
              <a:t>Validation should reject:</a:t>
            </a:r>
          </a:p>
          <a:p xmlns:a="http://schemas.openxmlformats.org/drawingml/2006/main">
            <a:r>
              <a:t/>
            </a:r>
          </a:p>
          <a:p xmlns:a="http://schemas.openxmlformats.org/drawingml/2006/main">
            <a:r>
              <a:t>- missing required fields;</a:t>
            </a:r>
          </a:p>
          <a:p xmlns:a="http://schemas.openxmlformats.org/drawingml/2006/main">
            <a:r>
              <a:t>- wrong types;</a:t>
            </a:r>
          </a:p>
          <a:p xmlns:a="http://schemas.openxmlformats.org/drawingml/2006/main">
            <a:r>
              <a:t>- values outside valid ranges;</a:t>
            </a:r>
          </a:p>
          <a:p xmlns:a="http://schemas.openxmlformats.org/drawingml/2006/main">
            <a:r>
              <a:t>- unknown fields when strict input is required;</a:t>
            </a:r>
          </a:p>
          <a:p xmlns:a="http://schemas.openxmlformats.org/drawingml/2006/main">
            <a:r>
              <a:t>- requests that exceed size limits.</a:t>
            </a:r>
          </a:p>
          <a:p xmlns:a="http://schemas.openxmlformats.org/drawingml/2006/main">
            <a:r>
              <a:t/>
            </a:r>
          </a:p>
          <a:p xmlns:a="http://schemas.openxmlformats.org/drawingml/2006/main">
            <a:r>
              <a:t>Validation protects the service boundary; it does not replace data-drift monitoring.</a:t>
            </a:r>
          </a:p>
          <a:p xmlns:a="http://schemas.openxmlformats.org/drawingml/2006/main">
            <a:r>
              <a:t/>
            </a:r>
          </a:p>
          <a:p xmlns:a="http://schemas.openxmlformats.org/drawingml/2006/main">
            <a:r>
              <a:t>[Worked Example]</a:t>
            </a:r>
          </a:p>
          <a:p xmlns:a="http://schemas.openxmlformats.org/drawingml/2006/main">
            <a:r>
              <a:t>Contract:</a:t>
            </a:r>
          </a:p>
          <a:p xmlns:a="http://schemas.openxmlformats.org/drawingml/2006/main">
            <a:r>
              <a:t/>
            </a:r>
          </a:p>
          <a:p xmlns:a="http://schemas.openxmlformats.org/drawingml/2006/main">
            <a:r>
              <a:t>- `age`: integer from `18` to `100`</a:t>
            </a:r>
          </a:p>
          <a:p xmlns:a="http://schemas.openxmlformats.org/drawingml/2006/main">
            <a:r>
              <a:t>- `city`: non-empty string</a:t>
            </a:r>
          </a:p>
          <a:p xmlns:a="http://schemas.openxmlformats.org/drawingml/2006/main">
            <a:r>
              <a:t/>
            </a:r>
          </a:p>
          <a:p xmlns:a="http://schemas.openxmlformats.org/drawingml/2006/main">
            <a:r>
              <a:t>`{"age": "thirty-five"}` fails type and missing-city checks before model inference.</a:t>
            </a:r>
          </a:p>
          <a:p xmlns:a="http://schemas.openxmlformats.org/drawingml/2006/main">
            <a:r>
              <a:t/>
            </a:r>
          </a:p>
          <a:p xmlns:a="http://schemas.openxmlformats.org/drawingml/2006/main">
            <a:r>
              <a:t>[Visual Brief]</a:t>
            </a:r>
          </a:p>
          <a:p xmlns:a="http://schemas.openxmlformats.org/drawingml/2006/main">
            <a:r>
              <a:t>Valid and invalid JSON documents pass through a schema gate; only the valid request reaches the model.</a:t>
            </a:r>
          </a:p>
          <a:p xmlns:a="http://schemas.openxmlformats.org/drawingml/2006/main">
            <a:r>
              <a:t/>
            </a:r>
          </a:p>
          <a:p xmlns:a="http://schemas.openxmlformats.org/drawingml/2006/main">
            <a:r>
              <a:t>[Instructor Notes]</a:t>
            </a:r>
          </a:p>
          <a:p xmlns:a="http://schemas.openxmlformats.org/drawingml/2006/main">
            <a:r>
              <a:t>Ask which training schema assumptions can be enforced at the API boundary.</a:t>
            </a:r>
          </a:p>
          <a:p xmlns:a="http://schemas.openxmlformats.org/drawingml/2006/main">
            <a:r>
              <a:t/>
            </a:r>
          </a:p>
          <a:p xmlns:a="http://schemas.openxmlformats.org/drawingml/2006/main">
            <a:r>
              <a:t>[Notebook Connection]</a:t>
            </a:r>
          </a:p>
          <a:p xmlns:a="http://schemas.openxmlformats.org/drawingml/2006/main">
            <a:r>
              <a:t>The request schema must match the columns expected by the persisted pipeline.</a:t>
            </a:r>
          </a:p>
          <a:p xmlns:a="http://schemas.openxmlformats.org/drawingml/2006/main">
            <a:r>
              <a:t/>
            </a:r>
          </a:p>
          <a:p xmlns:a="http://schemas.openxmlformats.org/drawingml/2006/main">
            <a:r>
              <a:t>[Sources]</a:t>
            </a:r>
          </a:p>
          <a:p xmlns:a="http://schemas.openxmlformats.org/drawingml/2006/main">
            <a:r>
              <a:t>- https://fastapi.tiangolo.com/tutorial/body/</a:t>
            </a:r>
          </a:p>
          <a:p xmlns:a="http://schemas.openxmlformats.org/drawingml/2006/main">
            <a:r>
              <a:t>- https://docs.pydantic.dev/latest/concepts/fields/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**FastAPI** maps HTTP paths and methods to Python functions.</a:t>
            </a:r>
          </a:p>
          <a:p xmlns:a="http://schemas.openxmlformats.org/drawingml/2006/main">
            <a:r>
              <a:t/>
            </a:r>
          </a:p>
          <a:p xmlns:a="http://schemas.openxmlformats.org/drawingml/2006/main">
            <a:r>
              <a:t>The endpoint should:</a:t>
            </a:r>
          </a:p>
          <a:p xmlns:a="http://schemas.openxmlformats.org/drawingml/2006/main">
            <a:r>
              <a:t/>
            </a:r>
          </a:p>
          <a:p xmlns:a="http://schemas.openxmlformats.org/drawingml/2006/main">
            <a:r>
              <a:t>1. accept a typed request;</a:t>
            </a:r>
          </a:p>
          <a:p xmlns:a="http://schemas.openxmlformats.org/drawingml/2006/main">
            <a:r>
              <a:t>2. convert it into the model's row format;</a:t>
            </a:r>
          </a:p>
          <a:p xmlns:a="http://schemas.openxmlformats.org/drawingml/2006/main">
            <a:r>
              <a:t>3. call the loaded pipeline;</a:t>
            </a:r>
          </a:p>
          <a:p xmlns:a="http://schemas.openxmlformats.org/drawingml/2006/main">
            <a:r>
              <a:t>4. return JSON-safe values;</a:t>
            </a:r>
          </a:p>
          <a:p xmlns:a="http://schemas.openxmlformats.org/drawingml/2006/main">
            <a:r>
              <a:t>5. convert expected failures into clear client errors.</a:t>
            </a:r>
          </a:p>
          <a:p xmlns:a="http://schemas.openxmlformats.org/drawingml/2006/main">
            <a:r>
              <a:t/>
            </a:r>
          </a:p>
          <a:p xmlns:a="http://schemas.openxmlformats.org/drawingml/2006/main">
            <a:r>
              <a:t>Load the model once when the application starts, not once per request.</a:t>
            </a:r>
          </a:p>
          <a:p xmlns:a="http://schemas.openxmlformats.org/drawingml/2006/main">
            <a:r>
              <a:t/>
            </a:r>
          </a:p>
          <a:p xmlns:a="http://schemas.openxmlformats.org/drawingml/2006/main">
            <a:r>
              <a:t>[Worked Example]</a:t>
            </a:r>
          </a:p>
          <a:p xmlns:a="http://schemas.openxmlformats.org/drawingml/2006/main">
            <a:r>
              <a:t>For probability `0.73` and threshold `0.50`, return:</a:t>
            </a:r>
          </a:p>
          <a:p xmlns:a="http://schemas.openxmlformats.org/drawingml/2006/main">
            <a:r>
              <a:t/>
            </a:r>
          </a:p>
          <a:p xmlns:a="http://schemas.openxmlformats.org/drawingml/2006/main">
            <a:r>
              <a:t>```json</a:t>
            </a:r>
          </a:p>
          <a:p xmlns:a="http://schemas.openxmlformats.org/drawingml/2006/main">
            <a:r>
              <a:t>{"label": 1, "probability": 0.73, "model_version": "2026-07-28"}</a:t>
            </a:r>
          </a:p>
          <a:p xmlns:a="http://schemas.openxmlformats.org/drawingml/2006/main">
            <a:r>
              <a:t>```</a:t>
            </a:r>
          </a:p>
          <a:p xmlns:a="http://schemas.openxmlformats.org/drawingml/2006/main">
            <a:r>
              <a:t/>
            </a:r>
          </a:p>
          <a:p xmlns:a="http://schemas.openxmlformats.org/drawingml/2006/main">
            <a:r>
              <a:t>The version lets logs and clients identify the producing artifact.</a:t>
            </a:r>
          </a:p>
          <a:p xmlns:a="http://schemas.openxmlformats.org/drawingml/2006/main">
            <a:r>
              <a:t/>
            </a:r>
          </a:p>
          <a:p xmlns:a="http://schemas.openxmlformats.org/drawingml/2006/main">
            <a:r>
              <a:t>[Visual Brief]</a:t>
            </a:r>
          </a:p>
          <a:p xmlns:a="http://schemas.openxmlformats.org/drawingml/2006/main">
            <a:r>
              <a:t>Route decorator, request model, DataFrame row, pipeline, and response fields are linked to code lines.</a:t>
            </a:r>
          </a:p>
          <a:p xmlns:a="http://schemas.openxmlformats.org/drawingml/2006/main">
            <a:r>
              <a:t/>
            </a:r>
          </a:p>
          <a:p xmlns:a="http://schemas.openxmlformats.org/drawingml/2006/main">
            <a:r>
              <a:t>[Instructor Notes]</a:t>
            </a:r>
          </a:p>
          <a:p xmlns:a="http://schemas.openxmlformats.org/drawingml/2006/main">
            <a:r>
              <a:t>Explain every conversion. Avoid hiding schema mismatches in broad exception handlers.</a:t>
            </a:r>
          </a:p>
          <a:p xmlns:a="http://schemas.openxmlformats.org/drawingml/2006/main">
            <a:r>
              <a:t/>
            </a:r>
          </a:p>
          <a:p xmlns:a="http://schemas.openxmlformats.org/drawingml/2006/main">
            <a:r>
              <a:t>[Notebook Connection]</a:t>
            </a:r>
          </a:p>
          <a:p xmlns:a="http://schemas.openxmlformats.org/drawingml/2006/main">
            <a:r>
              <a:t>The lab uses the complete saved pipeline and a small local API test.</a:t>
            </a:r>
          </a:p>
          <a:p xmlns:a="http://schemas.openxmlformats.org/drawingml/2006/main">
            <a:r>
              <a:t/>
            </a:r>
          </a:p>
          <a:p xmlns:a="http://schemas.openxmlformats.org/drawingml/2006/main">
            <a:r>
              <a:t>[Sources]</a:t>
            </a:r>
          </a:p>
          <a:p xmlns:a="http://schemas.openxmlformats.org/drawingml/2006/main">
            <a:r>
              <a:t>- https://fastapi.tiangolo.com/tutorial/path-operation-configuration/</a:t>
            </a:r>
          </a:p>
          <a:p xmlns:a="http://schemas.openxmlformats.org/drawingml/2006/main">
            <a:r>
              <a:t>- https://fastapi.tiangolo.com/tutorial/handling-errors/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**health check** is a lightweight endpoint used by operators or infrastructure.</a:t>
            </a:r>
          </a:p>
          <a:p xmlns:a="http://schemas.openxmlformats.org/drawingml/2006/main">
            <a:r>
              <a:t/>
            </a:r>
          </a:p>
          <a:p xmlns:a="http://schemas.openxmlformats.org/drawingml/2006/main">
            <a:r>
              <a:t>- **Liveness:** is the process running?</a:t>
            </a:r>
          </a:p>
          <a:p xmlns:a="http://schemas.openxmlformats.org/drawingml/2006/main">
            <a:r>
              <a:t>- **Readiness:** can it currently serve valid requests?</a:t>
            </a:r>
          </a:p>
          <a:p xmlns:a="http://schemas.openxmlformats.org/drawingml/2006/main">
            <a:r>
              <a:t>- **Startup:** has initialization completed?</a:t>
            </a:r>
          </a:p>
          <a:p xmlns:a="http://schemas.openxmlformats.org/drawingml/2006/main">
            <a:r>
              <a:t/>
            </a:r>
          </a:p>
          <a:p xmlns:a="http://schemas.openxmlformats.org/drawingml/2006/main">
            <a:r>
              <a:t>A readiness check may confirm the model loaded and required dependencies are available. It should not perform an expensive full prediction on every probe.</a:t>
            </a:r>
          </a:p>
          <a:p xmlns:a="http://schemas.openxmlformats.org/drawingml/2006/main">
            <a:r>
              <a:t/>
            </a:r>
          </a:p>
          <a:p xmlns:a="http://schemas.openxmlformats.org/drawingml/2006/main">
            <a:r>
              <a:t>Health checks do not measure model accuracy or data drift.</a:t>
            </a:r>
          </a:p>
          <a:p xmlns:a="http://schemas.openxmlformats.org/drawingml/2006/main">
            <a:r>
              <a:t/>
            </a:r>
          </a:p>
          <a:p xmlns:a="http://schemas.openxmlformats.org/drawingml/2006/main">
            <a:r>
              <a:t>[Worked Example]</a:t>
            </a:r>
          </a:p>
          <a:p xmlns:a="http://schemas.openxmlformats.org/drawingml/2006/main">
            <a:r>
              <a:t>`GET /health/ready`</a:t>
            </a:r>
          </a:p>
          <a:p xmlns:a="http://schemas.openxmlformats.org/drawingml/2006/main">
            <a:r>
              <a:t/>
            </a:r>
          </a:p>
          <a:p xmlns:a="http://schemas.openxmlformats.org/drawingml/2006/main">
            <a:r>
              <a:t>Ready response:</a:t>
            </a:r>
          </a:p>
          <a:p xmlns:a="http://schemas.openxmlformats.org/drawingml/2006/main">
            <a:r>
              <a:t/>
            </a:r>
          </a:p>
          <a:p xmlns:a="http://schemas.openxmlformats.org/drawingml/2006/main">
            <a:r>
              <a:t>```json</a:t>
            </a:r>
          </a:p>
          <a:p xmlns:a="http://schemas.openxmlformats.org/drawingml/2006/main">
            <a:r>
              <a:t>{"status": "ready", "model_version": "2026-07-28"}</a:t>
            </a:r>
          </a:p>
          <a:p xmlns:a="http://schemas.openxmlformats.org/drawingml/2006/main">
            <a:r>
              <a:t>```</a:t>
            </a:r>
          </a:p>
          <a:p xmlns:a="http://schemas.openxmlformats.org/drawingml/2006/main">
            <a:r>
              <a:t/>
            </a:r>
          </a:p>
          <a:p xmlns:a="http://schemas.openxmlformats.org/drawingml/2006/main">
            <a:r>
              <a:t>If the model failed to load, return a non-success status so traffic is not routed to the process.</a:t>
            </a:r>
          </a:p>
          <a:p xmlns:a="http://schemas.openxmlformats.org/drawingml/2006/main">
            <a:r>
              <a:t/>
            </a:r>
          </a:p>
          <a:p xmlns:a="http://schemas.openxmlformats.org/drawingml/2006/main">
            <a:r>
              <a:t>[Visual Brief]</a:t>
            </a:r>
          </a:p>
          <a:p xmlns:a="http://schemas.openxmlformats.org/drawingml/2006/main">
            <a:r>
              <a:t>Liveness, readiness, and model-quality checks appear as separate gauges with different consumers.</a:t>
            </a:r>
          </a:p>
          <a:p xmlns:a="http://schemas.openxmlformats.org/drawingml/2006/main">
            <a:r>
              <a:t/>
            </a:r>
          </a:p>
          <a:p xmlns:a="http://schemas.openxmlformats.org/drawingml/2006/main">
            <a:r>
              <a:t>[Instructor Notes]</a:t>
            </a:r>
          </a:p>
          <a:p xmlns:a="http://schemas.openxmlformats.org/drawingml/2006/main">
            <a:r>
              <a:t>Ask what would make the process alive but not ready.</a:t>
            </a:r>
          </a:p>
          <a:p xmlns:a="http://schemas.openxmlformats.org/drawingml/2006/main">
            <a:r>
              <a:t/>
            </a:r>
          </a:p>
          <a:p xmlns:a="http://schemas.openxmlformats.org/drawingml/2006/main">
            <a:r>
              <a:t>[Notebook Connection]</a:t>
            </a:r>
          </a:p>
          <a:p xmlns:a="http://schemas.openxmlformats.org/drawingml/2006/main">
            <a:r>
              <a:t>The deployment lab verifies health before sending prediction traffic.</a:t>
            </a:r>
          </a:p>
          <a:p xmlns:a="http://schemas.openxmlformats.org/drawingml/2006/main">
            <a:r>
              <a:t/>
            </a:r>
          </a:p>
          <a:p xmlns:a="http://schemas.openxmlformats.org/drawingml/2006/main">
            <a:r>
              <a:t>[Sources]</a:t>
            </a:r>
          </a:p>
          <a:p xmlns:a="http://schemas.openxmlformats.org/drawingml/2006/main">
            <a:r>
              <a:t>- https://kubernetes.io/docs/concepts/configuration/liveness-readiness-startup-probes/</a:t>
            </a:r>
          </a:p>
          <a:p xmlns:a="http://schemas.openxmlformats.org/drawingml/2006/main">
            <a:r>
              <a:t>- https://fastapi.tiangolo.com/advanced/events/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Docker **image** is an immutable filesystem and configuration template. A **container** is a running process created from an image.</a:t>
            </a:r>
          </a:p>
          <a:p xmlns:a="http://schemas.openxmlformats.org/drawingml/2006/main">
            <a:r>
              <a:t/>
            </a:r>
          </a:p>
          <a:p xmlns:a="http://schemas.openxmlformats.org/drawingml/2006/main">
            <a:r>
              <a:t>A model API image should include:</a:t>
            </a:r>
          </a:p>
          <a:p xmlns:a="http://schemas.openxmlformats.org/drawingml/2006/main">
            <a:r>
              <a:t/>
            </a:r>
          </a:p>
          <a:p xmlns:a="http://schemas.openxmlformats.org/drawingml/2006/main">
            <a:r>
              <a:t>- application code;</a:t>
            </a:r>
          </a:p>
          <a:p xmlns:a="http://schemas.openxmlformats.org/drawingml/2006/main">
            <a:r>
              <a:t>- pinned dependencies;</a:t>
            </a:r>
          </a:p>
          <a:p xmlns:a="http://schemas.openxmlformats.org/drawingml/2006/main">
            <a:r>
              <a:t>- trusted model artifact;</a:t>
            </a:r>
          </a:p>
          <a:p xmlns:a="http://schemas.openxmlformats.org/drawingml/2006/main">
            <a:r>
              <a:t>- startup command;</a:t>
            </a:r>
          </a:p>
          <a:p xmlns:a="http://schemas.openxmlformats.org/drawingml/2006/main">
            <a:r>
              <a:t>- non-secret defaults.</a:t>
            </a:r>
          </a:p>
          <a:p xmlns:a="http://schemas.openxmlformats.org/drawingml/2006/main">
            <a:r>
              <a:t/>
            </a:r>
          </a:p>
          <a:p xmlns:a="http://schemas.openxmlformats.org/drawingml/2006/main">
            <a:r>
              <a:t>Build once and run the same image in test and production. Use a small trusted base image, a non-root user, and explicit version tags or digests.</a:t>
            </a:r>
          </a:p>
          <a:p xmlns:a="http://schemas.openxmlformats.org/drawingml/2006/main">
            <a:r>
              <a:t/>
            </a:r>
          </a:p>
          <a:p xmlns:a="http://schemas.openxmlformats.org/drawingml/2006/main">
            <a:r>
              <a:t>[Worked Example]</a:t>
            </a:r>
          </a:p>
          <a:p xmlns:a="http://schemas.openxmlformats.org/drawingml/2006/main">
            <a:r>
              <a:t>Build:</a:t>
            </a:r>
          </a:p>
          <a:p xmlns:a="http://schemas.openxmlformats.org/drawingml/2006/main">
            <a:r>
              <a:t/>
            </a:r>
          </a:p>
          <a:p xmlns:a="http://schemas.openxmlformats.org/drawingml/2006/main">
            <a:r>
              <a:t>`docker build -t dsacademy-model:1.0 .`</a:t>
            </a:r>
          </a:p>
          <a:p xmlns:a="http://schemas.openxmlformats.org/drawingml/2006/main">
            <a:r>
              <a:t/>
            </a:r>
          </a:p>
          <a:p xmlns:a="http://schemas.openxmlformats.org/drawingml/2006/main">
            <a:r>
              <a:t>Run:</a:t>
            </a:r>
          </a:p>
          <a:p xmlns:a="http://schemas.openxmlformats.org/drawingml/2006/main">
            <a:r>
              <a:t/>
            </a:r>
          </a:p>
          <a:p xmlns:a="http://schemas.openxmlformats.org/drawingml/2006/main">
            <a:r>
              <a:t>`docker run -p 8000:8000 dsacademy-model:1.0`</a:t>
            </a:r>
          </a:p>
          <a:p xmlns:a="http://schemas.openxmlformats.org/drawingml/2006/main">
            <a:r>
              <a:t/>
            </a:r>
          </a:p>
          <a:p xmlns:a="http://schemas.openxmlformats.org/drawingml/2006/main">
            <a:r>
              <a:t>The host port `8000` forwards to the container service port.</a:t>
            </a:r>
          </a:p>
          <a:p xmlns:a="http://schemas.openxmlformats.org/drawingml/2006/main">
            <a:r>
              <a:t/>
            </a:r>
          </a:p>
          <a:p xmlns:a="http://schemas.openxmlformats.org/drawingml/2006/main">
            <a:r>
              <a:t>[Visual Brief]</a:t>
            </a:r>
          </a:p>
          <a:p xmlns:a="http://schemas.openxmlformats.org/drawingml/2006/main">
            <a:r>
              <a:t>A Dockerfile builds an image; the image starts identical containers in local and EC2 environments.</a:t>
            </a:r>
          </a:p>
          <a:p xmlns:a="http://schemas.openxmlformats.org/drawingml/2006/main">
            <a:r>
              <a:t/>
            </a:r>
          </a:p>
          <a:p xmlns:a="http://schemas.openxmlformats.org/drawingml/2006/main">
            <a:r>
              <a:t>[Instructor Notes]</a:t>
            </a:r>
          </a:p>
          <a:p xmlns:a="http://schemas.openxmlformats.org/drawingml/2006/main">
            <a:r>
              <a:t>Explain that data and secrets should not be baked into public image layers.</a:t>
            </a:r>
          </a:p>
          <a:p xmlns:a="http://schemas.openxmlformats.org/drawingml/2006/main">
            <a:r>
              <a:t/>
            </a:r>
          </a:p>
          <a:p xmlns:a="http://schemas.openxmlformats.org/drawingml/2006/main">
            <a:r>
              <a:t>[Notebook Connection]</a:t>
            </a:r>
          </a:p>
          <a:p xmlns:a="http://schemas.openxmlformats.org/drawingml/2006/main">
            <a:r>
              <a:t>The lab containerizes the API only after local validation passes.</a:t>
            </a:r>
          </a:p>
          <a:p xmlns:a="http://schemas.openxmlformats.org/drawingml/2006/main">
            <a:r>
              <a:t/>
            </a:r>
          </a:p>
          <a:p xmlns:a="http://schemas.openxmlformats.org/drawingml/2006/main">
            <a:r>
              <a:t>[Sources]</a:t>
            </a:r>
          </a:p>
          <a:p xmlns:a="http://schemas.openxmlformats.org/drawingml/2006/main">
            <a:r>
              <a:t>- https://fastapi.tiangolo.com/deployment/docker/</a:t>
            </a:r>
          </a:p>
          <a:p xmlns:a="http://schemas.openxmlformats.org/drawingml/2006/main">
            <a:r>
              <a:t>- https://docs.docker.com/get-started/docker-concepts/the-basics/what-is-a-container/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**Configuration** changes application behaviour between environments. A **secret** grants access, such as an API key or password.</a:t>
            </a:r>
          </a:p>
          <a:p xmlns:a="http://schemas.openxmlformats.org/drawingml/2006/main">
            <a:r>
              <a:t/>
            </a:r>
          </a:p>
          <a:p xmlns:a="http://schemas.openxmlformats.org/drawingml/2006/main">
            <a:r>
              <a:t>Environment variables can supply configuration at runtime:</a:t>
            </a:r>
          </a:p>
          <a:p xmlns:a="http://schemas.openxmlformats.org/drawingml/2006/main">
            <a:r>
              <a:t/>
            </a:r>
          </a:p>
          <a:p xmlns:a="http://schemas.openxmlformats.org/drawingml/2006/main">
            <a:r>
              <a:t>`MODEL_PATH`, `LOG_LEVEL`, `PREDICTION_THRESHOLD`</a:t>
            </a:r>
          </a:p>
          <a:p xmlns:a="http://schemas.openxmlformats.org/drawingml/2006/main">
            <a:r>
              <a:t/>
            </a:r>
          </a:p>
          <a:p xmlns:a="http://schemas.openxmlformats.org/drawingml/2006/main">
            <a:r>
              <a:t>Do not commit `.env` files containing real credentials. In production, use a managed secret store or scoped instance role. Rotate exposed credentials and avoid printing them in logs.</a:t>
            </a:r>
          </a:p>
          <a:p xmlns:a="http://schemas.openxmlformats.org/drawingml/2006/main">
            <a:r>
              <a:t/>
            </a:r>
          </a:p>
          <a:p xmlns:a="http://schemas.openxmlformats.org/drawingml/2006/main">
            <a:r>
              <a:t>[Worked Example]</a:t>
            </a:r>
          </a:p>
          <a:p xmlns:a="http://schemas.openxmlformats.org/drawingml/2006/main">
            <a:r>
              <a:t>Unsafe:</a:t>
            </a:r>
          </a:p>
          <a:p xmlns:a="http://schemas.openxmlformats.org/drawingml/2006/main">
            <a:r>
              <a:t/>
            </a:r>
          </a:p>
          <a:p xmlns:a="http://schemas.openxmlformats.org/drawingml/2006/main">
            <a:r>
              <a:t>```python</a:t>
            </a:r>
          </a:p>
          <a:p xmlns:a="http://schemas.openxmlformats.org/drawingml/2006/main">
            <a:r>
              <a:t>AWS_SECRET = "actual-secret"</a:t>
            </a:r>
          </a:p>
          <a:p xmlns:a="http://schemas.openxmlformats.org/drawingml/2006/main">
            <a:r>
              <a:t>```</a:t>
            </a:r>
          </a:p>
          <a:p xmlns:a="http://schemas.openxmlformats.org/drawingml/2006/main">
            <a:r>
              <a:t/>
            </a:r>
          </a:p>
          <a:p xmlns:a="http://schemas.openxmlformats.org/drawingml/2006/main">
            <a:r>
              <a:t>Safer runtime lookup:</a:t>
            </a:r>
          </a:p>
          <a:p xmlns:a="http://schemas.openxmlformats.org/drawingml/2006/main">
            <a:r>
              <a:t/>
            </a:r>
          </a:p>
          <a:p xmlns:a="http://schemas.openxmlformats.org/drawingml/2006/main">
            <a:r>
              <a:t>```python</a:t>
            </a:r>
          </a:p>
          <a:p xmlns:a="http://schemas.openxmlformats.org/drawingml/2006/main">
            <a:r>
              <a:t>threshold = float(os.environ["PREDICTION_THRESHOLD"])</a:t>
            </a:r>
          </a:p>
          <a:p xmlns:a="http://schemas.openxmlformats.org/drawingml/2006/main">
            <a:r>
              <a:t>```</a:t>
            </a:r>
          </a:p>
          <a:p xmlns:a="http://schemas.openxmlformats.org/drawingml/2006/main">
            <a:r>
              <a:t/>
            </a:r>
          </a:p>
          <a:p xmlns:a="http://schemas.openxmlformats.org/drawingml/2006/main">
            <a:r>
              <a:t>The application fails clearly if required configuration is missing.</a:t>
            </a:r>
          </a:p>
          <a:p xmlns:a="http://schemas.openxmlformats.org/drawingml/2006/main">
            <a:r>
              <a:t/>
            </a:r>
          </a:p>
          <a:p xmlns:a="http://schemas.openxmlformats.org/drawingml/2006/main">
            <a:r>
              <a:t>[Visual Brief]</a:t>
            </a:r>
          </a:p>
          <a:p xmlns:a="http://schemas.openxmlformats.org/drawingml/2006/main">
            <a:r>
              <a:t>Source code and container image remain unchanged while local, test, and production environments inject different configuration.</a:t>
            </a:r>
          </a:p>
          <a:p xmlns:a="http://schemas.openxmlformats.org/drawingml/2006/main">
            <a:r>
              <a:t/>
            </a:r>
          </a:p>
          <a:p xmlns:a="http://schemas.openxmlformats.org/drawingml/2006/main">
            <a:r>
              <a:t>[Instructor Notes]</a:t>
            </a:r>
          </a:p>
          <a:p xmlns:a="http://schemas.openxmlformats.org/drawingml/2006/main">
            <a:r>
              <a:t>Distinguish a convenient local `.env` file from a production secret-management system.</a:t>
            </a:r>
          </a:p>
          <a:p xmlns:a="http://schemas.openxmlformats.org/drawingml/2006/main">
            <a:r>
              <a:t/>
            </a:r>
          </a:p>
          <a:p xmlns:a="http://schemas.openxmlformats.org/drawingml/2006/main">
            <a:r>
              <a:t>[Notebook Connection]</a:t>
            </a:r>
          </a:p>
          <a:p xmlns:a="http://schemas.openxmlformats.org/drawingml/2006/main">
            <a:r>
              <a:t>The deployment exercise keeps environment-specific values outside the application module.</a:t>
            </a:r>
          </a:p>
          <a:p xmlns:a="http://schemas.openxmlformats.org/drawingml/2006/main">
            <a:r>
              <a:t/>
            </a:r>
          </a:p>
          <a:p xmlns:a="http://schemas.openxmlformats.org/drawingml/2006/main">
            <a:r>
              <a:t>[Sources]</a:t>
            </a:r>
          </a:p>
          <a:p xmlns:a="http://schemas.openxmlformats.org/drawingml/2006/main">
            <a:r>
              <a:t>- https://docs.docker.com/compose/how-tos/environment-variables/</a:t>
            </a:r>
          </a:p>
          <a:p xmlns:a="http://schemas.openxmlformats.org/drawingml/2006/main">
            <a:r>
              <a:t>- https://docs.aws.amazon.com/secretsmanager/latest/userguide/best-practices.html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Amazon EC2 **instance** is a virtual server.</a:t>
            </a:r>
          </a:p>
          <a:p xmlns:a="http://schemas.openxmlformats.org/drawingml/2006/main">
            <a:r>
              <a:t/>
            </a:r>
          </a:p>
          <a:p xmlns:a="http://schemas.openxmlformats.org/drawingml/2006/main">
            <a:r>
              <a:t>Key components:</a:t>
            </a:r>
          </a:p>
          <a:p xmlns:a="http://schemas.openxmlformats.org/drawingml/2006/main">
            <a:r>
              <a:t/>
            </a:r>
          </a:p>
          <a:p xmlns:a="http://schemas.openxmlformats.org/drawingml/2006/main">
            <a:r>
              <a:t>- AMI: operating-system image;</a:t>
            </a:r>
          </a:p>
          <a:p xmlns:a="http://schemas.openxmlformats.org/drawingml/2006/main">
            <a:r>
              <a:t>- instance type: CPU and memory capacity;</a:t>
            </a:r>
          </a:p>
          <a:p xmlns:a="http://schemas.openxmlformats.org/drawingml/2006/main">
            <a:r>
              <a:t>- EBS volume: persistent block storage;</a:t>
            </a:r>
          </a:p>
          <a:p xmlns:a="http://schemas.openxmlformats.org/drawingml/2006/main">
            <a:r>
              <a:t>- VPC and subnet: network placement;</a:t>
            </a:r>
          </a:p>
          <a:p xmlns:a="http://schemas.openxmlformats.org/drawingml/2006/main">
            <a:r>
              <a:t>- security group: allowed network traffic;</a:t>
            </a:r>
          </a:p>
          <a:p xmlns:a="http://schemas.openxmlformats.org/drawingml/2006/main">
            <a:r>
              <a:t>- key pair or managed access method;</a:t>
            </a:r>
          </a:p>
          <a:p xmlns:a="http://schemas.openxmlformats.org/drawingml/2006/main">
            <a:r>
              <a:t>- IAM role: scoped AWS permissions.</a:t>
            </a:r>
          </a:p>
          <a:p xmlns:a="http://schemas.openxmlformats.org/drawingml/2006/main">
            <a:r>
              <a:t/>
            </a:r>
          </a:p>
          <a:p xmlns:a="http://schemas.openxmlformats.org/drawingml/2006/main">
            <a:r>
              <a:t>A low-cost instance can run for months, but you remain responsible for patches, availability, backups, security, monitoring, and charges while it runs.</a:t>
            </a:r>
          </a:p>
          <a:p xmlns:a="http://schemas.openxmlformats.org/drawingml/2006/main">
            <a:r>
              <a:t/>
            </a:r>
          </a:p>
          <a:p xmlns:a="http://schemas.openxmlformats.org/drawingml/2006/main">
            <a:r>
              <a:t>[Worked Example]</a:t>
            </a:r>
          </a:p>
          <a:p xmlns:a="http://schemas.openxmlformats.org/drawingml/2006/main">
            <a:r>
              <a:t>For a small CPU-only API, choose the smallest architecture-compatible instance that meets measured memory needs. Start with one instance, no load balancer, and a documented restart procedure.</a:t>
            </a:r>
          </a:p>
          <a:p xmlns:a="http://schemas.openxmlformats.org/drawingml/2006/main">
            <a:r>
              <a:t/>
            </a:r>
          </a:p>
          <a:p xmlns:a="http://schemas.openxmlformats.org/drawingml/2006/main">
            <a:r>
              <a:t>[Visual Brief]</a:t>
            </a:r>
          </a:p>
          <a:p xmlns:a="http://schemas.openxmlformats.org/drawingml/2006/main">
            <a:r>
              <a:t>An EC2 instance boundary contains Docker, FastAPI, and the model; VPC, EBS, IAM, and security group surround it.</a:t>
            </a:r>
          </a:p>
          <a:p xmlns:a="http://schemas.openxmlformats.org/drawingml/2006/main">
            <a:r>
              <a:t/>
            </a:r>
          </a:p>
          <a:p xmlns:a="http://schemas.openxmlformats.org/drawingml/2006/main">
            <a:r>
              <a:t>[Instructor Notes]</a:t>
            </a:r>
          </a:p>
          <a:p xmlns:a="http://schemas.openxmlformats.org/drawingml/2006/main">
            <a:r>
              <a:t>Explain that “cheap” is not the same as free and Free Tier eligibility depends on account terms and current usage.</a:t>
            </a:r>
          </a:p>
          <a:p xmlns:a="http://schemas.openxmlformats.org/drawingml/2006/main">
            <a:r>
              <a:t/>
            </a:r>
          </a:p>
          <a:p xmlns:a="http://schemas.openxmlformats.org/drawingml/2006/main">
            <a:r>
              <a:t>[Notebook Connection]</a:t>
            </a:r>
          </a:p>
          <a:p xmlns:a="http://schemas.openxmlformats.org/drawingml/2006/main">
            <a:r>
              <a:t>The lab can deploy to EC2 after local Docker verification; no GPU is required for the small model.</a:t>
            </a:r>
          </a:p>
          <a:p xmlns:a="http://schemas.openxmlformats.org/drawingml/2006/main">
            <a:r>
              <a:t/>
            </a:r>
          </a:p>
          <a:p xmlns:a="http://schemas.openxmlformats.org/drawingml/2006/main">
            <a:r>
              <a:t>[Sources]</a:t>
            </a:r>
          </a:p>
          <a:p xmlns:a="http://schemas.openxmlformats.org/drawingml/2006/main">
            <a:r>
              <a:t>- https://docs.aws.amazon.com/AWSEC2/latest/UserGuide/EC2_GetStarted.html</a:t>
            </a:r>
          </a:p>
          <a:p xmlns:a="http://schemas.openxmlformats.org/drawingml/2006/main">
            <a:r>
              <a:t>- https://docs.aws.amazon.com/AWSEC2/latest/UserGuide/concepts.html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EC2 **security group** is a stateful virtual firewall.</a:t>
            </a:r>
          </a:p>
          <a:p xmlns:a="http://schemas.openxmlformats.org/drawingml/2006/main">
            <a:r>
              <a:t/>
            </a:r>
          </a:p>
          <a:p xmlns:a="http://schemas.openxmlformats.org/drawingml/2006/main">
            <a:r>
              <a:t>Inbound rules should allow only required ports and sources:</a:t>
            </a:r>
          </a:p>
          <a:p xmlns:a="http://schemas.openxmlformats.org/drawingml/2006/main">
            <a:r>
              <a:t/>
            </a:r>
          </a:p>
          <a:p xmlns:a="http://schemas.openxmlformats.org/drawingml/2006/main">
            <a:r>
              <a:t>- SSH `22`: restrict to an administrator IP, or avoid public SSH by using managed access;</a:t>
            </a:r>
          </a:p>
          <a:p xmlns:a="http://schemas.openxmlformats.org/drawingml/2006/main">
            <a:r>
              <a:t>- HTTP `80`: redirect to HTTPS when used;</a:t>
            </a:r>
          </a:p>
          <a:p xmlns:a="http://schemas.openxmlformats.org/drawingml/2006/main">
            <a:r>
              <a:t>- HTTPS `443`: public only when the API is intended to be public;</a:t>
            </a:r>
          </a:p>
          <a:p xmlns:a="http://schemas.openxmlformats.org/drawingml/2006/main">
            <a:r>
              <a:t>- application port `8000`: keep private behind a reverse proxy when possible.</a:t>
            </a:r>
          </a:p>
          <a:p xmlns:a="http://schemas.openxmlformats.org/drawingml/2006/main">
            <a:r>
              <a:t/>
            </a:r>
          </a:p>
          <a:p xmlns:a="http://schemas.openxmlformats.org/drawingml/2006/main">
            <a:r>
              <a:t>Never expose every port to `0.0.0.0/0`.</a:t>
            </a:r>
          </a:p>
          <a:p xmlns:a="http://schemas.openxmlformats.org/drawingml/2006/main">
            <a:r>
              <a:t/>
            </a:r>
          </a:p>
          <a:p xmlns:a="http://schemas.openxmlformats.org/drawingml/2006/main">
            <a:r>
              <a:t>[Worked Example]</a:t>
            </a:r>
          </a:p>
          <a:p xmlns:a="http://schemas.openxmlformats.org/drawingml/2006/main">
            <a:r>
              <a:t>Safer rules:</a:t>
            </a:r>
          </a:p>
          <a:p xmlns:a="http://schemas.openxmlformats.org/drawingml/2006/main">
            <a:r>
              <a:t/>
            </a:r>
          </a:p>
          <a:p xmlns:a="http://schemas.openxmlformats.org/drawingml/2006/main">
            <a:r>
              <a:t>- `443` from intended clients;</a:t>
            </a:r>
          </a:p>
          <a:p xmlns:a="http://schemas.openxmlformats.org/drawingml/2006/main">
            <a:r>
              <a:t>- `22` from one administrator CIDR;</a:t>
            </a:r>
          </a:p>
          <a:p xmlns:a="http://schemas.openxmlformats.org/drawingml/2006/main">
            <a:r>
              <a:t>- no public rule for `8000`.</a:t>
            </a:r>
          </a:p>
          <a:p xmlns:a="http://schemas.openxmlformats.org/drawingml/2006/main">
            <a:r>
              <a:t/>
            </a:r>
          </a:p>
          <a:p xmlns:a="http://schemas.openxmlformats.org/drawingml/2006/main">
            <a:r>
              <a:t>The reverse proxy terminates TLS and forwards internally to FastAPI.</a:t>
            </a:r>
          </a:p>
          <a:p xmlns:a="http://schemas.openxmlformats.org/drawingml/2006/main">
            <a:r>
              <a:t/>
            </a:r>
          </a:p>
          <a:p xmlns:a="http://schemas.openxmlformats.org/drawingml/2006/main">
            <a:r>
              <a:t>[Visual Brief]</a:t>
            </a:r>
          </a:p>
          <a:p xmlns:a="http://schemas.openxmlformats.org/drawingml/2006/main">
            <a:r>
              <a:t>Allowed arrows pass through a security-group boundary; broad SSH and direct app-port arrows are blocked.</a:t>
            </a:r>
          </a:p>
          <a:p xmlns:a="http://schemas.openxmlformats.org/drawingml/2006/main">
            <a:r>
              <a:t/>
            </a:r>
          </a:p>
          <a:p xmlns:a="http://schemas.openxmlformats.org/drawingml/2006/main">
            <a:r>
              <a:t>[Instructor Notes]</a:t>
            </a:r>
          </a:p>
          <a:p xmlns:a="http://schemas.openxmlformats.org/drawingml/2006/main">
            <a:r>
              <a:t>Explain CIDR at a high level and warn against temporary broad rules left in place.</a:t>
            </a:r>
          </a:p>
          <a:p xmlns:a="http://schemas.openxmlformats.org/drawingml/2006/main">
            <a:r>
              <a:t/>
            </a:r>
          </a:p>
          <a:p xmlns:a="http://schemas.openxmlformats.org/drawingml/2006/main">
            <a:r>
              <a:t>[Notebook Connection]</a:t>
            </a:r>
          </a:p>
          <a:p xmlns:a="http://schemas.openxmlformats.org/drawingml/2006/main">
            <a:r>
              <a:t>The deployment checklist records every open port, protocol, source, and reason.</a:t>
            </a:r>
          </a:p>
          <a:p xmlns:a="http://schemas.openxmlformats.org/drawingml/2006/main">
            <a:r>
              <a:t/>
            </a:r>
          </a:p>
          <a:p xmlns:a="http://schemas.openxmlformats.org/drawingml/2006/main">
            <a:r>
              <a:t>[Sources]</a:t>
            </a:r>
          </a:p>
          <a:p xmlns:a="http://schemas.openxmlformats.org/drawingml/2006/main">
            <a:r>
              <a:t>- https://docs.aws.amazon.com/AWSEC2/latest/UserGuide/ec2-security-groups.html</a:t>
            </a:r>
          </a:p>
          <a:p xmlns:a="http://schemas.openxmlformats.org/drawingml/2006/main">
            <a:r>
              <a:t>- https://docs.aws.amazon.com/AWSEC2/latest/UserGuide/creating-security-group.html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**Logs** record discrete events. **Metrics** summarize numerical behaviour over time.</a:t>
            </a:r>
          </a:p>
          <a:p xmlns:a="http://schemas.openxmlformats.org/drawingml/2006/main">
            <a:r>
              <a:t/>
            </a:r>
          </a:p>
          <a:p xmlns:a="http://schemas.openxmlformats.org/drawingml/2006/main">
            <a:r>
              <a:t>Record:</a:t>
            </a:r>
          </a:p>
          <a:p xmlns:a="http://schemas.openxmlformats.org/drawingml/2006/main">
            <a:r>
              <a:t/>
            </a:r>
          </a:p>
          <a:p xmlns:a="http://schemas.openxmlformats.org/drawingml/2006/main">
            <a:r>
              <a:t>- timestamp and request ID;</a:t>
            </a:r>
          </a:p>
          <a:p xmlns:a="http://schemas.openxmlformats.org/drawingml/2006/main">
            <a:r>
              <a:t>- model version;</a:t>
            </a:r>
          </a:p>
          <a:p xmlns:a="http://schemas.openxmlformats.org/drawingml/2006/main">
            <a:r>
              <a:t>- status code and error type;</a:t>
            </a:r>
          </a:p>
          <a:p xmlns:a="http://schemas.openxmlformats.org/drawingml/2006/main">
            <a:r>
              <a:t>- latency;</a:t>
            </a:r>
          </a:p>
          <a:p xmlns:a="http://schemas.openxmlformats.org/drawingml/2006/main">
            <a:r>
              <a:t>- request and prediction counts;</a:t>
            </a:r>
          </a:p>
          <a:p xmlns:a="http://schemas.openxmlformats.org/drawingml/2006/main">
            <a:r>
              <a:t>- resource use;</a:t>
            </a:r>
          </a:p>
          <a:p xmlns:a="http://schemas.openxmlformats.org/drawingml/2006/main">
            <a:r>
              <a:t>- input-schema failures;</a:t>
            </a:r>
          </a:p>
          <a:p xmlns:a="http://schemas.openxmlformats.org/drawingml/2006/main">
            <a:r>
              <a:t>- carefully designed drift indicators.</a:t>
            </a:r>
          </a:p>
          <a:p xmlns:a="http://schemas.openxmlformats.org/drawingml/2006/main">
            <a:r>
              <a:t/>
            </a:r>
          </a:p>
          <a:p xmlns:a="http://schemas.openxmlformats.org/drawingml/2006/main">
            <a:r>
              <a:t>Do not log secrets or unnecessary personal data. Prediction quality often arrives later, when actual outcomes become available.</a:t>
            </a:r>
          </a:p>
          <a:p xmlns:a="http://schemas.openxmlformats.org/drawingml/2006/main">
            <a:r>
              <a:t/>
            </a:r>
          </a:p>
          <a:p xmlns:a="http://schemas.openxmlformats.org/drawingml/2006/main">
            <a:r>
              <a:t>[Worked Example]</a:t>
            </a:r>
          </a:p>
          <a:p xmlns:a="http://schemas.openxmlformats.org/drawingml/2006/main">
            <a:r>
              <a:t>From `1,000` requests:</a:t>
            </a:r>
          </a:p>
          <a:p xmlns:a="http://schemas.openxmlformats.org/drawingml/2006/main">
            <a:r>
              <a:t/>
            </a:r>
          </a:p>
          <a:p xmlns:a="http://schemas.openxmlformats.org/drawingml/2006/main">
            <a:r>
              <a:t>- `990` successful;</a:t>
            </a:r>
          </a:p>
          <a:p xmlns:a="http://schemas.openxmlformats.org/drawingml/2006/main">
            <a:r>
              <a:t>- `8` validation failures;</a:t>
            </a:r>
          </a:p>
          <a:p xmlns:a="http://schemas.openxmlformats.org/drawingml/2006/main">
            <a:r>
              <a:t>- `2` server failures.</a:t>
            </a:r>
          </a:p>
          <a:p xmlns:a="http://schemas.openxmlformats.org/drawingml/2006/main">
            <a:r>
              <a:t/>
            </a:r>
          </a:p>
          <a:p xmlns:a="http://schemas.openxmlformats.org/drawingml/2006/main">
            <a:r>
              <a:t>Server error rate:</a:t>
            </a:r>
          </a:p>
          <a:p xmlns:a="http://schemas.openxmlformats.org/drawingml/2006/main">
            <a:r>
              <a:t/>
            </a:r>
          </a:p>
          <a:p xmlns:a="http://schemas.openxmlformats.org/drawingml/2006/main">
            <a:r>
              <a:t>`2 / 1000 = 0.002 = 0.2%`</a:t>
            </a:r>
          </a:p>
          <a:p xmlns:a="http://schemas.openxmlformats.org/drawingml/2006/main">
            <a:r>
              <a:t/>
            </a:r>
          </a:p>
          <a:p xmlns:a="http://schemas.openxmlformats.org/drawingml/2006/main">
            <a:r>
              <a:t>[Visual Brief]</a:t>
            </a:r>
          </a:p>
          <a:p xmlns:a="http://schemas.openxmlformats.org/drawingml/2006/main">
            <a:r>
              <a:t>Requests generate structured logs, metrics, dashboard panels, and an alert when an explicit threshold is crossed.</a:t>
            </a:r>
          </a:p>
          <a:p xmlns:a="http://schemas.openxmlformats.org/drawingml/2006/main">
            <a:r>
              <a:t/>
            </a:r>
          </a:p>
          <a:p xmlns:a="http://schemas.openxmlformats.org/drawingml/2006/main">
            <a:r>
              <a:t>[Instructor Notes]</a:t>
            </a:r>
          </a:p>
          <a:p xmlns:a="http://schemas.openxmlformats.org/drawingml/2006/main">
            <a:r>
              <a:t>Separate application health, data drift, and model quality; they use different evidence.</a:t>
            </a:r>
          </a:p>
          <a:p xmlns:a="http://schemas.openxmlformats.org/drawingml/2006/main">
            <a:r>
              <a:t/>
            </a:r>
          </a:p>
          <a:p xmlns:a="http://schemas.openxmlformats.org/drawingml/2006/main">
            <a:r>
              <a:t>[Notebook Connection]</a:t>
            </a:r>
          </a:p>
          <a:p xmlns:a="http://schemas.openxmlformats.org/drawingml/2006/main">
            <a:r>
              <a:t>The lab verifies logs for success, validation failure, and unexpected failure.</a:t>
            </a:r>
          </a:p>
          <a:p xmlns:a="http://schemas.openxmlformats.org/drawingml/2006/main">
            <a:r>
              <a:t/>
            </a:r>
          </a:p>
          <a:p xmlns:a="http://schemas.openxmlformats.org/drawingml/2006/main">
            <a:r>
              <a:t>[Sources]</a:t>
            </a:r>
          </a:p>
          <a:p xmlns:a="http://schemas.openxmlformats.org/drawingml/2006/main">
            <a:r>
              <a:t>- https://docs.aws.amazon.com/AmazonCloudWatch/latest/monitoring/GettingStarted.html</a:t>
            </a:r>
          </a:p>
          <a:p xmlns:a="http://schemas.openxmlformats.org/drawingml/2006/main">
            <a:r>
              <a:t>- https://opentelemetry.io/docs/concepts/signals/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Cloud costs continue while resources run.</a:t>
            </a:r>
          </a:p>
          <a:p xmlns:a="http://schemas.openxmlformats.org/drawingml/2006/main">
            <a:r>
              <a:t/>
            </a:r>
          </a:p>
          <a:p xmlns:a="http://schemas.openxmlformats.org/drawingml/2006/main">
            <a:r>
              <a:t>Before deployment:</a:t>
            </a:r>
          </a:p>
          <a:p xmlns:a="http://schemas.openxmlformats.org/drawingml/2006/main">
            <a:r>
              <a:t/>
            </a:r>
          </a:p>
          <a:p xmlns:a="http://schemas.openxmlformats.org/drawingml/2006/main">
            <a:r>
              <a:t>- confirm current Free Tier or credit eligibility;</a:t>
            </a:r>
          </a:p>
          <a:p xmlns:a="http://schemas.openxmlformats.org/drawingml/2006/main">
            <a:r>
              <a:t>- estimate instance and storage cost;</a:t>
            </a:r>
          </a:p>
          <a:p xmlns:a="http://schemas.openxmlformats.org/drawingml/2006/main">
            <a:r>
              <a:t>- choose the smallest measured capacity;</a:t>
            </a:r>
          </a:p>
          <a:p xmlns:a="http://schemas.openxmlformats.org/drawingml/2006/main">
            <a:r>
              <a:t>- set AWS Budgets alerts;</a:t>
            </a:r>
          </a:p>
          <a:p xmlns:a="http://schemas.openxmlformats.org/drawingml/2006/main">
            <a:r>
              <a:t>- tag resources with owner and purpose;</a:t>
            </a:r>
          </a:p>
          <a:p xmlns:a="http://schemas.openxmlformats.org/drawingml/2006/main">
            <a:r>
              <a:t>- define stop or termination dates;</a:t>
            </a:r>
          </a:p>
          <a:p xmlns:a="http://schemas.openxmlformats.org/drawingml/2006/main">
            <a:r>
              <a:t>- remove unused snapshots, IPs, and volumes;</a:t>
            </a:r>
          </a:p>
          <a:p xmlns:a="http://schemas.openxmlformats.org/drawingml/2006/main">
            <a:r>
              <a:t>- avoid optional paid services unless justified.</a:t>
            </a:r>
          </a:p>
          <a:p xmlns:a="http://schemas.openxmlformats.org/drawingml/2006/main">
            <a:r>
              <a:t/>
            </a:r>
          </a:p>
          <a:p xmlns:a="http://schemas.openxmlformats.org/drawingml/2006/main">
            <a:r>
              <a:t>Stopping an instance may leave EBS storage billed. Termination and deletion policies must be deliberate.</a:t>
            </a:r>
          </a:p>
          <a:p xmlns:a="http://schemas.openxmlformats.org/drawingml/2006/main">
            <a:r>
              <a:t/>
            </a:r>
          </a:p>
          <a:p xmlns:a="http://schemas.openxmlformats.org/drawingml/2006/main">
            <a:r>
              <a:t>[Worked Example]</a:t>
            </a:r>
          </a:p>
          <a:p xmlns:a="http://schemas.openxmlformats.org/drawingml/2006/main">
            <a:r>
              <a:t>Monthly estimate:</a:t>
            </a:r>
          </a:p>
          <a:p xmlns:a="http://schemas.openxmlformats.org/drawingml/2006/main">
            <a:r>
              <a:t/>
            </a:r>
          </a:p>
          <a:p xmlns:a="http://schemas.openxmlformats.org/drawingml/2006/main">
            <a:r>
              <a:t>`hourly rate x 24 x 30 + storage + data transfer`</a:t>
            </a:r>
          </a:p>
          <a:p xmlns:a="http://schemas.openxmlformats.org/drawingml/2006/main">
            <a:r>
              <a:t/>
            </a:r>
          </a:p>
          <a:p xmlns:a="http://schemas.openxmlformats.org/drawingml/2006/main">
            <a:r>
              <a:t>Even when compute is covered by credits, storage or transfer may not be. The exact rate must be checked for region, account, and date.</a:t>
            </a:r>
          </a:p>
          <a:p xmlns:a="http://schemas.openxmlformats.org/drawingml/2006/main">
            <a:r>
              <a:t/>
            </a:r>
          </a:p>
          <a:p xmlns:a="http://schemas.openxmlformats.org/drawingml/2006/main">
            <a:r>
              <a:t>[Visual Brief]</a:t>
            </a:r>
          </a:p>
          <a:p xmlns:a="http://schemas.openxmlformats.org/drawingml/2006/main">
            <a:r>
              <a:t>A cost meter connects estimate, tags, budget alerts, stop date, and cleanup checklist.</a:t>
            </a:r>
          </a:p>
          <a:p xmlns:a="http://schemas.openxmlformats.org/drawingml/2006/main">
            <a:r>
              <a:t/>
            </a:r>
          </a:p>
          <a:p xmlns:a="http://schemas.openxmlformats.org/drawingml/2006/main">
            <a:r>
              <a:t>[Instructor Notes]</a:t>
            </a:r>
          </a:p>
          <a:p xmlns:a="http://schemas.openxmlformats.org/drawingml/2006/main">
            <a:r>
              <a:t>Do not quote a fixed Free Tier allowance. AWS terms changed in 2025 and differ by account age and credits.</a:t>
            </a:r>
          </a:p>
          <a:p xmlns:a="http://schemas.openxmlformats.org/drawingml/2006/main">
            <a:r>
              <a:t/>
            </a:r>
          </a:p>
          <a:p xmlns:a="http://schemas.openxmlformats.org/drawingml/2006/main">
            <a:r>
              <a:t>[Notebook Connection]</a:t>
            </a:r>
          </a:p>
          <a:p xmlns:a="http://schemas.openxmlformats.org/drawingml/2006/main">
            <a:r>
              <a:t>The deployment lab includes a resource inventory and cleanup verification.</a:t>
            </a:r>
          </a:p>
          <a:p xmlns:a="http://schemas.openxmlformats.org/drawingml/2006/main">
            <a:r>
              <a:t/>
            </a:r>
          </a:p>
          <a:p xmlns:a="http://schemas.openxmlformats.org/drawingml/2006/main">
            <a:r>
              <a:t>[Sources]</a:t>
            </a:r>
          </a:p>
          <a:p xmlns:a="http://schemas.openxmlformats.org/drawingml/2006/main">
            <a:r>
              <a:t>- https://docs.aws.amazon.com/hands-on/latest/control-your-costs-free-tier-budgets/control-your-costs-free-tier-budgets.html</a:t>
            </a:r>
          </a:p>
          <a:p xmlns:a="http://schemas.openxmlformats.org/drawingml/2006/main">
            <a:r>
              <a:t>- https://docs.aws.amazon.com/awsaccountbilling/latest/aboutv2/free-tier.html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a:t>
            </a:r>
          </a:p>
          <a:p xmlns:a="http://schemas.openxmlformats.org/drawingml/2006/main">
            <a:r>
              <a:t/>
            </a:r>
          </a:p>
          <a:p xmlns:a="http://schemas.openxmlformats.org/drawingml/2006/main">
            <a:r>
              <a:t>1. local API contract tests;</a:t>
            </a:r>
          </a:p>
          <a:p xmlns:a="http://schemas.openxmlformats.org/drawingml/2006/main">
            <a:r>
              <a:t>2. model loaded once at startup;</a:t>
            </a:r>
          </a:p>
          <a:p xmlns:a="http://schemas.openxmlformats.org/drawingml/2006/main">
            <a:r>
              <a:t>3. health and prediction endpoints;</a:t>
            </a:r>
          </a:p>
          <a:p xmlns:a="http://schemas.openxmlformats.org/drawingml/2006/main">
            <a:r>
              <a:t>4. Docker image build and local run;</a:t>
            </a:r>
          </a:p>
          <a:p xmlns:a="http://schemas.openxmlformats.org/drawingml/2006/main">
            <a:r>
              <a:t>5. environment-based configuration;</a:t>
            </a:r>
          </a:p>
          <a:p xmlns:a="http://schemas.openxmlformats.org/drawingml/2006/main">
            <a:r>
              <a:t>6. smallest suitable EC2 instance;</a:t>
            </a:r>
          </a:p>
          <a:p xmlns:a="http://schemas.openxmlformats.org/drawingml/2006/main">
            <a:r>
              <a:t>7. restricted security-group rules;</a:t>
            </a:r>
          </a:p>
          <a:p xmlns:a="http://schemas.openxmlformats.org/drawingml/2006/main">
            <a:r>
              <a:t>8. HTTPS or a clearly bounded private test;</a:t>
            </a:r>
          </a:p>
          <a:p xmlns:a="http://schemas.openxmlformats.org/drawingml/2006/main">
            <a:r>
              <a:t>9. success and failure logs;</a:t>
            </a:r>
          </a:p>
          <a:p xmlns:a="http://schemas.openxmlformats.org/drawingml/2006/main">
            <a:r>
              <a:t>10. budget alert and resource tags;</a:t>
            </a:r>
          </a:p>
          <a:p xmlns:a="http://schemas.openxmlformats.org/drawingml/2006/main">
            <a:r>
              <a:t>11. rollback procedure;</a:t>
            </a:r>
          </a:p>
          <a:p xmlns:a="http://schemas.openxmlformats.org/drawingml/2006/main">
            <a:r>
              <a:t>12. stop, terminate, or cleanup verification.</a:t>
            </a:r>
          </a:p>
          <a:p xmlns:a="http://schemas.openxmlformats.org/drawingml/2006/main">
            <a:r>
              <a:t/>
            </a:r>
          </a:p>
          <a:p xmlns:a="http://schemas.openxmlformats.org/drawingml/2006/main">
            <a:r>
              <a:t>[Worked Example]</a:t>
            </a:r>
          </a:p>
          <a:p xmlns:a="http://schemas.openxmlformats.org/drawingml/2006/main">
            <a:r>
              <a:t>Verification sequence:</a:t>
            </a:r>
          </a:p>
          <a:p xmlns:a="http://schemas.openxmlformats.org/drawingml/2006/main">
            <a:r>
              <a:t/>
            </a:r>
          </a:p>
          <a:p xmlns:a="http://schemas.openxmlformats.org/drawingml/2006/main">
            <a:r>
              <a:t>`GET /health/ready -&gt; 200`  </a:t>
            </a:r>
          </a:p>
          <a:p xmlns:a="http://schemas.openxmlformats.org/drawingml/2006/main">
            <a:r>
              <a:t>valid `POST /predict -&gt; 200`  </a:t>
            </a:r>
          </a:p>
          <a:p xmlns:a="http://schemas.openxmlformats.org/drawingml/2006/main">
            <a:r>
              <a:t>invalid input `-&gt; 422`  </a:t>
            </a:r>
          </a:p>
          <a:p xmlns:a="http://schemas.openxmlformats.org/drawingml/2006/main">
            <a:r>
              <a:t>unknown path `-&gt; 404`  </a:t>
            </a:r>
          </a:p>
          <a:p xmlns:a="http://schemas.openxmlformats.org/drawingml/2006/main">
            <a:r>
              <a:t>logs contain request IDs and no secrets.</a:t>
            </a:r>
          </a:p>
          <a:p xmlns:a="http://schemas.openxmlformats.org/drawingml/2006/main">
            <a:r>
              <a:t/>
            </a:r>
          </a:p>
          <a:p xmlns:a="http://schemas.openxmlformats.org/drawingml/2006/main">
            <a:r>
              <a:t>[Visual Brief]</a:t>
            </a:r>
          </a:p>
          <a:p xmlns:a="http://schemas.openxmlformats.org/drawingml/2006/main">
            <a:r>
              <a:t>A release checklist follows local test, image, EC2, network, health, prediction, logs, budget, rollback, and cleanup.</a:t>
            </a:r>
          </a:p>
          <a:p xmlns:a="http://schemas.openxmlformats.org/drawingml/2006/main">
            <a:r>
              <a:t/>
            </a:r>
          </a:p>
          <a:p xmlns:a="http://schemas.openxmlformats.org/drawingml/2006/main">
            <a:r>
              <a:t>[Instructor Notes]</a:t>
            </a:r>
          </a:p>
          <a:p xmlns:a="http://schemas.openxmlformats.org/drawingml/2006/main">
            <a:r>
              <a:t>Use free-tier-eligible or credit-covered resources only when the account confirms eligibility. Terminate all lab resources after evidence is captured.</a:t>
            </a:r>
          </a:p>
          <a:p xmlns:a="http://schemas.openxmlformats.org/drawingml/2006/main">
            <a:r>
              <a:t/>
            </a:r>
          </a:p>
          <a:p xmlns:a="http://schemas.openxmlformats.org/drawingml/2006/main">
            <a:r>
              <a:t>[Notebook Connection]</a:t>
            </a:r>
          </a:p>
          <a:p xmlns:a="http://schemas.openxmlformats.org/drawingml/2006/main">
            <a:r>
              <a:t>This deployment lab packages the Week 10 pipeline and prepares learners for model-backed AI services.</a:t>
            </a:r>
          </a:p>
          <a:p xmlns:a="http://schemas.openxmlformats.org/drawingml/2006/main">
            <a:r>
              <a:t/>
            </a:r>
          </a:p>
          <a:p xmlns:a="http://schemas.openxmlformats.org/drawingml/2006/main">
            <a:r>
              <a:t>[Sources]</a:t>
            </a:r>
          </a:p>
          <a:p xmlns:a="http://schemas.openxmlformats.org/drawingml/2006/main">
            <a:r>
              <a:t>- https://fastapi.tiangolo.com/deployment/</a:t>
            </a:r>
          </a:p>
          <a:p xmlns:a="http://schemas.openxmlformats.org/drawingml/2006/main">
            <a:r>
              <a:t>- https://docs.aws.amazon.com/AWSEC2/latest/UserGuide/EC2_GetStarted.html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9ce0f838652433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3fcf6a0c6894f19" /><Relationship Type="http://schemas.openxmlformats.org/officeDocument/2006/relationships/slideLayout" Target="/ppt/slideLayouts/slideLayout1.xml" Id="Rb125fd53c60249b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125fd53c60249b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7961f7cdda340d4" /><Relationship Type="http://schemas.openxmlformats.org/officeDocument/2006/relationships/image" Target="/ppt/media/image.png" Id="R871e8cbc230442a7" /><Relationship Type="http://schemas.openxmlformats.org/officeDocument/2006/relationships/image" Target="/ppt/media/image2.png" Id="R192baed8faab438c" /><Relationship Type="http://schemas.openxmlformats.org/officeDocument/2006/relationships/notesSlide" Target="/ppt/notesSlides/notesSlide1.xml" Id="R5b8f35d64b194e8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b0c077fb4814346" /><Relationship Type="http://schemas.openxmlformats.org/officeDocument/2006/relationships/notesSlide" Target="/ppt/notesSlides/notesSlide2.xml" Id="R8f2fc4e1585b43d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60bff94457240bc" /><Relationship Type="http://schemas.openxmlformats.org/officeDocument/2006/relationships/notesSlide" Target="/ppt/notesSlides/notesSlide3.xml" Id="R2fa1e026f507431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60f8bc1cd824bc4" /><Relationship Type="http://schemas.openxmlformats.org/officeDocument/2006/relationships/notesSlide" Target="/ppt/notesSlides/notesSlide4.xml" Id="R723cfe6e4a4a409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8a5896460c244a6" /><Relationship Type="http://schemas.openxmlformats.org/officeDocument/2006/relationships/notesSlide" Target="/ppt/notesSlides/notesSlide5.xml" Id="R908a77e2287e409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10bfd4653a841ea" /><Relationship Type="http://schemas.openxmlformats.org/officeDocument/2006/relationships/notesSlide" Target="/ppt/notesSlides/notesSlide6.xml" Id="R8e877eb90ffe498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06351a979804366" /><Relationship Type="http://schemas.openxmlformats.org/officeDocument/2006/relationships/notesSlide" Target="/ppt/notesSlides/notesSlide7.xml" Id="R0146ec2f544c43c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dd027208d47483f" /><Relationship Type="http://schemas.openxmlformats.org/officeDocument/2006/relationships/notesSlide" Target="/ppt/notesSlides/notesSlide8.xml" Id="Reec367d452d841a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1cdeb0d20864292" /><Relationship Type="http://schemas.openxmlformats.org/officeDocument/2006/relationships/notesSlide" Target="/ppt/notesSlides/notesSlide9.xml" Id="R47c96d222fb54a3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f3b65d3144b4fb4" /><Relationship Type="http://schemas.openxmlformats.org/officeDocument/2006/relationships/notesSlide" Target="/ppt/notesSlides/notesSlide10.xml" Id="Rd2dd058d2a60460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d96a1944ee24637" /><Relationship Type="http://schemas.openxmlformats.org/officeDocument/2006/relationships/notesSlide" Target="/ppt/notesSlides/notesSlide11.xml" Id="R65fe58cd9def4e9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3819045ece540cb" /><Relationship Type="http://schemas.openxmlformats.org/officeDocument/2006/relationships/notesSlide" Target="/ppt/notesSlides/notesSlide12.xml" Id="R105b99f9c933453f" /></Relationships>
</file>

<file path=ppt/slides/slide1.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DDEA673-C80E-47B8-B59A-7206BD468A2C}"/>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71e8cbc230442a7"/>
          <a:srcRect xmlns:a="http://schemas.openxmlformats.org/drawingml/2006/main" l="28270" t="0" r="28270" b="0"/>
          <a:stretch xmlns:a="http://schemas.openxmlformats.org/drawingml/2006/main">
            <a:fillRect l="0" t="0" r="0" b="0"/>
          </a:stretch>
        </p:blipFill>
        <p:spPr>
          <a:xfrm xmlns:a="http://schemas.openxmlformats.org/drawingml/2006/main">
            <a:off x="6896100" y="0"/>
            <a:ext cx="52959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AA646E1-1897-4C79-9654-F20434C4F6A7}"/>
              </a:ext>
            </a:extLst>
          </p:cNvPr>
          <p:cNvSpPr>
            <a:spLocks xmlns:a="http://schemas.openxmlformats.org/drawingml/2006/main" noGrp="1"/>
          </p:cNvSpPr>
          <p:nvPr/>
        </p:nvSpPr>
        <p:spPr>
          <a:xfrm xmlns:a="http://schemas.openxmlformats.org/drawingml/2006/main">
            <a:off x="6591300" y="0"/>
            <a:ext cx="304800" cy="685800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911872E-97B3-474C-8D65-E643C16A360A}"/>
              </a:ext>
            </a:extLst>
          </p:cNvPr>
          <p:cNvSpPr>
            <a:spLocks xmlns:a="http://schemas.openxmlformats.org/drawingml/2006/main" noGrp="1"/>
          </p:cNvSpPr>
          <p:nvPr/>
        </p:nvSpPr>
        <p:spPr>
          <a:xfrm xmlns:a="http://schemas.openxmlformats.org/drawingml/2006/main">
            <a:off x="666750" y="6667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MODULE 11  /  LESSON 01</a:t>
            </a:r>
          </a:p>
        </p:txBody>
      </p:sp>
      <p:sp>
        <p:nvSpPr>
          <p:cNvPr id="5" name="">
            <a:extLst xmlns:a="http://schemas.openxmlformats.org/drawingml/2006/main">
              <a:ext uri="{FF2B5EF4-FFF2-40B4-BE49-F238E27FC236}">
                <a16:creationId xmlns:a16="http://schemas.microsoft.com/office/drawing/2014/main" id="{FA6406DF-5264-4DB7-A102-47B7A7342BEB}"/>
              </a:ext>
            </a:extLst>
          </p:cNvPr>
          <p:cNvSpPr>
            <a:spLocks xmlns:a="http://schemas.openxmlformats.org/drawingml/2006/main" noGrp="1"/>
          </p:cNvSpPr>
          <p:nvPr/>
        </p:nvSpPr>
        <p:spPr>
          <a:xfrm xmlns:a="http://schemas.openxmlformats.org/drawingml/2006/main">
            <a:off x="666750" y="1409700"/>
            <a:ext cx="52197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600" b="1">
                <a:solidFill>
                  <a:srgbClr val="FFFFFF"/>
                </a:solidFill>
              </a:defRPr>
            </a:pPr>
            <a:r>
              <a:rPr sz="3600" b="1">
                <a:solidFill>
                  <a:srgbClr val="FFFFFF"/>
                </a:solidFill>
              </a:rPr>
              <a:t>Serving Turns a Fitted Model into a Service</a:t>
            </a:r>
          </a:p>
        </p:txBody>
      </p:sp>
      <p:sp>
        <p:nvSpPr>
          <p:cNvPr id="6" name="">
            <a:extLst xmlns:a="http://schemas.openxmlformats.org/drawingml/2006/main">
              <a:ext uri="{FF2B5EF4-FFF2-40B4-BE49-F238E27FC236}">
                <a16:creationId xmlns:a16="http://schemas.microsoft.com/office/drawing/2014/main" id="{79ECA50D-5E3E-48F3-9DA1-45DFD9D9755C}"/>
              </a:ext>
            </a:extLst>
          </p:cNvPr>
          <p:cNvSpPr>
            <a:spLocks xmlns:a="http://schemas.openxmlformats.org/drawingml/2006/main" noGrp="1"/>
          </p:cNvSpPr>
          <p:nvPr/>
        </p:nvSpPr>
        <p:spPr>
          <a:xfrm xmlns:a="http://schemas.openxmlformats.org/drawingml/2006/main">
            <a:off x="666750" y="4095750"/>
            <a:ext cx="914400" cy="57150"/>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61BCDFA-D78B-45E5-8192-127E4F33FE62}"/>
              </a:ext>
            </a:extLst>
          </p:cNvPr>
          <p:cNvSpPr>
            <a:spLocks xmlns:a="http://schemas.openxmlformats.org/drawingml/2006/main" noGrp="1"/>
          </p:cNvSpPr>
          <p:nvPr/>
        </p:nvSpPr>
        <p:spPr>
          <a:xfrm xmlns:a="http://schemas.openxmlformats.org/drawingml/2006/main">
            <a:off x="666750" y="4495800"/>
            <a:ext cx="5048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D5E2EC"/>
                </a:solidFill>
              </a:defRPr>
            </a:pPr>
            <a:r>
              <a:rPr sz="1650">
                <a:solidFill>
                  <a:srgbClr val="D5E2EC"/>
                </a:solidFill>
              </a:rPr>
              <a:t>Model serving makes a fitted model available to another program.</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192baed8faab438c"/>
          <a:stretch xmlns:a="http://schemas.openxmlformats.org/drawingml/2006/main"/>
        </p:blipFill>
        <p:spPr>
          <a:xfrm xmlns:a="http://schemas.openxmlformats.org/drawingml/2006/main">
            <a:off x="790575" y="5905500"/>
            <a:ext cx="1485900" cy="495300"/>
          </a:xfrm>
          <a:prstGeom xmlns:a="http://schemas.openxmlformats.org/drawingml/2006/main" prst="rect">
            <a:avLst/>
          </a:prstGeom>
        </p:spPr>
      </p:pic>
    </p:spTree>
    <p:extLst>
      <p:ext uri="{BB962C8B-B14F-4D97-AF65-F5344CB8AC3E}">
        <p14:creationId xmlns:p14="http://schemas.microsoft.com/office/powerpoint/2010/main" val="143516128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998913F-5BD9-4D0E-999D-4CA18BE22209}"/>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M11 / L01</a:t>
            </a:r>
          </a:p>
        </p:txBody>
      </p:sp>
      <p:sp>
        <p:nvSpPr>
          <p:cNvPr id="2" name="">
            <a:extLst xmlns:a="http://schemas.openxmlformats.org/drawingml/2006/main">
              <a:ext uri="{FF2B5EF4-FFF2-40B4-BE49-F238E27FC236}">
                <a16:creationId xmlns:a16="http://schemas.microsoft.com/office/drawing/2014/main" id="{D7E4524A-2FEF-4C37-B8BD-7C62E52D9DF4}"/>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Serving Turns a Fitted Model into a Service</a:t>
            </a:r>
          </a:p>
        </p:txBody>
      </p:sp>
      <p:sp>
        <p:nvSpPr>
          <p:cNvPr id="3" name="">
            <a:extLst xmlns:a="http://schemas.openxmlformats.org/drawingml/2006/main">
              <a:ext uri="{FF2B5EF4-FFF2-40B4-BE49-F238E27FC236}">
                <a16:creationId xmlns:a16="http://schemas.microsoft.com/office/drawing/2014/main" id="{2DD09DC7-F9F3-437B-9707-8AEF6C2A6188}"/>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02</a:t>
            </a:r>
          </a:p>
        </p:txBody>
      </p:sp>
      <p:sp>
        <p:nvSpPr>
          <p:cNvPr id="4" name="">
            <a:extLst xmlns:a="http://schemas.openxmlformats.org/drawingml/2006/main">
              <a:ext uri="{FF2B5EF4-FFF2-40B4-BE49-F238E27FC236}">
                <a16:creationId xmlns:a16="http://schemas.microsoft.com/office/drawing/2014/main" id="{CBBD79EB-1050-4201-871B-DBEECF5A2D34}"/>
              </a:ext>
            </a:extLst>
          </p:cNvPr>
          <p:cNvSpPr>
            <a:spLocks xmlns:a="http://schemas.openxmlformats.org/drawingml/2006/main" noGrp="1"/>
          </p:cNvSpPr>
          <p:nvPr/>
        </p:nvSpPr>
        <p:spPr>
          <a:xfrm xmlns:a="http://schemas.openxmlformats.org/drawingml/2006/main">
            <a:off x="609600" y="9525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CORE CONCEPT</a:t>
            </a:r>
          </a:p>
        </p:txBody>
      </p:sp>
      <p:sp>
        <p:nvSpPr>
          <p:cNvPr id="5" name="">
            <a:extLst xmlns:a="http://schemas.openxmlformats.org/drawingml/2006/main">
              <a:ext uri="{FF2B5EF4-FFF2-40B4-BE49-F238E27FC236}">
                <a16:creationId xmlns:a16="http://schemas.microsoft.com/office/drawing/2014/main" id="{0E9F5936-91E1-44FC-B1AC-99E38485EF12}"/>
              </a:ext>
            </a:extLst>
          </p:cNvPr>
          <p:cNvSpPr>
            <a:spLocks xmlns:a="http://schemas.openxmlformats.org/drawingml/2006/main" noGrp="1"/>
          </p:cNvSpPr>
          <p:nvPr/>
        </p:nvSpPr>
        <p:spPr>
          <a:xfrm xmlns:a="http://schemas.openxmlformats.org/drawingml/2006/main">
            <a:off x="609600" y="142875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B1220"/>
                </a:solidFill>
              </a:defRPr>
            </a:pPr>
            <a:r>
              <a:rPr sz="3000" b="1">
                <a:solidFill>
                  <a:srgbClr val="0B1220"/>
                </a:solidFill>
              </a:rPr>
              <a:t>HTTP Defines Requests and Responses</a:t>
            </a:r>
          </a:p>
        </p:txBody>
      </p:sp>
      <p:sp>
        <p:nvSpPr>
          <p:cNvPr id="6" name="">
            <a:extLst xmlns:a="http://schemas.openxmlformats.org/drawingml/2006/main">
              <a:ext uri="{FF2B5EF4-FFF2-40B4-BE49-F238E27FC236}">
                <a16:creationId xmlns:a16="http://schemas.microsoft.com/office/drawing/2014/main" id="{E60DC818-7196-4A7F-A565-31D0EBDA0665}"/>
              </a:ext>
            </a:extLst>
          </p:cNvPr>
          <p:cNvSpPr>
            <a:spLocks xmlns:a="http://schemas.openxmlformats.org/drawingml/2006/main" noGrp="1"/>
          </p:cNvSpPr>
          <p:nvPr/>
        </p:nvSpPr>
        <p:spPr>
          <a:xfrm xmlns:a="http://schemas.openxmlformats.org/drawingml/2006/main">
            <a:off x="609600" y="2343150"/>
            <a:ext cx="1066800" cy="5715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535A676-BF6E-45BF-B3EB-00BC26BF3A0B}"/>
              </a:ext>
            </a:extLst>
          </p:cNvPr>
          <p:cNvSpPr>
            <a:spLocks xmlns:a="http://schemas.openxmlformats.org/drawingml/2006/main" noGrp="1"/>
          </p:cNvSpPr>
          <p:nvPr/>
        </p:nvSpPr>
        <p:spPr>
          <a:xfrm xmlns:a="http://schemas.openxmlformats.org/drawingml/2006/main">
            <a:off x="609600" y="2647950"/>
            <a:ext cx="10572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243244"/>
                </a:solidFill>
              </a:defRPr>
            </a:pPr>
            <a:r>
              <a:rPr sz="1575">
                <a:solidFill>
                  <a:srgbClr val="243244"/>
                </a:solidFill>
              </a:rPr>
              <a:t>HTTP is a protocol for exchanging requests and responses. A request contains: A response contains a status code, headers, and optional body.</a:t>
            </a:r>
          </a:p>
        </p:txBody>
      </p:sp>
      <p:sp>
        <p:nvSpPr>
          <p:cNvPr id="8" name="">
            <a:extLst xmlns:a="http://schemas.openxmlformats.org/drawingml/2006/main">
              <a:ext uri="{FF2B5EF4-FFF2-40B4-BE49-F238E27FC236}">
                <a16:creationId xmlns:a16="http://schemas.microsoft.com/office/drawing/2014/main" id="{508F8E19-84EC-4109-9AAD-4EA6365B169D}"/>
              </a:ext>
            </a:extLst>
          </p:cNvPr>
          <p:cNvSpPr>
            <a:spLocks xmlns:a="http://schemas.openxmlformats.org/drawingml/2006/main" noGrp="1"/>
          </p:cNvSpPr>
          <p:nvPr/>
        </p:nvSpPr>
        <p:spPr>
          <a:xfrm xmlns:a="http://schemas.openxmlformats.org/drawingml/2006/main">
            <a:off x="609600" y="3714750"/>
            <a:ext cx="3276600" cy="91440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F47C598-69E6-46CB-84B0-B013D71C891A}"/>
              </a:ext>
            </a:extLst>
          </p:cNvPr>
          <p:cNvSpPr>
            <a:spLocks xmlns:a="http://schemas.openxmlformats.org/drawingml/2006/main" noGrp="1"/>
          </p:cNvSpPr>
          <p:nvPr/>
        </p:nvSpPr>
        <p:spPr>
          <a:xfrm xmlns:a="http://schemas.openxmlformats.org/drawingml/2006/main">
            <a:off x="781050" y="38100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0B1220"/>
                </a:solidFill>
              </a:defRPr>
            </a:pPr>
            <a:r>
              <a:rPr sz="1125" b="1">
                <a:solidFill>
                  <a:srgbClr val="0B1220"/>
                </a:solidFill>
              </a:rPr>
              <a:t>method such as GET or POST;</a:t>
            </a:r>
          </a:p>
        </p:txBody>
      </p:sp>
      <p:sp>
        <p:nvSpPr>
          <p:cNvPr id="10" name="">
            <a:extLst xmlns:a="http://schemas.openxmlformats.org/drawingml/2006/main">
              <a:ext uri="{FF2B5EF4-FFF2-40B4-BE49-F238E27FC236}">
                <a16:creationId xmlns:a16="http://schemas.microsoft.com/office/drawing/2014/main" id="{56502740-2913-44A8-BC3F-F5558FAD2A9E}"/>
              </a:ext>
            </a:extLst>
          </p:cNvPr>
          <p:cNvSpPr>
            <a:spLocks xmlns:a="http://schemas.openxmlformats.org/drawingml/2006/main" noGrp="1"/>
          </p:cNvSpPr>
          <p:nvPr/>
        </p:nvSpPr>
        <p:spPr>
          <a:xfrm xmlns:a="http://schemas.openxmlformats.org/drawingml/2006/main">
            <a:off x="4114800" y="3714750"/>
            <a:ext cx="3276600" cy="91440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44B4D68-28CC-41AB-A187-E42A77761B63}"/>
              </a:ext>
            </a:extLst>
          </p:cNvPr>
          <p:cNvSpPr>
            <a:spLocks xmlns:a="http://schemas.openxmlformats.org/drawingml/2006/main" noGrp="1"/>
          </p:cNvSpPr>
          <p:nvPr/>
        </p:nvSpPr>
        <p:spPr>
          <a:xfrm xmlns:a="http://schemas.openxmlformats.org/drawingml/2006/main">
            <a:off x="4286250" y="38100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0B1220"/>
                </a:solidFill>
              </a:defRPr>
            </a:pPr>
            <a:r>
              <a:rPr sz="1125" b="1">
                <a:solidFill>
                  <a:srgbClr val="0B1220"/>
                </a:solidFill>
              </a:rPr>
              <a:t>path such as /predict;</a:t>
            </a:r>
          </a:p>
        </p:txBody>
      </p:sp>
      <p:sp>
        <p:nvSpPr>
          <p:cNvPr id="12" name="">
            <a:extLst xmlns:a="http://schemas.openxmlformats.org/drawingml/2006/main">
              <a:ext uri="{FF2B5EF4-FFF2-40B4-BE49-F238E27FC236}">
                <a16:creationId xmlns:a16="http://schemas.microsoft.com/office/drawing/2014/main" id="{0FEEDF3A-0794-477E-BDD1-1A062968272B}"/>
              </a:ext>
            </a:extLst>
          </p:cNvPr>
          <p:cNvSpPr>
            <a:spLocks xmlns:a="http://schemas.openxmlformats.org/drawingml/2006/main" noGrp="1"/>
          </p:cNvSpPr>
          <p:nvPr/>
        </p:nvSpPr>
        <p:spPr>
          <a:xfrm xmlns:a="http://schemas.openxmlformats.org/drawingml/2006/main">
            <a:off x="7620000" y="3714750"/>
            <a:ext cx="3276600" cy="91440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E6FFAB6-5A32-496B-8051-55CFDA766E74}"/>
              </a:ext>
            </a:extLst>
          </p:cNvPr>
          <p:cNvSpPr>
            <a:spLocks xmlns:a="http://schemas.openxmlformats.org/drawingml/2006/main" noGrp="1"/>
          </p:cNvSpPr>
          <p:nvPr/>
        </p:nvSpPr>
        <p:spPr>
          <a:xfrm xmlns:a="http://schemas.openxmlformats.org/drawingml/2006/main">
            <a:off x="7791450" y="38100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0B1220"/>
                </a:solidFill>
              </a:defRPr>
            </a:pPr>
            <a:r>
              <a:rPr sz="1125" b="1">
                <a:solidFill>
                  <a:srgbClr val="0B1220"/>
                </a:solidFill>
              </a:rPr>
              <a:t>headers such as content type or authorization;</a:t>
            </a:r>
          </a:p>
        </p:txBody>
      </p:sp>
      <p:sp>
        <p:nvSpPr>
          <p:cNvPr id="14" name="">
            <a:extLst xmlns:a="http://schemas.openxmlformats.org/drawingml/2006/main">
              <a:ext uri="{FF2B5EF4-FFF2-40B4-BE49-F238E27FC236}">
                <a16:creationId xmlns:a16="http://schemas.microsoft.com/office/drawing/2014/main" id="{8A52391A-5028-4315-AF96-B3B992751329}"/>
              </a:ext>
            </a:extLst>
          </p:cNvPr>
          <p:cNvSpPr>
            <a:spLocks xmlns:a="http://schemas.openxmlformats.org/drawingml/2006/main" noGrp="1"/>
          </p:cNvSpPr>
          <p:nvPr/>
        </p:nvSpPr>
        <p:spPr>
          <a:xfrm xmlns:a="http://schemas.openxmlformats.org/drawingml/2006/main">
            <a:off x="609600" y="4819650"/>
            <a:ext cx="3276600" cy="91440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D987295-0A56-4DAB-8E4F-CE1B6F7BF162}"/>
              </a:ext>
            </a:extLst>
          </p:cNvPr>
          <p:cNvSpPr>
            <a:spLocks xmlns:a="http://schemas.openxmlformats.org/drawingml/2006/main" noGrp="1"/>
          </p:cNvSpPr>
          <p:nvPr/>
        </p:nvSpPr>
        <p:spPr>
          <a:xfrm xmlns:a="http://schemas.openxmlformats.org/drawingml/2006/main">
            <a:off x="781050" y="49149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0B1220"/>
                </a:solidFill>
              </a:defRPr>
            </a:pPr>
            <a:r>
              <a:rPr sz="1125" b="1">
                <a:solidFill>
                  <a:srgbClr val="0B1220"/>
                </a:solidFill>
              </a:rPr>
              <a:t>optional body containing input data.</a:t>
            </a:r>
          </a:p>
        </p:txBody>
      </p:sp>
      <p:sp>
        <p:nvSpPr>
          <p:cNvPr id="16" name="">
            <a:extLst xmlns:a="http://schemas.openxmlformats.org/drawingml/2006/main">
              <a:ext uri="{FF2B5EF4-FFF2-40B4-BE49-F238E27FC236}">
                <a16:creationId xmlns:a16="http://schemas.microsoft.com/office/drawing/2014/main" id="{89AE1EDB-BA6B-4652-BBCC-DD7A6C0964B8}"/>
              </a:ext>
            </a:extLst>
          </p:cNvPr>
          <p:cNvSpPr>
            <a:spLocks xmlns:a="http://schemas.openxmlformats.org/drawingml/2006/main" noGrp="1"/>
          </p:cNvSpPr>
          <p:nvPr/>
        </p:nvSpPr>
        <p:spPr>
          <a:xfrm xmlns:a="http://schemas.openxmlformats.org/drawingml/2006/main">
            <a:off x="4114800" y="4819650"/>
            <a:ext cx="3276600" cy="91440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F300C86-4F2F-476A-A59E-199BEE3BE036}"/>
              </a:ext>
            </a:extLst>
          </p:cNvPr>
          <p:cNvSpPr>
            <a:spLocks xmlns:a="http://schemas.openxmlformats.org/drawingml/2006/main" noGrp="1"/>
          </p:cNvSpPr>
          <p:nvPr/>
        </p:nvSpPr>
        <p:spPr>
          <a:xfrm xmlns:a="http://schemas.openxmlformats.org/drawingml/2006/main">
            <a:off x="4286250" y="49149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0B1220"/>
                </a:solidFill>
              </a:defRPr>
            </a:pPr>
            <a:r>
              <a:rPr sz="1125" b="1">
                <a:solidFill>
                  <a:srgbClr val="0B1220"/>
                </a:solidFill>
              </a:rPr>
              <a:t>200: success</a:t>
            </a:r>
          </a:p>
        </p:txBody>
      </p:sp>
      <p:sp>
        <p:nvSpPr>
          <p:cNvPr id="18" name="">
            <a:extLst xmlns:a="http://schemas.openxmlformats.org/drawingml/2006/main">
              <a:ext uri="{FF2B5EF4-FFF2-40B4-BE49-F238E27FC236}">
                <a16:creationId xmlns:a16="http://schemas.microsoft.com/office/drawing/2014/main" id="{5304B2AB-9A4F-4F4A-A56F-40E488F487D3}"/>
              </a:ext>
            </a:extLst>
          </p:cNvPr>
          <p:cNvSpPr>
            <a:spLocks xmlns:a="http://schemas.openxmlformats.org/drawingml/2006/main" noGrp="1"/>
          </p:cNvSpPr>
          <p:nvPr/>
        </p:nvSpPr>
        <p:spPr>
          <a:xfrm xmlns:a="http://schemas.openxmlformats.org/drawingml/2006/main">
            <a:off x="7620000" y="4819650"/>
            <a:ext cx="3276600" cy="91440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D6E817D-90B1-46E2-8DE1-86E551D9DFBD}"/>
              </a:ext>
            </a:extLst>
          </p:cNvPr>
          <p:cNvSpPr>
            <a:spLocks xmlns:a="http://schemas.openxmlformats.org/drawingml/2006/main" noGrp="1"/>
          </p:cNvSpPr>
          <p:nvPr/>
        </p:nvSpPr>
        <p:spPr>
          <a:xfrm xmlns:a="http://schemas.openxmlformats.org/drawingml/2006/main">
            <a:off x="7791450" y="49149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0B1220"/>
                </a:solidFill>
              </a:defRPr>
            </a:pPr>
            <a:r>
              <a:rPr sz="1125" b="1">
                <a:solidFill>
                  <a:srgbClr val="0B1220"/>
                </a:solidFill>
              </a:rPr>
              <a:t>400 or 422: invalid client input</a:t>
            </a:r>
          </a:p>
        </p:txBody>
      </p:sp>
    </p:spTree>
    <p:extLst>
      <p:ext uri="{BB962C8B-B14F-4D97-AF65-F5344CB8AC3E}">
        <p14:creationId xmlns:p14="http://schemas.microsoft.com/office/powerpoint/2010/main" val="1744780366"/>
      </p:ext>
    </p:extLst>
  </p:cSld>
</p:sld>
</file>

<file path=ppt/slides/slide3.xml><?xml version="1.0" encoding="utf-8"?>
<p:sld xmlns:p="http://schemas.openxmlformats.org/presentationml/2006/main">
  <p:cSld>
    <p:bg>
      <p:bgPr>
        <a:solidFill xmlns:a="http://schemas.openxmlformats.org/drawingml/2006/main">
          <a:srgbClr val="EEF4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BE13BCD-D200-4EF2-80BE-67F77F30831A}"/>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M11 / L01</a:t>
            </a:r>
          </a:p>
        </p:txBody>
      </p:sp>
      <p:sp>
        <p:nvSpPr>
          <p:cNvPr id="2" name="">
            <a:extLst xmlns:a="http://schemas.openxmlformats.org/drawingml/2006/main">
              <a:ext uri="{FF2B5EF4-FFF2-40B4-BE49-F238E27FC236}">
                <a16:creationId xmlns:a16="http://schemas.microsoft.com/office/drawing/2014/main" id="{1BAA3151-AF84-4890-9803-BD061D5154F4}"/>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Serving Turns a Fitted Model into a Service</a:t>
            </a:r>
          </a:p>
        </p:txBody>
      </p:sp>
      <p:sp>
        <p:nvSpPr>
          <p:cNvPr id="3" name="">
            <a:extLst xmlns:a="http://schemas.openxmlformats.org/drawingml/2006/main">
              <a:ext uri="{FF2B5EF4-FFF2-40B4-BE49-F238E27FC236}">
                <a16:creationId xmlns:a16="http://schemas.microsoft.com/office/drawing/2014/main" id="{17681DC6-E039-4D12-8482-DE4AC2596597}"/>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03</a:t>
            </a:r>
          </a:p>
        </p:txBody>
      </p:sp>
      <p:sp>
        <p:nvSpPr>
          <p:cNvPr id="4" name="">
            <a:extLst xmlns:a="http://schemas.openxmlformats.org/drawingml/2006/main">
              <a:ext uri="{FF2B5EF4-FFF2-40B4-BE49-F238E27FC236}">
                <a16:creationId xmlns:a16="http://schemas.microsoft.com/office/drawing/2014/main" id="{A0833F60-00DD-41D3-BB23-CC58E5151E98}"/>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RUN IT AND INSPECT THE RESULT</a:t>
            </a:r>
          </a:p>
        </p:txBody>
      </p:sp>
      <p:sp>
        <p:nvSpPr>
          <p:cNvPr id="5" name="">
            <a:extLst xmlns:a="http://schemas.openxmlformats.org/drawingml/2006/main">
              <a:ext uri="{FF2B5EF4-FFF2-40B4-BE49-F238E27FC236}">
                <a16:creationId xmlns:a16="http://schemas.microsoft.com/office/drawing/2014/main" id="{3931084E-316D-4865-AD78-33C066F294E8}"/>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B1220"/>
                </a:solidFill>
              </a:defRPr>
            </a:pPr>
            <a:r>
              <a:rPr sz="2850" b="1">
                <a:solidFill>
                  <a:srgbClr val="0B1220"/>
                </a:solidFill>
              </a:rPr>
              <a:t>JSON and Validation Define the API Contract</a:t>
            </a:r>
          </a:p>
        </p:txBody>
      </p:sp>
      <p:sp>
        <p:nvSpPr>
          <p:cNvPr id="6" name="">
            <a:extLst xmlns:a="http://schemas.openxmlformats.org/drawingml/2006/main">
              <a:ext uri="{FF2B5EF4-FFF2-40B4-BE49-F238E27FC236}">
                <a16:creationId xmlns:a16="http://schemas.microsoft.com/office/drawing/2014/main" id="{B6659589-5056-49F2-B15D-6E3FBF894FD2}"/>
              </a:ext>
            </a:extLst>
          </p:cNvPr>
          <p:cNvSpPr>
            <a:spLocks xmlns:a="http://schemas.openxmlformats.org/drawingml/2006/main" noGrp="1"/>
          </p:cNvSpPr>
          <p:nvPr/>
        </p:nvSpPr>
        <p:spPr>
          <a:xfrm xmlns:a="http://schemas.openxmlformats.org/drawingml/2006/main">
            <a:off x="514350" y="1619250"/>
            <a:ext cx="6515100" cy="38862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3E9858C-CA1F-4EF4-AB0B-1C08BA81C230}"/>
              </a:ext>
            </a:extLst>
          </p:cNvPr>
          <p:cNvSpPr>
            <a:spLocks xmlns:a="http://schemas.openxmlformats.org/drawingml/2006/main" noGrp="1"/>
          </p:cNvSpPr>
          <p:nvPr/>
        </p:nvSpPr>
        <p:spPr>
          <a:xfrm xmlns:a="http://schemas.openxmlformats.org/drawingml/2006/main">
            <a:off x="514350" y="1619250"/>
            <a:ext cx="6515100" cy="304800"/>
          </a:xfrm>
          <a:prstGeom xmlns:a="http://schemas.openxmlformats.org/drawingml/2006/main" prst="rect">
            <a:avLst/>
          </a:prstGeom>
          <a:solidFill xmlns:a="http://schemas.openxmlformats.org/drawingml/2006/main">
            <a:srgbClr val="24324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DBEBA1F-9932-4E3D-8E02-780C89C7DA51}"/>
              </a:ext>
            </a:extLst>
          </p:cNvPr>
          <p:cNvSpPr>
            <a:spLocks xmlns:a="http://schemas.openxmlformats.org/drawingml/2006/main" noGrp="1"/>
          </p:cNvSpPr>
          <p:nvPr/>
        </p:nvSpPr>
        <p:spPr>
          <a:xfrm xmlns:a="http://schemas.openxmlformats.org/drawingml/2006/main">
            <a:off x="685800" y="1714500"/>
            <a:ext cx="104775" cy="104775"/>
          </a:xfrm>
          <a:prstGeom xmlns:a="http://schemas.openxmlformats.org/drawingml/2006/main" prst="ellipse">
            <a:avLst/>
          </a:prstGeom>
          <a:solidFill xmlns:a="http://schemas.openxmlformats.org/drawingml/2006/main">
            <a:srgbClr val="F06B5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514156D-E9D6-4E7B-A63C-6CF37BB0462E}"/>
              </a:ext>
            </a:extLst>
          </p:cNvPr>
          <p:cNvSpPr>
            <a:spLocks xmlns:a="http://schemas.openxmlformats.org/drawingml/2006/main" noGrp="1"/>
          </p:cNvSpPr>
          <p:nvPr/>
        </p:nvSpPr>
        <p:spPr>
          <a:xfrm xmlns:a="http://schemas.openxmlformats.org/drawingml/2006/main">
            <a:off x="914400" y="1714500"/>
            <a:ext cx="104775" cy="104775"/>
          </a:xfrm>
          <a:prstGeom xmlns:a="http://schemas.openxmlformats.org/drawingml/2006/main" prst="ellipse">
            <a:avLst/>
          </a:prstGeom>
          <a:solidFill xmlns:a="http://schemas.openxmlformats.org/drawingml/2006/main">
            <a:srgbClr val="F2C94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E5BA9A9-B44B-4E5A-B81B-56E9067D3DBF}"/>
              </a:ext>
            </a:extLst>
          </p:cNvPr>
          <p:cNvSpPr>
            <a:spLocks xmlns:a="http://schemas.openxmlformats.org/drawingml/2006/main" noGrp="1"/>
          </p:cNvSpPr>
          <p:nvPr/>
        </p:nvSpPr>
        <p:spPr>
          <a:xfrm xmlns:a="http://schemas.openxmlformats.org/drawingml/2006/main">
            <a:off x="1143000" y="1714500"/>
            <a:ext cx="104775" cy="104775"/>
          </a:xfrm>
          <a:prstGeom xmlns:a="http://schemas.openxmlformats.org/drawingml/2006/main" prst="ellipse">
            <a:avLst/>
          </a:prstGeom>
          <a:solidFill xmlns:a="http://schemas.openxmlformats.org/drawingml/2006/main">
            <a:srgbClr val="A8D95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03B2B22-FC0E-455A-ADF3-30C9F368F14E}"/>
              </a:ext>
            </a:extLst>
          </p:cNvPr>
          <p:cNvSpPr>
            <a:spLocks xmlns:a="http://schemas.openxmlformats.org/drawingml/2006/main" noGrp="1"/>
          </p:cNvSpPr>
          <p:nvPr/>
        </p:nvSpPr>
        <p:spPr>
          <a:xfrm xmlns:a="http://schemas.openxmlformats.org/drawingml/2006/main">
            <a:off x="723900" y="2095500"/>
            <a:ext cx="6115050" cy="3200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E8F1F7"/>
                </a:solidFill>
              </a:defRPr>
            </a:pPr>
            <a:r>
              <a:rPr sz="1125">
                <a:solidFill>
                  <a:srgbClr val="E8F1F7"/>
                </a:solidFill>
              </a:rPr>
              <a:t>from pydantic import BaseModel, Field</a:t>
            </a:r>
          </a:p>
          <a:p xmlns:a="http://schemas.openxmlformats.org/drawingml/2006/main">
            <a:r>
              <a:t/>
            </a:r>
          </a:p>
          <a:p xmlns:a="http://schemas.openxmlformats.org/drawingml/2006/main">
            <a:pPr>
              <a:defRPr sz="1125">
                <a:solidFill>
                  <a:srgbClr val="E8F1F7"/>
                </a:solidFill>
              </a:defRPr>
            </a:pPr>
            <a:r>
              <a:rPr sz="1125">
                <a:solidFill>
                  <a:srgbClr val="E8F1F7"/>
                </a:solidFill>
              </a:rPr>
              <a:t>class PredictionRequest(BaseModel):</a:t>
            </a:r>
          </a:p>
          <a:p xmlns:a="http://schemas.openxmlformats.org/drawingml/2006/main">
            <a:pPr>
              <a:defRPr sz="1125">
                <a:solidFill>
                  <a:srgbClr val="E8F1F7"/>
                </a:solidFill>
              </a:defRPr>
            </a:pPr>
            <a:r>
              <a:rPr sz="1125">
                <a:solidFill>
                  <a:srgbClr val="E8F1F7"/>
                </a:solidFill>
              </a:rPr>
              <a:t>    age: int = Field(ge=18, le=100)</a:t>
            </a:r>
          </a:p>
          <a:p xmlns:a="http://schemas.openxmlformats.org/drawingml/2006/main">
            <a:pPr>
              <a:defRPr sz="1125">
                <a:solidFill>
                  <a:srgbClr val="E8F1F7"/>
                </a:solidFill>
              </a:defRPr>
            </a:pPr>
            <a:r>
              <a:rPr sz="1125">
                <a:solidFill>
                  <a:srgbClr val="E8F1F7"/>
                </a:solidFill>
              </a:rPr>
              <a:t>    city: str = Field(min_length=1)</a:t>
            </a:r>
          </a:p>
        </p:txBody>
      </p:sp>
      <p:sp>
        <p:nvSpPr>
          <p:cNvPr id="12" name="">
            <a:extLst xmlns:a="http://schemas.openxmlformats.org/drawingml/2006/main">
              <a:ext uri="{FF2B5EF4-FFF2-40B4-BE49-F238E27FC236}">
                <a16:creationId xmlns:a16="http://schemas.microsoft.com/office/drawing/2014/main" id="{6A20ECD7-7441-4800-A913-2919BA142654}"/>
              </a:ext>
            </a:extLst>
          </p:cNvPr>
          <p:cNvSpPr>
            <a:spLocks xmlns:a="http://schemas.openxmlformats.org/drawingml/2006/main" noGrp="1"/>
          </p:cNvSpPr>
          <p:nvPr/>
        </p:nvSpPr>
        <p:spPr>
          <a:xfrm xmlns:a="http://schemas.openxmlformats.org/drawingml/2006/main">
            <a:off x="7334250" y="1619250"/>
            <a:ext cx="4324350" cy="3886200"/>
          </a:xfrm>
          <a:prstGeom xmlns:a="http://schemas.openxmlformats.org/drawingml/2006/main" prst="rect">
            <a:avLst/>
          </a:prstGeom>
          <a:solidFill xmlns:a="http://schemas.openxmlformats.org/drawingml/2006/main">
            <a:srgbClr val="FFFFFF"/>
          </a:solidFill>
          <a:ln xmlns:a="http://schemas.openxmlformats.org/drawingml/2006/main" w="9525">
            <a:solidFill>
              <a:srgbClr val="CAD6DF"/>
            </a:solidFill>
            <a:prstDash val="solid"/>
          </a:ln>
        </p:spPr>
      </p:sp>
      <p:sp>
        <p:nvSpPr>
          <p:cNvPr id="13" name="">
            <a:extLst xmlns:a="http://schemas.openxmlformats.org/drawingml/2006/main">
              <a:ext uri="{FF2B5EF4-FFF2-40B4-BE49-F238E27FC236}">
                <a16:creationId xmlns:a16="http://schemas.microsoft.com/office/drawing/2014/main" id="{5872DB2E-092D-461D-986D-9CFB14F91E28}"/>
              </a:ext>
            </a:extLst>
          </p:cNvPr>
          <p:cNvSpPr>
            <a:spLocks xmlns:a="http://schemas.openxmlformats.org/drawingml/2006/main" noGrp="1"/>
          </p:cNvSpPr>
          <p:nvPr/>
        </p:nvSpPr>
        <p:spPr>
          <a:xfrm xmlns:a="http://schemas.openxmlformats.org/drawingml/2006/main">
            <a:off x="7581900" y="184785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OUTPUT</a:t>
            </a:r>
          </a:p>
        </p:txBody>
      </p:sp>
      <p:sp>
        <p:nvSpPr>
          <p:cNvPr id="14" name="">
            <a:extLst xmlns:a="http://schemas.openxmlformats.org/drawingml/2006/main">
              <a:ext uri="{FF2B5EF4-FFF2-40B4-BE49-F238E27FC236}">
                <a16:creationId xmlns:a16="http://schemas.microsoft.com/office/drawing/2014/main" id="{D68535C4-B337-4DFA-AA10-DD41F10DC03E}"/>
              </a:ext>
            </a:extLst>
          </p:cNvPr>
          <p:cNvSpPr>
            <a:spLocks xmlns:a="http://schemas.openxmlformats.org/drawingml/2006/main" noGrp="1"/>
          </p:cNvSpPr>
          <p:nvPr/>
        </p:nvSpPr>
        <p:spPr>
          <a:xfrm xmlns:a="http://schemas.openxmlformats.org/drawingml/2006/main">
            <a:off x="7581900" y="2228850"/>
            <a:ext cx="3790950" cy="2971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a:solidFill>
                  <a:srgbClr val="0B1220"/>
                </a:solidFill>
              </a:defRPr>
            </a:pPr>
            <a:r>
              <a:rPr sz="1050">
                <a:solidFill>
                  <a:srgbClr val="0B1220"/>
                </a:solidFill>
              </a:rPr>
              <a:t>Valid JSON becomes a typed request object; invalid JSON returns field-level errors.</a:t>
            </a:r>
          </a:p>
        </p:txBody>
      </p:sp>
      <p:sp>
        <p:nvSpPr>
          <p:cNvPr id="15" name="">
            <a:extLst xmlns:a="http://schemas.openxmlformats.org/drawingml/2006/main">
              <a:ext uri="{FF2B5EF4-FFF2-40B4-BE49-F238E27FC236}">
                <a16:creationId xmlns:a16="http://schemas.microsoft.com/office/drawing/2014/main" id="{0056BDB6-31C4-4A55-8CA8-C95260EE5EC0}"/>
              </a:ext>
            </a:extLst>
          </p:cNvPr>
          <p:cNvSpPr>
            <a:spLocks xmlns:a="http://schemas.openxmlformats.org/drawingml/2006/main" noGrp="1"/>
          </p:cNvSpPr>
          <p:nvPr/>
        </p:nvSpPr>
        <p:spPr>
          <a:xfrm xmlns:a="http://schemas.openxmlformats.org/drawingml/2006/main">
            <a:off x="514350" y="5734050"/>
            <a:ext cx="11144250" cy="590550"/>
          </a:xfrm>
          <a:prstGeom xmlns:a="http://schemas.openxmlformats.org/drawingml/2006/main" prst="rect">
            <a:avLst/>
          </a:prstGeom>
          <a:solidFill xmlns:a="http://schemas.openxmlformats.org/drawingml/2006/main">
            <a:srgbClr val="DFF5F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7AEB3E7-6543-45A7-9F88-12AC038BD7C6}"/>
              </a:ext>
            </a:extLst>
          </p:cNvPr>
          <p:cNvSpPr>
            <a:spLocks xmlns:a="http://schemas.openxmlformats.org/drawingml/2006/main" noGrp="1"/>
          </p:cNvSpPr>
          <p:nvPr/>
        </p:nvSpPr>
        <p:spPr>
          <a:xfrm xmlns:a="http://schemas.openxmlformats.org/drawingml/2006/main">
            <a:off x="723900" y="5829300"/>
            <a:ext cx="10744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{"age": "thirty-five"} fails type and missing-city checks before model inference.</a:t>
            </a:r>
          </a:p>
        </p:txBody>
      </p:sp>
    </p:spTree>
    <p:extLst>
      <p:ext uri="{BB962C8B-B14F-4D97-AF65-F5344CB8AC3E}">
        <p14:creationId xmlns:p14="http://schemas.microsoft.com/office/powerpoint/2010/main" val="998514253"/>
      </p:ext>
    </p:extLst>
  </p:cSld>
</p:sld>
</file>

<file path=ppt/slides/slide4.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45EC71D-95BC-49BB-B410-6996BA880B08}"/>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A8C8"/>
                </a:solidFill>
              </a:defRPr>
            </a:pPr>
            <a:r>
              <a:rPr sz="825" b="1">
                <a:solidFill>
                  <a:srgbClr val="00A8C8"/>
                </a:solidFill>
              </a:rPr>
              <a:t>M11 / L01</a:t>
            </a:r>
          </a:p>
        </p:txBody>
      </p:sp>
      <p:sp>
        <p:nvSpPr>
          <p:cNvPr id="2" name="">
            <a:extLst xmlns:a="http://schemas.openxmlformats.org/drawingml/2006/main">
              <a:ext uri="{FF2B5EF4-FFF2-40B4-BE49-F238E27FC236}">
                <a16:creationId xmlns:a16="http://schemas.microsoft.com/office/drawing/2014/main" id="{6BEBCCE1-CB89-4EE4-B084-ED677C9DE333}"/>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B7CAD9"/>
                </a:solidFill>
              </a:defRPr>
            </a:pPr>
            <a:r>
              <a:rPr sz="825">
                <a:solidFill>
                  <a:srgbClr val="B7CAD9"/>
                </a:solidFill>
              </a:rPr>
              <a:t>Serving Turns a Fitted Model into a Service</a:t>
            </a:r>
          </a:p>
        </p:txBody>
      </p:sp>
      <p:sp>
        <p:nvSpPr>
          <p:cNvPr id="3" name="">
            <a:extLst xmlns:a="http://schemas.openxmlformats.org/drawingml/2006/main">
              <a:ext uri="{FF2B5EF4-FFF2-40B4-BE49-F238E27FC236}">
                <a16:creationId xmlns:a16="http://schemas.microsoft.com/office/drawing/2014/main" id="{02973C01-AA17-4301-8330-050FFBFF77DB}"/>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B7CAD9"/>
                </a:solidFill>
              </a:defRPr>
            </a:pPr>
            <a:r>
              <a:rPr sz="825" b="1">
                <a:solidFill>
                  <a:srgbClr val="B7CAD9"/>
                </a:solidFill>
              </a:rPr>
              <a:t>DS ACADEMY   04</a:t>
            </a:r>
          </a:p>
        </p:txBody>
      </p:sp>
      <p:sp>
        <p:nvSpPr>
          <p:cNvPr id="4" name="">
            <a:extLst xmlns:a="http://schemas.openxmlformats.org/drawingml/2006/main">
              <a:ext uri="{FF2B5EF4-FFF2-40B4-BE49-F238E27FC236}">
                <a16:creationId xmlns:a16="http://schemas.microsoft.com/office/drawing/2014/main" id="{7F273E23-4238-4064-BBB0-BDCBA0EC986A}"/>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A8C8"/>
                </a:solidFill>
              </a:defRPr>
            </a:pPr>
            <a:r>
              <a:rPr sz="900" b="1">
                <a:solidFill>
                  <a:srgbClr val="00A8C8"/>
                </a:solidFill>
              </a:rPr>
              <a:t>REASONING SEQUENCE</a:t>
            </a:r>
          </a:p>
        </p:txBody>
      </p:sp>
      <p:sp>
        <p:nvSpPr>
          <p:cNvPr id="5" name="">
            <a:extLst xmlns:a="http://schemas.openxmlformats.org/drawingml/2006/main">
              <a:ext uri="{FF2B5EF4-FFF2-40B4-BE49-F238E27FC236}">
                <a16:creationId xmlns:a16="http://schemas.microsoft.com/office/drawing/2014/main" id="{649D1FF1-FAF4-4CA2-92D3-E4BCF3748649}"/>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FFFFFF"/>
                </a:solidFill>
              </a:defRPr>
            </a:pPr>
            <a:r>
              <a:rPr sz="2625" b="1">
                <a:solidFill>
                  <a:srgbClr val="FFFFFF"/>
                </a:solidFill>
              </a:rPr>
              <a:t>FastAPI Connects a Typed Contract to Inference</a:t>
            </a:r>
          </a:p>
        </p:txBody>
      </p:sp>
      <p:sp>
        <p:nvSpPr>
          <p:cNvPr id="6" name="">
            <a:extLst xmlns:a="http://schemas.openxmlformats.org/drawingml/2006/main">
              <a:ext uri="{FF2B5EF4-FFF2-40B4-BE49-F238E27FC236}">
                <a16:creationId xmlns:a16="http://schemas.microsoft.com/office/drawing/2014/main" id="{CB06EBB9-FBF2-46EB-BECE-B0CDDEEB21AF}"/>
              </a:ext>
            </a:extLst>
          </p:cNvPr>
          <p:cNvSpPr>
            <a:spLocks xmlns:a="http://schemas.openxmlformats.org/drawingml/2006/main" noGrp="1"/>
          </p:cNvSpPr>
          <p:nvPr/>
        </p:nvSpPr>
        <p:spPr>
          <a:xfrm xmlns:a="http://schemas.openxmlformats.org/drawingml/2006/main">
            <a:off x="590550" y="21907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00A8C8"/>
                </a:solidFill>
              </a:defRPr>
            </a:pPr>
            <a:r>
              <a:rPr sz="2025" b="1">
                <a:solidFill>
                  <a:srgbClr val="00A8C8"/>
                </a:solidFill>
              </a:rPr>
              <a:t>Frame</a:t>
            </a:r>
          </a:p>
        </p:txBody>
      </p:sp>
      <p:sp>
        <p:nvSpPr>
          <p:cNvPr id="7" name="">
            <a:extLst xmlns:a="http://schemas.openxmlformats.org/drawingml/2006/main">
              <a:ext uri="{FF2B5EF4-FFF2-40B4-BE49-F238E27FC236}">
                <a16:creationId xmlns:a16="http://schemas.microsoft.com/office/drawing/2014/main" id="{4941E59B-1C82-4CEE-9C32-C6F6F49A54D6}"/>
              </a:ext>
            </a:extLst>
          </p:cNvPr>
          <p:cNvSpPr>
            <a:spLocks xmlns:a="http://schemas.openxmlformats.org/drawingml/2006/main" noGrp="1"/>
          </p:cNvSpPr>
          <p:nvPr/>
        </p:nvSpPr>
        <p:spPr>
          <a:xfrm xmlns:a="http://schemas.openxmlformats.org/drawingml/2006/main">
            <a:off x="590550" y="2800350"/>
            <a:ext cx="2190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accept a typed request;</a:t>
            </a:r>
          </a:p>
        </p:txBody>
      </p:sp>
      <p:sp>
        <p:nvSpPr>
          <p:cNvPr id="8" name="">
            <a:extLst xmlns:a="http://schemas.openxmlformats.org/drawingml/2006/main">
              <a:ext uri="{FF2B5EF4-FFF2-40B4-BE49-F238E27FC236}">
                <a16:creationId xmlns:a16="http://schemas.microsoft.com/office/drawing/2014/main" id="{FC3F4EDF-4DA2-4A21-A273-B3ED9D13FCFA}"/>
              </a:ext>
            </a:extLst>
          </p:cNvPr>
          <p:cNvSpPr>
            <a:spLocks xmlns:a="http://schemas.openxmlformats.org/drawingml/2006/main" noGrp="1"/>
          </p:cNvSpPr>
          <p:nvPr/>
        </p:nvSpPr>
        <p:spPr>
          <a:xfrm xmlns:a="http://schemas.openxmlformats.org/drawingml/2006/main">
            <a:off x="590550" y="3752850"/>
            <a:ext cx="2190750" cy="38100"/>
          </a:xfrm>
          <a:prstGeom xmlns:a="http://schemas.openxmlformats.org/drawingml/2006/main" prst="rect">
            <a:avLst/>
          </a:prstGeom>
          <a:solidFill xmlns:a="http://schemas.openxmlformats.org/drawingml/2006/main">
            <a:srgbClr val="46627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B65DE42-CE20-4F19-A0CE-FA50A83125B1}"/>
              </a:ext>
            </a:extLst>
          </p:cNvPr>
          <p:cNvSpPr>
            <a:spLocks xmlns:a="http://schemas.openxmlformats.org/drawingml/2006/main" noGrp="1"/>
          </p:cNvSpPr>
          <p:nvPr/>
        </p:nvSpPr>
        <p:spPr>
          <a:xfrm xmlns:a="http://schemas.openxmlformats.org/drawingml/2006/main">
            <a:off x="590550" y="4076700"/>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7892A8"/>
                </a:solidFill>
              </a:defRPr>
            </a:pPr>
            <a:r>
              <a:rPr sz="2625" b="1">
                <a:solidFill>
                  <a:srgbClr val="7892A8"/>
                </a:solidFill>
              </a:rPr>
              <a:t>1</a:t>
            </a:r>
          </a:p>
        </p:txBody>
      </p:sp>
      <p:sp>
        <p:nvSpPr>
          <p:cNvPr id="10" name="">
            <a:extLst xmlns:a="http://schemas.openxmlformats.org/drawingml/2006/main">
              <a:ext uri="{FF2B5EF4-FFF2-40B4-BE49-F238E27FC236}">
                <a16:creationId xmlns:a16="http://schemas.microsoft.com/office/drawing/2014/main" id="{F426A7F9-FBB3-4A06-8AF2-F30E2D9D59B8}"/>
              </a:ext>
            </a:extLst>
          </p:cNvPr>
          <p:cNvSpPr>
            <a:spLocks xmlns:a="http://schemas.openxmlformats.org/drawingml/2006/main" noGrp="1"/>
          </p:cNvSpPr>
          <p:nvPr/>
        </p:nvSpPr>
        <p:spPr>
          <a:xfrm xmlns:a="http://schemas.openxmlformats.org/drawingml/2006/main">
            <a:off x="3409950" y="21907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00A8C8"/>
                </a:solidFill>
              </a:defRPr>
            </a:pPr>
            <a:r>
              <a:rPr sz="2025" b="1">
                <a:solidFill>
                  <a:srgbClr val="00A8C8"/>
                </a:solidFill>
              </a:rPr>
              <a:t>Transform</a:t>
            </a:r>
          </a:p>
        </p:txBody>
      </p:sp>
      <p:sp>
        <p:nvSpPr>
          <p:cNvPr id="11" name="">
            <a:extLst xmlns:a="http://schemas.openxmlformats.org/drawingml/2006/main">
              <a:ext uri="{FF2B5EF4-FFF2-40B4-BE49-F238E27FC236}">
                <a16:creationId xmlns:a16="http://schemas.microsoft.com/office/drawing/2014/main" id="{0F674FC2-DBFB-45A1-947E-6264C1E5F5C0}"/>
              </a:ext>
            </a:extLst>
          </p:cNvPr>
          <p:cNvSpPr>
            <a:spLocks xmlns:a="http://schemas.openxmlformats.org/drawingml/2006/main" noGrp="1"/>
          </p:cNvSpPr>
          <p:nvPr/>
        </p:nvSpPr>
        <p:spPr>
          <a:xfrm xmlns:a="http://schemas.openxmlformats.org/drawingml/2006/main">
            <a:off x="3409950" y="2800350"/>
            <a:ext cx="2190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convert it into the model's row format;</a:t>
            </a:r>
          </a:p>
        </p:txBody>
      </p:sp>
      <p:sp>
        <p:nvSpPr>
          <p:cNvPr id="12" name="">
            <a:extLst xmlns:a="http://schemas.openxmlformats.org/drawingml/2006/main">
              <a:ext uri="{FF2B5EF4-FFF2-40B4-BE49-F238E27FC236}">
                <a16:creationId xmlns:a16="http://schemas.microsoft.com/office/drawing/2014/main" id="{E296E296-EB21-4473-BE2E-EEA6264ADD63}"/>
              </a:ext>
            </a:extLst>
          </p:cNvPr>
          <p:cNvSpPr>
            <a:spLocks xmlns:a="http://schemas.openxmlformats.org/drawingml/2006/main" noGrp="1"/>
          </p:cNvSpPr>
          <p:nvPr/>
        </p:nvSpPr>
        <p:spPr>
          <a:xfrm xmlns:a="http://schemas.openxmlformats.org/drawingml/2006/main">
            <a:off x="3409950" y="3752850"/>
            <a:ext cx="2190750" cy="38100"/>
          </a:xfrm>
          <a:prstGeom xmlns:a="http://schemas.openxmlformats.org/drawingml/2006/main" prst="rect">
            <a:avLst/>
          </a:prstGeom>
          <a:solidFill xmlns:a="http://schemas.openxmlformats.org/drawingml/2006/main">
            <a:srgbClr val="46627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A001F29-5F3E-4D7C-9EEA-BE756F4D20A8}"/>
              </a:ext>
            </a:extLst>
          </p:cNvPr>
          <p:cNvSpPr>
            <a:spLocks xmlns:a="http://schemas.openxmlformats.org/drawingml/2006/main" noGrp="1"/>
          </p:cNvSpPr>
          <p:nvPr/>
        </p:nvSpPr>
        <p:spPr>
          <a:xfrm xmlns:a="http://schemas.openxmlformats.org/drawingml/2006/main">
            <a:off x="3409950" y="4076700"/>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7892A8"/>
                </a:solidFill>
              </a:defRPr>
            </a:pPr>
            <a:r>
              <a:rPr sz="2625" b="1">
                <a:solidFill>
                  <a:srgbClr val="7892A8"/>
                </a:solidFill>
              </a:rPr>
              <a:t>2</a:t>
            </a:r>
          </a:p>
        </p:txBody>
      </p:sp>
      <p:sp>
        <p:nvSpPr>
          <p:cNvPr id="14" name="">
            <a:extLst xmlns:a="http://schemas.openxmlformats.org/drawingml/2006/main">
              <a:ext uri="{FF2B5EF4-FFF2-40B4-BE49-F238E27FC236}">
                <a16:creationId xmlns:a16="http://schemas.microsoft.com/office/drawing/2014/main" id="{A9162764-E01D-4263-9D42-ABFC3DC3C6E9}"/>
              </a:ext>
            </a:extLst>
          </p:cNvPr>
          <p:cNvSpPr>
            <a:spLocks xmlns:a="http://schemas.openxmlformats.org/drawingml/2006/main" noGrp="1"/>
          </p:cNvSpPr>
          <p:nvPr/>
        </p:nvSpPr>
        <p:spPr>
          <a:xfrm xmlns:a="http://schemas.openxmlformats.org/drawingml/2006/main">
            <a:off x="6229350" y="21907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00A8C8"/>
                </a:solidFill>
              </a:defRPr>
            </a:pPr>
            <a:r>
              <a:rPr sz="2025" b="1">
                <a:solidFill>
                  <a:srgbClr val="00A8C8"/>
                </a:solidFill>
              </a:rPr>
              <a:t>Validate</a:t>
            </a:r>
          </a:p>
        </p:txBody>
      </p:sp>
      <p:sp>
        <p:nvSpPr>
          <p:cNvPr id="15" name="">
            <a:extLst xmlns:a="http://schemas.openxmlformats.org/drawingml/2006/main">
              <a:ext uri="{FF2B5EF4-FFF2-40B4-BE49-F238E27FC236}">
                <a16:creationId xmlns:a16="http://schemas.microsoft.com/office/drawing/2014/main" id="{EAD3323D-1820-4490-ABBA-6565FBB9B480}"/>
              </a:ext>
            </a:extLst>
          </p:cNvPr>
          <p:cNvSpPr>
            <a:spLocks xmlns:a="http://schemas.openxmlformats.org/drawingml/2006/main" noGrp="1"/>
          </p:cNvSpPr>
          <p:nvPr/>
        </p:nvSpPr>
        <p:spPr>
          <a:xfrm xmlns:a="http://schemas.openxmlformats.org/drawingml/2006/main">
            <a:off x="6229350" y="2800350"/>
            <a:ext cx="2190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call the loaded pipeline;</a:t>
            </a:r>
          </a:p>
        </p:txBody>
      </p:sp>
      <p:sp>
        <p:nvSpPr>
          <p:cNvPr id="16" name="">
            <a:extLst xmlns:a="http://schemas.openxmlformats.org/drawingml/2006/main">
              <a:ext uri="{FF2B5EF4-FFF2-40B4-BE49-F238E27FC236}">
                <a16:creationId xmlns:a16="http://schemas.microsoft.com/office/drawing/2014/main" id="{6788D297-A151-40E6-AACB-6F385F866239}"/>
              </a:ext>
            </a:extLst>
          </p:cNvPr>
          <p:cNvSpPr>
            <a:spLocks xmlns:a="http://schemas.openxmlformats.org/drawingml/2006/main" noGrp="1"/>
          </p:cNvSpPr>
          <p:nvPr/>
        </p:nvSpPr>
        <p:spPr>
          <a:xfrm xmlns:a="http://schemas.openxmlformats.org/drawingml/2006/main">
            <a:off x="6229350" y="3752850"/>
            <a:ext cx="2190750" cy="38100"/>
          </a:xfrm>
          <a:prstGeom xmlns:a="http://schemas.openxmlformats.org/drawingml/2006/main" prst="rect">
            <a:avLst/>
          </a:prstGeom>
          <a:solidFill xmlns:a="http://schemas.openxmlformats.org/drawingml/2006/main">
            <a:srgbClr val="46627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D16661D-743C-4498-A823-4CA1FBF7BE4E}"/>
              </a:ext>
            </a:extLst>
          </p:cNvPr>
          <p:cNvSpPr>
            <a:spLocks xmlns:a="http://schemas.openxmlformats.org/drawingml/2006/main" noGrp="1"/>
          </p:cNvSpPr>
          <p:nvPr/>
        </p:nvSpPr>
        <p:spPr>
          <a:xfrm xmlns:a="http://schemas.openxmlformats.org/drawingml/2006/main">
            <a:off x="6229350" y="4076700"/>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7892A8"/>
                </a:solidFill>
              </a:defRPr>
            </a:pPr>
            <a:r>
              <a:rPr sz="2625" b="1">
                <a:solidFill>
                  <a:srgbClr val="7892A8"/>
                </a:solidFill>
              </a:rPr>
              <a:t>3</a:t>
            </a:r>
          </a:p>
        </p:txBody>
      </p:sp>
      <p:sp>
        <p:nvSpPr>
          <p:cNvPr id="18" name="">
            <a:extLst xmlns:a="http://schemas.openxmlformats.org/drawingml/2006/main">
              <a:ext uri="{FF2B5EF4-FFF2-40B4-BE49-F238E27FC236}">
                <a16:creationId xmlns:a16="http://schemas.microsoft.com/office/drawing/2014/main" id="{5ECDE70A-A4A2-4FA2-9E2F-EC4A3C017B4F}"/>
              </a:ext>
            </a:extLst>
          </p:cNvPr>
          <p:cNvSpPr>
            <a:spLocks xmlns:a="http://schemas.openxmlformats.org/drawingml/2006/main" noGrp="1"/>
          </p:cNvSpPr>
          <p:nvPr/>
        </p:nvSpPr>
        <p:spPr>
          <a:xfrm xmlns:a="http://schemas.openxmlformats.org/drawingml/2006/main">
            <a:off x="9048750" y="21907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F06B5F"/>
                </a:solidFill>
              </a:defRPr>
            </a:pPr>
            <a:r>
              <a:rPr sz="2025" b="1">
                <a:solidFill>
                  <a:srgbClr val="F06B5F"/>
                </a:solidFill>
              </a:rPr>
              <a:t>Explain</a:t>
            </a:r>
          </a:p>
        </p:txBody>
      </p:sp>
      <p:sp>
        <p:nvSpPr>
          <p:cNvPr id="19" name="">
            <a:extLst xmlns:a="http://schemas.openxmlformats.org/drawingml/2006/main">
              <a:ext uri="{FF2B5EF4-FFF2-40B4-BE49-F238E27FC236}">
                <a16:creationId xmlns:a16="http://schemas.microsoft.com/office/drawing/2014/main" id="{19E957E7-5B56-4DEC-A5CD-84CDFE47E18D}"/>
              </a:ext>
            </a:extLst>
          </p:cNvPr>
          <p:cNvSpPr>
            <a:spLocks xmlns:a="http://schemas.openxmlformats.org/drawingml/2006/main" noGrp="1"/>
          </p:cNvSpPr>
          <p:nvPr/>
        </p:nvSpPr>
        <p:spPr>
          <a:xfrm xmlns:a="http://schemas.openxmlformats.org/drawingml/2006/main">
            <a:off x="9048750" y="2800350"/>
            <a:ext cx="2190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return JSON-safe values;</a:t>
            </a:r>
          </a:p>
        </p:txBody>
      </p:sp>
      <p:sp>
        <p:nvSpPr>
          <p:cNvPr id="20" name="">
            <a:extLst xmlns:a="http://schemas.openxmlformats.org/drawingml/2006/main">
              <a:ext uri="{FF2B5EF4-FFF2-40B4-BE49-F238E27FC236}">
                <a16:creationId xmlns:a16="http://schemas.microsoft.com/office/drawing/2014/main" id="{CB25F511-22F0-459B-9B98-FF4427602EBE}"/>
              </a:ext>
            </a:extLst>
          </p:cNvPr>
          <p:cNvSpPr>
            <a:spLocks xmlns:a="http://schemas.openxmlformats.org/drawingml/2006/main" noGrp="1"/>
          </p:cNvSpPr>
          <p:nvPr/>
        </p:nvSpPr>
        <p:spPr>
          <a:xfrm xmlns:a="http://schemas.openxmlformats.org/drawingml/2006/main">
            <a:off x="9048750" y="3752850"/>
            <a:ext cx="2190750" cy="38100"/>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371B5F2-CCB5-47E0-A7F7-F72C69BDC69B}"/>
              </a:ext>
            </a:extLst>
          </p:cNvPr>
          <p:cNvSpPr>
            <a:spLocks xmlns:a="http://schemas.openxmlformats.org/drawingml/2006/main" noGrp="1"/>
          </p:cNvSpPr>
          <p:nvPr/>
        </p:nvSpPr>
        <p:spPr>
          <a:xfrm xmlns:a="http://schemas.openxmlformats.org/drawingml/2006/main">
            <a:off x="9048750" y="4076700"/>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7892A8"/>
                </a:solidFill>
              </a:defRPr>
            </a:pPr>
            <a:r>
              <a:rPr sz="2625" b="1">
                <a:solidFill>
                  <a:srgbClr val="7892A8"/>
                </a:solidFill>
              </a:rPr>
              <a:t>4</a:t>
            </a:r>
          </a:p>
        </p:txBody>
      </p:sp>
      <p:sp>
        <p:nvSpPr>
          <p:cNvPr id="22" name="">
            <a:extLst xmlns:a="http://schemas.openxmlformats.org/drawingml/2006/main">
              <a:ext uri="{FF2B5EF4-FFF2-40B4-BE49-F238E27FC236}">
                <a16:creationId xmlns:a16="http://schemas.microsoft.com/office/drawing/2014/main" id="{2EA7F801-C275-4866-B8F9-7AFF834B59BB}"/>
              </a:ext>
            </a:extLst>
          </p:cNvPr>
          <p:cNvSpPr>
            <a:spLocks xmlns:a="http://schemas.openxmlformats.org/drawingml/2006/main" noGrp="1"/>
          </p:cNvSpPr>
          <p:nvPr/>
        </p:nvSpPr>
        <p:spPr>
          <a:xfrm xmlns:a="http://schemas.openxmlformats.org/drawingml/2006/main">
            <a:off x="590550" y="5181600"/>
            <a:ext cx="10572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a:solidFill>
                  <a:srgbClr val="D1DEE8"/>
                </a:solidFill>
              </a:defRPr>
            </a:pPr>
            <a:r>
              <a:rPr sz="1500">
                <a:solidFill>
                  <a:srgbClr val="D1DEE8"/>
                </a:solidFill>
              </a:rPr>
              <a:t>For probability 0.73 and threshold 0.50, return: The version lets logs and clients identify the producing artifact.</a:t>
            </a:r>
          </a:p>
        </p:txBody>
      </p:sp>
    </p:spTree>
    <p:extLst>
      <p:ext uri="{BB962C8B-B14F-4D97-AF65-F5344CB8AC3E}">
        <p14:creationId xmlns:p14="http://schemas.microsoft.com/office/powerpoint/2010/main" val="713181773"/>
      </p:ext>
    </p:extLst>
  </p:cSld>
</p:sld>
</file>

<file path=ppt/slides/slide5.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A892CE9-6B48-4A21-AC9D-1784FDAF3952}"/>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A8C8"/>
                </a:solidFill>
              </a:defRPr>
            </a:pPr>
            <a:r>
              <a:rPr sz="825" b="1">
                <a:solidFill>
                  <a:srgbClr val="00A8C8"/>
                </a:solidFill>
              </a:rPr>
              <a:t>M11 / L01</a:t>
            </a:r>
          </a:p>
        </p:txBody>
      </p:sp>
      <p:sp>
        <p:nvSpPr>
          <p:cNvPr id="2" name="">
            <a:extLst xmlns:a="http://schemas.openxmlformats.org/drawingml/2006/main">
              <a:ext uri="{FF2B5EF4-FFF2-40B4-BE49-F238E27FC236}">
                <a16:creationId xmlns:a16="http://schemas.microsoft.com/office/drawing/2014/main" id="{0BE17320-8B3F-4FC9-9C23-47ADC92A0DB1}"/>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B7CAD9"/>
                </a:solidFill>
              </a:defRPr>
            </a:pPr>
            <a:r>
              <a:rPr sz="825">
                <a:solidFill>
                  <a:srgbClr val="B7CAD9"/>
                </a:solidFill>
              </a:rPr>
              <a:t>Serving Turns a Fitted Model into a Service</a:t>
            </a:r>
          </a:p>
        </p:txBody>
      </p:sp>
      <p:sp>
        <p:nvSpPr>
          <p:cNvPr id="3" name="">
            <a:extLst xmlns:a="http://schemas.openxmlformats.org/drawingml/2006/main">
              <a:ext uri="{FF2B5EF4-FFF2-40B4-BE49-F238E27FC236}">
                <a16:creationId xmlns:a16="http://schemas.microsoft.com/office/drawing/2014/main" id="{1303CB18-BA1D-4B8D-8D9A-F899E509AA3F}"/>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B7CAD9"/>
                </a:solidFill>
              </a:defRPr>
            </a:pPr>
            <a:r>
              <a:rPr sz="825" b="1">
                <a:solidFill>
                  <a:srgbClr val="B7CAD9"/>
                </a:solidFill>
              </a:rPr>
              <a:t>DS ACADEMY   05</a:t>
            </a:r>
          </a:p>
        </p:txBody>
      </p:sp>
      <p:sp>
        <p:nvSpPr>
          <p:cNvPr id="4" name="">
            <a:extLst xmlns:a="http://schemas.openxmlformats.org/drawingml/2006/main">
              <a:ext uri="{FF2B5EF4-FFF2-40B4-BE49-F238E27FC236}">
                <a16:creationId xmlns:a16="http://schemas.microsoft.com/office/drawing/2014/main" id="{0AC7245E-3E7F-4CF8-B8C9-A0211F8E75A2}"/>
              </a:ext>
            </a:extLst>
          </p:cNvPr>
          <p:cNvSpPr>
            <a:spLocks xmlns:a="http://schemas.openxmlformats.org/drawingml/2006/main" noGrp="1"/>
          </p:cNvSpPr>
          <p:nvPr/>
        </p:nvSpPr>
        <p:spPr>
          <a:xfrm xmlns:a="http://schemas.openxmlformats.org/drawingml/2006/main">
            <a:off x="609600" y="9525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A8C8"/>
                </a:solidFill>
              </a:defRPr>
            </a:pPr>
            <a:r>
              <a:rPr sz="900" b="1">
                <a:solidFill>
                  <a:srgbClr val="00A8C8"/>
                </a:solidFill>
              </a:rPr>
              <a:t>CORE CONCEPT</a:t>
            </a:r>
          </a:p>
        </p:txBody>
      </p:sp>
      <p:sp>
        <p:nvSpPr>
          <p:cNvPr id="5" name="">
            <a:extLst xmlns:a="http://schemas.openxmlformats.org/drawingml/2006/main">
              <a:ext uri="{FF2B5EF4-FFF2-40B4-BE49-F238E27FC236}">
                <a16:creationId xmlns:a16="http://schemas.microsoft.com/office/drawing/2014/main" id="{45A63A32-2D2C-4C4A-B184-0CF99DFB0763}"/>
              </a:ext>
            </a:extLst>
          </p:cNvPr>
          <p:cNvSpPr>
            <a:spLocks xmlns:a="http://schemas.openxmlformats.org/drawingml/2006/main" noGrp="1"/>
          </p:cNvSpPr>
          <p:nvPr/>
        </p:nvSpPr>
        <p:spPr>
          <a:xfrm xmlns:a="http://schemas.openxmlformats.org/drawingml/2006/main">
            <a:off x="609600" y="142875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FFFFFF"/>
                </a:solidFill>
              </a:defRPr>
            </a:pPr>
            <a:r>
              <a:rPr sz="3000" b="1">
                <a:solidFill>
                  <a:srgbClr val="FFFFFF"/>
                </a:solidFill>
              </a:rPr>
              <a:t>Health Checks Separate Availability from Prediction Quality</a:t>
            </a:r>
          </a:p>
        </p:txBody>
      </p:sp>
      <p:sp>
        <p:nvSpPr>
          <p:cNvPr id="6" name="">
            <a:extLst xmlns:a="http://schemas.openxmlformats.org/drawingml/2006/main">
              <a:ext uri="{FF2B5EF4-FFF2-40B4-BE49-F238E27FC236}">
                <a16:creationId xmlns:a16="http://schemas.microsoft.com/office/drawing/2014/main" id="{1CB70430-9AAF-4E7C-8FAC-67288742F257}"/>
              </a:ext>
            </a:extLst>
          </p:cNvPr>
          <p:cNvSpPr>
            <a:spLocks xmlns:a="http://schemas.openxmlformats.org/drawingml/2006/main" noGrp="1"/>
          </p:cNvSpPr>
          <p:nvPr/>
        </p:nvSpPr>
        <p:spPr>
          <a:xfrm xmlns:a="http://schemas.openxmlformats.org/drawingml/2006/main">
            <a:off x="609600" y="2343150"/>
            <a:ext cx="1066800" cy="5715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BBDD2CE-886A-4882-8951-C781B983D55B}"/>
              </a:ext>
            </a:extLst>
          </p:cNvPr>
          <p:cNvSpPr>
            <a:spLocks xmlns:a="http://schemas.openxmlformats.org/drawingml/2006/main" noGrp="1"/>
          </p:cNvSpPr>
          <p:nvPr/>
        </p:nvSpPr>
        <p:spPr>
          <a:xfrm xmlns:a="http://schemas.openxmlformats.org/drawingml/2006/main">
            <a:off x="609600" y="2647950"/>
            <a:ext cx="10572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D6E2EB"/>
                </a:solidFill>
              </a:defRPr>
            </a:pPr>
            <a:r>
              <a:rPr sz="1275">
                <a:solidFill>
                  <a:srgbClr val="D6E2EB"/>
                </a:solidFill>
              </a:rPr>
              <a:t>A health check is a lightweight endpoint used by operators or infrastructure. A readiness check may confirm the model loaded and required dependencies are available. It should not perform an expensive full prediction on every probe. Health checks do not measure model accuracy or data drift.</a:t>
            </a:r>
          </a:p>
        </p:txBody>
      </p:sp>
      <p:sp>
        <p:nvSpPr>
          <p:cNvPr id="8" name="">
            <a:extLst xmlns:a="http://schemas.openxmlformats.org/drawingml/2006/main">
              <a:ext uri="{FF2B5EF4-FFF2-40B4-BE49-F238E27FC236}">
                <a16:creationId xmlns:a16="http://schemas.microsoft.com/office/drawing/2014/main" id="{51482117-29F1-4C23-AD36-1D2CA65C7328}"/>
              </a:ext>
            </a:extLst>
          </p:cNvPr>
          <p:cNvSpPr>
            <a:spLocks xmlns:a="http://schemas.openxmlformats.org/drawingml/2006/main" noGrp="1"/>
          </p:cNvSpPr>
          <p:nvPr/>
        </p:nvSpPr>
        <p:spPr>
          <a:xfrm xmlns:a="http://schemas.openxmlformats.org/drawingml/2006/main">
            <a:off x="609600" y="3714750"/>
            <a:ext cx="51435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8A1E9E1-CCB2-4D3E-86F9-35D85588E7BF}"/>
              </a:ext>
            </a:extLst>
          </p:cNvPr>
          <p:cNvSpPr>
            <a:spLocks xmlns:a="http://schemas.openxmlformats.org/drawingml/2006/main" noGrp="1"/>
          </p:cNvSpPr>
          <p:nvPr/>
        </p:nvSpPr>
        <p:spPr>
          <a:xfrm xmlns:a="http://schemas.openxmlformats.org/drawingml/2006/main">
            <a:off x="781050" y="3810000"/>
            <a:ext cx="4800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Liveness: is the process running?</a:t>
            </a:r>
          </a:p>
        </p:txBody>
      </p:sp>
      <p:sp>
        <p:nvSpPr>
          <p:cNvPr id="10" name="">
            <a:extLst xmlns:a="http://schemas.openxmlformats.org/drawingml/2006/main">
              <a:ext uri="{FF2B5EF4-FFF2-40B4-BE49-F238E27FC236}">
                <a16:creationId xmlns:a16="http://schemas.microsoft.com/office/drawing/2014/main" id="{93976CCE-58F0-44D5-A9BE-709ACA11CB05}"/>
              </a:ext>
            </a:extLst>
          </p:cNvPr>
          <p:cNvSpPr>
            <a:spLocks xmlns:a="http://schemas.openxmlformats.org/drawingml/2006/main" noGrp="1"/>
          </p:cNvSpPr>
          <p:nvPr/>
        </p:nvSpPr>
        <p:spPr>
          <a:xfrm xmlns:a="http://schemas.openxmlformats.org/drawingml/2006/main">
            <a:off x="6076950" y="3714750"/>
            <a:ext cx="51435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A6FBC70-CB0A-4E5F-8E94-07162C64A6C8}"/>
              </a:ext>
            </a:extLst>
          </p:cNvPr>
          <p:cNvSpPr>
            <a:spLocks xmlns:a="http://schemas.openxmlformats.org/drawingml/2006/main" noGrp="1"/>
          </p:cNvSpPr>
          <p:nvPr/>
        </p:nvSpPr>
        <p:spPr>
          <a:xfrm xmlns:a="http://schemas.openxmlformats.org/drawingml/2006/main">
            <a:off x="6248400" y="3810000"/>
            <a:ext cx="4800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Readiness: can it currently serve valid requests?</a:t>
            </a:r>
          </a:p>
        </p:txBody>
      </p:sp>
      <p:sp>
        <p:nvSpPr>
          <p:cNvPr id="12" name="">
            <a:extLst xmlns:a="http://schemas.openxmlformats.org/drawingml/2006/main">
              <a:ext uri="{FF2B5EF4-FFF2-40B4-BE49-F238E27FC236}">
                <a16:creationId xmlns:a16="http://schemas.microsoft.com/office/drawing/2014/main" id="{C334D0B7-5DE9-474F-B99B-C8F2D0970457}"/>
              </a:ext>
            </a:extLst>
          </p:cNvPr>
          <p:cNvSpPr>
            <a:spLocks xmlns:a="http://schemas.openxmlformats.org/drawingml/2006/main" noGrp="1"/>
          </p:cNvSpPr>
          <p:nvPr/>
        </p:nvSpPr>
        <p:spPr>
          <a:xfrm xmlns:a="http://schemas.openxmlformats.org/drawingml/2006/main">
            <a:off x="609600" y="4819650"/>
            <a:ext cx="51435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C58C717-FB44-4C27-8424-9052125CE9B0}"/>
              </a:ext>
            </a:extLst>
          </p:cNvPr>
          <p:cNvSpPr>
            <a:spLocks xmlns:a="http://schemas.openxmlformats.org/drawingml/2006/main" noGrp="1"/>
          </p:cNvSpPr>
          <p:nvPr/>
        </p:nvSpPr>
        <p:spPr>
          <a:xfrm xmlns:a="http://schemas.openxmlformats.org/drawingml/2006/main">
            <a:off x="781050" y="4914900"/>
            <a:ext cx="4800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Startup: has initialization completed?</a:t>
            </a:r>
          </a:p>
        </p:txBody>
      </p:sp>
    </p:spTree>
    <p:extLst>
      <p:ext uri="{BB962C8B-B14F-4D97-AF65-F5344CB8AC3E}">
        <p14:creationId xmlns:p14="http://schemas.microsoft.com/office/powerpoint/2010/main" val="540336607"/>
      </p:ext>
    </p:extLst>
  </p:cSld>
</p:sld>
</file>

<file path=ppt/slides/slide6.xml><?xml version="1.0" encoding="utf-8"?>
<p:sld xmlns:p="http://schemas.openxmlformats.org/presentationml/2006/main">
  <p:cSld>
    <p:bg>
      <p:bgPr>
        <a:solidFill xmlns:a="http://schemas.openxmlformats.org/drawingml/2006/main">
          <a:srgbClr val="EEF4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07455E5-2B42-4614-BFEB-21C281276D7D}"/>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M11 / L01</a:t>
            </a:r>
          </a:p>
        </p:txBody>
      </p:sp>
      <p:sp>
        <p:nvSpPr>
          <p:cNvPr id="2" name="">
            <a:extLst xmlns:a="http://schemas.openxmlformats.org/drawingml/2006/main">
              <a:ext uri="{FF2B5EF4-FFF2-40B4-BE49-F238E27FC236}">
                <a16:creationId xmlns:a16="http://schemas.microsoft.com/office/drawing/2014/main" id="{D5B33E52-A0E6-4339-9E51-1E8515AA4141}"/>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Serving Turns a Fitted Model into a Service</a:t>
            </a:r>
          </a:p>
        </p:txBody>
      </p:sp>
      <p:sp>
        <p:nvSpPr>
          <p:cNvPr id="3" name="">
            <a:extLst xmlns:a="http://schemas.openxmlformats.org/drawingml/2006/main">
              <a:ext uri="{FF2B5EF4-FFF2-40B4-BE49-F238E27FC236}">
                <a16:creationId xmlns:a16="http://schemas.microsoft.com/office/drawing/2014/main" id="{11359C53-653F-4F6F-96BB-F418EDA17B35}"/>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06</a:t>
            </a:r>
          </a:p>
        </p:txBody>
      </p:sp>
      <p:sp>
        <p:nvSpPr>
          <p:cNvPr id="4" name="">
            <a:extLst xmlns:a="http://schemas.openxmlformats.org/drawingml/2006/main">
              <a:ext uri="{FF2B5EF4-FFF2-40B4-BE49-F238E27FC236}">
                <a16:creationId xmlns:a16="http://schemas.microsoft.com/office/drawing/2014/main" id="{552E19F6-AC56-4551-B50C-7B5EFA1D5E3A}"/>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RUN IT AND INSPECT THE RESULT</a:t>
            </a:r>
          </a:p>
        </p:txBody>
      </p:sp>
      <p:sp>
        <p:nvSpPr>
          <p:cNvPr id="5" name="">
            <a:extLst xmlns:a="http://schemas.openxmlformats.org/drawingml/2006/main">
              <a:ext uri="{FF2B5EF4-FFF2-40B4-BE49-F238E27FC236}">
                <a16:creationId xmlns:a16="http://schemas.microsoft.com/office/drawing/2014/main" id="{5F45744B-8AA4-4380-9D07-AEF25F5B8EA8}"/>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B1220"/>
                </a:solidFill>
              </a:defRPr>
            </a:pPr>
            <a:r>
              <a:rPr sz="2850" b="1">
                <a:solidFill>
                  <a:srgbClr val="0B1220"/>
                </a:solidFill>
              </a:rPr>
              <a:t>Docker Packages the Application Environment</a:t>
            </a:r>
          </a:p>
        </p:txBody>
      </p:sp>
      <p:sp>
        <p:nvSpPr>
          <p:cNvPr id="6" name="">
            <a:extLst xmlns:a="http://schemas.openxmlformats.org/drawingml/2006/main">
              <a:ext uri="{FF2B5EF4-FFF2-40B4-BE49-F238E27FC236}">
                <a16:creationId xmlns:a16="http://schemas.microsoft.com/office/drawing/2014/main" id="{72E9D876-02D8-44E8-B650-2B97235570A0}"/>
              </a:ext>
            </a:extLst>
          </p:cNvPr>
          <p:cNvSpPr>
            <a:spLocks xmlns:a="http://schemas.openxmlformats.org/drawingml/2006/main" noGrp="1"/>
          </p:cNvSpPr>
          <p:nvPr/>
        </p:nvSpPr>
        <p:spPr>
          <a:xfrm xmlns:a="http://schemas.openxmlformats.org/drawingml/2006/main">
            <a:off x="514350" y="1619250"/>
            <a:ext cx="6515100" cy="38862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50B8DC2-70FA-43DF-814A-C67863ED16BE}"/>
              </a:ext>
            </a:extLst>
          </p:cNvPr>
          <p:cNvSpPr>
            <a:spLocks xmlns:a="http://schemas.openxmlformats.org/drawingml/2006/main" noGrp="1"/>
          </p:cNvSpPr>
          <p:nvPr/>
        </p:nvSpPr>
        <p:spPr>
          <a:xfrm xmlns:a="http://schemas.openxmlformats.org/drawingml/2006/main">
            <a:off x="514350" y="1619250"/>
            <a:ext cx="6515100" cy="304800"/>
          </a:xfrm>
          <a:prstGeom xmlns:a="http://schemas.openxmlformats.org/drawingml/2006/main" prst="rect">
            <a:avLst/>
          </a:prstGeom>
          <a:solidFill xmlns:a="http://schemas.openxmlformats.org/drawingml/2006/main">
            <a:srgbClr val="24324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1D65935-5AFF-43BA-B3DC-384D485CD939}"/>
              </a:ext>
            </a:extLst>
          </p:cNvPr>
          <p:cNvSpPr>
            <a:spLocks xmlns:a="http://schemas.openxmlformats.org/drawingml/2006/main" noGrp="1"/>
          </p:cNvSpPr>
          <p:nvPr/>
        </p:nvSpPr>
        <p:spPr>
          <a:xfrm xmlns:a="http://schemas.openxmlformats.org/drawingml/2006/main">
            <a:off x="685800" y="1714500"/>
            <a:ext cx="104775" cy="104775"/>
          </a:xfrm>
          <a:prstGeom xmlns:a="http://schemas.openxmlformats.org/drawingml/2006/main" prst="ellipse">
            <a:avLst/>
          </a:prstGeom>
          <a:solidFill xmlns:a="http://schemas.openxmlformats.org/drawingml/2006/main">
            <a:srgbClr val="F06B5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A883A89-2515-4E83-82DC-158351E66065}"/>
              </a:ext>
            </a:extLst>
          </p:cNvPr>
          <p:cNvSpPr>
            <a:spLocks xmlns:a="http://schemas.openxmlformats.org/drawingml/2006/main" noGrp="1"/>
          </p:cNvSpPr>
          <p:nvPr/>
        </p:nvSpPr>
        <p:spPr>
          <a:xfrm xmlns:a="http://schemas.openxmlformats.org/drawingml/2006/main">
            <a:off x="914400" y="1714500"/>
            <a:ext cx="104775" cy="104775"/>
          </a:xfrm>
          <a:prstGeom xmlns:a="http://schemas.openxmlformats.org/drawingml/2006/main" prst="ellipse">
            <a:avLst/>
          </a:prstGeom>
          <a:solidFill xmlns:a="http://schemas.openxmlformats.org/drawingml/2006/main">
            <a:srgbClr val="F2C94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31E0920-0444-4AD7-AB9C-3559D951978A}"/>
              </a:ext>
            </a:extLst>
          </p:cNvPr>
          <p:cNvSpPr>
            <a:spLocks xmlns:a="http://schemas.openxmlformats.org/drawingml/2006/main" noGrp="1"/>
          </p:cNvSpPr>
          <p:nvPr/>
        </p:nvSpPr>
        <p:spPr>
          <a:xfrm xmlns:a="http://schemas.openxmlformats.org/drawingml/2006/main">
            <a:off x="1143000" y="1714500"/>
            <a:ext cx="104775" cy="104775"/>
          </a:xfrm>
          <a:prstGeom xmlns:a="http://schemas.openxmlformats.org/drawingml/2006/main" prst="ellipse">
            <a:avLst/>
          </a:prstGeom>
          <a:solidFill xmlns:a="http://schemas.openxmlformats.org/drawingml/2006/main">
            <a:srgbClr val="A8D95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BCCDD54-150E-46B2-A4BC-B2D1BBF2D795}"/>
              </a:ext>
            </a:extLst>
          </p:cNvPr>
          <p:cNvSpPr>
            <a:spLocks xmlns:a="http://schemas.openxmlformats.org/drawingml/2006/main" noGrp="1"/>
          </p:cNvSpPr>
          <p:nvPr/>
        </p:nvSpPr>
        <p:spPr>
          <a:xfrm xmlns:a="http://schemas.openxmlformats.org/drawingml/2006/main">
            <a:off x="723900" y="2095500"/>
            <a:ext cx="6115050" cy="3200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E8F1F7"/>
                </a:solidFill>
              </a:defRPr>
            </a:pPr>
            <a:r>
              <a:rPr sz="1125">
                <a:solidFill>
                  <a:srgbClr val="E8F1F7"/>
                </a:solidFill>
              </a:rPr>
              <a:t>FROM python:3.12-slim</a:t>
            </a:r>
          </a:p>
          <a:p xmlns:a="http://schemas.openxmlformats.org/drawingml/2006/main">
            <a:pPr>
              <a:defRPr sz="1125">
                <a:solidFill>
                  <a:srgbClr val="E8F1F7"/>
                </a:solidFill>
              </a:defRPr>
            </a:pPr>
            <a:r>
              <a:rPr sz="1125">
                <a:solidFill>
                  <a:srgbClr val="E8F1F7"/>
                </a:solidFill>
              </a:rPr>
              <a:t>WORKDIR /app</a:t>
            </a:r>
          </a:p>
          <a:p xmlns:a="http://schemas.openxmlformats.org/drawingml/2006/main">
            <a:pPr>
              <a:defRPr sz="1125">
                <a:solidFill>
                  <a:srgbClr val="E8F1F7"/>
                </a:solidFill>
              </a:defRPr>
            </a:pPr>
            <a:r>
              <a:rPr sz="1125">
                <a:solidFill>
                  <a:srgbClr val="E8F1F7"/>
                </a:solidFill>
              </a:rPr>
              <a:t>COPY requirements.txt .</a:t>
            </a:r>
          </a:p>
          <a:p xmlns:a="http://schemas.openxmlformats.org/drawingml/2006/main">
            <a:pPr>
              <a:defRPr sz="1125">
                <a:solidFill>
                  <a:srgbClr val="E8F1F7"/>
                </a:solidFill>
              </a:defRPr>
            </a:pPr>
            <a:r>
              <a:rPr sz="1125">
                <a:solidFill>
                  <a:srgbClr val="E8F1F7"/>
                </a:solidFill>
              </a:rPr>
              <a:t>RUN pip install --no-cache-dir -r requirements.txt</a:t>
            </a:r>
          </a:p>
          <a:p xmlns:a="http://schemas.openxmlformats.org/drawingml/2006/main">
            <a:pPr>
              <a:defRPr sz="1125">
                <a:solidFill>
                  <a:srgbClr val="E8F1F7"/>
                </a:solidFill>
              </a:defRPr>
            </a:pPr>
            <a:r>
              <a:rPr sz="1125">
                <a:solidFill>
                  <a:srgbClr val="E8F1F7"/>
                </a:solidFill>
              </a:rPr>
              <a:t>COPY . .</a:t>
            </a:r>
          </a:p>
          <a:p xmlns:a="http://schemas.openxmlformats.org/drawingml/2006/main">
            <a:pPr>
              <a:defRPr sz="1125">
                <a:solidFill>
                  <a:srgbClr val="E8F1F7"/>
                </a:solidFill>
              </a:defRPr>
            </a:pPr>
            <a:r>
              <a:rPr sz="1125">
                <a:solidFill>
                  <a:srgbClr val="E8F1F7"/>
                </a:solidFill>
              </a:rPr>
              <a:t>CMD ["fastapi", "run", "app.py", "--port", "8000"]</a:t>
            </a:r>
          </a:p>
        </p:txBody>
      </p:sp>
      <p:sp>
        <p:nvSpPr>
          <p:cNvPr id="12" name="">
            <a:extLst xmlns:a="http://schemas.openxmlformats.org/drawingml/2006/main">
              <a:ext uri="{FF2B5EF4-FFF2-40B4-BE49-F238E27FC236}">
                <a16:creationId xmlns:a16="http://schemas.microsoft.com/office/drawing/2014/main" id="{D5ECAEE4-8699-4C5B-AFD6-0CAEAC85611C}"/>
              </a:ext>
            </a:extLst>
          </p:cNvPr>
          <p:cNvSpPr>
            <a:spLocks xmlns:a="http://schemas.openxmlformats.org/drawingml/2006/main" noGrp="1"/>
          </p:cNvSpPr>
          <p:nvPr/>
        </p:nvSpPr>
        <p:spPr>
          <a:xfrm xmlns:a="http://schemas.openxmlformats.org/drawingml/2006/main">
            <a:off x="7334250" y="1619250"/>
            <a:ext cx="4324350" cy="3886200"/>
          </a:xfrm>
          <a:prstGeom xmlns:a="http://schemas.openxmlformats.org/drawingml/2006/main" prst="rect">
            <a:avLst/>
          </a:prstGeom>
          <a:solidFill xmlns:a="http://schemas.openxmlformats.org/drawingml/2006/main">
            <a:srgbClr val="FFFFFF"/>
          </a:solidFill>
          <a:ln xmlns:a="http://schemas.openxmlformats.org/drawingml/2006/main" w="9525">
            <a:solidFill>
              <a:srgbClr val="CAD6DF"/>
            </a:solidFill>
            <a:prstDash val="solid"/>
          </a:ln>
        </p:spPr>
      </p:sp>
      <p:sp>
        <p:nvSpPr>
          <p:cNvPr id="13" name="">
            <a:extLst xmlns:a="http://schemas.openxmlformats.org/drawingml/2006/main">
              <a:ext uri="{FF2B5EF4-FFF2-40B4-BE49-F238E27FC236}">
                <a16:creationId xmlns:a16="http://schemas.microsoft.com/office/drawing/2014/main" id="{B93EF0CA-2D0F-4735-AD4B-AC4D6EBC35ED}"/>
              </a:ext>
            </a:extLst>
          </p:cNvPr>
          <p:cNvSpPr>
            <a:spLocks xmlns:a="http://schemas.openxmlformats.org/drawingml/2006/main" noGrp="1"/>
          </p:cNvSpPr>
          <p:nvPr/>
        </p:nvSpPr>
        <p:spPr>
          <a:xfrm xmlns:a="http://schemas.openxmlformats.org/drawingml/2006/main">
            <a:off x="7581900" y="184785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OUTPUT</a:t>
            </a:r>
          </a:p>
        </p:txBody>
      </p:sp>
      <p:sp>
        <p:nvSpPr>
          <p:cNvPr id="14" name="">
            <a:extLst xmlns:a="http://schemas.openxmlformats.org/drawingml/2006/main">
              <a:ext uri="{FF2B5EF4-FFF2-40B4-BE49-F238E27FC236}">
                <a16:creationId xmlns:a16="http://schemas.microsoft.com/office/drawing/2014/main" id="{BB758193-9DD6-4BF1-9A51-0F991D5B6007}"/>
              </a:ext>
            </a:extLst>
          </p:cNvPr>
          <p:cNvSpPr>
            <a:spLocks xmlns:a="http://schemas.openxmlformats.org/drawingml/2006/main" noGrp="1"/>
          </p:cNvSpPr>
          <p:nvPr/>
        </p:nvSpPr>
        <p:spPr>
          <a:xfrm xmlns:a="http://schemas.openxmlformats.org/drawingml/2006/main">
            <a:off x="7581900" y="2228850"/>
            <a:ext cx="3790950" cy="2971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a:solidFill>
                  <a:srgbClr val="0B1220"/>
                </a:solidFill>
              </a:defRPr>
            </a:pPr>
            <a:r>
              <a:rPr sz="1050">
                <a:solidFill>
                  <a:srgbClr val="0B1220"/>
                </a:solidFill>
              </a:rPr>
              <a:t>One reproducible image that starts the API on port 8000.</a:t>
            </a:r>
          </a:p>
        </p:txBody>
      </p:sp>
      <p:sp>
        <p:nvSpPr>
          <p:cNvPr id="15" name="">
            <a:extLst xmlns:a="http://schemas.openxmlformats.org/drawingml/2006/main">
              <a:ext uri="{FF2B5EF4-FFF2-40B4-BE49-F238E27FC236}">
                <a16:creationId xmlns:a16="http://schemas.microsoft.com/office/drawing/2014/main" id="{645DC582-CAFF-4471-BF6F-9F0EE3561437}"/>
              </a:ext>
            </a:extLst>
          </p:cNvPr>
          <p:cNvSpPr>
            <a:spLocks xmlns:a="http://schemas.openxmlformats.org/drawingml/2006/main" noGrp="1"/>
          </p:cNvSpPr>
          <p:nvPr/>
        </p:nvSpPr>
        <p:spPr>
          <a:xfrm xmlns:a="http://schemas.openxmlformats.org/drawingml/2006/main">
            <a:off x="514350" y="5734050"/>
            <a:ext cx="11144250" cy="590550"/>
          </a:xfrm>
          <a:prstGeom xmlns:a="http://schemas.openxmlformats.org/drawingml/2006/main" prst="rect">
            <a:avLst/>
          </a:prstGeom>
          <a:solidFill xmlns:a="http://schemas.openxmlformats.org/drawingml/2006/main">
            <a:srgbClr val="DFF5F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10E908D-3D1F-4865-9F18-CAFBF9771E2B}"/>
              </a:ext>
            </a:extLst>
          </p:cNvPr>
          <p:cNvSpPr>
            <a:spLocks xmlns:a="http://schemas.openxmlformats.org/drawingml/2006/main" noGrp="1"/>
          </p:cNvSpPr>
          <p:nvPr/>
        </p:nvSpPr>
        <p:spPr>
          <a:xfrm xmlns:a="http://schemas.openxmlformats.org/drawingml/2006/main">
            <a:off x="723900" y="5829300"/>
            <a:ext cx="10744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The host port 8000 forwards to the container service port.</a:t>
            </a:r>
          </a:p>
        </p:txBody>
      </p:sp>
    </p:spTree>
    <p:extLst>
      <p:ext uri="{BB962C8B-B14F-4D97-AF65-F5344CB8AC3E}">
        <p14:creationId xmlns:p14="http://schemas.microsoft.com/office/powerpoint/2010/main" val="1277212372"/>
      </p:ext>
    </p:extLst>
  </p:cSld>
</p:sld>
</file>

<file path=ppt/slides/slide7.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CB1A8FB-9530-4976-9AF2-64F0A9E15540}"/>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A8C8"/>
                </a:solidFill>
              </a:defRPr>
            </a:pPr>
            <a:r>
              <a:rPr sz="825" b="1">
                <a:solidFill>
                  <a:srgbClr val="00A8C8"/>
                </a:solidFill>
              </a:rPr>
              <a:t>M11 / L01</a:t>
            </a:r>
          </a:p>
        </p:txBody>
      </p:sp>
      <p:sp>
        <p:nvSpPr>
          <p:cNvPr id="2" name="">
            <a:extLst xmlns:a="http://schemas.openxmlformats.org/drawingml/2006/main">
              <a:ext uri="{FF2B5EF4-FFF2-40B4-BE49-F238E27FC236}">
                <a16:creationId xmlns:a16="http://schemas.microsoft.com/office/drawing/2014/main" id="{954F8D90-33F5-4CD9-A195-FF04A36432BB}"/>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B7CAD9"/>
                </a:solidFill>
              </a:defRPr>
            </a:pPr>
            <a:r>
              <a:rPr sz="825">
                <a:solidFill>
                  <a:srgbClr val="B7CAD9"/>
                </a:solidFill>
              </a:rPr>
              <a:t>Serving Turns a Fitted Model into a Service</a:t>
            </a:r>
          </a:p>
        </p:txBody>
      </p:sp>
      <p:sp>
        <p:nvSpPr>
          <p:cNvPr id="3" name="">
            <a:extLst xmlns:a="http://schemas.openxmlformats.org/drawingml/2006/main">
              <a:ext uri="{FF2B5EF4-FFF2-40B4-BE49-F238E27FC236}">
                <a16:creationId xmlns:a16="http://schemas.microsoft.com/office/drawing/2014/main" id="{F71D5954-BDFA-4A58-B188-F7946273F88B}"/>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B7CAD9"/>
                </a:solidFill>
              </a:defRPr>
            </a:pPr>
            <a:r>
              <a:rPr sz="825" b="1">
                <a:solidFill>
                  <a:srgbClr val="B7CAD9"/>
                </a:solidFill>
              </a:rPr>
              <a:t>DS ACADEMY   07</a:t>
            </a:r>
          </a:p>
        </p:txBody>
      </p:sp>
      <p:sp>
        <p:nvSpPr>
          <p:cNvPr id="4" name="">
            <a:extLst xmlns:a="http://schemas.openxmlformats.org/drawingml/2006/main">
              <a:ext uri="{FF2B5EF4-FFF2-40B4-BE49-F238E27FC236}">
                <a16:creationId xmlns:a16="http://schemas.microsoft.com/office/drawing/2014/main" id="{020EB6E3-6933-4AF0-AE7A-1A01E498A54F}"/>
              </a:ext>
            </a:extLst>
          </p:cNvPr>
          <p:cNvSpPr>
            <a:spLocks xmlns:a="http://schemas.openxmlformats.org/drawingml/2006/main" noGrp="1"/>
          </p:cNvSpPr>
          <p:nvPr/>
        </p:nvSpPr>
        <p:spPr>
          <a:xfrm xmlns:a="http://schemas.openxmlformats.org/drawingml/2006/main">
            <a:off x="609600" y="9525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A8C8"/>
                </a:solidFill>
              </a:defRPr>
            </a:pPr>
            <a:r>
              <a:rPr sz="900" b="1">
                <a:solidFill>
                  <a:srgbClr val="00A8C8"/>
                </a:solidFill>
              </a:rPr>
              <a:t>CORE CONCEPT</a:t>
            </a:r>
          </a:p>
        </p:txBody>
      </p:sp>
      <p:sp>
        <p:nvSpPr>
          <p:cNvPr id="5" name="">
            <a:extLst xmlns:a="http://schemas.openxmlformats.org/drawingml/2006/main">
              <a:ext uri="{FF2B5EF4-FFF2-40B4-BE49-F238E27FC236}">
                <a16:creationId xmlns:a16="http://schemas.microsoft.com/office/drawing/2014/main" id="{C169DCEB-26BE-4009-99E9-B21AEAD0383A}"/>
              </a:ext>
            </a:extLst>
          </p:cNvPr>
          <p:cNvSpPr>
            <a:spLocks xmlns:a="http://schemas.openxmlformats.org/drawingml/2006/main" noGrp="1"/>
          </p:cNvSpPr>
          <p:nvPr/>
        </p:nvSpPr>
        <p:spPr>
          <a:xfrm xmlns:a="http://schemas.openxmlformats.org/drawingml/2006/main">
            <a:off x="609600" y="142875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FFFFFF"/>
                </a:solidFill>
              </a:defRPr>
            </a:pPr>
            <a:r>
              <a:rPr sz="3000" b="1">
                <a:solidFill>
                  <a:srgbClr val="FFFFFF"/>
                </a:solidFill>
              </a:rPr>
              <a:t>Configuration and Secrets Belong Outside Source Code</a:t>
            </a:r>
          </a:p>
        </p:txBody>
      </p:sp>
      <p:sp>
        <p:nvSpPr>
          <p:cNvPr id="6" name="">
            <a:extLst xmlns:a="http://schemas.openxmlformats.org/drawingml/2006/main">
              <a:ext uri="{FF2B5EF4-FFF2-40B4-BE49-F238E27FC236}">
                <a16:creationId xmlns:a16="http://schemas.microsoft.com/office/drawing/2014/main" id="{79508061-95E1-4546-AA5E-A19D3BDA8CE2}"/>
              </a:ext>
            </a:extLst>
          </p:cNvPr>
          <p:cNvSpPr>
            <a:spLocks xmlns:a="http://schemas.openxmlformats.org/drawingml/2006/main" noGrp="1"/>
          </p:cNvSpPr>
          <p:nvPr/>
        </p:nvSpPr>
        <p:spPr>
          <a:xfrm xmlns:a="http://schemas.openxmlformats.org/drawingml/2006/main">
            <a:off x="609600" y="2343150"/>
            <a:ext cx="1066800" cy="5715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DD5C160-D3B6-4DC1-A35A-28D16D54B71B}"/>
              </a:ext>
            </a:extLst>
          </p:cNvPr>
          <p:cNvSpPr>
            <a:spLocks xmlns:a="http://schemas.openxmlformats.org/drawingml/2006/main" noGrp="1"/>
          </p:cNvSpPr>
          <p:nvPr/>
        </p:nvSpPr>
        <p:spPr>
          <a:xfrm xmlns:a="http://schemas.openxmlformats.org/drawingml/2006/main">
            <a:off x="609600" y="2647950"/>
            <a:ext cx="10572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D6E2EB"/>
                </a:solidFill>
              </a:defRPr>
            </a:pPr>
            <a:r>
              <a:rPr sz="1425">
                <a:solidFill>
                  <a:srgbClr val="D6E2EB"/>
                </a:solidFill>
              </a:rPr>
              <a:t>Configuration changes application behaviour between environments. A secret grants access, such as an API key or password. Environment variables can supply configuration at runtime: MODELPATH, LOGLEVEL, PREDICTIONTHRESHOLD</a:t>
            </a:r>
          </a:p>
        </p:txBody>
      </p:sp>
      <p:sp>
        <p:nvSpPr>
          <p:cNvPr id="8" name="">
            <a:extLst xmlns:a="http://schemas.openxmlformats.org/drawingml/2006/main">
              <a:ext uri="{FF2B5EF4-FFF2-40B4-BE49-F238E27FC236}">
                <a16:creationId xmlns:a16="http://schemas.microsoft.com/office/drawing/2014/main" id="{244C2026-55A5-459C-A874-9BB5CC8B3AE5}"/>
              </a:ext>
            </a:extLst>
          </p:cNvPr>
          <p:cNvSpPr>
            <a:spLocks xmlns:a="http://schemas.openxmlformats.org/drawingml/2006/main" noGrp="1"/>
          </p:cNvSpPr>
          <p:nvPr/>
        </p:nvSpPr>
        <p:spPr>
          <a:xfrm xmlns:a="http://schemas.openxmlformats.org/drawingml/2006/main">
            <a:off x="609600" y="37147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5349A90-9C29-4494-8FE9-58A9DC54D166}"/>
              </a:ext>
            </a:extLst>
          </p:cNvPr>
          <p:cNvSpPr>
            <a:spLocks xmlns:a="http://schemas.openxmlformats.org/drawingml/2006/main" noGrp="1"/>
          </p:cNvSpPr>
          <p:nvPr/>
        </p:nvSpPr>
        <p:spPr>
          <a:xfrm xmlns:a="http://schemas.openxmlformats.org/drawingml/2006/main">
            <a:off x="781050" y="38100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Configuration changes application behaviour between environments.</a:t>
            </a:r>
          </a:p>
        </p:txBody>
      </p:sp>
      <p:sp>
        <p:nvSpPr>
          <p:cNvPr id="10" name="">
            <a:extLst xmlns:a="http://schemas.openxmlformats.org/drawingml/2006/main">
              <a:ext uri="{FF2B5EF4-FFF2-40B4-BE49-F238E27FC236}">
                <a16:creationId xmlns:a16="http://schemas.microsoft.com/office/drawing/2014/main" id="{0A4A87D3-3A3B-48BE-8510-061F1CB82502}"/>
              </a:ext>
            </a:extLst>
          </p:cNvPr>
          <p:cNvSpPr>
            <a:spLocks xmlns:a="http://schemas.openxmlformats.org/drawingml/2006/main" noGrp="1"/>
          </p:cNvSpPr>
          <p:nvPr/>
        </p:nvSpPr>
        <p:spPr>
          <a:xfrm xmlns:a="http://schemas.openxmlformats.org/drawingml/2006/main">
            <a:off x="4114800" y="37147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D369EBC-B66A-4A80-809A-2C391DF4819A}"/>
              </a:ext>
            </a:extLst>
          </p:cNvPr>
          <p:cNvSpPr>
            <a:spLocks xmlns:a="http://schemas.openxmlformats.org/drawingml/2006/main" noGrp="1"/>
          </p:cNvSpPr>
          <p:nvPr/>
        </p:nvSpPr>
        <p:spPr>
          <a:xfrm xmlns:a="http://schemas.openxmlformats.org/drawingml/2006/main">
            <a:off x="4286250" y="38100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A secret grants access, such as an API key or password.</a:t>
            </a:r>
          </a:p>
        </p:txBody>
      </p:sp>
      <p:sp>
        <p:nvSpPr>
          <p:cNvPr id="12" name="">
            <a:extLst xmlns:a="http://schemas.openxmlformats.org/drawingml/2006/main">
              <a:ext uri="{FF2B5EF4-FFF2-40B4-BE49-F238E27FC236}">
                <a16:creationId xmlns:a16="http://schemas.microsoft.com/office/drawing/2014/main" id="{7A4D948B-D5EE-4C0C-94F2-7C2343D671EF}"/>
              </a:ext>
            </a:extLst>
          </p:cNvPr>
          <p:cNvSpPr>
            <a:spLocks xmlns:a="http://schemas.openxmlformats.org/drawingml/2006/main" noGrp="1"/>
          </p:cNvSpPr>
          <p:nvPr/>
        </p:nvSpPr>
        <p:spPr>
          <a:xfrm xmlns:a="http://schemas.openxmlformats.org/drawingml/2006/main">
            <a:off x="7620000" y="37147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83CFB5C-BC43-47F7-ACCE-7815FB629E57}"/>
              </a:ext>
            </a:extLst>
          </p:cNvPr>
          <p:cNvSpPr>
            <a:spLocks xmlns:a="http://schemas.openxmlformats.org/drawingml/2006/main" noGrp="1"/>
          </p:cNvSpPr>
          <p:nvPr/>
        </p:nvSpPr>
        <p:spPr>
          <a:xfrm xmlns:a="http://schemas.openxmlformats.org/drawingml/2006/main">
            <a:off x="7791450" y="38100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Environment variables can supply configuration at runtime:</a:t>
            </a:r>
          </a:p>
        </p:txBody>
      </p:sp>
      <p:sp>
        <p:nvSpPr>
          <p:cNvPr id="14" name="">
            <a:extLst xmlns:a="http://schemas.openxmlformats.org/drawingml/2006/main">
              <a:ext uri="{FF2B5EF4-FFF2-40B4-BE49-F238E27FC236}">
                <a16:creationId xmlns:a16="http://schemas.microsoft.com/office/drawing/2014/main" id="{95D9139A-8C20-4D27-8349-CF95AFA24C13}"/>
              </a:ext>
            </a:extLst>
          </p:cNvPr>
          <p:cNvSpPr>
            <a:spLocks xmlns:a="http://schemas.openxmlformats.org/drawingml/2006/main" noGrp="1"/>
          </p:cNvSpPr>
          <p:nvPr/>
        </p:nvSpPr>
        <p:spPr>
          <a:xfrm xmlns:a="http://schemas.openxmlformats.org/drawingml/2006/main">
            <a:off x="609600" y="48196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B13AF53-285F-4445-A240-B650ADF961AD}"/>
              </a:ext>
            </a:extLst>
          </p:cNvPr>
          <p:cNvSpPr>
            <a:spLocks xmlns:a="http://schemas.openxmlformats.org/drawingml/2006/main" noGrp="1"/>
          </p:cNvSpPr>
          <p:nvPr/>
        </p:nvSpPr>
        <p:spPr>
          <a:xfrm xmlns:a="http://schemas.openxmlformats.org/drawingml/2006/main">
            <a:off x="781050" y="49149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MODELPATH, LOGLEVEL, PREDICTIONTHRESHOLD</a:t>
            </a:r>
          </a:p>
        </p:txBody>
      </p:sp>
      <p:sp>
        <p:nvSpPr>
          <p:cNvPr id="16" name="">
            <a:extLst xmlns:a="http://schemas.openxmlformats.org/drawingml/2006/main">
              <a:ext uri="{FF2B5EF4-FFF2-40B4-BE49-F238E27FC236}">
                <a16:creationId xmlns:a16="http://schemas.microsoft.com/office/drawing/2014/main" id="{D197AA32-93F3-41C9-8ED9-6CB5BA95A6CC}"/>
              </a:ext>
            </a:extLst>
          </p:cNvPr>
          <p:cNvSpPr>
            <a:spLocks xmlns:a="http://schemas.openxmlformats.org/drawingml/2006/main" noGrp="1"/>
          </p:cNvSpPr>
          <p:nvPr/>
        </p:nvSpPr>
        <p:spPr>
          <a:xfrm xmlns:a="http://schemas.openxmlformats.org/drawingml/2006/main">
            <a:off x="4114800" y="48196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E6A182A-C511-4706-BD7E-47DAC8B20C57}"/>
              </a:ext>
            </a:extLst>
          </p:cNvPr>
          <p:cNvSpPr>
            <a:spLocks xmlns:a="http://schemas.openxmlformats.org/drawingml/2006/main" noGrp="1"/>
          </p:cNvSpPr>
          <p:nvPr/>
        </p:nvSpPr>
        <p:spPr>
          <a:xfrm xmlns:a="http://schemas.openxmlformats.org/drawingml/2006/main">
            <a:off x="4286250" y="49149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Do not commit .env files containing real credentials.</a:t>
            </a:r>
          </a:p>
        </p:txBody>
      </p:sp>
      <p:sp>
        <p:nvSpPr>
          <p:cNvPr id="18" name="">
            <a:extLst xmlns:a="http://schemas.openxmlformats.org/drawingml/2006/main">
              <a:ext uri="{FF2B5EF4-FFF2-40B4-BE49-F238E27FC236}">
                <a16:creationId xmlns:a16="http://schemas.microsoft.com/office/drawing/2014/main" id="{9A5B43DA-B74A-49F9-8685-E4F0054AE3D6}"/>
              </a:ext>
            </a:extLst>
          </p:cNvPr>
          <p:cNvSpPr>
            <a:spLocks xmlns:a="http://schemas.openxmlformats.org/drawingml/2006/main" noGrp="1"/>
          </p:cNvSpPr>
          <p:nvPr/>
        </p:nvSpPr>
        <p:spPr>
          <a:xfrm xmlns:a="http://schemas.openxmlformats.org/drawingml/2006/main">
            <a:off x="7620000" y="48196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FF93977-5AD4-44FE-83A3-8D6AF94F443A}"/>
              </a:ext>
            </a:extLst>
          </p:cNvPr>
          <p:cNvSpPr>
            <a:spLocks xmlns:a="http://schemas.openxmlformats.org/drawingml/2006/main" noGrp="1"/>
          </p:cNvSpPr>
          <p:nvPr/>
        </p:nvSpPr>
        <p:spPr>
          <a:xfrm xmlns:a="http://schemas.openxmlformats.org/drawingml/2006/main">
            <a:off x="7791450" y="49149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In production, use a managed secret store or scoped instance role.</a:t>
            </a:r>
          </a:p>
        </p:txBody>
      </p:sp>
    </p:spTree>
    <p:extLst>
      <p:ext uri="{BB962C8B-B14F-4D97-AF65-F5344CB8AC3E}">
        <p14:creationId xmlns:p14="http://schemas.microsoft.com/office/powerpoint/2010/main" val="151646022"/>
      </p:ext>
    </p:extLst>
  </p:cSld>
</p:sld>
</file>

<file path=ppt/slides/slide8.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D77A7E9-93CE-4D76-945C-2FB4DB2C1668}"/>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A8C8"/>
                </a:solidFill>
              </a:defRPr>
            </a:pPr>
            <a:r>
              <a:rPr sz="825" b="1">
                <a:solidFill>
                  <a:srgbClr val="00A8C8"/>
                </a:solidFill>
              </a:rPr>
              <a:t>M11 / L01</a:t>
            </a:r>
          </a:p>
        </p:txBody>
      </p:sp>
      <p:sp>
        <p:nvSpPr>
          <p:cNvPr id="2" name="">
            <a:extLst xmlns:a="http://schemas.openxmlformats.org/drawingml/2006/main">
              <a:ext uri="{FF2B5EF4-FFF2-40B4-BE49-F238E27FC236}">
                <a16:creationId xmlns:a16="http://schemas.microsoft.com/office/drawing/2014/main" id="{EB0DDC71-F083-426B-80F9-54DFFC77C3E0}"/>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B7CAD9"/>
                </a:solidFill>
              </a:defRPr>
            </a:pPr>
            <a:r>
              <a:rPr sz="825">
                <a:solidFill>
                  <a:srgbClr val="B7CAD9"/>
                </a:solidFill>
              </a:rPr>
              <a:t>Serving Turns a Fitted Model into a Service</a:t>
            </a:r>
          </a:p>
        </p:txBody>
      </p:sp>
      <p:sp>
        <p:nvSpPr>
          <p:cNvPr id="3" name="">
            <a:extLst xmlns:a="http://schemas.openxmlformats.org/drawingml/2006/main">
              <a:ext uri="{FF2B5EF4-FFF2-40B4-BE49-F238E27FC236}">
                <a16:creationId xmlns:a16="http://schemas.microsoft.com/office/drawing/2014/main" id="{B76E5000-DF71-4460-9F6C-F96F66E17347}"/>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B7CAD9"/>
                </a:solidFill>
              </a:defRPr>
            </a:pPr>
            <a:r>
              <a:rPr sz="825" b="1">
                <a:solidFill>
                  <a:srgbClr val="B7CAD9"/>
                </a:solidFill>
              </a:rPr>
              <a:t>DS ACADEMY   08</a:t>
            </a:r>
          </a:p>
        </p:txBody>
      </p:sp>
      <p:sp>
        <p:nvSpPr>
          <p:cNvPr id="4" name="">
            <a:extLst xmlns:a="http://schemas.openxmlformats.org/drawingml/2006/main">
              <a:ext uri="{FF2B5EF4-FFF2-40B4-BE49-F238E27FC236}">
                <a16:creationId xmlns:a16="http://schemas.microsoft.com/office/drawing/2014/main" id="{AED6715D-EB3C-4D5A-B125-481AB65A6755}"/>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A8C8"/>
                </a:solidFill>
              </a:defRPr>
            </a:pPr>
            <a:r>
              <a:rPr sz="900" b="1">
                <a:solidFill>
                  <a:srgbClr val="00A8C8"/>
                </a:solidFill>
              </a:rPr>
              <a:t>REASONING SEQUENCE</a:t>
            </a:r>
          </a:p>
        </p:txBody>
      </p:sp>
      <p:sp>
        <p:nvSpPr>
          <p:cNvPr id="5" name="">
            <a:extLst xmlns:a="http://schemas.openxmlformats.org/drawingml/2006/main">
              <a:ext uri="{FF2B5EF4-FFF2-40B4-BE49-F238E27FC236}">
                <a16:creationId xmlns:a16="http://schemas.microsoft.com/office/drawing/2014/main" id="{36BEDAEF-9CC5-45E3-A18D-5458982DFFA6}"/>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FFFFFF"/>
                </a:solidFill>
              </a:defRPr>
            </a:pPr>
            <a:r>
              <a:rPr sz="2850" b="1">
                <a:solidFill>
                  <a:srgbClr val="FFFFFF"/>
                </a:solidFill>
              </a:rPr>
              <a:t>EC2 Is a Virtual Server You Must Operate</a:t>
            </a:r>
          </a:p>
        </p:txBody>
      </p:sp>
      <p:sp>
        <p:nvSpPr>
          <p:cNvPr id="6" name="">
            <a:extLst xmlns:a="http://schemas.openxmlformats.org/drawingml/2006/main">
              <a:ext uri="{FF2B5EF4-FFF2-40B4-BE49-F238E27FC236}">
                <a16:creationId xmlns:a16="http://schemas.microsoft.com/office/drawing/2014/main" id="{C86BB960-A3C5-4347-B975-52C3D6E4C4EB}"/>
              </a:ext>
            </a:extLst>
          </p:cNvPr>
          <p:cNvSpPr>
            <a:spLocks xmlns:a="http://schemas.openxmlformats.org/drawingml/2006/main" noGrp="1"/>
          </p:cNvSpPr>
          <p:nvPr/>
        </p:nvSpPr>
        <p:spPr>
          <a:xfrm xmlns:a="http://schemas.openxmlformats.org/drawingml/2006/main">
            <a:off x="590550" y="21907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00A8C8"/>
                </a:solidFill>
              </a:defRPr>
            </a:pPr>
            <a:r>
              <a:rPr sz="2025" b="1">
                <a:solidFill>
                  <a:srgbClr val="00A8C8"/>
                </a:solidFill>
              </a:rPr>
              <a:t>Frame</a:t>
            </a:r>
          </a:p>
        </p:txBody>
      </p:sp>
      <p:sp>
        <p:nvSpPr>
          <p:cNvPr id="7" name="">
            <a:extLst xmlns:a="http://schemas.openxmlformats.org/drawingml/2006/main">
              <a:ext uri="{FF2B5EF4-FFF2-40B4-BE49-F238E27FC236}">
                <a16:creationId xmlns:a16="http://schemas.microsoft.com/office/drawing/2014/main" id="{BA9DA88F-A2C8-42A2-9C44-3BBFE85DA81A}"/>
              </a:ext>
            </a:extLst>
          </p:cNvPr>
          <p:cNvSpPr>
            <a:spLocks xmlns:a="http://schemas.openxmlformats.org/drawingml/2006/main" noGrp="1"/>
          </p:cNvSpPr>
          <p:nvPr/>
        </p:nvSpPr>
        <p:spPr>
          <a:xfrm xmlns:a="http://schemas.openxmlformats.org/drawingml/2006/main">
            <a:off x="590550" y="2800350"/>
            <a:ext cx="2190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AMI: operating-system image;</a:t>
            </a:r>
          </a:p>
        </p:txBody>
      </p:sp>
      <p:sp>
        <p:nvSpPr>
          <p:cNvPr id="8" name="">
            <a:extLst xmlns:a="http://schemas.openxmlformats.org/drawingml/2006/main">
              <a:ext uri="{FF2B5EF4-FFF2-40B4-BE49-F238E27FC236}">
                <a16:creationId xmlns:a16="http://schemas.microsoft.com/office/drawing/2014/main" id="{48B1E802-76BD-46C1-A88A-DBC695CDFA41}"/>
              </a:ext>
            </a:extLst>
          </p:cNvPr>
          <p:cNvSpPr>
            <a:spLocks xmlns:a="http://schemas.openxmlformats.org/drawingml/2006/main" noGrp="1"/>
          </p:cNvSpPr>
          <p:nvPr/>
        </p:nvSpPr>
        <p:spPr>
          <a:xfrm xmlns:a="http://schemas.openxmlformats.org/drawingml/2006/main">
            <a:off x="590550" y="3752850"/>
            <a:ext cx="2190750" cy="38100"/>
          </a:xfrm>
          <a:prstGeom xmlns:a="http://schemas.openxmlformats.org/drawingml/2006/main" prst="rect">
            <a:avLst/>
          </a:prstGeom>
          <a:solidFill xmlns:a="http://schemas.openxmlformats.org/drawingml/2006/main">
            <a:srgbClr val="46627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6993234-4657-481D-976E-8A36222BCA5E}"/>
              </a:ext>
            </a:extLst>
          </p:cNvPr>
          <p:cNvSpPr>
            <a:spLocks xmlns:a="http://schemas.openxmlformats.org/drawingml/2006/main" noGrp="1"/>
          </p:cNvSpPr>
          <p:nvPr/>
        </p:nvSpPr>
        <p:spPr>
          <a:xfrm xmlns:a="http://schemas.openxmlformats.org/drawingml/2006/main">
            <a:off x="590550" y="4076700"/>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7892A8"/>
                </a:solidFill>
              </a:defRPr>
            </a:pPr>
            <a:r>
              <a:rPr sz="2625" b="1">
                <a:solidFill>
                  <a:srgbClr val="7892A8"/>
                </a:solidFill>
              </a:rPr>
              <a:t>1</a:t>
            </a:r>
          </a:p>
        </p:txBody>
      </p:sp>
      <p:sp>
        <p:nvSpPr>
          <p:cNvPr id="10" name="">
            <a:extLst xmlns:a="http://schemas.openxmlformats.org/drawingml/2006/main">
              <a:ext uri="{FF2B5EF4-FFF2-40B4-BE49-F238E27FC236}">
                <a16:creationId xmlns:a16="http://schemas.microsoft.com/office/drawing/2014/main" id="{2760AD3F-4E7B-4077-A0B4-5472B99C383E}"/>
              </a:ext>
            </a:extLst>
          </p:cNvPr>
          <p:cNvSpPr>
            <a:spLocks xmlns:a="http://schemas.openxmlformats.org/drawingml/2006/main" noGrp="1"/>
          </p:cNvSpPr>
          <p:nvPr/>
        </p:nvSpPr>
        <p:spPr>
          <a:xfrm xmlns:a="http://schemas.openxmlformats.org/drawingml/2006/main">
            <a:off x="3409950" y="21907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00A8C8"/>
                </a:solidFill>
              </a:defRPr>
            </a:pPr>
            <a:r>
              <a:rPr sz="2025" b="1">
                <a:solidFill>
                  <a:srgbClr val="00A8C8"/>
                </a:solidFill>
              </a:rPr>
              <a:t>Transform</a:t>
            </a:r>
          </a:p>
        </p:txBody>
      </p:sp>
      <p:sp>
        <p:nvSpPr>
          <p:cNvPr id="11" name="">
            <a:extLst xmlns:a="http://schemas.openxmlformats.org/drawingml/2006/main">
              <a:ext uri="{FF2B5EF4-FFF2-40B4-BE49-F238E27FC236}">
                <a16:creationId xmlns:a16="http://schemas.microsoft.com/office/drawing/2014/main" id="{F437D412-D1DA-44E6-A4D7-BB9CE299B9A2}"/>
              </a:ext>
            </a:extLst>
          </p:cNvPr>
          <p:cNvSpPr>
            <a:spLocks xmlns:a="http://schemas.openxmlformats.org/drawingml/2006/main" noGrp="1"/>
          </p:cNvSpPr>
          <p:nvPr/>
        </p:nvSpPr>
        <p:spPr>
          <a:xfrm xmlns:a="http://schemas.openxmlformats.org/drawingml/2006/main">
            <a:off x="3409950" y="2800350"/>
            <a:ext cx="2190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instance type: CPU and memory capacity;</a:t>
            </a:r>
          </a:p>
        </p:txBody>
      </p:sp>
      <p:sp>
        <p:nvSpPr>
          <p:cNvPr id="12" name="">
            <a:extLst xmlns:a="http://schemas.openxmlformats.org/drawingml/2006/main">
              <a:ext uri="{FF2B5EF4-FFF2-40B4-BE49-F238E27FC236}">
                <a16:creationId xmlns:a16="http://schemas.microsoft.com/office/drawing/2014/main" id="{50BEACE8-2B19-4D15-BF19-C1DB039EB386}"/>
              </a:ext>
            </a:extLst>
          </p:cNvPr>
          <p:cNvSpPr>
            <a:spLocks xmlns:a="http://schemas.openxmlformats.org/drawingml/2006/main" noGrp="1"/>
          </p:cNvSpPr>
          <p:nvPr/>
        </p:nvSpPr>
        <p:spPr>
          <a:xfrm xmlns:a="http://schemas.openxmlformats.org/drawingml/2006/main">
            <a:off x="3409950" y="3752850"/>
            <a:ext cx="2190750" cy="38100"/>
          </a:xfrm>
          <a:prstGeom xmlns:a="http://schemas.openxmlformats.org/drawingml/2006/main" prst="rect">
            <a:avLst/>
          </a:prstGeom>
          <a:solidFill xmlns:a="http://schemas.openxmlformats.org/drawingml/2006/main">
            <a:srgbClr val="46627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489AE8C-2371-406B-8E0C-00CC271DEA8B}"/>
              </a:ext>
            </a:extLst>
          </p:cNvPr>
          <p:cNvSpPr>
            <a:spLocks xmlns:a="http://schemas.openxmlformats.org/drawingml/2006/main" noGrp="1"/>
          </p:cNvSpPr>
          <p:nvPr/>
        </p:nvSpPr>
        <p:spPr>
          <a:xfrm xmlns:a="http://schemas.openxmlformats.org/drawingml/2006/main">
            <a:off x="3409950" y="4076700"/>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7892A8"/>
                </a:solidFill>
              </a:defRPr>
            </a:pPr>
            <a:r>
              <a:rPr sz="2625" b="1">
                <a:solidFill>
                  <a:srgbClr val="7892A8"/>
                </a:solidFill>
              </a:rPr>
              <a:t>2</a:t>
            </a:r>
          </a:p>
        </p:txBody>
      </p:sp>
      <p:sp>
        <p:nvSpPr>
          <p:cNvPr id="14" name="">
            <a:extLst xmlns:a="http://schemas.openxmlformats.org/drawingml/2006/main">
              <a:ext uri="{FF2B5EF4-FFF2-40B4-BE49-F238E27FC236}">
                <a16:creationId xmlns:a16="http://schemas.microsoft.com/office/drawing/2014/main" id="{9A1ABA9D-9B6E-4868-9D68-9BFD207DD469}"/>
              </a:ext>
            </a:extLst>
          </p:cNvPr>
          <p:cNvSpPr>
            <a:spLocks xmlns:a="http://schemas.openxmlformats.org/drawingml/2006/main" noGrp="1"/>
          </p:cNvSpPr>
          <p:nvPr/>
        </p:nvSpPr>
        <p:spPr>
          <a:xfrm xmlns:a="http://schemas.openxmlformats.org/drawingml/2006/main">
            <a:off x="6229350" y="21907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00A8C8"/>
                </a:solidFill>
              </a:defRPr>
            </a:pPr>
            <a:r>
              <a:rPr sz="2025" b="1">
                <a:solidFill>
                  <a:srgbClr val="00A8C8"/>
                </a:solidFill>
              </a:rPr>
              <a:t>Validate</a:t>
            </a:r>
          </a:p>
        </p:txBody>
      </p:sp>
      <p:sp>
        <p:nvSpPr>
          <p:cNvPr id="15" name="">
            <a:extLst xmlns:a="http://schemas.openxmlformats.org/drawingml/2006/main">
              <a:ext uri="{FF2B5EF4-FFF2-40B4-BE49-F238E27FC236}">
                <a16:creationId xmlns:a16="http://schemas.microsoft.com/office/drawing/2014/main" id="{AEDCBCA0-A2C4-4686-BC86-B664D1C644A9}"/>
              </a:ext>
            </a:extLst>
          </p:cNvPr>
          <p:cNvSpPr>
            <a:spLocks xmlns:a="http://schemas.openxmlformats.org/drawingml/2006/main" noGrp="1"/>
          </p:cNvSpPr>
          <p:nvPr/>
        </p:nvSpPr>
        <p:spPr>
          <a:xfrm xmlns:a="http://schemas.openxmlformats.org/drawingml/2006/main">
            <a:off x="6229350" y="2800350"/>
            <a:ext cx="2190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EBS volume: persistent block storage;</a:t>
            </a:r>
          </a:p>
        </p:txBody>
      </p:sp>
      <p:sp>
        <p:nvSpPr>
          <p:cNvPr id="16" name="">
            <a:extLst xmlns:a="http://schemas.openxmlformats.org/drawingml/2006/main">
              <a:ext uri="{FF2B5EF4-FFF2-40B4-BE49-F238E27FC236}">
                <a16:creationId xmlns:a16="http://schemas.microsoft.com/office/drawing/2014/main" id="{331B8DCB-1B77-4109-9293-79A7B1F2A116}"/>
              </a:ext>
            </a:extLst>
          </p:cNvPr>
          <p:cNvSpPr>
            <a:spLocks xmlns:a="http://schemas.openxmlformats.org/drawingml/2006/main" noGrp="1"/>
          </p:cNvSpPr>
          <p:nvPr/>
        </p:nvSpPr>
        <p:spPr>
          <a:xfrm xmlns:a="http://schemas.openxmlformats.org/drawingml/2006/main">
            <a:off x="6229350" y="3752850"/>
            <a:ext cx="2190750" cy="38100"/>
          </a:xfrm>
          <a:prstGeom xmlns:a="http://schemas.openxmlformats.org/drawingml/2006/main" prst="rect">
            <a:avLst/>
          </a:prstGeom>
          <a:solidFill xmlns:a="http://schemas.openxmlformats.org/drawingml/2006/main">
            <a:srgbClr val="46627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23CB333-30BA-40A2-ADC5-C0D5003B03EE}"/>
              </a:ext>
            </a:extLst>
          </p:cNvPr>
          <p:cNvSpPr>
            <a:spLocks xmlns:a="http://schemas.openxmlformats.org/drawingml/2006/main" noGrp="1"/>
          </p:cNvSpPr>
          <p:nvPr/>
        </p:nvSpPr>
        <p:spPr>
          <a:xfrm xmlns:a="http://schemas.openxmlformats.org/drawingml/2006/main">
            <a:off x="6229350" y="4076700"/>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7892A8"/>
                </a:solidFill>
              </a:defRPr>
            </a:pPr>
            <a:r>
              <a:rPr sz="2625" b="1">
                <a:solidFill>
                  <a:srgbClr val="7892A8"/>
                </a:solidFill>
              </a:rPr>
              <a:t>3</a:t>
            </a:r>
          </a:p>
        </p:txBody>
      </p:sp>
      <p:sp>
        <p:nvSpPr>
          <p:cNvPr id="18" name="">
            <a:extLst xmlns:a="http://schemas.openxmlformats.org/drawingml/2006/main">
              <a:ext uri="{FF2B5EF4-FFF2-40B4-BE49-F238E27FC236}">
                <a16:creationId xmlns:a16="http://schemas.microsoft.com/office/drawing/2014/main" id="{232CA7B9-FFFB-4645-A66D-25B416D52ACD}"/>
              </a:ext>
            </a:extLst>
          </p:cNvPr>
          <p:cNvSpPr>
            <a:spLocks xmlns:a="http://schemas.openxmlformats.org/drawingml/2006/main" noGrp="1"/>
          </p:cNvSpPr>
          <p:nvPr/>
        </p:nvSpPr>
        <p:spPr>
          <a:xfrm xmlns:a="http://schemas.openxmlformats.org/drawingml/2006/main">
            <a:off x="9048750" y="21907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F06B5F"/>
                </a:solidFill>
              </a:defRPr>
            </a:pPr>
            <a:r>
              <a:rPr sz="2025" b="1">
                <a:solidFill>
                  <a:srgbClr val="F06B5F"/>
                </a:solidFill>
              </a:rPr>
              <a:t>Explain</a:t>
            </a:r>
          </a:p>
        </p:txBody>
      </p:sp>
      <p:sp>
        <p:nvSpPr>
          <p:cNvPr id="19" name="">
            <a:extLst xmlns:a="http://schemas.openxmlformats.org/drawingml/2006/main">
              <a:ext uri="{FF2B5EF4-FFF2-40B4-BE49-F238E27FC236}">
                <a16:creationId xmlns:a16="http://schemas.microsoft.com/office/drawing/2014/main" id="{80164EA5-F1E8-4637-842B-672F3B3F7181}"/>
              </a:ext>
            </a:extLst>
          </p:cNvPr>
          <p:cNvSpPr>
            <a:spLocks xmlns:a="http://schemas.openxmlformats.org/drawingml/2006/main" noGrp="1"/>
          </p:cNvSpPr>
          <p:nvPr/>
        </p:nvSpPr>
        <p:spPr>
          <a:xfrm xmlns:a="http://schemas.openxmlformats.org/drawingml/2006/main">
            <a:off x="9048750" y="2800350"/>
            <a:ext cx="2190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VPC and subnet: network placement;</a:t>
            </a:r>
          </a:p>
        </p:txBody>
      </p:sp>
      <p:sp>
        <p:nvSpPr>
          <p:cNvPr id="20" name="">
            <a:extLst xmlns:a="http://schemas.openxmlformats.org/drawingml/2006/main">
              <a:ext uri="{FF2B5EF4-FFF2-40B4-BE49-F238E27FC236}">
                <a16:creationId xmlns:a16="http://schemas.microsoft.com/office/drawing/2014/main" id="{1AA1BEF6-E35D-4629-A496-E9DA16707956}"/>
              </a:ext>
            </a:extLst>
          </p:cNvPr>
          <p:cNvSpPr>
            <a:spLocks xmlns:a="http://schemas.openxmlformats.org/drawingml/2006/main" noGrp="1"/>
          </p:cNvSpPr>
          <p:nvPr/>
        </p:nvSpPr>
        <p:spPr>
          <a:xfrm xmlns:a="http://schemas.openxmlformats.org/drawingml/2006/main">
            <a:off x="9048750" y="3752850"/>
            <a:ext cx="2190750" cy="38100"/>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C039D20-F2F7-4614-977A-941924EEE3F6}"/>
              </a:ext>
            </a:extLst>
          </p:cNvPr>
          <p:cNvSpPr>
            <a:spLocks xmlns:a="http://schemas.openxmlformats.org/drawingml/2006/main" noGrp="1"/>
          </p:cNvSpPr>
          <p:nvPr/>
        </p:nvSpPr>
        <p:spPr>
          <a:xfrm xmlns:a="http://schemas.openxmlformats.org/drawingml/2006/main">
            <a:off x="9048750" y="4076700"/>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7892A8"/>
                </a:solidFill>
              </a:defRPr>
            </a:pPr>
            <a:r>
              <a:rPr sz="2625" b="1">
                <a:solidFill>
                  <a:srgbClr val="7892A8"/>
                </a:solidFill>
              </a:rPr>
              <a:t>4</a:t>
            </a:r>
          </a:p>
        </p:txBody>
      </p:sp>
      <p:sp>
        <p:nvSpPr>
          <p:cNvPr id="22" name="">
            <a:extLst xmlns:a="http://schemas.openxmlformats.org/drawingml/2006/main">
              <a:ext uri="{FF2B5EF4-FFF2-40B4-BE49-F238E27FC236}">
                <a16:creationId xmlns:a16="http://schemas.microsoft.com/office/drawing/2014/main" id="{3B669CDD-6F3F-4C75-989C-5E80EB0B97EB}"/>
              </a:ext>
            </a:extLst>
          </p:cNvPr>
          <p:cNvSpPr>
            <a:spLocks xmlns:a="http://schemas.openxmlformats.org/drawingml/2006/main" noGrp="1"/>
          </p:cNvSpPr>
          <p:nvPr/>
        </p:nvSpPr>
        <p:spPr>
          <a:xfrm xmlns:a="http://schemas.openxmlformats.org/drawingml/2006/main">
            <a:off x="590550" y="5181600"/>
            <a:ext cx="10572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D1DEE8"/>
                </a:solidFill>
              </a:defRPr>
            </a:pPr>
            <a:r>
              <a:rPr sz="1350">
                <a:solidFill>
                  <a:srgbClr val="D1DEE8"/>
                </a:solidFill>
              </a:rPr>
              <a:t>For a small CPU-only API, choose the smallest architecture-compatible instance that meets measured memory needs. Start with one instance, no load balancer, and a documented restart procedure.</a:t>
            </a:r>
          </a:p>
        </p:txBody>
      </p:sp>
    </p:spTree>
    <p:extLst>
      <p:ext uri="{BB962C8B-B14F-4D97-AF65-F5344CB8AC3E}">
        <p14:creationId xmlns:p14="http://schemas.microsoft.com/office/powerpoint/2010/main" val="565242186"/>
      </p:ext>
    </p:extLst>
  </p:cSld>
</p:sld>
</file>

<file path=ppt/slides/slide9.xml><?xml version="1.0" encoding="utf-8"?>
<p:sld xmlns:p="http://schemas.openxmlformats.org/presentationml/2006/main">
  <p:cSld>
    <p:bg>
      <p:bgPr>
        <a:solidFill xmlns:a="http://schemas.openxmlformats.org/drawingml/2006/main">
          <a:srgbClr val="EEF4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2101EEC-8A37-4425-8D1A-251DD14F1565}"/>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M11 / L01</a:t>
            </a:r>
          </a:p>
        </p:txBody>
      </p:sp>
      <p:sp>
        <p:nvSpPr>
          <p:cNvPr id="2" name="">
            <a:extLst xmlns:a="http://schemas.openxmlformats.org/drawingml/2006/main">
              <a:ext uri="{FF2B5EF4-FFF2-40B4-BE49-F238E27FC236}">
                <a16:creationId xmlns:a16="http://schemas.microsoft.com/office/drawing/2014/main" id="{222DDC60-1DAD-4839-BE9B-42AF963645AB}"/>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Serving Turns a Fitted Model into a Service</a:t>
            </a:r>
          </a:p>
        </p:txBody>
      </p:sp>
      <p:sp>
        <p:nvSpPr>
          <p:cNvPr id="3" name="">
            <a:extLst xmlns:a="http://schemas.openxmlformats.org/drawingml/2006/main">
              <a:ext uri="{FF2B5EF4-FFF2-40B4-BE49-F238E27FC236}">
                <a16:creationId xmlns:a16="http://schemas.microsoft.com/office/drawing/2014/main" id="{65F58B94-B94E-4DC4-9F23-862FE1F12C3D}"/>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09</a:t>
            </a:r>
          </a:p>
        </p:txBody>
      </p:sp>
      <p:sp>
        <p:nvSpPr>
          <p:cNvPr id="4" name="">
            <a:extLst xmlns:a="http://schemas.openxmlformats.org/drawingml/2006/main">
              <a:ext uri="{FF2B5EF4-FFF2-40B4-BE49-F238E27FC236}">
                <a16:creationId xmlns:a16="http://schemas.microsoft.com/office/drawing/2014/main" id="{6339462A-D163-4827-BC45-584BDFE7038F}"/>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RUN IT AND INSPECT THE RESULT</a:t>
            </a:r>
          </a:p>
        </p:txBody>
      </p:sp>
      <p:sp>
        <p:nvSpPr>
          <p:cNvPr id="5" name="">
            <a:extLst xmlns:a="http://schemas.openxmlformats.org/drawingml/2006/main">
              <a:ext uri="{FF2B5EF4-FFF2-40B4-BE49-F238E27FC236}">
                <a16:creationId xmlns:a16="http://schemas.microsoft.com/office/drawing/2014/main" id="{10FF45F2-9499-4A61-8172-0D9D3470CA52}"/>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B1220"/>
                </a:solidFill>
              </a:defRPr>
            </a:pPr>
            <a:r>
              <a:rPr sz="2850" b="1">
                <a:solidFill>
                  <a:srgbClr val="0B1220"/>
                </a:solidFill>
              </a:rPr>
              <a:t>Security Groups Expose Only Required Traffic</a:t>
            </a:r>
          </a:p>
        </p:txBody>
      </p:sp>
      <p:sp>
        <p:nvSpPr>
          <p:cNvPr id="6" name="">
            <a:extLst xmlns:a="http://schemas.openxmlformats.org/drawingml/2006/main">
              <a:ext uri="{FF2B5EF4-FFF2-40B4-BE49-F238E27FC236}">
                <a16:creationId xmlns:a16="http://schemas.microsoft.com/office/drawing/2014/main" id="{18242CF4-134F-4A68-B494-3CF564761ACE}"/>
              </a:ext>
            </a:extLst>
          </p:cNvPr>
          <p:cNvSpPr>
            <a:spLocks xmlns:a="http://schemas.openxmlformats.org/drawingml/2006/main" noGrp="1"/>
          </p:cNvSpPr>
          <p:nvPr/>
        </p:nvSpPr>
        <p:spPr>
          <a:xfrm xmlns:a="http://schemas.openxmlformats.org/drawingml/2006/main">
            <a:off x="514350" y="1619250"/>
            <a:ext cx="6515100" cy="38862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75ED989-9616-41B1-9C38-5107F482926B}"/>
              </a:ext>
            </a:extLst>
          </p:cNvPr>
          <p:cNvSpPr>
            <a:spLocks xmlns:a="http://schemas.openxmlformats.org/drawingml/2006/main" noGrp="1"/>
          </p:cNvSpPr>
          <p:nvPr/>
        </p:nvSpPr>
        <p:spPr>
          <a:xfrm xmlns:a="http://schemas.openxmlformats.org/drawingml/2006/main">
            <a:off x="514350" y="1619250"/>
            <a:ext cx="6515100" cy="304800"/>
          </a:xfrm>
          <a:prstGeom xmlns:a="http://schemas.openxmlformats.org/drawingml/2006/main" prst="rect">
            <a:avLst/>
          </a:prstGeom>
          <a:solidFill xmlns:a="http://schemas.openxmlformats.org/drawingml/2006/main">
            <a:srgbClr val="24324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C4D60FA-043F-4407-A8A2-EF5869603B6D}"/>
              </a:ext>
            </a:extLst>
          </p:cNvPr>
          <p:cNvSpPr>
            <a:spLocks xmlns:a="http://schemas.openxmlformats.org/drawingml/2006/main" noGrp="1"/>
          </p:cNvSpPr>
          <p:nvPr/>
        </p:nvSpPr>
        <p:spPr>
          <a:xfrm xmlns:a="http://schemas.openxmlformats.org/drawingml/2006/main">
            <a:off x="685800" y="1714500"/>
            <a:ext cx="104775" cy="104775"/>
          </a:xfrm>
          <a:prstGeom xmlns:a="http://schemas.openxmlformats.org/drawingml/2006/main" prst="ellipse">
            <a:avLst/>
          </a:prstGeom>
          <a:solidFill xmlns:a="http://schemas.openxmlformats.org/drawingml/2006/main">
            <a:srgbClr val="F06B5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5D6E047-1FF3-4BED-B4CC-4DF469C16F3D}"/>
              </a:ext>
            </a:extLst>
          </p:cNvPr>
          <p:cNvSpPr>
            <a:spLocks xmlns:a="http://schemas.openxmlformats.org/drawingml/2006/main" noGrp="1"/>
          </p:cNvSpPr>
          <p:nvPr/>
        </p:nvSpPr>
        <p:spPr>
          <a:xfrm xmlns:a="http://schemas.openxmlformats.org/drawingml/2006/main">
            <a:off x="914400" y="1714500"/>
            <a:ext cx="104775" cy="104775"/>
          </a:xfrm>
          <a:prstGeom xmlns:a="http://schemas.openxmlformats.org/drawingml/2006/main" prst="ellipse">
            <a:avLst/>
          </a:prstGeom>
          <a:solidFill xmlns:a="http://schemas.openxmlformats.org/drawingml/2006/main">
            <a:srgbClr val="F2C94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F032A5D-B88D-4C19-88CC-DB322036D7E8}"/>
              </a:ext>
            </a:extLst>
          </p:cNvPr>
          <p:cNvSpPr>
            <a:spLocks xmlns:a="http://schemas.openxmlformats.org/drawingml/2006/main" noGrp="1"/>
          </p:cNvSpPr>
          <p:nvPr/>
        </p:nvSpPr>
        <p:spPr>
          <a:xfrm xmlns:a="http://schemas.openxmlformats.org/drawingml/2006/main">
            <a:off x="1143000" y="1714500"/>
            <a:ext cx="104775" cy="104775"/>
          </a:xfrm>
          <a:prstGeom xmlns:a="http://schemas.openxmlformats.org/drawingml/2006/main" prst="ellipse">
            <a:avLst/>
          </a:prstGeom>
          <a:solidFill xmlns:a="http://schemas.openxmlformats.org/drawingml/2006/main">
            <a:srgbClr val="A8D95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66AA701-D2E4-4BAF-922A-FB300C69E530}"/>
              </a:ext>
            </a:extLst>
          </p:cNvPr>
          <p:cNvSpPr>
            <a:spLocks xmlns:a="http://schemas.openxmlformats.org/drawingml/2006/main" noGrp="1"/>
          </p:cNvSpPr>
          <p:nvPr/>
        </p:nvSpPr>
        <p:spPr>
          <a:xfrm xmlns:a="http://schemas.openxmlformats.org/drawingml/2006/main">
            <a:off x="723900" y="2095500"/>
            <a:ext cx="6115050" cy="3200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E8F1F7"/>
                </a:solidFill>
              </a:defRPr>
            </a:pPr>
            <a:r>
              <a:rPr sz="1125">
                <a:solidFill>
                  <a:srgbClr val="E8F1F7"/>
                </a:solidFill>
              </a:rPr>
              <a:t>Internet :443 -&gt; reverse proxy -&gt; localhost:8000 -&gt; FastAPI</a:t>
            </a:r>
          </a:p>
          <a:p xmlns:a="http://schemas.openxmlformats.org/drawingml/2006/main">
            <a:pPr>
              <a:defRPr sz="1125">
                <a:solidFill>
                  <a:srgbClr val="E8F1F7"/>
                </a:solidFill>
              </a:defRPr>
            </a:pPr>
            <a:r>
              <a:rPr sz="1125">
                <a:solidFill>
                  <a:srgbClr val="E8F1F7"/>
                </a:solidFill>
              </a:rPr>
              <a:t>Admin IP :22 -&gt; EC2</a:t>
            </a:r>
          </a:p>
        </p:txBody>
      </p:sp>
      <p:sp>
        <p:nvSpPr>
          <p:cNvPr id="12" name="">
            <a:extLst xmlns:a="http://schemas.openxmlformats.org/drawingml/2006/main">
              <a:ext uri="{FF2B5EF4-FFF2-40B4-BE49-F238E27FC236}">
                <a16:creationId xmlns:a16="http://schemas.microsoft.com/office/drawing/2014/main" id="{B868051F-EF16-4217-8502-CF17F34652ED}"/>
              </a:ext>
            </a:extLst>
          </p:cNvPr>
          <p:cNvSpPr>
            <a:spLocks xmlns:a="http://schemas.openxmlformats.org/drawingml/2006/main" noGrp="1"/>
          </p:cNvSpPr>
          <p:nvPr/>
        </p:nvSpPr>
        <p:spPr>
          <a:xfrm xmlns:a="http://schemas.openxmlformats.org/drawingml/2006/main">
            <a:off x="7334250" y="1619250"/>
            <a:ext cx="4324350" cy="3886200"/>
          </a:xfrm>
          <a:prstGeom xmlns:a="http://schemas.openxmlformats.org/drawingml/2006/main" prst="rect">
            <a:avLst/>
          </a:prstGeom>
          <a:solidFill xmlns:a="http://schemas.openxmlformats.org/drawingml/2006/main">
            <a:srgbClr val="FFFFFF"/>
          </a:solidFill>
          <a:ln xmlns:a="http://schemas.openxmlformats.org/drawingml/2006/main" w="9525">
            <a:solidFill>
              <a:srgbClr val="CAD6DF"/>
            </a:solidFill>
            <a:prstDash val="solid"/>
          </a:ln>
        </p:spPr>
      </p:sp>
      <p:sp>
        <p:nvSpPr>
          <p:cNvPr id="13" name="">
            <a:extLst xmlns:a="http://schemas.openxmlformats.org/drawingml/2006/main">
              <a:ext uri="{FF2B5EF4-FFF2-40B4-BE49-F238E27FC236}">
                <a16:creationId xmlns:a16="http://schemas.microsoft.com/office/drawing/2014/main" id="{ACC503BA-25F3-462C-BD49-6EEC4865A25E}"/>
              </a:ext>
            </a:extLst>
          </p:cNvPr>
          <p:cNvSpPr>
            <a:spLocks xmlns:a="http://schemas.openxmlformats.org/drawingml/2006/main" noGrp="1"/>
          </p:cNvSpPr>
          <p:nvPr/>
        </p:nvSpPr>
        <p:spPr>
          <a:xfrm xmlns:a="http://schemas.openxmlformats.org/drawingml/2006/main">
            <a:off x="7581900" y="184785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OUTPUT</a:t>
            </a:r>
          </a:p>
        </p:txBody>
      </p:sp>
      <p:sp>
        <p:nvSpPr>
          <p:cNvPr id="14" name="">
            <a:extLst xmlns:a="http://schemas.openxmlformats.org/drawingml/2006/main">
              <a:ext uri="{FF2B5EF4-FFF2-40B4-BE49-F238E27FC236}">
                <a16:creationId xmlns:a16="http://schemas.microsoft.com/office/drawing/2014/main" id="{1D31BE0E-4857-472C-BF22-16E83361D675}"/>
              </a:ext>
            </a:extLst>
          </p:cNvPr>
          <p:cNvSpPr>
            <a:spLocks xmlns:a="http://schemas.openxmlformats.org/drawingml/2006/main" noGrp="1"/>
          </p:cNvSpPr>
          <p:nvPr/>
        </p:nvSpPr>
        <p:spPr>
          <a:xfrm xmlns:a="http://schemas.openxmlformats.org/drawingml/2006/main">
            <a:off x="7581900" y="2228850"/>
            <a:ext cx="3790950" cy="2971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a:solidFill>
                  <a:srgbClr val="0B1220"/>
                </a:solidFill>
              </a:defRPr>
            </a:pPr>
            <a:r>
              <a:rPr sz="1050">
                <a:solidFill>
                  <a:srgbClr val="0B1220"/>
                </a:solidFill>
              </a:rPr>
              <a:t>Only encrypted client traffic and restricted administration reach the instance.</a:t>
            </a:r>
          </a:p>
        </p:txBody>
      </p:sp>
      <p:sp>
        <p:nvSpPr>
          <p:cNvPr id="15" name="">
            <a:extLst xmlns:a="http://schemas.openxmlformats.org/drawingml/2006/main">
              <a:ext uri="{FF2B5EF4-FFF2-40B4-BE49-F238E27FC236}">
                <a16:creationId xmlns:a16="http://schemas.microsoft.com/office/drawing/2014/main" id="{ABEF2229-8E7F-4072-8F3A-C30AC3C8E17B}"/>
              </a:ext>
            </a:extLst>
          </p:cNvPr>
          <p:cNvSpPr>
            <a:spLocks xmlns:a="http://schemas.openxmlformats.org/drawingml/2006/main" noGrp="1"/>
          </p:cNvSpPr>
          <p:nvPr/>
        </p:nvSpPr>
        <p:spPr>
          <a:xfrm xmlns:a="http://schemas.openxmlformats.org/drawingml/2006/main">
            <a:off x="514350" y="5734050"/>
            <a:ext cx="11144250" cy="590550"/>
          </a:xfrm>
          <a:prstGeom xmlns:a="http://schemas.openxmlformats.org/drawingml/2006/main" prst="rect">
            <a:avLst/>
          </a:prstGeom>
          <a:solidFill xmlns:a="http://schemas.openxmlformats.org/drawingml/2006/main">
            <a:srgbClr val="DFF5F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8A5D0A8-27A9-4782-83BF-EEBE4BB9201D}"/>
              </a:ext>
            </a:extLst>
          </p:cNvPr>
          <p:cNvSpPr>
            <a:spLocks xmlns:a="http://schemas.openxmlformats.org/drawingml/2006/main" noGrp="1"/>
          </p:cNvSpPr>
          <p:nvPr/>
        </p:nvSpPr>
        <p:spPr>
          <a:xfrm xmlns:a="http://schemas.openxmlformats.org/drawingml/2006/main">
            <a:off x="723900" y="5829300"/>
            <a:ext cx="10744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The reverse proxy terminates TLS and forwards internally to FastAPI.</a:t>
            </a:r>
          </a:p>
        </p:txBody>
      </p:sp>
    </p:spTree>
    <p:extLst>
      <p:ext uri="{BB962C8B-B14F-4D97-AF65-F5344CB8AC3E}">
        <p14:creationId xmlns:p14="http://schemas.microsoft.com/office/powerpoint/2010/main" val="179735805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4F85F57-6ED9-4A6A-B049-7500CBAAABFD}"/>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M11 / L01</a:t>
            </a:r>
          </a:p>
        </p:txBody>
      </p:sp>
      <p:sp>
        <p:nvSpPr>
          <p:cNvPr id="2" name="">
            <a:extLst xmlns:a="http://schemas.openxmlformats.org/drawingml/2006/main">
              <a:ext uri="{FF2B5EF4-FFF2-40B4-BE49-F238E27FC236}">
                <a16:creationId xmlns:a16="http://schemas.microsoft.com/office/drawing/2014/main" id="{DC5EA470-EF1D-4CCC-8A58-39BA737B4C1A}"/>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Serving Turns a Fitted Model into a Service</a:t>
            </a:r>
          </a:p>
        </p:txBody>
      </p:sp>
      <p:sp>
        <p:nvSpPr>
          <p:cNvPr id="3" name="">
            <a:extLst xmlns:a="http://schemas.openxmlformats.org/drawingml/2006/main">
              <a:ext uri="{FF2B5EF4-FFF2-40B4-BE49-F238E27FC236}">
                <a16:creationId xmlns:a16="http://schemas.microsoft.com/office/drawing/2014/main" id="{7CBA5E79-89FF-4485-8575-93A606D7E5CE}"/>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10</a:t>
            </a:r>
          </a:p>
        </p:txBody>
      </p:sp>
      <p:sp>
        <p:nvSpPr>
          <p:cNvPr id="4" name="">
            <a:extLst xmlns:a="http://schemas.openxmlformats.org/drawingml/2006/main">
              <a:ext uri="{FF2B5EF4-FFF2-40B4-BE49-F238E27FC236}">
                <a16:creationId xmlns:a16="http://schemas.microsoft.com/office/drawing/2014/main" id="{D7EF9218-905A-44A0-B7C2-78AA229EEE61}"/>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QUALITY GATE</a:t>
            </a:r>
          </a:p>
        </p:txBody>
      </p:sp>
      <p:sp>
        <p:nvSpPr>
          <p:cNvPr id="5" name="">
            <a:extLst xmlns:a="http://schemas.openxmlformats.org/drawingml/2006/main">
              <a:ext uri="{FF2B5EF4-FFF2-40B4-BE49-F238E27FC236}">
                <a16:creationId xmlns:a16="http://schemas.microsoft.com/office/drawing/2014/main" id="{0DC9E672-2027-43A1-92A0-27EEF9E3C08A}"/>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B1220"/>
                </a:solidFill>
              </a:defRPr>
            </a:pPr>
            <a:r>
              <a:rPr sz="2850" b="1">
                <a:solidFill>
                  <a:srgbClr val="0B1220"/>
                </a:solidFill>
              </a:rPr>
              <a:t>Logs and Metrics Make Failures Observable</a:t>
            </a:r>
          </a:p>
        </p:txBody>
      </p:sp>
      <p:sp>
        <p:nvSpPr>
          <p:cNvPr id="6" name="">
            <a:extLst xmlns:a="http://schemas.openxmlformats.org/drawingml/2006/main">
              <a:ext uri="{FF2B5EF4-FFF2-40B4-BE49-F238E27FC236}">
                <a16:creationId xmlns:a16="http://schemas.microsoft.com/office/drawing/2014/main" id="{78E850FA-16D3-4F41-98BB-511FDED7C1CA}"/>
              </a:ext>
            </a:extLst>
          </p:cNvPr>
          <p:cNvSpPr>
            <a:spLocks xmlns:a="http://schemas.openxmlformats.org/drawingml/2006/main" noGrp="1"/>
          </p:cNvSpPr>
          <p:nvPr/>
        </p:nvSpPr>
        <p:spPr>
          <a:xfrm xmlns:a="http://schemas.openxmlformats.org/drawingml/2006/main">
            <a:off x="685800" y="17621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7" name="">
            <a:extLst xmlns:a="http://schemas.openxmlformats.org/drawingml/2006/main">
              <a:ext uri="{FF2B5EF4-FFF2-40B4-BE49-F238E27FC236}">
                <a16:creationId xmlns:a16="http://schemas.microsoft.com/office/drawing/2014/main" id="{3E698CA8-C27F-45B6-9866-6C503EEC59C2}"/>
              </a:ext>
            </a:extLst>
          </p:cNvPr>
          <p:cNvSpPr>
            <a:spLocks xmlns:a="http://schemas.openxmlformats.org/drawingml/2006/main" noGrp="1"/>
          </p:cNvSpPr>
          <p:nvPr/>
        </p:nvSpPr>
        <p:spPr>
          <a:xfrm xmlns:a="http://schemas.openxmlformats.org/drawingml/2006/main">
            <a:off x="695325" y="17430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8" name="">
            <a:extLst xmlns:a="http://schemas.openxmlformats.org/drawingml/2006/main">
              <a:ext uri="{FF2B5EF4-FFF2-40B4-BE49-F238E27FC236}">
                <a16:creationId xmlns:a16="http://schemas.microsoft.com/office/drawing/2014/main" id="{7755D53E-BB6B-4DA5-955E-6D41F1CAE4FE}"/>
              </a:ext>
            </a:extLst>
          </p:cNvPr>
          <p:cNvSpPr>
            <a:spLocks xmlns:a="http://schemas.openxmlformats.org/drawingml/2006/main" noGrp="1"/>
          </p:cNvSpPr>
          <p:nvPr/>
        </p:nvSpPr>
        <p:spPr>
          <a:xfrm xmlns:a="http://schemas.openxmlformats.org/drawingml/2006/main">
            <a:off x="1390650" y="16954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timestamp and request ID;</a:t>
            </a:r>
          </a:p>
        </p:txBody>
      </p:sp>
      <p:sp>
        <p:nvSpPr>
          <p:cNvPr id="9" name="">
            <a:extLst xmlns:a="http://schemas.openxmlformats.org/drawingml/2006/main">
              <a:ext uri="{FF2B5EF4-FFF2-40B4-BE49-F238E27FC236}">
                <a16:creationId xmlns:a16="http://schemas.microsoft.com/office/drawing/2014/main" id="{37FD7C8C-AA63-4979-BE9F-D2841677995D}"/>
              </a:ext>
            </a:extLst>
          </p:cNvPr>
          <p:cNvSpPr>
            <a:spLocks xmlns:a="http://schemas.openxmlformats.org/drawingml/2006/main" noGrp="1"/>
          </p:cNvSpPr>
          <p:nvPr/>
        </p:nvSpPr>
        <p:spPr>
          <a:xfrm xmlns:a="http://schemas.openxmlformats.org/drawingml/2006/main">
            <a:off x="1390650" y="24574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DFC2AA7-F6F0-4446-B049-0382FE642897}"/>
              </a:ext>
            </a:extLst>
          </p:cNvPr>
          <p:cNvSpPr>
            <a:spLocks xmlns:a="http://schemas.openxmlformats.org/drawingml/2006/main" noGrp="1"/>
          </p:cNvSpPr>
          <p:nvPr/>
        </p:nvSpPr>
        <p:spPr>
          <a:xfrm xmlns:a="http://schemas.openxmlformats.org/drawingml/2006/main">
            <a:off x="685800" y="28289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11" name="">
            <a:extLst xmlns:a="http://schemas.openxmlformats.org/drawingml/2006/main">
              <a:ext uri="{FF2B5EF4-FFF2-40B4-BE49-F238E27FC236}">
                <a16:creationId xmlns:a16="http://schemas.microsoft.com/office/drawing/2014/main" id="{7296D2A4-DABD-4A76-93EE-AA5DBC2E924A}"/>
              </a:ext>
            </a:extLst>
          </p:cNvPr>
          <p:cNvSpPr>
            <a:spLocks xmlns:a="http://schemas.openxmlformats.org/drawingml/2006/main" noGrp="1"/>
          </p:cNvSpPr>
          <p:nvPr/>
        </p:nvSpPr>
        <p:spPr>
          <a:xfrm xmlns:a="http://schemas.openxmlformats.org/drawingml/2006/main">
            <a:off x="695325" y="28098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12" name="">
            <a:extLst xmlns:a="http://schemas.openxmlformats.org/drawingml/2006/main">
              <a:ext uri="{FF2B5EF4-FFF2-40B4-BE49-F238E27FC236}">
                <a16:creationId xmlns:a16="http://schemas.microsoft.com/office/drawing/2014/main" id="{6315A1FE-1908-4FEB-8DD8-6990ACFCC97C}"/>
              </a:ext>
            </a:extLst>
          </p:cNvPr>
          <p:cNvSpPr>
            <a:spLocks xmlns:a="http://schemas.openxmlformats.org/drawingml/2006/main" noGrp="1"/>
          </p:cNvSpPr>
          <p:nvPr/>
        </p:nvSpPr>
        <p:spPr>
          <a:xfrm xmlns:a="http://schemas.openxmlformats.org/drawingml/2006/main">
            <a:off x="1390650" y="27622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model version;</a:t>
            </a:r>
          </a:p>
        </p:txBody>
      </p:sp>
      <p:sp>
        <p:nvSpPr>
          <p:cNvPr id="13" name="">
            <a:extLst xmlns:a="http://schemas.openxmlformats.org/drawingml/2006/main">
              <a:ext uri="{FF2B5EF4-FFF2-40B4-BE49-F238E27FC236}">
                <a16:creationId xmlns:a16="http://schemas.microsoft.com/office/drawing/2014/main" id="{F557C847-EC5B-4FDA-B47D-D4C99636FE69}"/>
              </a:ext>
            </a:extLst>
          </p:cNvPr>
          <p:cNvSpPr>
            <a:spLocks xmlns:a="http://schemas.openxmlformats.org/drawingml/2006/main" noGrp="1"/>
          </p:cNvSpPr>
          <p:nvPr/>
        </p:nvSpPr>
        <p:spPr>
          <a:xfrm xmlns:a="http://schemas.openxmlformats.org/drawingml/2006/main">
            <a:off x="1390650" y="35242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3D2DBB8-A581-4328-BD9F-D0525956FB49}"/>
              </a:ext>
            </a:extLst>
          </p:cNvPr>
          <p:cNvSpPr>
            <a:spLocks xmlns:a="http://schemas.openxmlformats.org/drawingml/2006/main" noGrp="1"/>
          </p:cNvSpPr>
          <p:nvPr/>
        </p:nvSpPr>
        <p:spPr>
          <a:xfrm xmlns:a="http://schemas.openxmlformats.org/drawingml/2006/main">
            <a:off x="685800" y="38957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15" name="">
            <a:extLst xmlns:a="http://schemas.openxmlformats.org/drawingml/2006/main">
              <a:ext uri="{FF2B5EF4-FFF2-40B4-BE49-F238E27FC236}">
                <a16:creationId xmlns:a16="http://schemas.microsoft.com/office/drawing/2014/main" id="{AE33967B-1451-4764-8BBC-FDFCA43B8023}"/>
              </a:ext>
            </a:extLst>
          </p:cNvPr>
          <p:cNvSpPr>
            <a:spLocks xmlns:a="http://schemas.openxmlformats.org/drawingml/2006/main" noGrp="1"/>
          </p:cNvSpPr>
          <p:nvPr/>
        </p:nvSpPr>
        <p:spPr>
          <a:xfrm xmlns:a="http://schemas.openxmlformats.org/drawingml/2006/main">
            <a:off x="695325" y="38766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16" name="">
            <a:extLst xmlns:a="http://schemas.openxmlformats.org/drawingml/2006/main">
              <a:ext uri="{FF2B5EF4-FFF2-40B4-BE49-F238E27FC236}">
                <a16:creationId xmlns:a16="http://schemas.microsoft.com/office/drawing/2014/main" id="{2BE2583A-6BBF-4AED-B413-B67590C91477}"/>
              </a:ext>
            </a:extLst>
          </p:cNvPr>
          <p:cNvSpPr>
            <a:spLocks xmlns:a="http://schemas.openxmlformats.org/drawingml/2006/main" noGrp="1"/>
          </p:cNvSpPr>
          <p:nvPr/>
        </p:nvSpPr>
        <p:spPr>
          <a:xfrm xmlns:a="http://schemas.openxmlformats.org/drawingml/2006/main">
            <a:off x="1390650" y="38290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status code and error type;</a:t>
            </a:r>
          </a:p>
        </p:txBody>
      </p:sp>
      <p:sp>
        <p:nvSpPr>
          <p:cNvPr id="17" name="">
            <a:extLst xmlns:a="http://schemas.openxmlformats.org/drawingml/2006/main">
              <a:ext uri="{FF2B5EF4-FFF2-40B4-BE49-F238E27FC236}">
                <a16:creationId xmlns:a16="http://schemas.microsoft.com/office/drawing/2014/main" id="{9DCCD7F4-67FC-4D4F-BEE2-1B287906BBBA}"/>
              </a:ext>
            </a:extLst>
          </p:cNvPr>
          <p:cNvSpPr>
            <a:spLocks xmlns:a="http://schemas.openxmlformats.org/drawingml/2006/main" noGrp="1"/>
          </p:cNvSpPr>
          <p:nvPr/>
        </p:nvSpPr>
        <p:spPr>
          <a:xfrm xmlns:a="http://schemas.openxmlformats.org/drawingml/2006/main">
            <a:off x="1390650" y="45910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1859A45-63DC-48BA-A0F9-6492A3FE7408}"/>
              </a:ext>
            </a:extLst>
          </p:cNvPr>
          <p:cNvSpPr>
            <a:spLocks xmlns:a="http://schemas.openxmlformats.org/drawingml/2006/main" noGrp="1"/>
          </p:cNvSpPr>
          <p:nvPr/>
        </p:nvSpPr>
        <p:spPr>
          <a:xfrm xmlns:a="http://schemas.openxmlformats.org/drawingml/2006/main">
            <a:off x="685800" y="49625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19" name="">
            <a:extLst xmlns:a="http://schemas.openxmlformats.org/drawingml/2006/main">
              <a:ext uri="{FF2B5EF4-FFF2-40B4-BE49-F238E27FC236}">
                <a16:creationId xmlns:a16="http://schemas.microsoft.com/office/drawing/2014/main" id="{8D63695B-CB99-4E94-9A6F-82B337416981}"/>
              </a:ext>
            </a:extLst>
          </p:cNvPr>
          <p:cNvSpPr>
            <a:spLocks xmlns:a="http://schemas.openxmlformats.org/drawingml/2006/main" noGrp="1"/>
          </p:cNvSpPr>
          <p:nvPr/>
        </p:nvSpPr>
        <p:spPr>
          <a:xfrm xmlns:a="http://schemas.openxmlformats.org/drawingml/2006/main">
            <a:off x="695325" y="49434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20" name="">
            <a:extLst xmlns:a="http://schemas.openxmlformats.org/drawingml/2006/main">
              <a:ext uri="{FF2B5EF4-FFF2-40B4-BE49-F238E27FC236}">
                <a16:creationId xmlns:a16="http://schemas.microsoft.com/office/drawing/2014/main" id="{8925FEA1-FBF3-4A0B-A998-5E49A0E03F60}"/>
              </a:ext>
            </a:extLst>
          </p:cNvPr>
          <p:cNvSpPr>
            <a:spLocks xmlns:a="http://schemas.openxmlformats.org/drawingml/2006/main" noGrp="1"/>
          </p:cNvSpPr>
          <p:nvPr/>
        </p:nvSpPr>
        <p:spPr>
          <a:xfrm xmlns:a="http://schemas.openxmlformats.org/drawingml/2006/main">
            <a:off x="1390650" y="48958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latency;</a:t>
            </a:r>
          </a:p>
        </p:txBody>
      </p:sp>
      <p:sp>
        <p:nvSpPr>
          <p:cNvPr id="21" name="">
            <a:extLst xmlns:a="http://schemas.openxmlformats.org/drawingml/2006/main">
              <a:ext uri="{FF2B5EF4-FFF2-40B4-BE49-F238E27FC236}">
                <a16:creationId xmlns:a16="http://schemas.microsoft.com/office/drawing/2014/main" id="{3FD3410C-3ADD-4117-99CB-35820B71C98A}"/>
              </a:ext>
            </a:extLst>
          </p:cNvPr>
          <p:cNvSpPr>
            <a:spLocks xmlns:a="http://schemas.openxmlformats.org/drawingml/2006/main" noGrp="1"/>
          </p:cNvSpPr>
          <p:nvPr/>
        </p:nvSpPr>
        <p:spPr>
          <a:xfrm xmlns:a="http://schemas.openxmlformats.org/drawingml/2006/main">
            <a:off x="1390650" y="56578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Tree>
    <p:extLst>
      <p:ext uri="{BB962C8B-B14F-4D97-AF65-F5344CB8AC3E}">
        <p14:creationId xmlns:p14="http://schemas.microsoft.com/office/powerpoint/2010/main" val="112308363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7F757AF-C0E1-4CA5-A625-AD3D1546AA1B}"/>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M11 / L01</a:t>
            </a:r>
          </a:p>
        </p:txBody>
      </p:sp>
      <p:sp>
        <p:nvSpPr>
          <p:cNvPr id="2" name="">
            <a:extLst xmlns:a="http://schemas.openxmlformats.org/drawingml/2006/main">
              <a:ext uri="{FF2B5EF4-FFF2-40B4-BE49-F238E27FC236}">
                <a16:creationId xmlns:a16="http://schemas.microsoft.com/office/drawing/2014/main" id="{F94526E2-F6C0-4612-816A-A42FEE763E51}"/>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Serving Turns a Fitted Model into a Service</a:t>
            </a:r>
          </a:p>
        </p:txBody>
      </p:sp>
      <p:sp>
        <p:nvSpPr>
          <p:cNvPr id="3" name="">
            <a:extLst xmlns:a="http://schemas.openxmlformats.org/drawingml/2006/main">
              <a:ext uri="{FF2B5EF4-FFF2-40B4-BE49-F238E27FC236}">
                <a16:creationId xmlns:a16="http://schemas.microsoft.com/office/drawing/2014/main" id="{6F9BAC8D-EACE-424B-9589-5E0E77DEFAA7}"/>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11</a:t>
            </a:r>
          </a:p>
        </p:txBody>
      </p:sp>
      <p:sp>
        <p:nvSpPr>
          <p:cNvPr id="4" name="">
            <a:extLst xmlns:a="http://schemas.openxmlformats.org/drawingml/2006/main">
              <a:ext uri="{FF2B5EF4-FFF2-40B4-BE49-F238E27FC236}">
                <a16:creationId xmlns:a16="http://schemas.microsoft.com/office/drawing/2014/main" id="{049D2348-A9FD-4E13-8156-384ED6B016A2}"/>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QUALITY GATE</a:t>
            </a:r>
          </a:p>
        </p:txBody>
      </p:sp>
      <p:sp>
        <p:nvSpPr>
          <p:cNvPr id="5" name="">
            <a:extLst xmlns:a="http://schemas.openxmlformats.org/drawingml/2006/main">
              <a:ext uri="{FF2B5EF4-FFF2-40B4-BE49-F238E27FC236}">
                <a16:creationId xmlns:a16="http://schemas.microsoft.com/office/drawing/2014/main" id="{85E2E8DE-DFD0-448A-AEAD-17B360E7C877}"/>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B1220"/>
                </a:solidFill>
              </a:defRPr>
            </a:pPr>
            <a:r>
              <a:rPr sz="2850" b="1">
                <a:solidFill>
                  <a:srgbClr val="0B1220"/>
                </a:solidFill>
              </a:rPr>
              <a:t>Cost Controls Start Before the Instance</a:t>
            </a:r>
          </a:p>
        </p:txBody>
      </p:sp>
      <p:sp>
        <p:nvSpPr>
          <p:cNvPr id="6" name="">
            <a:extLst xmlns:a="http://schemas.openxmlformats.org/drawingml/2006/main">
              <a:ext uri="{FF2B5EF4-FFF2-40B4-BE49-F238E27FC236}">
                <a16:creationId xmlns:a16="http://schemas.microsoft.com/office/drawing/2014/main" id="{5D97F9F7-A22E-41F5-81EB-BABB775048B2}"/>
              </a:ext>
            </a:extLst>
          </p:cNvPr>
          <p:cNvSpPr>
            <a:spLocks xmlns:a="http://schemas.openxmlformats.org/drawingml/2006/main" noGrp="1"/>
          </p:cNvSpPr>
          <p:nvPr/>
        </p:nvSpPr>
        <p:spPr>
          <a:xfrm xmlns:a="http://schemas.openxmlformats.org/drawingml/2006/main">
            <a:off x="685800" y="17621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7" name="">
            <a:extLst xmlns:a="http://schemas.openxmlformats.org/drawingml/2006/main">
              <a:ext uri="{FF2B5EF4-FFF2-40B4-BE49-F238E27FC236}">
                <a16:creationId xmlns:a16="http://schemas.microsoft.com/office/drawing/2014/main" id="{29F6DBAD-A683-4226-9F96-723A8CD08FB7}"/>
              </a:ext>
            </a:extLst>
          </p:cNvPr>
          <p:cNvSpPr>
            <a:spLocks xmlns:a="http://schemas.openxmlformats.org/drawingml/2006/main" noGrp="1"/>
          </p:cNvSpPr>
          <p:nvPr/>
        </p:nvSpPr>
        <p:spPr>
          <a:xfrm xmlns:a="http://schemas.openxmlformats.org/drawingml/2006/main">
            <a:off x="695325" y="17430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8" name="">
            <a:extLst xmlns:a="http://schemas.openxmlformats.org/drawingml/2006/main">
              <a:ext uri="{FF2B5EF4-FFF2-40B4-BE49-F238E27FC236}">
                <a16:creationId xmlns:a16="http://schemas.microsoft.com/office/drawing/2014/main" id="{55CC2B01-6D6C-45A1-976C-D59E755A8952}"/>
              </a:ext>
            </a:extLst>
          </p:cNvPr>
          <p:cNvSpPr>
            <a:spLocks xmlns:a="http://schemas.openxmlformats.org/drawingml/2006/main" noGrp="1"/>
          </p:cNvSpPr>
          <p:nvPr/>
        </p:nvSpPr>
        <p:spPr>
          <a:xfrm xmlns:a="http://schemas.openxmlformats.org/drawingml/2006/main">
            <a:off x="1390650" y="16954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confirm current Free Tier or credit eligibility;</a:t>
            </a:r>
          </a:p>
        </p:txBody>
      </p:sp>
      <p:sp>
        <p:nvSpPr>
          <p:cNvPr id="9" name="">
            <a:extLst xmlns:a="http://schemas.openxmlformats.org/drawingml/2006/main">
              <a:ext uri="{FF2B5EF4-FFF2-40B4-BE49-F238E27FC236}">
                <a16:creationId xmlns:a16="http://schemas.microsoft.com/office/drawing/2014/main" id="{39A40082-F29C-41E7-B205-B8C36BADE16F}"/>
              </a:ext>
            </a:extLst>
          </p:cNvPr>
          <p:cNvSpPr>
            <a:spLocks xmlns:a="http://schemas.openxmlformats.org/drawingml/2006/main" noGrp="1"/>
          </p:cNvSpPr>
          <p:nvPr/>
        </p:nvSpPr>
        <p:spPr>
          <a:xfrm xmlns:a="http://schemas.openxmlformats.org/drawingml/2006/main">
            <a:off x="1390650" y="24574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95E1786-337C-4B82-9DC7-919007287BE6}"/>
              </a:ext>
            </a:extLst>
          </p:cNvPr>
          <p:cNvSpPr>
            <a:spLocks xmlns:a="http://schemas.openxmlformats.org/drawingml/2006/main" noGrp="1"/>
          </p:cNvSpPr>
          <p:nvPr/>
        </p:nvSpPr>
        <p:spPr>
          <a:xfrm xmlns:a="http://schemas.openxmlformats.org/drawingml/2006/main">
            <a:off x="685800" y="28289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11" name="">
            <a:extLst xmlns:a="http://schemas.openxmlformats.org/drawingml/2006/main">
              <a:ext uri="{FF2B5EF4-FFF2-40B4-BE49-F238E27FC236}">
                <a16:creationId xmlns:a16="http://schemas.microsoft.com/office/drawing/2014/main" id="{3130B3A6-95BC-4016-98A1-A3746846ADFF}"/>
              </a:ext>
            </a:extLst>
          </p:cNvPr>
          <p:cNvSpPr>
            <a:spLocks xmlns:a="http://schemas.openxmlformats.org/drawingml/2006/main" noGrp="1"/>
          </p:cNvSpPr>
          <p:nvPr/>
        </p:nvSpPr>
        <p:spPr>
          <a:xfrm xmlns:a="http://schemas.openxmlformats.org/drawingml/2006/main">
            <a:off x="695325" y="28098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12" name="">
            <a:extLst xmlns:a="http://schemas.openxmlformats.org/drawingml/2006/main">
              <a:ext uri="{FF2B5EF4-FFF2-40B4-BE49-F238E27FC236}">
                <a16:creationId xmlns:a16="http://schemas.microsoft.com/office/drawing/2014/main" id="{D899E929-3378-453F-89B3-E7ADF7C2D3FE}"/>
              </a:ext>
            </a:extLst>
          </p:cNvPr>
          <p:cNvSpPr>
            <a:spLocks xmlns:a="http://schemas.openxmlformats.org/drawingml/2006/main" noGrp="1"/>
          </p:cNvSpPr>
          <p:nvPr/>
        </p:nvSpPr>
        <p:spPr>
          <a:xfrm xmlns:a="http://schemas.openxmlformats.org/drawingml/2006/main">
            <a:off x="1390650" y="27622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estimate instance and storage cost;</a:t>
            </a:r>
          </a:p>
        </p:txBody>
      </p:sp>
      <p:sp>
        <p:nvSpPr>
          <p:cNvPr id="13" name="">
            <a:extLst xmlns:a="http://schemas.openxmlformats.org/drawingml/2006/main">
              <a:ext uri="{FF2B5EF4-FFF2-40B4-BE49-F238E27FC236}">
                <a16:creationId xmlns:a16="http://schemas.microsoft.com/office/drawing/2014/main" id="{7DAD15CA-5017-4A46-9E75-9230BE494BEE}"/>
              </a:ext>
            </a:extLst>
          </p:cNvPr>
          <p:cNvSpPr>
            <a:spLocks xmlns:a="http://schemas.openxmlformats.org/drawingml/2006/main" noGrp="1"/>
          </p:cNvSpPr>
          <p:nvPr/>
        </p:nvSpPr>
        <p:spPr>
          <a:xfrm xmlns:a="http://schemas.openxmlformats.org/drawingml/2006/main">
            <a:off x="1390650" y="35242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5BD974B-1394-414B-B3F6-744D6179F4CF}"/>
              </a:ext>
            </a:extLst>
          </p:cNvPr>
          <p:cNvSpPr>
            <a:spLocks xmlns:a="http://schemas.openxmlformats.org/drawingml/2006/main" noGrp="1"/>
          </p:cNvSpPr>
          <p:nvPr/>
        </p:nvSpPr>
        <p:spPr>
          <a:xfrm xmlns:a="http://schemas.openxmlformats.org/drawingml/2006/main">
            <a:off x="685800" y="38957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15" name="">
            <a:extLst xmlns:a="http://schemas.openxmlformats.org/drawingml/2006/main">
              <a:ext uri="{FF2B5EF4-FFF2-40B4-BE49-F238E27FC236}">
                <a16:creationId xmlns:a16="http://schemas.microsoft.com/office/drawing/2014/main" id="{F89A8FE4-48FB-4C9B-94A1-18962E9857B1}"/>
              </a:ext>
            </a:extLst>
          </p:cNvPr>
          <p:cNvSpPr>
            <a:spLocks xmlns:a="http://schemas.openxmlformats.org/drawingml/2006/main" noGrp="1"/>
          </p:cNvSpPr>
          <p:nvPr/>
        </p:nvSpPr>
        <p:spPr>
          <a:xfrm xmlns:a="http://schemas.openxmlformats.org/drawingml/2006/main">
            <a:off x="695325" y="38766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16" name="">
            <a:extLst xmlns:a="http://schemas.openxmlformats.org/drawingml/2006/main">
              <a:ext uri="{FF2B5EF4-FFF2-40B4-BE49-F238E27FC236}">
                <a16:creationId xmlns:a16="http://schemas.microsoft.com/office/drawing/2014/main" id="{5D3BB955-55FB-449B-A8AA-6E6D049D1A85}"/>
              </a:ext>
            </a:extLst>
          </p:cNvPr>
          <p:cNvSpPr>
            <a:spLocks xmlns:a="http://schemas.openxmlformats.org/drawingml/2006/main" noGrp="1"/>
          </p:cNvSpPr>
          <p:nvPr/>
        </p:nvSpPr>
        <p:spPr>
          <a:xfrm xmlns:a="http://schemas.openxmlformats.org/drawingml/2006/main">
            <a:off x="1390650" y="38290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choose the smallest measured capacity;</a:t>
            </a:r>
          </a:p>
        </p:txBody>
      </p:sp>
      <p:sp>
        <p:nvSpPr>
          <p:cNvPr id="17" name="">
            <a:extLst xmlns:a="http://schemas.openxmlformats.org/drawingml/2006/main">
              <a:ext uri="{FF2B5EF4-FFF2-40B4-BE49-F238E27FC236}">
                <a16:creationId xmlns:a16="http://schemas.microsoft.com/office/drawing/2014/main" id="{6CC44ADF-AC58-4BF6-A28D-D8DECC0E93C9}"/>
              </a:ext>
            </a:extLst>
          </p:cNvPr>
          <p:cNvSpPr>
            <a:spLocks xmlns:a="http://schemas.openxmlformats.org/drawingml/2006/main" noGrp="1"/>
          </p:cNvSpPr>
          <p:nvPr/>
        </p:nvSpPr>
        <p:spPr>
          <a:xfrm xmlns:a="http://schemas.openxmlformats.org/drawingml/2006/main">
            <a:off x="1390650" y="45910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726E1BD-F041-4928-BDF2-29077E26ED72}"/>
              </a:ext>
            </a:extLst>
          </p:cNvPr>
          <p:cNvSpPr>
            <a:spLocks xmlns:a="http://schemas.openxmlformats.org/drawingml/2006/main" noGrp="1"/>
          </p:cNvSpPr>
          <p:nvPr/>
        </p:nvSpPr>
        <p:spPr>
          <a:xfrm xmlns:a="http://schemas.openxmlformats.org/drawingml/2006/main">
            <a:off x="685800" y="49625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19" name="">
            <a:extLst xmlns:a="http://schemas.openxmlformats.org/drawingml/2006/main">
              <a:ext uri="{FF2B5EF4-FFF2-40B4-BE49-F238E27FC236}">
                <a16:creationId xmlns:a16="http://schemas.microsoft.com/office/drawing/2014/main" id="{3614212C-9D4D-45D5-9A2B-71899DB1A0FC}"/>
              </a:ext>
            </a:extLst>
          </p:cNvPr>
          <p:cNvSpPr>
            <a:spLocks xmlns:a="http://schemas.openxmlformats.org/drawingml/2006/main" noGrp="1"/>
          </p:cNvSpPr>
          <p:nvPr/>
        </p:nvSpPr>
        <p:spPr>
          <a:xfrm xmlns:a="http://schemas.openxmlformats.org/drawingml/2006/main">
            <a:off x="695325" y="49434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20" name="">
            <a:extLst xmlns:a="http://schemas.openxmlformats.org/drawingml/2006/main">
              <a:ext uri="{FF2B5EF4-FFF2-40B4-BE49-F238E27FC236}">
                <a16:creationId xmlns:a16="http://schemas.microsoft.com/office/drawing/2014/main" id="{267D5DD0-7F73-46CF-9E3E-7FE7F9B086E9}"/>
              </a:ext>
            </a:extLst>
          </p:cNvPr>
          <p:cNvSpPr>
            <a:spLocks xmlns:a="http://schemas.openxmlformats.org/drawingml/2006/main" noGrp="1"/>
          </p:cNvSpPr>
          <p:nvPr/>
        </p:nvSpPr>
        <p:spPr>
          <a:xfrm xmlns:a="http://schemas.openxmlformats.org/drawingml/2006/main">
            <a:off x="1390650" y="48958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set AWS Budgets alerts;</a:t>
            </a:r>
          </a:p>
        </p:txBody>
      </p:sp>
      <p:sp>
        <p:nvSpPr>
          <p:cNvPr id="21" name="">
            <a:extLst xmlns:a="http://schemas.openxmlformats.org/drawingml/2006/main">
              <a:ext uri="{FF2B5EF4-FFF2-40B4-BE49-F238E27FC236}">
                <a16:creationId xmlns:a16="http://schemas.microsoft.com/office/drawing/2014/main" id="{8560191F-6ED2-48C6-8645-440F3FBC30E4}"/>
              </a:ext>
            </a:extLst>
          </p:cNvPr>
          <p:cNvSpPr>
            <a:spLocks xmlns:a="http://schemas.openxmlformats.org/drawingml/2006/main" noGrp="1"/>
          </p:cNvSpPr>
          <p:nvPr/>
        </p:nvSpPr>
        <p:spPr>
          <a:xfrm xmlns:a="http://schemas.openxmlformats.org/drawingml/2006/main">
            <a:off x="1390650" y="56578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Tree>
    <p:extLst>
      <p:ext uri="{BB962C8B-B14F-4D97-AF65-F5344CB8AC3E}">
        <p14:creationId xmlns:p14="http://schemas.microsoft.com/office/powerpoint/2010/main" val="745435498"/>
      </p:ext>
    </p:extLst>
  </p:cSld>
</p:sld>
</file>

<file path=ppt/slides/slide12.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8F31432-B43F-487E-819B-A2A296FC7413}"/>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A8C8"/>
                </a:solidFill>
              </a:defRPr>
            </a:pPr>
            <a:r>
              <a:rPr sz="825" b="1">
                <a:solidFill>
                  <a:srgbClr val="00A8C8"/>
                </a:solidFill>
              </a:rPr>
              <a:t>M11 / L01</a:t>
            </a:r>
          </a:p>
        </p:txBody>
      </p:sp>
      <p:sp>
        <p:nvSpPr>
          <p:cNvPr id="2" name="">
            <a:extLst xmlns:a="http://schemas.openxmlformats.org/drawingml/2006/main">
              <a:ext uri="{FF2B5EF4-FFF2-40B4-BE49-F238E27FC236}">
                <a16:creationId xmlns:a16="http://schemas.microsoft.com/office/drawing/2014/main" id="{44EBC859-30C6-4F8E-9BAF-068D99A9E7A6}"/>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B7CAD9"/>
                </a:solidFill>
              </a:defRPr>
            </a:pPr>
            <a:r>
              <a:rPr sz="825">
                <a:solidFill>
                  <a:srgbClr val="B7CAD9"/>
                </a:solidFill>
              </a:rPr>
              <a:t>Serving Turns a Fitted Model into a Service</a:t>
            </a:r>
          </a:p>
        </p:txBody>
      </p:sp>
      <p:sp>
        <p:nvSpPr>
          <p:cNvPr id="3" name="">
            <a:extLst xmlns:a="http://schemas.openxmlformats.org/drawingml/2006/main">
              <a:ext uri="{FF2B5EF4-FFF2-40B4-BE49-F238E27FC236}">
                <a16:creationId xmlns:a16="http://schemas.microsoft.com/office/drawing/2014/main" id="{F1B23658-F956-45B0-9FF0-FEAA931E56AB}"/>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B7CAD9"/>
                </a:solidFill>
              </a:defRPr>
            </a:pPr>
            <a:r>
              <a:rPr sz="825" b="1">
                <a:solidFill>
                  <a:srgbClr val="B7CAD9"/>
                </a:solidFill>
              </a:rPr>
              <a:t>DS ACADEMY   12</a:t>
            </a:r>
          </a:p>
        </p:txBody>
      </p:sp>
      <p:sp>
        <p:nvSpPr>
          <p:cNvPr id="4" name="">
            <a:extLst xmlns:a="http://schemas.openxmlformats.org/drawingml/2006/main">
              <a:ext uri="{FF2B5EF4-FFF2-40B4-BE49-F238E27FC236}">
                <a16:creationId xmlns:a16="http://schemas.microsoft.com/office/drawing/2014/main" id="{34A2F53E-20CA-4B9E-A6FB-9A2921E153F0}"/>
              </a:ext>
            </a:extLst>
          </p:cNvPr>
          <p:cNvSpPr>
            <a:spLocks xmlns:a="http://schemas.openxmlformats.org/drawingml/2006/main" noGrp="1"/>
          </p:cNvSpPr>
          <p:nvPr/>
        </p:nvSpPr>
        <p:spPr>
          <a:xfrm xmlns:a="http://schemas.openxmlformats.org/drawingml/2006/main">
            <a:off x="609600" y="8763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A8C8"/>
                </a:solidFill>
              </a:defRPr>
            </a:pPr>
            <a:r>
              <a:rPr sz="900" b="1">
                <a:solidFill>
                  <a:srgbClr val="00A8C8"/>
                </a:solidFill>
              </a:rPr>
              <a:t>GUIDED LAB</a:t>
            </a:r>
          </a:p>
        </p:txBody>
      </p:sp>
      <p:sp>
        <p:nvSpPr>
          <p:cNvPr id="5" name="">
            <a:extLst xmlns:a="http://schemas.openxmlformats.org/drawingml/2006/main">
              <a:ext uri="{FF2B5EF4-FFF2-40B4-BE49-F238E27FC236}">
                <a16:creationId xmlns:a16="http://schemas.microsoft.com/office/drawing/2014/main" id="{5AC177CD-5072-4DAF-9BD8-8F1271D0EDB0}"/>
              </a:ext>
            </a:extLst>
          </p:cNvPr>
          <p:cNvSpPr>
            <a:spLocks xmlns:a="http://schemas.openxmlformats.org/drawingml/2006/main" noGrp="1"/>
          </p:cNvSpPr>
          <p:nvPr/>
        </p:nvSpPr>
        <p:spPr>
          <a:xfrm xmlns:a="http://schemas.openxmlformats.org/drawingml/2006/main">
            <a:off x="609600" y="1466850"/>
            <a:ext cx="104775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775" b="1">
                <a:solidFill>
                  <a:srgbClr val="FFFFFF"/>
                </a:solidFill>
              </a:defRPr>
            </a:pPr>
            <a:r>
              <a:rPr sz="2775" b="1">
                <a:solidFill>
                  <a:srgbClr val="FFFFFF"/>
                </a:solidFill>
              </a:rPr>
              <a:t>Guided Lab: Deploy, Verify, and Clean Up</a:t>
            </a:r>
          </a:p>
        </p:txBody>
      </p:sp>
      <p:sp>
        <p:nvSpPr>
          <p:cNvPr id="6" name="">
            <a:extLst xmlns:a="http://schemas.openxmlformats.org/drawingml/2006/main">
              <a:ext uri="{FF2B5EF4-FFF2-40B4-BE49-F238E27FC236}">
                <a16:creationId xmlns:a16="http://schemas.microsoft.com/office/drawing/2014/main" id="{9156CB99-3E46-493F-9F53-B657FEF7222E}"/>
              </a:ext>
            </a:extLst>
          </p:cNvPr>
          <p:cNvSpPr>
            <a:spLocks xmlns:a="http://schemas.openxmlformats.org/drawingml/2006/main" noGrp="1"/>
          </p:cNvSpPr>
          <p:nvPr/>
        </p:nvSpPr>
        <p:spPr>
          <a:xfrm xmlns:a="http://schemas.openxmlformats.org/drawingml/2006/main">
            <a:off x="609600" y="39052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01</a:t>
            </a:r>
          </a:p>
        </p:txBody>
      </p:sp>
      <p:sp>
        <p:nvSpPr>
          <p:cNvPr id="7" name="">
            <a:extLst xmlns:a="http://schemas.openxmlformats.org/drawingml/2006/main">
              <a:ext uri="{FF2B5EF4-FFF2-40B4-BE49-F238E27FC236}">
                <a16:creationId xmlns:a16="http://schemas.microsoft.com/office/drawing/2014/main" id="{10C861B7-3284-40D2-B28A-116A658CE47C}"/>
              </a:ext>
            </a:extLst>
          </p:cNvPr>
          <p:cNvSpPr>
            <a:spLocks xmlns:a="http://schemas.openxmlformats.org/drawingml/2006/main" noGrp="1"/>
          </p:cNvSpPr>
          <p:nvPr/>
        </p:nvSpPr>
        <p:spPr>
          <a:xfrm xmlns:a="http://schemas.openxmlformats.org/drawingml/2006/main">
            <a:off x="609600" y="4400550"/>
            <a:ext cx="2038350" cy="47625"/>
          </a:xfrm>
          <a:prstGeom xmlns:a="http://schemas.openxmlformats.org/drawingml/2006/main" prst="rect">
            <a:avLst/>
          </a:prstGeom>
          <a:solidFill xmlns:a="http://schemas.openxmlformats.org/drawingml/2006/main">
            <a:srgbClr val="4A657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2B46A84-4892-4335-8EDA-E5BE99B530E4}"/>
              </a:ext>
            </a:extLst>
          </p:cNvPr>
          <p:cNvSpPr>
            <a:spLocks xmlns:a="http://schemas.openxmlformats.org/drawingml/2006/main" noGrp="1"/>
          </p:cNvSpPr>
          <p:nvPr/>
        </p:nvSpPr>
        <p:spPr>
          <a:xfrm xmlns:a="http://schemas.openxmlformats.org/drawingml/2006/main">
            <a:off x="60960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FFFFFF"/>
                </a:solidFill>
              </a:defRPr>
            </a:pPr>
            <a:r>
              <a:rPr sz="1875" b="1">
                <a:solidFill>
                  <a:srgbClr val="FFFFFF"/>
                </a:solidFill>
              </a:rPr>
              <a:t>local API contract tests</a:t>
            </a:r>
          </a:p>
        </p:txBody>
      </p:sp>
      <p:sp>
        <p:nvSpPr>
          <p:cNvPr id="9" name="">
            <a:extLst xmlns:a="http://schemas.openxmlformats.org/drawingml/2006/main">
              <a:ext uri="{FF2B5EF4-FFF2-40B4-BE49-F238E27FC236}">
                <a16:creationId xmlns:a16="http://schemas.microsoft.com/office/drawing/2014/main" id="{2329861F-620D-4AA6-ABFA-F488B73AECEB}"/>
              </a:ext>
            </a:extLst>
          </p:cNvPr>
          <p:cNvSpPr>
            <a:spLocks xmlns:a="http://schemas.openxmlformats.org/drawingml/2006/main" noGrp="1"/>
          </p:cNvSpPr>
          <p:nvPr/>
        </p:nvSpPr>
        <p:spPr>
          <a:xfrm xmlns:a="http://schemas.openxmlformats.org/drawingml/2006/main">
            <a:off x="3371850" y="39052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02</a:t>
            </a:r>
          </a:p>
        </p:txBody>
      </p:sp>
      <p:sp>
        <p:nvSpPr>
          <p:cNvPr id="10" name="">
            <a:extLst xmlns:a="http://schemas.openxmlformats.org/drawingml/2006/main">
              <a:ext uri="{FF2B5EF4-FFF2-40B4-BE49-F238E27FC236}">
                <a16:creationId xmlns:a16="http://schemas.microsoft.com/office/drawing/2014/main" id="{E7960CBD-2F05-454D-90AE-E26A6565BDB2}"/>
              </a:ext>
            </a:extLst>
          </p:cNvPr>
          <p:cNvSpPr>
            <a:spLocks xmlns:a="http://schemas.openxmlformats.org/drawingml/2006/main" noGrp="1"/>
          </p:cNvSpPr>
          <p:nvPr/>
        </p:nvSpPr>
        <p:spPr>
          <a:xfrm xmlns:a="http://schemas.openxmlformats.org/drawingml/2006/main">
            <a:off x="3371850" y="4400550"/>
            <a:ext cx="2038350" cy="47625"/>
          </a:xfrm>
          <a:prstGeom xmlns:a="http://schemas.openxmlformats.org/drawingml/2006/main" prst="rect">
            <a:avLst/>
          </a:prstGeom>
          <a:solidFill xmlns:a="http://schemas.openxmlformats.org/drawingml/2006/main">
            <a:srgbClr val="4A657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E4658CE-8A85-4414-9A3D-F61C11C107AA}"/>
              </a:ext>
            </a:extLst>
          </p:cNvPr>
          <p:cNvSpPr>
            <a:spLocks xmlns:a="http://schemas.openxmlformats.org/drawingml/2006/main" noGrp="1"/>
          </p:cNvSpPr>
          <p:nvPr/>
        </p:nvSpPr>
        <p:spPr>
          <a:xfrm xmlns:a="http://schemas.openxmlformats.org/drawingml/2006/main">
            <a:off x="337185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FFFFFF"/>
                </a:solidFill>
              </a:defRPr>
            </a:pPr>
            <a:r>
              <a:rPr sz="1650" b="1">
                <a:solidFill>
                  <a:srgbClr val="FFFFFF"/>
                </a:solidFill>
              </a:rPr>
              <a:t>model loaded once at startup</a:t>
            </a:r>
          </a:p>
        </p:txBody>
      </p:sp>
      <p:sp>
        <p:nvSpPr>
          <p:cNvPr id="12" name="">
            <a:extLst xmlns:a="http://schemas.openxmlformats.org/drawingml/2006/main">
              <a:ext uri="{FF2B5EF4-FFF2-40B4-BE49-F238E27FC236}">
                <a16:creationId xmlns:a16="http://schemas.microsoft.com/office/drawing/2014/main" id="{5F1ECA90-15EE-429E-8A07-403BAC9EA808}"/>
              </a:ext>
            </a:extLst>
          </p:cNvPr>
          <p:cNvSpPr>
            <a:spLocks xmlns:a="http://schemas.openxmlformats.org/drawingml/2006/main" noGrp="1"/>
          </p:cNvSpPr>
          <p:nvPr/>
        </p:nvSpPr>
        <p:spPr>
          <a:xfrm xmlns:a="http://schemas.openxmlformats.org/drawingml/2006/main">
            <a:off x="6134100" y="39052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03</a:t>
            </a:r>
          </a:p>
        </p:txBody>
      </p:sp>
      <p:sp>
        <p:nvSpPr>
          <p:cNvPr id="13" name="">
            <a:extLst xmlns:a="http://schemas.openxmlformats.org/drawingml/2006/main">
              <a:ext uri="{FF2B5EF4-FFF2-40B4-BE49-F238E27FC236}">
                <a16:creationId xmlns:a16="http://schemas.microsoft.com/office/drawing/2014/main" id="{D689DE85-9552-48D7-BE9C-08B218DFE1BF}"/>
              </a:ext>
            </a:extLst>
          </p:cNvPr>
          <p:cNvSpPr>
            <a:spLocks xmlns:a="http://schemas.openxmlformats.org/drawingml/2006/main" noGrp="1"/>
          </p:cNvSpPr>
          <p:nvPr/>
        </p:nvSpPr>
        <p:spPr>
          <a:xfrm xmlns:a="http://schemas.openxmlformats.org/drawingml/2006/main">
            <a:off x="6134100" y="4400550"/>
            <a:ext cx="2038350" cy="47625"/>
          </a:xfrm>
          <a:prstGeom xmlns:a="http://schemas.openxmlformats.org/drawingml/2006/main" prst="rect">
            <a:avLst/>
          </a:prstGeom>
          <a:solidFill xmlns:a="http://schemas.openxmlformats.org/drawingml/2006/main">
            <a:srgbClr val="4A657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3374A0B-0F47-4336-A170-81682F0C1401}"/>
              </a:ext>
            </a:extLst>
          </p:cNvPr>
          <p:cNvSpPr>
            <a:spLocks xmlns:a="http://schemas.openxmlformats.org/drawingml/2006/main" noGrp="1"/>
          </p:cNvSpPr>
          <p:nvPr/>
        </p:nvSpPr>
        <p:spPr>
          <a:xfrm xmlns:a="http://schemas.openxmlformats.org/drawingml/2006/main">
            <a:off x="613410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FFFFFF"/>
                </a:solidFill>
              </a:defRPr>
            </a:pPr>
            <a:r>
              <a:rPr sz="1650" b="1">
                <a:solidFill>
                  <a:srgbClr val="FFFFFF"/>
                </a:solidFill>
              </a:rPr>
              <a:t>health and prediction endpoints</a:t>
            </a:r>
          </a:p>
        </p:txBody>
      </p:sp>
      <p:sp>
        <p:nvSpPr>
          <p:cNvPr id="15" name="">
            <a:extLst xmlns:a="http://schemas.openxmlformats.org/drawingml/2006/main">
              <a:ext uri="{FF2B5EF4-FFF2-40B4-BE49-F238E27FC236}">
                <a16:creationId xmlns:a16="http://schemas.microsoft.com/office/drawing/2014/main" id="{28A0C338-E176-4410-A3B0-C14F1CCA0E93}"/>
              </a:ext>
            </a:extLst>
          </p:cNvPr>
          <p:cNvSpPr>
            <a:spLocks xmlns:a="http://schemas.openxmlformats.org/drawingml/2006/main" noGrp="1"/>
          </p:cNvSpPr>
          <p:nvPr/>
        </p:nvSpPr>
        <p:spPr>
          <a:xfrm xmlns:a="http://schemas.openxmlformats.org/drawingml/2006/main">
            <a:off x="8896350" y="39052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06B5F"/>
                </a:solidFill>
              </a:defRPr>
            </a:pPr>
            <a:r>
              <a:rPr sz="975" b="1">
                <a:solidFill>
                  <a:srgbClr val="F06B5F"/>
                </a:solidFill>
              </a:rPr>
              <a:t>04</a:t>
            </a:r>
          </a:p>
        </p:txBody>
      </p:sp>
      <p:sp>
        <p:nvSpPr>
          <p:cNvPr id="16" name="">
            <a:extLst xmlns:a="http://schemas.openxmlformats.org/drawingml/2006/main">
              <a:ext uri="{FF2B5EF4-FFF2-40B4-BE49-F238E27FC236}">
                <a16:creationId xmlns:a16="http://schemas.microsoft.com/office/drawing/2014/main" id="{042A0610-D55F-4A28-994A-147B3F473438}"/>
              </a:ext>
            </a:extLst>
          </p:cNvPr>
          <p:cNvSpPr>
            <a:spLocks xmlns:a="http://schemas.openxmlformats.org/drawingml/2006/main" noGrp="1"/>
          </p:cNvSpPr>
          <p:nvPr/>
        </p:nvSpPr>
        <p:spPr>
          <a:xfrm xmlns:a="http://schemas.openxmlformats.org/drawingml/2006/main">
            <a:off x="8896350" y="4400550"/>
            <a:ext cx="2038350" cy="47625"/>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24C2B26-FF17-472E-9BCE-FD455DE9F7C8}"/>
              </a:ext>
            </a:extLst>
          </p:cNvPr>
          <p:cNvSpPr>
            <a:spLocks xmlns:a="http://schemas.openxmlformats.org/drawingml/2006/main" noGrp="1"/>
          </p:cNvSpPr>
          <p:nvPr/>
        </p:nvSpPr>
        <p:spPr>
          <a:xfrm xmlns:a="http://schemas.openxmlformats.org/drawingml/2006/main">
            <a:off x="889635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FFFFFF"/>
                </a:solidFill>
              </a:defRPr>
            </a:pPr>
            <a:r>
              <a:rPr sz="1650" b="1">
                <a:solidFill>
                  <a:srgbClr val="FFFFFF"/>
                </a:solidFill>
              </a:rPr>
              <a:t>Docker image build and local run</a:t>
            </a:r>
          </a:p>
        </p:txBody>
      </p:sp>
    </p:spTree>
    <p:extLst>
      <p:ext uri="{BB962C8B-B14F-4D97-AF65-F5344CB8AC3E}">
        <p14:creationId xmlns:p14="http://schemas.microsoft.com/office/powerpoint/2010/main" val="16910320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2026-07-28T19:28:31.4270000Z</dcterms:created>
  <dcterms:modified xsi:type="dcterms:W3CDTF">2026-07-28T19:28:31.4270000Z</dcterms:modified>
</coreProperties>
</file>