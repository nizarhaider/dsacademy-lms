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0a84460d2b4245" /><Relationship Type="http://schemas.openxmlformats.org/officeDocument/2006/relationships/extended-properties" Target="/docProps/app.xml" Id="R710584c57727403c" /><Relationship Type="http://schemas.openxmlformats.org/officeDocument/2006/relationships/officeDocument" Target="/ppt/presentation.xml" Id="R6dd3c8a73dbd4c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0f82b5be0941f4"/>
  </p:sldMasterIdLst>
  <p:notesMasterIdLst>
    <p:notesMasterId xmlns:r="http://schemas.openxmlformats.org/officeDocument/2006/relationships" r:id="Rcaaee96a1d784903"/>
  </p:notesMasterIdLst>
  <p:sldIdLst>
    <p:sldId xmlns:r="http://schemas.openxmlformats.org/officeDocument/2006/relationships" id="256" r:id="Raf72eacdb519449e"/>
    <p:sldId xmlns:r="http://schemas.openxmlformats.org/officeDocument/2006/relationships" id="257" r:id="R533ae288e8a0429a"/>
    <p:sldId xmlns:r="http://schemas.openxmlformats.org/officeDocument/2006/relationships" id="258" r:id="R5a9c709ade9947cb"/>
    <p:sldId xmlns:r="http://schemas.openxmlformats.org/officeDocument/2006/relationships" id="259" r:id="Rebae515f68a64fb4"/>
    <p:sldId xmlns:r="http://schemas.openxmlformats.org/officeDocument/2006/relationships" id="260" r:id="R39b2034ccccb41f7"/>
    <p:sldId xmlns:r="http://schemas.openxmlformats.org/officeDocument/2006/relationships" id="261" r:id="R0b7611c832c14161"/>
    <p:sldId xmlns:r="http://schemas.openxmlformats.org/officeDocument/2006/relationships" id="262" r:id="Raa5295b0bf344a0f"/>
    <p:sldId xmlns:r="http://schemas.openxmlformats.org/officeDocument/2006/relationships" id="263" r:id="R51138a0629a24793"/>
    <p:sldId xmlns:r="http://schemas.openxmlformats.org/officeDocument/2006/relationships" id="264" r:id="R9d03a23fb58c406c"/>
    <p:sldId xmlns:r="http://schemas.openxmlformats.org/officeDocument/2006/relationships" id="265" r:id="Ra98c789ab3a34e83"/>
    <p:sldId xmlns:r="http://schemas.openxmlformats.org/officeDocument/2006/relationships" id="266" r:id="R64f7c4be16c44bb2"/>
    <p:sldId xmlns:r="http://schemas.openxmlformats.org/officeDocument/2006/relationships" id="267" r:id="Ree3f474634304a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d4b4763b464771" /><Relationship Type="http://schemas.openxmlformats.org/officeDocument/2006/relationships/slideMaster" Target="/ppt/slideMasters/slideMaster1.xml" Id="R4b0f82b5be0941f4" /><Relationship Type="http://schemas.openxmlformats.org/officeDocument/2006/relationships/notesMaster" Target="/ppt/notesMasters/notesMaster1.xml" Id="Rcaaee96a1d784903" /><Relationship Type="http://schemas.openxmlformats.org/officeDocument/2006/relationships/presProps" Target="/ppt/presProps.xml" Id="R29b5710ca2d04057" /><Relationship Type="http://schemas.openxmlformats.org/officeDocument/2006/relationships/tableStyles" Target="/ppt/tableStyles.xml" Id="R49474aa888ee49f9" /><Relationship Type="http://schemas.openxmlformats.org/officeDocument/2006/relationships/slide" Target="/ppt/slides/slide1.xml" Id="Raf72eacdb519449e" /><Relationship Type="http://schemas.openxmlformats.org/officeDocument/2006/relationships/slide" Target="/ppt/slides/slide2.xml" Id="R533ae288e8a0429a" /><Relationship Type="http://schemas.openxmlformats.org/officeDocument/2006/relationships/slide" Target="/ppt/slides/slide3.xml" Id="R5a9c709ade9947cb" /><Relationship Type="http://schemas.openxmlformats.org/officeDocument/2006/relationships/slide" Target="/ppt/slides/slide4.xml" Id="Rebae515f68a64fb4" /><Relationship Type="http://schemas.openxmlformats.org/officeDocument/2006/relationships/slide" Target="/ppt/slides/slide5.xml" Id="R39b2034ccccb41f7" /><Relationship Type="http://schemas.openxmlformats.org/officeDocument/2006/relationships/slide" Target="/ppt/slides/slide6.xml" Id="R0b7611c832c14161" /><Relationship Type="http://schemas.openxmlformats.org/officeDocument/2006/relationships/slide" Target="/ppt/slides/slide7.xml" Id="Raa5295b0bf344a0f" /><Relationship Type="http://schemas.openxmlformats.org/officeDocument/2006/relationships/slide" Target="/ppt/slides/slide8.xml" Id="R51138a0629a24793" /><Relationship Type="http://schemas.openxmlformats.org/officeDocument/2006/relationships/slide" Target="/ppt/slides/slide9.xml" Id="R9d03a23fb58c406c" /><Relationship Type="http://schemas.openxmlformats.org/officeDocument/2006/relationships/slide" Target="/ppt/slides/slide10.xml" Id="Ra98c789ab3a34e83" /><Relationship Type="http://schemas.openxmlformats.org/officeDocument/2006/relationships/slide" Target="/ppt/slides/slide11.xml" Id="R64f7c4be16c44bb2" /><Relationship Type="http://schemas.openxmlformats.org/officeDocument/2006/relationships/slide" Target="/ppt/slides/slide12.xml" Id="Ree3f474634304a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44808502e44b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96a08aeb234c04" /><Relationship Type="http://schemas.openxmlformats.org/officeDocument/2006/relationships/notesMaster" Target="/ppt/notesMasters/notesMaster1.xml" Id="R86eb8aa188f847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f4653513694903" /><Relationship Type="http://schemas.openxmlformats.org/officeDocument/2006/relationships/notesMaster" Target="/ppt/notesMasters/notesMaster1.xml" Id="R22be1d0829804a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0f243ada4e4d4a" /><Relationship Type="http://schemas.openxmlformats.org/officeDocument/2006/relationships/notesMaster" Target="/ppt/notesMasters/notesMaster1.xml" Id="R2cf2eed11f9e4f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866165cc4b47a8" /><Relationship Type="http://schemas.openxmlformats.org/officeDocument/2006/relationships/notesMaster" Target="/ppt/notesMasters/notesMaster1.xml" Id="R4681ffd885174a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7164d3285b47d8" /><Relationship Type="http://schemas.openxmlformats.org/officeDocument/2006/relationships/notesMaster" Target="/ppt/notesMasters/notesMaster1.xml" Id="R4a42f54aa3dd4d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28cce3eaf4402a" /><Relationship Type="http://schemas.openxmlformats.org/officeDocument/2006/relationships/notesMaster" Target="/ppt/notesMasters/notesMaster1.xml" Id="R5bd932d9db854f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bb616202214b00" /><Relationship Type="http://schemas.openxmlformats.org/officeDocument/2006/relationships/notesMaster" Target="/ppt/notesMasters/notesMaster1.xml" Id="Refccd3a867ac47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796eb4cb1143b9" /><Relationship Type="http://schemas.openxmlformats.org/officeDocument/2006/relationships/notesMaster" Target="/ppt/notesMasters/notesMaster1.xml" Id="Rf090aae1cb9d43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1d817eeb8f4ced" /><Relationship Type="http://schemas.openxmlformats.org/officeDocument/2006/relationships/notesMaster" Target="/ppt/notesMasters/notesMaster1.xml" Id="R6955c3c0c40847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2a36f8f9da4f7d" /><Relationship Type="http://schemas.openxmlformats.org/officeDocument/2006/relationships/notesMaster" Target="/ppt/notesMasters/notesMaster1.xml" Id="Rd67ee4e009ba43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d346339035419c" /><Relationship Type="http://schemas.openxmlformats.org/officeDocument/2006/relationships/notesMaster" Target="/ppt/notesMasters/notesMaster1.xml" Id="R1ba7ec34e0fb4f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6f0c962b274f45" /><Relationship Type="http://schemas.openxmlformats.org/officeDocument/2006/relationships/notesMaster" Target="/ppt/notesMasters/notesMaster1.xml" Id="R544c3824409245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mathematical **function** is a rule that maps each allowed input to one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`y = f(x)`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`x` is the input.</a:t>
            </a:r>
          </a:p>
          <a:p xmlns:a="http://schemas.openxmlformats.org/drawingml/2006/main">
            <a:r>
              <a:t>- `f` is the rule.</a:t>
            </a:r>
          </a:p>
          <a:p xmlns:a="http://schemas.openxmlformats.org/drawingml/2006/main">
            <a:r>
              <a:t>- `y` is the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`f(x) = 2x + 1`, the coefficient `2` controls how quickly output changes and the intercept `1` is the output when `x = 0`.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Machine-learning models are functions whose parameters are estimated from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For `f(x) = 2x + 1` and `x = 3`: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Multiply: `2 x 3 = 6`</a:t>
            </a:r>
          </a:p>
          <a:p xmlns:a="http://schemas.openxmlformats.org/drawingml/2006/main">
            <a:r>
              <a:t>2. Add intercept: `6 + 1 = 7`</a:t>
            </a:r>
          </a:p>
          <a:p xmlns:a="http://schemas.openxmlformats.org/drawingml/2006/main">
            <a:r>
              <a:t>3. Therefore `f(3) = 7`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An input `3` passes through a box labelled `multiply by 2, then add 1` and becomes `7`. A line graph marks `(0,1)` and `(3,7)`.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Connect this to Python functions but distinguish a mathematical mapping from Python syntax.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Later model equations use the same input-rule-output structure with learned parameters.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https://mml-book.github.io/</a:t>
            </a:r>
          </a:p>
          <a:p xmlns:a="http://schemas.openxmlformats.org/drawingml/2006/main">
            <a:r>
              <a:t>- https://openstax.org/books/college-algebra-2e/pages/3-1-functions-and-function-notation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**slope** of a straight line measures output change per unit of input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`slope = change in y / change in x = Δy / Δx`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positive slope rises, a negative slope falls, and zero slope is horizontal. Slope has units: if `x` is hours and `y` is kilometres, slope is kilometres per hour.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Two points are `(1, 3)` and `(4, 9)`.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`Δy = 9 - 3 = 6`  </a:t>
            </a:r>
          </a:p>
          <a:p xmlns:a="http://schemas.openxmlformats.org/drawingml/2006/main">
            <a:r>
              <a:t>`Δx = 4 - 1 = 3`  </a:t>
            </a:r>
          </a:p>
          <a:p xmlns:a="http://schemas.openxmlformats.org/drawingml/2006/main">
            <a:r>
              <a:t>`slope = 6 / 3 = 2`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every one-unit increase in `x`, `y` increases by `2`.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coordinate plane shows the two points and a right triangle labelled `run = 3`, `rise = 6`, and slope `2`.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Always state units and direction. Explain that division by zero occurs for a vertical 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Slope becomes a coefficient in Week 7 and local slope becomes a derivative later this week.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https://openstax.org/books/college-algebra-2e/pages/2-1-linear-functions</a:t>
            </a:r>
          </a:p>
          <a:p xmlns:a="http://schemas.openxmlformats.org/drawingml/2006/main">
            <a:r>
              <a:t>- https://mml-book.github.io/book/mml-book.pdf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**vector** is an ordered list of numbers.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`x = [x1, x2, ..., xn]`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 machine learning, one vector can represent one observation. Each position has a fixed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Example: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`x = [5, 3, 8]`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could mean `5` study hours, `3` assignments, and `8` hours of sleep. Reordering values without reordering their meanings creates incorrect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Add vectors position by position: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`[2, 4] + [1, 3] = [2+1, 4+3] = [3, 7]`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Multiply by a scalar: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`2[3, 7] = [6, 14]`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student record becomes a three-position vector with feature names aligned above each 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Stress order and units. Avoid introducing abstract vector spaces; the goal is model-ready representation.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NumPy arrays and PyTorch tensors later store batches of feature vectors.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https://mml-book.github.io/book/mml-book.pdf</a:t>
            </a:r>
          </a:p>
          <a:p xmlns:a="http://schemas.openxmlformats.org/drawingml/2006/main">
            <a:r>
              <a:t>- https://numpy.org/doc/stable/reference/arrays.html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**matrix** is a rectangular grid of numbers. A dataset matrix commonly uses: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one row per observation;</a:t>
            </a:r>
          </a:p>
          <a:p xmlns:a="http://schemas.openxmlformats.org/drawingml/2006/main">
            <a:r>
              <a:t>- one column per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`X` with shape `(m, n)` contains `m` observations and `n`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Matrix multiplication is valid when inner dimensions match: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`(m, n) @ (n, p) -&gt; (m, p)`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shared `n` means both operands refer to the same number of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`X` has shape `(3, 2)`: three students, two features.  </a:t>
            </a:r>
          </a:p>
          <a:p xmlns:a="http://schemas.openxmlformats.org/drawingml/2006/main">
            <a:r>
              <a:t>`w` has shape `(2, 1)`: one weight for each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`X @ w` has shape `(3, 1)`: one result for each student.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Shape blocks `(3,2)` and `(2,1)` align at the shared `2`; the result block is `(3,1)`.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Check shapes before values. Have learners say what every dimension represents.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This prepares learners for matrix-shaped batches and weight matrices in neural networks.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https://mml-book.github.io/book/mml-book.pdf</a:t>
            </a:r>
          </a:p>
          <a:p xmlns:a="http://schemas.openxmlformats.org/drawingml/2006/main">
            <a:r>
              <a:t>- https://numpy.org/doc/stable/reference/generated/numpy.matmul.html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**dot product** multiplies matching vector positions and adds the products: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`x · w = x1w1 + x2w2 + ... + xnwn`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 a model, `x` contains feature values and `w` contains one weight for each feature. A larger positive weight increases the result when its feature increases; a negative weight decreases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`x = [2, 3]` and `w = [0.4, -0.1]`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`x · w = (2 x 0.4) + (3 x -0.1)`  </a:t>
            </a:r>
          </a:p>
          <a:p xmlns:a="http://schemas.openxmlformats.org/drawingml/2006/main">
            <a:r>
              <a:t>`= 0.8 - 0.3`  </a:t>
            </a:r>
          </a:p>
          <a:p xmlns:a="http://schemas.openxmlformats.org/drawingml/2006/main">
            <a:r>
              <a:t>`= 0.5`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With intercept `b = 0.2`, prediction is `0.5 + 0.2 = 0.7`.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Matching feature and weight pairs are multiplied, then arrows merge into a sum and intercept.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Work every multiplication separately. Explain that the dot product is one number, not another same-length vector.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Week 7 linear regression and Week 9 neurons both use weighted sums.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https://mml-book.github.io/book/mml-book.pdf</a:t>
            </a:r>
          </a:p>
          <a:p xmlns:a="http://schemas.openxmlformats.org/drawingml/2006/main">
            <a:r>
              <a:t>- https://numpy.org/doc/stable/reference/generated/numpy.dot.html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values `x1 ... xn` with mean `μ`, population variance is: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`variance = Σ(xi - μ)^2 / n`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`xi`: one value</a:t>
            </a:r>
          </a:p>
          <a:p xmlns:a="http://schemas.openxmlformats.org/drawingml/2006/main">
            <a:r>
              <a:t>- `μ`: mean</a:t>
            </a:r>
          </a:p>
          <a:p xmlns:a="http://schemas.openxmlformats.org/drawingml/2006/main">
            <a:r>
              <a:t>- `xi - μ`: deviation from the mean</a:t>
            </a:r>
          </a:p>
          <a:p xmlns:a="http://schemas.openxmlformats.org/drawingml/2006/main">
            <a:r>
              <a:t>- squaring makes deviations non-negative and emphasizes large distances</a:t>
            </a:r>
          </a:p>
          <a:p xmlns:a="http://schemas.openxmlformats.org/drawingml/2006/main">
            <a:r>
              <a:t>- `Σ` means add all terms</a:t>
            </a:r>
          </a:p>
          <a:p xmlns:a="http://schemas.openxmlformats.org/drawingml/2006/main">
            <a:r>
              <a:t>- dividing by `n` gives the average squared deviation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 deviation is `sqrt(variance)` and returns to the original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For `[2, 4, 6]`, mean is `4`.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Deviations: `[-2, 0, 2]`  </a:t>
            </a:r>
          </a:p>
          <a:p xmlns:a="http://schemas.openxmlformats.org/drawingml/2006/main">
            <a:r>
              <a:t>Squared: `[4, 0, 4]`  </a:t>
            </a:r>
          </a:p>
          <a:p xmlns:a="http://schemas.openxmlformats.org/drawingml/2006/main">
            <a:r>
              <a:t>Variance: `8 / 3 = 2.67`  </a:t>
            </a:r>
          </a:p>
          <a:p xmlns:a="http://schemas.openxmlformats.org/drawingml/2006/main">
            <a:r>
              <a:t>Standard deviation: `sqrt(2.67) = 1.63`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four-row calculation table shows value, deviation, squared deviation, and total.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Link squared deviation to squared prediction error but distinguish spread around the mean from model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same subtract-square-average pattern appears in mean squared 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https://www.itl.nist.gov/div898/handbook/eda/section3/eda3561.htm</a:t>
            </a:r>
          </a:p>
          <a:p xmlns:a="http://schemas.openxmlformats.org/drawingml/2006/main">
            <a:r>
              <a:t>- https://numpy.org/doc/stable/reference/generated/numpy.var.html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**probability** describes uncertainty about an event.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`0 &lt;= P(event) &lt;= 1`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`0` means impossible under the model.</a:t>
            </a:r>
          </a:p>
          <a:p xmlns:a="http://schemas.openxmlformats.org/drawingml/2006/main">
            <a:r>
              <a:t>- `1` means certain under the model.</a:t>
            </a:r>
          </a:p>
          <a:p xmlns:a="http://schemas.openxmlformats.org/drawingml/2006/main">
            <a:r>
              <a:t>- `0.25` means a 25% probability.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equally likely outcomes: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`P(event) = favourable outcomes / possible outcomes`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Observed frequency can estimate probability, but an estimate depends on sample size and whether the data represents future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A bag contains `3` blue and `1` red token.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Total outcomes: `4`  </a:t>
            </a:r>
          </a:p>
          <a:p xmlns:a="http://schemas.openxmlformats.org/drawingml/2006/main">
            <a:r>
              <a:t>Favourable blue outcomes: `3`  </a:t>
            </a:r>
          </a:p>
          <a:p xmlns:a="http://schemas.openxmlformats.org/drawingml/2006/main">
            <a:r>
              <a:t>`P(blue) = 3 / 4 = 0.75`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Four equal token icons show three blue and one red, paired with fraction, decimal, and percentage representations.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State assumptions such as equal chance of drawing each token. Avoid presenting model probabilities as guaranteed frequencies for an individual.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Classification models later output class probabilities that are converted into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https://openstax.org/books/introductory-statistics-2e/pages/3-introduction</a:t>
            </a:r>
          </a:p>
          <a:p xmlns:a="http://schemas.openxmlformats.org/drawingml/2006/main">
            <a:r>
              <a:t>- https://scikit-learn.org/stable/modules/calibration.html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**derivative** measures how quickly a function changes near one input. It is the slope of the tangent line at that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`f(x) = x^2`, the derivative is: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`f'(x) = 2x`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 `x = 3`, the local slope is `2 x 3 = 6`. Near `x = 3`, a small increase of `0.1` in `x` changes `f(x)` by approximately `6 x 0.1 = 0.6`.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Exact values: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`f(3) = 9`  </a:t>
            </a:r>
          </a:p>
          <a:p xmlns:a="http://schemas.openxmlformats.org/drawingml/2006/main">
            <a:r>
              <a:t>`f(3.1) = 9.61`  </a:t>
            </a:r>
          </a:p>
          <a:p xmlns:a="http://schemas.openxmlformats.org/drawingml/2006/main">
            <a:r>
              <a:t>Actual change: `0.61`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Derivative estimate: `6 x 0.1 = 0.6`, which is close for a small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curve `y=x²` has a tangent line at `x=3`; a small horizontal step and corresponding vertical change are marked.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Use “local slope” consistently. Do not derive limits formally in this beginner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Optimization uses derivatives of loss with respect to model parameters.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https://openstax.org/books/calculus-volume-1/pages/3-1-defining-the-derivative</a:t>
            </a:r>
          </a:p>
          <a:p xmlns:a="http://schemas.openxmlformats.org/drawingml/2006/main">
            <a:r>
              <a:t>- https://mml-book.github.io/book/mml-book.pdf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**parameter** is a value a model adjusts during training. When loss depends on several parameters, the **gradient** collects one partial derivative for each parameter: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`∇L = [∂L/∂w1, ∂L/∂w2, ...]`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`L`: loss</a:t>
            </a:r>
          </a:p>
          <a:p xmlns:a="http://schemas.openxmlformats.org/drawingml/2006/main">
            <a:r>
              <a:t>- `wi`: one parameter</a:t>
            </a:r>
          </a:p>
          <a:p xmlns:a="http://schemas.openxmlformats.org/drawingml/2006/main">
            <a:r>
              <a:t>- `∂L/∂wi`: local change in loss when only that parameter changes</a:t>
            </a:r>
          </a:p>
          <a:p xmlns:a="http://schemas.openxmlformats.org/drawingml/2006/main">
            <a:r>
              <a:t>- `∇L`: direction of fastest local increase in loss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Moving opposite the gradient reduces loss for a sufficiently small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If `∇L = [2, -3]`: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increasing `w1` increases loss locally, so reduce `w1`;</a:t>
            </a:r>
          </a:p>
          <a:p xmlns:a="http://schemas.openxmlformats.org/drawingml/2006/main">
            <a:r>
              <a:t>- increasing `w2` decreases loss locally, so increase `w2`.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opposite direction is `[-2, 3]`.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contour map shows a point, a gradient arrow uphill, and a descent arrow in the opposite direction.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Do not say the gradient “points to the minimum.” It points uphill locally; its negative points downhill locally.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PyTorch later computes gradients automatically during backpropagation.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https://mml-book.github.io/book/mml-book.pdf</a:t>
            </a:r>
          </a:p>
          <a:p xmlns:a="http://schemas.openxmlformats.org/drawingml/2006/main">
            <a:r>
              <a:t>- https://docs.pytorch.org/tutorials/beginner/basics/autogradqs_tutorial.html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**loss function** converts prediction error into a number that training can reduce.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Mean squared error: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`MSE = (1/n) Σ(yi - ŷi)^2`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`n`: number of examples</a:t>
            </a:r>
          </a:p>
          <a:p xmlns:a="http://schemas.openxmlformats.org/drawingml/2006/main">
            <a:r>
              <a:t>- `yi`: actual target for example `i`</a:t>
            </a:r>
          </a:p>
          <a:p xmlns:a="http://schemas.openxmlformats.org/drawingml/2006/main">
            <a:r>
              <a:t>- `ŷi`: predicted target</a:t>
            </a:r>
          </a:p>
          <a:p xmlns:a="http://schemas.openxmlformats.org/drawingml/2006/main">
            <a:r>
              <a:t>- `yi - ŷi`: residual</a:t>
            </a:r>
          </a:p>
          <a:p xmlns:a="http://schemas.openxmlformats.org/drawingml/2006/main">
            <a:r>
              <a:t>- squaring removes signs and emphasizes large errors</a:t>
            </a:r>
          </a:p>
          <a:p xmlns:a="http://schemas.openxmlformats.org/drawingml/2006/main">
            <a:r>
              <a:t>- mean gives one summary across examples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Lower MSE means predictions are closer under this squared-error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Actual `[3, 5]`, predicted `[2, 7]`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Residuals: `[1, -2]`  </a:t>
            </a:r>
          </a:p>
          <a:p xmlns:a="http://schemas.openxmlformats.org/drawingml/2006/main">
            <a:r>
              <a:t>Squared residuals: `[1, 4]`  </a:t>
            </a:r>
          </a:p>
          <a:p xmlns:a="http://schemas.openxmlformats.org/drawingml/2006/main">
            <a:r>
              <a:t>`MSE = (1 + 4) / 2 = 2.5`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table shows actual, predicted, residual, squared residual, sum, and mean.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Explain that choosing a loss expresses which errors receive more weight. MSE is not suitable for every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Linear regression and neural networks train by minimizing a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https://scikit-learn.org/stable/modules/generated/sklearn.metrics.mean_squared_error.html</a:t>
            </a:r>
          </a:p>
          <a:p xmlns:a="http://schemas.openxmlformats.org/drawingml/2006/main">
            <a:r>
              <a:t>- https://mml-book.github.io/book/mml-book.pdf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**Gradient descent** repeatedly adjusts parameters in the direction that locally reduces loss: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`w_new = w_old - η ∂L/∂w`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`w_old`: current parameter</a:t>
            </a:r>
          </a:p>
          <a:p xmlns:a="http://schemas.openxmlformats.org/drawingml/2006/main">
            <a:r>
              <a:t>- `∂L/∂w`: current loss slope</a:t>
            </a:r>
          </a:p>
          <a:p xmlns:a="http://schemas.openxmlformats.org/drawingml/2006/main">
            <a:r>
              <a:t>- `η` (eta): learning rate</a:t>
            </a:r>
          </a:p>
          <a:p xmlns:a="http://schemas.openxmlformats.org/drawingml/2006/main">
            <a:r>
              <a:t>- subtraction moves opposite the gradient</a:t>
            </a:r>
          </a:p>
          <a:p xmlns:a="http://schemas.openxmlformats.org/drawingml/2006/main">
            <a:r>
              <a:t>- `w_new`: updated parameter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learning rate that is too large can overshoot; one that is too small can make progress slow.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`w_old = 0.5`, gradient `= 4`, learning rate `η = 0.1`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`w_new = 0.5 - 0.1 x 4`  </a:t>
            </a:r>
          </a:p>
          <a:p xmlns:a="http://schemas.openxmlformats.org/drawingml/2006/main">
            <a:r>
              <a:t>`= 0.5 - 0.4`  </a:t>
            </a:r>
          </a:p>
          <a:p xmlns:a="http://schemas.openxmlformats.org/drawingml/2006/main">
            <a:r>
              <a:t>`= 0.1`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loss curve shows one step downhill. A side panel expands the update equation into values and intermediate steps.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Explain the small floating-point display difference. Emphasize that training recomputes the gradient after each update.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Week 9's optimizer performs this update across many neural-network parameters.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https://d2l.ai/chapter_optimization/gd.html</a:t>
            </a:r>
          </a:p>
          <a:p xmlns:a="http://schemas.openxmlformats.org/drawingml/2006/main">
            <a:r>
              <a:t>- https://docs.pytorch.org/tutorials/beginner/basics/optimization_tutorial.html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and explain: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vector shape and matrix shape;</a:t>
            </a:r>
          </a:p>
          <a:p xmlns:a="http://schemas.openxmlformats.org/drawingml/2006/main">
            <a:r>
              <a:t>2. one dot product;</a:t>
            </a:r>
          </a:p>
          <a:p xmlns:a="http://schemas.openxmlformats.org/drawingml/2006/main">
            <a:r>
              <a:t>3. one mean and population variance;</a:t>
            </a:r>
          </a:p>
          <a:p xmlns:a="http://schemas.openxmlformats.org/drawingml/2006/main">
            <a:r>
              <a:t>4. one probability;</a:t>
            </a:r>
          </a:p>
          <a:p xmlns:a="http://schemas.openxmlformats.org/drawingml/2006/main">
            <a:r>
              <a:t>5. one squared-error calculation;</a:t>
            </a:r>
          </a:p>
          <a:p xmlns:a="http://schemas.openxmlformats.org/drawingml/2006/main">
            <a:r>
              <a:t>6. one gradient-descent update.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every calculation, show intermediate values by hand and then confirm them with NumPy. A matching number is not enough; state what the number means and which units it uses.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For `x=[2,3]`, `w=[0.4,-0.1]`, `b=0.2`, and target `1`: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Prediction `= 0.7`  </a:t>
            </a:r>
          </a:p>
          <a:p xmlns:a="http://schemas.openxmlformats.org/drawingml/2006/main">
            <a:r>
              <a:t>Residual `= 1 - 0.7 = 0.3`  </a:t>
            </a:r>
          </a:p>
          <a:p xmlns:a="http://schemas.openxmlformats.org/drawingml/2006/main">
            <a:r>
              <a:t>Squared error `= 0.3² = 0.09`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readiness checklist connects shapes, weighted sum, residual, loss, gradient, and update.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Require learners to predict each result before execution and explain floating-point approximations.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These concepts prepare learners to read model equations and training loops in later notebooks.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https://mml-book.github.io/</a:t>
            </a:r>
          </a:p>
          <a:p xmlns:a="http://schemas.openxmlformats.org/drawingml/2006/main">
            <a:r>
              <a:t>- https://numpy.org/doc/stable/user/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bb5d262db4c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ffa8f8938b4933" /><Relationship Type="http://schemas.openxmlformats.org/officeDocument/2006/relationships/slideLayout" Target="/ppt/slideLayouts/slideLayout1.xml" Id="Rc5247c2c4cf44b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247c2c4cf44b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6f2c058204171" /><Relationship Type="http://schemas.openxmlformats.org/officeDocument/2006/relationships/image" Target="/ppt/media/image.png" Id="R8d27817393f74928" /><Relationship Type="http://schemas.openxmlformats.org/officeDocument/2006/relationships/image" Target="/ppt/media/image2.png" Id="Reaae603942bd4581" /><Relationship Type="http://schemas.openxmlformats.org/officeDocument/2006/relationships/notesSlide" Target="/ppt/notesSlides/notesSlide1.xml" Id="Ra4c6f06ba24e44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65823a557466c" /><Relationship Type="http://schemas.openxmlformats.org/officeDocument/2006/relationships/notesSlide" Target="/ppt/notesSlides/notesSlide2.xml" Id="R2def010cd30e42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4815992b54866" /><Relationship Type="http://schemas.openxmlformats.org/officeDocument/2006/relationships/notesSlide" Target="/ppt/notesSlides/notesSlide3.xml" Id="R9b2820ba879641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8099214254ba4" /><Relationship Type="http://schemas.openxmlformats.org/officeDocument/2006/relationships/notesSlide" Target="/ppt/notesSlides/notesSlide4.xml" Id="Rdbaaebf74dc549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d8ce7e5fc453d" /><Relationship Type="http://schemas.openxmlformats.org/officeDocument/2006/relationships/notesSlide" Target="/ppt/notesSlides/notesSlide5.xml" Id="R23ddd93884c348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5c26c17304089" /><Relationship Type="http://schemas.openxmlformats.org/officeDocument/2006/relationships/notesSlide" Target="/ppt/notesSlides/notesSlide6.xml" Id="R83896fec5f4b43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7ee2780da4c04" /><Relationship Type="http://schemas.openxmlformats.org/officeDocument/2006/relationships/notesSlide" Target="/ppt/notesSlides/notesSlide7.xml" Id="R20e57f291b6b43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db5e655f94fbf" /><Relationship Type="http://schemas.openxmlformats.org/officeDocument/2006/relationships/notesSlide" Target="/ppt/notesSlides/notesSlide8.xml" Id="R061ddab7dac244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a9e1b5efa4177" /><Relationship Type="http://schemas.openxmlformats.org/officeDocument/2006/relationships/notesSlide" Target="/ppt/notesSlides/notesSlide9.xml" Id="R90d8587228614a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d17cbcdbb428a" /><Relationship Type="http://schemas.openxmlformats.org/officeDocument/2006/relationships/notesSlide" Target="/ppt/notesSlides/notesSlide10.xml" Id="Rbfe0edbf6fd844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2a7737a8e432c" /><Relationship Type="http://schemas.openxmlformats.org/officeDocument/2006/relationships/notesSlide" Target="/ppt/notesSlides/notesSlide11.xml" Id="R9bf4d38d67394a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642b06c4c48ad" /><Relationship Type="http://schemas.openxmlformats.org/officeDocument/2006/relationships/notesSlide" Target="/ppt/notesSlides/notesSlide12.xml" Id="R2112cdf521e44e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06E8E-2556-48D2-8A9B-D614E89E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7817393f74928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E34D0-73D7-4F31-9E59-775EE384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72124-6337-4F01-8E51-722B6045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05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E5FAD-AC40-4BA1-838F-D3DDCD82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 Function Maps an Input to an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C7EA8-E2DA-4499-9A20-6190AC8A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B6F09-EC46-46C0-8036-F6D4A4FB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A mathematical function is a rule that maps each allowed input to one output.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e603942bd4581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40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4E1D19-6027-435C-B563-D54ED575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45328-BFF5-4A4D-A3DF-CDD03887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 Function Maps an Input to an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B9B71-54C3-49DF-9C01-99DEB762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FE98C-EDDD-4155-8025-E9D3A419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DC570-25AE-4038-9495-6479E8B8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Slope Measures Change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191A9-3534-4EC8-9B8E-647A7030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C5B70-3F7E-4765-8F2F-52D1C337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3244"/>
                </a:solidFill>
              </a:defRPr>
            </a:pPr>
            <a:r>
              <a:rPr sz="1275">
                <a:solidFill>
                  <a:srgbClr val="243244"/>
                </a:solidFill>
              </a:rPr>
              <a:t>The slope of a straight line measures output change per unit of input change. slope = change in y / change in x = Δy / Δx A positive slope rises, a negative slope falls, and zero slope is horizontal. Slope has units: if x is hours and y is kilometres, slope is kilometres per hour.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BE270-24C6-4619-819F-F64AF4F2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D3E42-D139-413C-9A5A-628A15EE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The slope of a straight line measures output change per unit of input change.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AB0BB-B7FA-4DDF-9190-F7A26208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12E91-14C1-417C-992B-9DEE20B1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slope = change in y / change in x = Δy / Δx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6A6C0-13AE-4B75-B459-6C6BA4D1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FC798-ED42-4FA7-8F53-98BA26A5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A positive slope rises, a negative slope falls, and zero slope is horizontal.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9CE2E-9EC6-4A49-AB04-BFE8C1C5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47F45-8983-4342-B93A-172835D3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Slope has units: if x is hours and y is kilometres, slope is kilometres per hour.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C4FBB-96F0-409A-84F3-249203A5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2025D-290A-4986-A359-D8797BA8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Two points are (1, 3) and (4, 9).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E6A607-C42F-4769-A109-BF3932CA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E2A2AC-29C6-46E7-AB08-6650AF1D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Δy = 9 - 3 = 6 Δx = 4 - 1 = 3 slope = 6 / 3 = 2</a:t>
            </a:r>
          </a:p>
        </p:txBody>
      </p:sp>
    </p:spTree>
    <p:extLst>
      <p:ext uri="{BB962C8B-B14F-4D97-AF65-F5344CB8AC3E}">
        <p14:creationId xmlns:p14="http://schemas.microsoft.com/office/powerpoint/2010/main" val="18008426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1A75C-D0E5-43BD-BDA6-AD312530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8C597-A350-44C8-AE1F-A0318427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 Function Maps an Input to an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CA939-CD06-439E-BC5B-FC6EF775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C5AE7-5420-4419-964E-9D97D443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B54EE-E8F3-47CA-9A35-E178686C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Vectors Represent Several Features Together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B9AAF-084C-44DB-876F-01D0B1A0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90F3A-A2E7-4693-82B0-0F32A3D6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53E95-6E7D-415F-BB4C-C80FEAFE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505A8-0D80-4886-BF15-C86A7C96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61673-2C5D-40AA-B4FE-87368D51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BB798-F303-4166-97C7-F7D0988B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import numpy as np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a = np.array([2, 4])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b = np.array([1, 3])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print(a + b)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E7D16-E107-489F-9120-3C300BF9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FFAC6-B12A-494B-BF31-88FB3F01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AAD5B8-EEB0-420A-BCFF-545F4197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[3 7]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21337-80B2-486B-BEC7-2C98CCA4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09624F-AF30-47F9-AF27-E66938D9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2[3, 7] = [6, 14]</a:t>
            </a:r>
          </a:p>
        </p:txBody>
      </p:sp>
    </p:spTree>
    <p:extLst>
      <p:ext uri="{BB962C8B-B14F-4D97-AF65-F5344CB8AC3E}">
        <p14:creationId xmlns:p14="http://schemas.microsoft.com/office/powerpoint/2010/main" val="14430316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1C5E5-261C-4F4B-81CF-9ED016D1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7FB93-BF37-475F-99DF-E1278B31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A Function Maps an Input to an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7A390-0D66-4EB3-9BCF-8B05A2DA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C9CD2-986B-452D-9F24-3BD4CC12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8469F-CF21-415D-BA76-A62ECF8D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Matrices Stack Observations into Rows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47F1D-25BA-4604-8714-97C1F957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BCB7C-1060-48E3-AB40-AD7ED46C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one row per observation;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E16C7-0D1D-4F38-B4F7-3C213137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D11E4-AFE2-41D9-8C77-6FCC893F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8CE0D-A99A-41D6-949F-DB7ACA39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1FC20-39E1-4E9E-B93E-533C5821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one column per feature.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786B7-55DA-4DB9-954D-C3D7C43B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801E9-0819-41F2-AEEE-948D51E0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6626C-62AC-4A79-8808-E256B499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1DEE8"/>
                </a:solidFill>
              </a:defRPr>
            </a:pPr>
            <a:r>
              <a:rPr sz="1350">
                <a:solidFill>
                  <a:srgbClr val="D1DEE8"/>
                </a:solidFill>
              </a:rPr>
              <a:t>X has shape (3, 2): three students, two features. w has shape (2, 1): one weight for each feature. X @ w has shape (3, 1): one result for each student.</a:t>
            </a:r>
          </a:p>
        </p:txBody>
      </p:sp>
    </p:spTree>
    <p:extLst>
      <p:ext uri="{BB962C8B-B14F-4D97-AF65-F5344CB8AC3E}">
        <p14:creationId xmlns:p14="http://schemas.microsoft.com/office/powerpoint/2010/main" val="3015524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08D96-9C8B-4DDF-AF0E-BC1BB9C1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69368-EF54-448C-B69E-0FCAC2BC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A Function Maps an Input to an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71A7F-5A7D-4973-9BFF-213558E2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ADAF2-CB72-4F42-A500-1B009D36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43EC7-EC1D-43B7-9F5A-0943A5A3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 Dot Product Produces a Weighted Sum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AEA2A-CCC7-4B5F-8198-52FB0AFA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DA6CA-013B-46F7-8D87-5D159055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6E2EB"/>
                </a:solidFill>
              </a:defRPr>
            </a:pPr>
            <a:r>
              <a:rPr sz="1275">
                <a:solidFill>
                  <a:srgbClr val="D6E2EB"/>
                </a:solidFill>
              </a:rPr>
              <a:t>The dot product multiplies matching vector positions and adds the products: x · w = x1w1 + x2w2 + ... + xnwn In a model, x contains feature values and w contains one weight for each feature. A larger positive weight increases the result when its feature increases; a negative weight decreases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F9975-E91D-4485-BC5B-A4343021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32C72-E504-4564-858F-D7625498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The dot product multiplies matching vector positions and adds the products: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9EB5D-6EE5-497A-85E5-DF3F0C15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107E2-4E06-4754-A129-09514F33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x · w = x1w1 + x2w2 + 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11BB4-C700-4C5F-A7DD-5C09D629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B41DB-D45B-4795-BEED-8B5C318E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 a model, x contains feature values and w contains one weight for each feature.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A43F0-AF7F-4AA7-BAE2-18E6E3F0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9C531-8FEA-4FBB-B6A2-F840E8B0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 larger positive weight increases the result when its feature increases;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5E92F-6167-4646-9FDB-113A73FF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742B62-098F-40F9-9CA7-9C53E947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 negative weight decreases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57693F-5973-4EEC-AE4C-51F6A23B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778D54-6EA8-4722-8D9D-10585EDF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x = [2, 3] and w = [0.4, -0.1]</a:t>
            </a:r>
          </a:p>
        </p:txBody>
      </p:sp>
    </p:spTree>
    <p:extLst>
      <p:ext uri="{BB962C8B-B14F-4D97-AF65-F5344CB8AC3E}">
        <p14:creationId xmlns:p14="http://schemas.microsoft.com/office/powerpoint/2010/main" val="1421065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18AFC-638C-4417-A482-A3C3CA04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00097-B730-459D-AABE-A2252960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 Function Maps an Input to an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FA826-337E-4541-A579-836CE69E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07928-1E6F-4248-8358-8EC63BEF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38832-5C3F-4B3B-A043-1697AD5D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220"/>
                </a:solidFill>
              </a:defRPr>
            </a:pPr>
            <a:r>
              <a:rPr sz="2625" b="1">
                <a:solidFill>
                  <a:srgbClr val="0B1220"/>
                </a:solidFill>
              </a:rPr>
              <a:t>Variance Measures Squared Distance from the Mean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358FF-28F4-49BB-9BE4-F9AB2C6E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D99FB-C753-4F3F-9796-E114655A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8CBDB-97A0-4017-8498-D842C86B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7241D-6E7E-48C2-AF43-5A4F2B91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3D7FC-F859-4C1C-BA8B-3E9C5DA1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CE28C-FE32-476A-ADA3-CCE55F36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values = np.array([2, 4, 6])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print(values.var(), values.std())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7B79E8-05E1-4F91-9491-28DFB5CB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CA109-B11A-4510-9400-9ABDA012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7BEAB0-AAE1-4B96-9BF7-0B482A66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2.6666666666666665 1.632993161855452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C2022-390E-43B0-B1CD-A1945201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DEBDB-708B-4BE9-A627-5279B0DB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Deviations: [-2, 0, 2] Squared: [4, 0, 4] Variance: 8 / 3 = 2.67 Standard deviation: sqrt(2.67) = 1.63</a:t>
            </a:r>
          </a:p>
        </p:txBody>
      </p:sp>
    </p:spTree>
    <p:extLst>
      <p:ext uri="{BB962C8B-B14F-4D97-AF65-F5344CB8AC3E}">
        <p14:creationId xmlns:p14="http://schemas.microsoft.com/office/powerpoint/2010/main" val="1216777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B17F3-379C-43A8-B2E5-CD80843F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70BF6-1493-4CD5-BFE0-FAD5F484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A Function Maps an Input to an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C5991-1341-47AC-BB07-3E04F3B4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244E3-156B-453A-A7C3-01531129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49865-DCA2-4A8A-8FB8-48AEF087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Probability Represents Uncertainty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38238-9A00-428D-9A76-DEC76088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33421-CA8C-4808-8E2E-2F4C4DB6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6E2EB"/>
                </a:solidFill>
              </a:defRPr>
            </a:pPr>
            <a:r>
              <a:rPr sz="1575">
                <a:solidFill>
                  <a:srgbClr val="D6E2EB"/>
                </a:solidFill>
              </a:rPr>
              <a:t>A probability describes uncertainty about an event. 0 &lt;= P(event) &lt;= 1 For equally likely outcomes: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FC6B6-77A9-4FE4-94B8-CA9BF220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B524D-F1BC-4123-BE4B-06C426DB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 means impossible under the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B9BB7-8868-4B7F-BBD7-33289B31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147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C26CB-EBA8-4FCE-90D6-EC4BBE79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00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 means certain under the model.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61D13-D424-4D22-87E7-4218A20D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6400A-8921-41CC-A3CB-A4DAE469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0.25 means a 25% probability.</a:t>
            </a:r>
          </a:p>
        </p:txBody>
      </p:sp>
    </p:spTree>
    <p:extLst>
      <p:ext uri="{BB962C8B-B14F-4D97-AF65-F5344CB8AC3E}">
        <p14:creationId xmlns:p14="http://schemas.microsoft.com/office/powerpoint/2010/main" val="8305033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D74015-CBAF-4E1B-B70D-6524F375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018FF-1D61-4A7B-8753-87D43D19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A Function Maps an Input to an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8A2A2-E4D7-435B-8748-42B65D92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7F18D-86D3-46EF-B692-731C2B5C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EEB91-BB6C-4C9A-892D-439EAB16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Derivative Is Local Slope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DE4EB-F9B4-4823-9F2C-D230671F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56297-653E-41AF-AA28-3AB50789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 derivative measures how quickly a function changes near one input.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66691-AC60-4847-92BE-8B080AF7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850A5-ADB8-443F-BCEE-F1219193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9183A-19B8-4C3B-932D-D1EE175F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48756-A06D-4B73-A558-BA11066F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It is the slope of the tangent line at that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CAAFAB-244B-4A4E-9553-CCE55549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F13DF-1733-4680-A3FD-34C961F4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B579C-9946-41BD-B666-E78000DE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E4C6C7-5DFA-40CE-8A06-68251C83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For f(x) = x^2, the derivative is: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6995A-AB89-46C3-A175-306A9069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A3650-354B-4C9F-AC25-A6A02FC3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BF3FAB-15FA-44BD-B488-D5E3810D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6B5F"/>
                </a:solidFill>
              </a:defRPr>
            </a:pPr>
            <a:r>
              <a:rPr sz="2025" b="1">
                <a:solidFill>
                  <a:srgbClr val="F06B5F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E58BDD-2BCB-4189-A761-0266F444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At x = 3, the local slope is 2 x 3 = 6.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234774-F100-4440-BE42-0CD3C562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BB0673-F635-4670-B931-76FEC0E3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3534A3-55EE-424D-9F93-272C46DA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1DEE8"/>
                </a:solidFill>
              </a:defRPr>
            </a:pPr>
            <a:r>
              <a:rPr sz="1500">
                <a:solidFill>
                  <a:srgbClr val="D1DEE8"/>
                </a:solidFill>
              </a:rPr>
              <a:t>Exact values: f(3) = 9 f(3.1) = 9.61 Actual change: 0.61 Derivative estimate: 6 x 0.1 = 0.6, which is close for a small step.</a:t>
            </a:r>
          </a:p>
        </p:txBody>
      </p:sp>
    </p:spTree>
    <p:extLst>
      <p:ext uri="{BB962C8B-B14F-4D97-AF65-F5344CB8AC3E}">
        <p14:creationId xmlns:p14="http://schemas.microsoft.com/office/powerpoint/2010/main" val="3947244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177A1-2D82-4428-BB82-517527BA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C1B9C-0897-48A5-B483-857E0F79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 Function Maps an Input to an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8C16F-29E8-4D32-84A7-65C6EF78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1360A-15F4-4824-BF37-8A20DDCF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1898E-3C01-47FC-9692-84496848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A Gradient Collects One Slope per Parameter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83228-0E52-48DA-BED2-8F89E47A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161FD-E176-4B47-B0D7-7111466D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48488-2C5A-4CFA-999C-2A07FBE3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F1707-56CE-49E6-A381-667DF528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A1340-2257-4C12-A228-B2FB5C84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34FBB-944E-441A-98BF-5A89DAED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gradient = np.array([2.0, -3.0])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descent_direction = -gradient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print(descent_direction)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DAF10-FF7B-4EBE-B96F-AB113B31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89E70-2A2B-423A-BBCF-E7AB7D5D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6D17F-3618-41D5-AF2C-1D891C3F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[-2.  3.]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7182C-4466-40DB-A5BF-F7F9D88B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2515C4-219E-4E1B-BD5D-2FDE75AA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The opposite direction is [-2, 3].</a:t>
            </a:r>
          </a:p>
        </p:txBody>
      </p:sp>
    </p:spTree>
    <p:extLst>
      <p:ext uri="{BB962C8B-B14F-4D97-AF65-F5344CB8AC3E}">
        <p14:creationId xmlns:p14="http://schemas.microsoft.com/office/powerpoint/2010/main" val="3220324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E716CD-7407-48C5-85E4-C95FED55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85FED-2F62-40FD-946F-481BEEAB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 Function Maps an Input to an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5FCC7-98ED-4095-B8CF-F57F3CBB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DC513-967D-4692-B6B5-D51F1291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3239B-CF3B-45B8-9C67-75F344A7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Loss Measures Prediction Error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061F0-F457-4D79-AA0A-5DFE5599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053DE-1EBF-468A-B1D8-692FFC69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DC648-0E3C-4A62-8A0B-C10E45EB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n: number of examples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6FA19-81BE-43A2-A5E9-2799C49B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48225-9F35-405D-80C4-828EA911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D0CC7-A643-4E21-9C87-5346FFAF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7BF4E-8AF2-4C41-9C7D-7AE28CFD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yi: actual target for example 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1CCEE-9CEE-41C6-8D4F-19928BA1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9DA931-A45B-49F1-ABE2-172F0FDA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D4FE3-8F86-4845-958E-9AF22EDD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1A5E6-4F0E-4F80-97C5-D90425DB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ŷi: predicted target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D5BB9-E960-4079-BBEB-44EFDA96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76EE3D-A83C-4885-B1FC-AC554C1B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C1888-4858-46F0-8C92-25ACB108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426748-EF60-44B9-80A5-C9106D3F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yi - ŷi: residual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03901F-5802-4814-A2A7-B4FFEEB2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022944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CF900C-7303-4532-A590-811D54EE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5CD79-7DC2-4D7C-B728-046E9AFC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 Function Maps an Input to an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C3F5D-D3AE-4ADC-A9B4-07178863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1B308-5690-43AA-A36C-CF8A4777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4B100-2C21-4045-B71A-F9A554E3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220"/>
                </a:solidFill>
              </a:defRPr>
            </a:pPr>
            <a:r>
              <a:rPr sz="2625" b="1">
                <a:solidFill>
                  <a:srgbClr val="0B1220"/>
                </a:solidFill>
              </a:rPr>
              <a:t>Gradient Descent Updates Parameters Step by 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2081E-D6D7-4A44-A878-D2BB76B1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02836-D7EB-4132-A741-996C9D6B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A0B90-A000-41DF-9413-7AAFA91B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wold: current parameter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B3958-43E5-4EF9-AD73-704FF2DB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36617-36C9-4410-A381-F06B8B94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145F4-3CCD-4C27-B62D-7C1D6988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25731-F6BB-4C90-8C06-1999A9B9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∂L/∂w: current loss slope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92CAE-7304-4F50-A7CF-22F55AC8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6F4BC-1BB7-45F7-8636-094E5077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AA2C4-E320-425B-AC08-11722CEA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3CEFB-DBA7-4DE2-A8DF-4BBA22D5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η (eta): learning 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F46DE1-6130-4BCA-A03B-BFCE77C9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C4C12-228B-48AA-A369-9D61D59F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ACFE6-DFF4-43C9-806E-61F8C9EB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DF26EA-3231-480F-B603-E8AFDE85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subtraction moves opposite the gradient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FBFFC9-31CF-4A2D-905C-93C00554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972711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6907D-9956-4FE4-873D-77CCE568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278D1-D7C4-48FE-93F6-468E654A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A Function Maps an Input to an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8B962-9BDC-4D75-8518-B8238BFB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02478-9C41-4079-90B8-1CE8E6A5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81094-BA19-40EC-9300-3859EEE7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Guided Lab: Match Hand Calculations to NumPy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2DBC2-EAF9-4967-A9A5-43191979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D7130-2D8F-4649-8C1A-3AD89C12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4F70A-3DA0-440D-A9AD-5D4B3412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vector shape and matrix shape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329CA-8CA7-45A5-832C-DEF975F4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DC50E-09E0-4009-967D-42E23C10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4112A-E778-4CD4-948C-AD645114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one dot product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FE63B7-4838-4260-8FCD-CED4EEBF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44CD0-E566-4C72-8DCA-48E362B8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A5CBB-5749-4450-B65E-077B3767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one mean and population variance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9971F-0FEB-4480-8307-7DDB330D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D9DFD-3F9B-4F5E-A69E-D3AA6DB7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5B6AB1-E83A-46EC-8CEB-D4ABAD5A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one probability</a:t>
            </a:r>
          </a:p>
        </p:txBody>
      </p:sp>
    </p:spTree>
    <p:extLst>
      <p:ext uri="{BB962C8B-B14F-4D97-AF65-F5344CB8AC3E}">
        <p14:creationId xmlns:p14="http://schemas.microsoft.com/office/powerpoint/2010/main" val="10100559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2026-07-28T19:27:11.2850000Z</dcterms:created>
  <dcterms:modified xsi:type="dcterms:W3CDTF">2026-07-28T19:27:11.2850000Z</dcterms:modified>
</coreProperties>
</file>