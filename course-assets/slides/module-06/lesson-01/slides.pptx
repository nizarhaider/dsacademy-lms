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3173b870c54509" /><Relationship Type="http://schemas.openxmlformats.org/officeDocument/2006/relationships/extended-properties" Target="/docProps/app.xml" Id="R4f434a5fb1364e42" /><Relationship Type="http://schemas.openxmlformats.org/officeDocument/2006/relationships/officeDocument" Target="/ppt/presentation.xml" Id="R6e7ed32f9a8e4d63" /></Relationships>
</file>

<file path=ppt/presentation.xml><?xml version="1.0" encoding="utf-8"?>
<p:presentation xmlns:p="http://schemas.openxmlformats.org/presentationml/2006/main">
  <p:sldMasterIdLst>
    <p:sldMasterId xmlns:r="http://schemas.openxmlformats.org/officeDocument/2006/relationships" id="2147483648" r:id="R9e697f98ee58476a"/>
  </p:sldMasterIdLst>
  <p:notesMasterIdLst>
    <p:notesMasterId xmlns:r="http://schemas.openxmlformats.org/officeDocument/2006/relationships" r:id="R48b6ae5c098e4fa1"/>
  </p:notesMasterIdLst>
  <p:sldIdLst>
    <p:sldId xmlns:r="http://schemas.openxmlformats.org/officeDocument/2006/relationships" id="256" r:id="Rcd8aa826eefd4ade"/>
    <p:sldId xmlns:r="http://schemas.openxmlformats.org/officeDocument/2006/relationships" id="257" r:id="Rea0299579421487f"/>
    <p:sldId xmlns:r="http://schemas.openxmlformats.org/officeDocument/2006/relationships" id="258" r:id="Rb188aae09b204032"/>
    <p:sldId xmlns:r="http://schemas.openxmlformats.org/officeDocument/2006/relationships" id="259" r:id="R2880e074fbc44137"/>
    <p:sldId xmlns:r="http://schemas.openxmlformats.org/officeDocument/2006/relationships" id="260" r:id="Rab5d2afdda714c8d"/>
    <p:sldId xmlns:r="http://schemas.openxmlformats.org/officeDocument/2006/relationships" id="261" r:id="R5b7ca1b4d49d4bae"/>
    <p:sldId xmlns:r="http://schemas.openxmlformats.org/officeDocument/2006/relationships" id="262" r:id="Rec066ec950cd4c9d"/>
    <p:sldId xmlns:r="http://schemas.openxmlformats.org/officeDocument/2006/relationships" id="263" r:id="R05b23b6b2910440d"/>
    <p:sldId xmlns:r="http://schemas.openxmlformats.org/officeDocument/2006/relationships" id="264" r:id="Rcd862e5486f34949"/>
    <p:sldId xmlns:r="http://schemas.openxmlformats.org/officeDocument/2006/relationships" id="265" r:id="Rd435f6887f7e40bd"/>
    <p:sldId xmlns:r="http://schemas.openxmlformats.org/officeDocument/2006/relationships" id="266" r:id="Rdc16ae73887844f4"/>
    <p:sldId xmlns:r="http://schemas.openxmlformats.org/officeDocument/2006/relationships" id="267" r:id="Raea99364db6543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0f81ca47504b1a" /><Relationship Type="http://schemas.openxmlformats.org/officeDocument/2006/relationships/slideMaster" Target="/ppt/slideMasters/slideMaster1.xml" Id="R9e697f98ee58476a" /><Relationship Type="http://schemas.openxmlformats.org/officeDocument/2006/relationships/notesMaster" Target="/ppt/notesMasters/notesMaster1.xml" Id="R48b6ae5c098e4fa1" /><Relationship Type="http://schemas.openxmlformats.org/officeDocument/2006/relationships/presProps" Target="/ppt/presProps.xml" Id="Rbda86cac4328458b" /><Relationship Type="http://schemas.openxmlformats.org/officeDocument/2006/relationships/tableStyles" Target="/ppt/tableStyles.xml" Id="R8e30d8effe914144" /><Relationship Type="http://schemas.openxmlformats.org/officeDocument/2006/relationships/slide" Target="/ppt/slides/slide1.xml" Id="Rcd8aa826eefd4ade" /><Relationship Type="http://schemas.openxmlformats.org/officeDocument/2006/relationships/slide" Target="/ppt/slides/slide2.xml" Id="Rea0299579421487f" /><Relationship Type="http://schemas.openxmlformats.org/officeDocument/2006/relationships/slide" Target="/ppt/slides/slide3.xml" Id="Rb188aae09b204032" /><Relationship Type="http://schemas.openxmlformats.org/officeDocument/2006/relationships/slide" Target="/ppt/slides/slide4.xml" Id="R2880e074fbc44137" /><Relationship Type="http://schemas.openxmlformats.org/officeDocument/2006/relationships/slide" Target="/ppt/slides/slide5.xml" Id="Rab5d2afdda714c8d" /><Relationship Type="http://schemas.openxmlformats.org/officeDocument/2006/relationships/slide" Target="/ppt/slides/slide6.xml" Id="R5b7ca1b4d49d4bae" /><Relationship Type="http://schemas.openxmlformats.org/officeDocument/2006/relationships/slide" Target="/ppt/slides/slide7.xml" Id="Rec066ec950cd4c9d" /><Relationship Type="http://schemas.openxmlformats.org/officeDocument/2006/relationships/slide" Target="/ppt/slides/slide8.xml" Id="R05b23b6b2910440d" /><Relationship Type="http://schemas.openxmlformats.org/officeDocument/2006/relationships/slide" Target="/ppt/slides/slide9.xml" Id="Rcd862e5486f34949" /><Relationship Type="http://schemas.openxmlformats.org/officeDocument/2006/relationships/slide" Target="/ppt/slides/slide10.xml" Id="Rd435f6887f7e40bd" /><Relationship Type="http://schemas.openxmlformats.org/officeDocument/2006/relationships/slide" Target="/ppt/slides/slide11.xml" Id="Rdc16ae73887844f4" /><Relationship Type="http://schemas.openxmlformats.org/officeDocument/2006/relationships/slide" Target="/ppt/slides/slide12.xml" Id="Raea99364db6543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5e101a749a4e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04ebca50ae43a7" /><Relationship Type="http://schemas.openxmlformats.org/officeDocument/2006/relationships/notesMaster" Target="/ppt/notesMasters/notesMaster1.xml" Id="R066b339f650d40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79aa2dfc164736" /><Relationship Type="http://schemas.openxmlformats.org/officeDocument/2006/relationships/notesMaster" Target="/ppt/notesMasters/notesMaster1.xml" Id="R87b60f877a6e44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c3f6b081ab419b" /><Relationship Type="http://schemas.openxmlformats.org/officeDocument/2006/relationships/notesMaster" Target="/ppt/notesMasters/notesMaster1.xml" Id="R263d78f4c66d40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51015131b3450c" /><Relationship Type="http://schemas.openxmlformats.org/officeDocument/2006/relationships/notesMaster" Target="/ppt/notesMasters/notesMaster1.xml" Id="R08cbf69eda7c49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73d6a0909a47cd" /><Relationship Type="http://schemas.openxmlformats.org/officeDocument/2006/relationships/notesMaster" Target="/ppt/notesMasters/notesMaster1.xml" Id="R07066130d31d48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bbcb35b3c0472e" /><Relationship Type="http://schemas.openxmlformats.org/officeDocument/2006/relationships/notesMaster" Target="/ppt/notesMasters/notesMaster1.xml" Id="Rb44ac9bf574b44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10927976144bb7" /><Relationship Type="http://schemas.openxmlformats.org/officeDocument/2006/relationships/notesMaster" Target="/ppt/notesMasters/notesMaster1.xml" Id="R68c367cc45fc4e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aff62f61294e21" /><Relationship Type="http://schemas.openxmlformats.org/officeDocument/2006/relationships/notesMaster" Target="/ppt/notesMasters/notesMaster1.xml" Id="R4064f7bee11048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d318ba782345da" /><Relationship Type="http://schemas.openxmlformats.org/officeDocument/2006/relationships/notesMaster" Target="/ppt/notesMasters/notesMaster1.xml" Id="Rec0f72fa24dc48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25f40fcbf6494b" /><Relationship Type="http://schemas.openxmlformats.org/officeDocument/2006/relationships/notesMaster" Target="/ppt/notesMasters/notesMaster1.xml" Id="Rad05bd5f63dc4f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765517922342fa" /><Relationship Type="http://schemas.openxmlformats.org/officeDocument/2006/relationships/notesMaster" Target="/ppt/notesMasters/notesMaster1.xml" Id="R147bcb2ce4f04c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58064f30ff4149" /><Relationship Type="http://schemas.openxmlformats.org/officeDocument/2006/relationships/notesMaster" Target="/ppt/notesMasters/notesMaster1.xml" Id="Ra0bc2d7978074a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**Machine learning (ML)** uses examples to estimate a function or discover structure.</a:t>
            </a:r>
          </a:p>
          <a:p xmlns:a="http://schemas.openxmlformats.org/drawingml/2006/main">
            <a:r>
              <a:t/>
            </a:r>
          </a:p>
          <a:p xmlns:a="http://schemas.openxmlformats.org/drawingml/2006/main">
            <a:r>
              <a:t>A supervised model learns a mapping:</a:t>
            </a:r>
          </a:p>
          <a:p xmlns:a="http://schemas.openxmlformats.org/drawingml/2006/main">
            <a:r>
              <a:t/>
            </a:r>
          </a:p>
          <a:p xmlns:a="http://schemas.openxmlformats.org/drawingml/2006/main">
            <a:r>
              <a:t>`features -&gt; model -&gt; prediction`</a:t>
            </a:r>
          </a:p>
          <a:p xmlns:a="http://schemas.openxmlformats.org/drawingml/2006/main">
            <a:r>
              <a:t/>
            </a:r>
          </a:p>
          <a:p xmlns:a="http://schemas.openxmlformats.org/drawingml/2006/main">
            <a:r>
              <a:t>- A **feature** is an input available when a prediction is needed.</a:t>
            </a:r>
          </a:p>
          <a:p xmlns:a="http://schemas.openxmlformats.org/drawingml/2006/main">
            <a:r>
              <a:t>- A **target** is the value the model is trained to predict.</a:t>
            </a:r>
          </a:p>
          <a:p xmlns:a="http://schemas.openxmlformats.org/drawingml/2006/main">
            <a:r>
              <a:t>- A **model** is a parameterized function.</a:t>
            </a:r>
          </a:p>
          <a:p xmlns:a="http://schemas.openxmlformats.org/drawingml/2006/main">
            <a:r>
              <a:t>- A **prediction** is the model's output for new feature values.</a:t>
            </a:r>
          </a:p>
          <a:p xmlns:a="http://schemas.openxmlformats.org/drawingml/2006/main">
            <a:r>
              <a:t/>
            </a:r>
          </a:p>
          <a:p xmlns:a="http://schemas.openxmlformats.org/drawingml/2006/main">
            <a:r>
              <a:t>Traditional programming supplies explicit rules. ML supplies examples and a learning procedure that estimates the rule.</a:t>
            </a:r>
          </a:p>
          <a:p xmlns:a="http://schemas.openxmlformats.org/drawingml/2006/main">
            <a:r>
              <a:t/>
            </a:r>
          </a:p>
          <a:p xmlns:a="http://schemas.openxmlformats.org/drawingml/2006/main">
            <a:r>
              <a:t>[Worked Example]</a:t>
            </a:r>
          </a:p>
          <a:p xmlns:a="http://schemas.openxmlformats.org/drawingml/2006/main">
            <a:r>
              <a:t>Question: predict a house price.</a:t>
            </a:r>
          </a:p>
          <a:p xmlns:a="http://schemas.openxmlformats.org/drawingml/2006/main">
            <a:r>
              <a:t/>
            </a:r>
          </a:p>
          <a:p xmlns:a="http://schemas.openxmlformats.org/drawingml/2006/main">
            <a:r>
              <a:t>Features: floor area, bedrooms, neighbourhood  </a:t>
            </a:r>
          </a:p>
          <a:p xmlns:a="http://schemas.openxmlformats.org/drawingml/2006/main">
            <a:r>
              <a:t>Target: sale price  </a:t>
            </a:r>
          </a:p>
          <a:p xmlns:a="http://schemas.openxmlformats.org/drawingml/2006/main">
            <a:r>
              <a:t>One observation: one sold house  </a:t>
            </a:r>
          </a:p>
          <a:p xmlns:a="http://schemas.openxmlformats.org/drawingml/2006/main">
            <a:r>
              <a:t>Prediction: an estimated price for a house whose true sale price is not yet known</a:t>
            </a:r>
          </a:p>
          <a:p xmlns:a="http://schemas.openxmlformats.org/drawingml/2006/main">
            <a:r>
              <a:t/>
            </a:r>
          </a:p>
          <a:p xmlns:a="http://schemas.openxmlformats.org/drawingml/2006/main">
            <a:r>
              <a:t>[Visual Brief]</a:t>
            </a:r>
          </a:p>
          <a:p xmlns:a="http://schemas.openxmlformats.org/drawingml/2006/main">
            <a:r>
              <a:t>Past labelled examples flow into training; a new feature row flows through the learned model into a prediction.</a:t>
            </a:r>
          </a:p>
          <a:p xmlns:a="http://schemas.openxmlformats.org/drawingml/2006/main">
            <a:r>
              <a:t/>
            </a:r>
          </a:p>
          <a:p xmlns:a="http://schemas.openxmlformats.org/drawingml/2006/main">
            <a:r>
              <a:t>[Instructor Notes]</a:t>
            </a:r>
          </a:p>
          <a:p xmlns:a="http://schemas.openxmlformats.org/drawingml/2006/main">
            <a:r>
              <a:t>Ask what information exists at prediction time. Do not introduce a specific model class yet.</a:t>
            </a:r>
          </a:p>
          <a:p xmlns:a="http://schemas.openxmlformats.org/drawingml/2006/main">
            <a:r>
              <a:t/>
            </a:r>
          </a:p>
          <a:p xmlns:a="http://schemas.openxmlformats.org/drawingml/2006/main">
            <a:r>
              <a:t>[Notebook Connection]</a:t>
            </a:r>
          </a:p>
          <a:p xmlns:a="http://schemas.openxmlformats.org/drawingml/2006/main">
            <a:r>
              <a:t>The model-development notebook separates feature columns from the target before training.</a:t>
            </a:r>
          </a:p>
          <a:p xmlns:a="http://schemas.openxmlformats.org/drawingml/2006/main">
            <a:r>
              <a:t/>
            </a:r>
          </a:p>
          <a:p xmlns:a="http://schemas.openxmlformats.org/drawingml/2006/main">
            <a:r>
              <a:t>[Sources]</a:t>
            </a:r>
          </a:p>
          <a:p xmlns:a="http://schemas.openxmlformats.org/drawingml/2006/main">
            <a:r>
              <a:t>- https://scikit-learn.org/stable/supervised_learning.html</a:t>
            </a:r>
          </a:p>
          <a:p xmlns:a="http://schemas.openxmlformats.org/drawingml/2006/main">
            <a:r>
              <a:t>- https://github.com/curiousily/AI-Bootcamp/blob/master/03.model-development.ipynb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**Supervised learning** uses examples with known targets. The model compares predictions with targets and learns from the error.</a:t>
            </a:r>
          </a:p>
          <a:p xmlns:a="http://schemas.openxmlformats.org/drawingml/2006/main">
            <a:r>
              <a:t/>
            </a:r>
          </a:p>
          <a:p xmlns:a="http://schemas.openxmlformats.org/drawingml/2006/main">
            <a:r>
              <a:t>**Unsupervised learning** uses data without supplied targets. It searches for structure such as groups, lower-dimensional representations, or unusual observations.</a:t>
            </a:r>
          </a:p>
          <a:p xmlns:a="http://schemas.openxmlformats.org/drawingml/2006/main">
            <a:r>
              <a:t/>
            </a:r>
          </a:p>
          <a:p xmlns:a="http://schemas.openxmlformats.org/drawingml/2006/main">
            <a:r>
              <a:t>The distinction is about available training evidence, not whether a human watches the computer.</a:t>
            </a:r>
          </a:p>
          <a:p xmlns:a="http://schemas.openxmlformats.org/drawingml/2006/main">
            <a:r>
              <a:t/>
            </a:r>
          </a:p>
          <a:p xmlns:a="http://schemas.openxmlformats.org/drawingml/2006/main">
            <a:r>
              <a:t>[Worked Example]</a:t>
            </a:r>
          </a:p>
          <a:p xmlns:a="http://schemas.openxmlformats.org/drawingml/2006/main">
            <a:r>
              <a:t>Customer table with `annual_spend` and known `will_cancel`:</a:t>
            </a:r>
          </a:p>
          <a:p xmlns:a="http://schemas.openxmlformats.org/drawingml/2006/main">
            <a:r>
              <a:t/>
            </a:r>
          </a:p>
          <a:p xmlns:a="http://schemas.openxmlformats.org/drawingml/2006/main">
            <a:r>
              <a:t>- predicting `will_cancel` is supervised;</a:t>
            </a:r>
          </a:p>
          <a:p xmlns:a="http://schemas.openxmlformats.org/drawingml/2006/main">
            <a:r>
              <a:t>- grouping customers by similar behaviour without a group label is unsupervised.</a:t>
            </a:r>
          </a:p>
          <a:p xmlns:a="http://schemas.openxmlformats.org/drawingml/2006/main">
            <a:r>
              <a:t/>
            </a:r>
          </a:p>
          <a:p xmlns:a="http://schemas.openxmlformats.org/drawingml/2006/main">
            <a:r>
              <a:t>[Visual Brief]</a:t>
            </a:r>
          </a:p>
          <a:p xmlns:a="http://schemas.openxmlformats.org/drawingml/2006/main">
            <a:r>
              <a:t>Two branches begin with the same feature table. One includes a target column and prediction error; the other produces discovered structure.</a:t>
            </a:r>
          </a:p>
          <a:p xmlns:a="http://schemas.openxmlformats.org/drawingml/2006/main">
            <a:r>
              <a:t/>
            </a:r>
          </a:p>
          <a:p xmlns:a="http://schemas.openxmlformats.org/drawingml/2006/main">
            <a:r>
              <a:t>[Instructor Notes]</a:t>
            </a:r>
          </a:p>
          <a:p xmlns:a="http://schemas.openxmlformats.org/drawingml/2006/main">
            <a:r>
              <a:t>Ask learners whether targets exist in historical data and whether they match the actual business question.</a:t>
            </a:r>
          </a:p>
          <a:p xmlns:a="http://schemas.openxmlformats.org/drawingml/2006/main">
            <a:r>
              <a:t/>
            </a:r>
          </a:p>
          <a:p xmlns:a="http://schemas.openxmlformats.org/drawingml/2006/main">
            <a:r>
              <a:t>[Notebook Connection]</a:t>
            </a:r>
          </a:p>
          <a:p xmlns:a="http://schemas.openxmlformats.org/drawingml/2006/main">
            <a:r>
              <a:t>The selected notebook is supervised because historical rows include a target used for training.</a:t>
            </a:r>
          </a:p>
          <a:p xmlns:a="http://schemas.openxmlformats.org/drawingml/2006/main">
            <a:r>
              <a:t/>
            </a:r>
          </a:p>
          <a:p xmlns:a="http://schemas.openxmlformats.org/drawingml/2006/main">
            <a:r>
              <a:t>[Sources]</a:t>
            </a:r>
          </a:p>
          <a:p xmlns:a="http://schemas.openxmlformats.org/drawingml/2006/main">
            <a:r>
              <a:t>- https://scikit-learn.org/stable/user_guide.html</a:t>
            </a:r>
          </a:p>
          <a:p xmlns:a="http://schemas.openxmlformats.org/drawingml/2006/main">
            <a:r>
              <a:t>- https://scikit-learn.org/stable/modules/clustering.html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**Regression** predicts a continuous numerical target: a quantity that can take values across an interval.</a:t>
            </a:r>
          </a:p>
          <a:p xmlns:a="http://schemas.openxmlformats.org/drawingml/2006/main">
            <a:r>
              <a:t/>
            </a:r>
          </a:p>
          <a:p xmlns:a="http://schemas.openxmlformats.org/drawingml/2006/main">
            <a:r>
              <a:t>Examples:</a:t>
            </a:r>
          </a:p>
          <a:p xmlns:a="http://schemas.openxmlformats.org/drawingml/2006/main">
            <a:r>
              <a:t/>
            </a:r>
          </a:p>
          <a:p xmlns:a="http://schemas.openxmlformats.org/drawingml/2006/main">
            <a:r>
              <a:t>- house price: `185000.00`</a:t>
            </a:r>
          </a:p>
          <a:p xmlns:a="http://schemas.openxmlformats.org/drawingml/2006/main">
            <a:r>
              <a:t>- delivery time: `42.5` minutes</a:t>
            </a:r>
          </a:p>
          <a:p xmlns:a="http://schemas.openxmlformats.org/drawingml/2006/main">
            <a:r>
              <a:t>- energy use: `13.7` kWh</a:t>
            </a:r>
          </a:p>
          <a:p xmlns:a="http://schemas.openxmlformats.org/drawingml/2006/main">
            <a:r>
              <a:t/>
            </a:r>
          </a:p>
          <a:p xmlns:a="http://schemas.openxmlformats.org/drawingml/2006/main">
            <a:r>
              <a:t>The output is not a category. A regression model may predict values not observed exactly in the training data.</a:t>
            </a:r>
          </a:p>
          <a:p xmlns:a="http://schemas.openxmlformats.org/drawingml/2006/main">
            <a:r>
              <a:t/>
            </a:r>
          </a:p>
          <a:p xmlns:a="http://schemas.openxmlformats.org/drawingml/2006/main">
            <a:r>
              <a:t>Typical regression errors measure numerical distance between actual and predicted values.</a:t>
            </a:r>
          </a:p>
          <a:p xmlns:a="http://schemas.openxmlformats.org/drawingml/2006/main">
            <a:r>
              <a:t/>
            </a:r>
          </a:p>
          <a:p xmlns:a="http://schemas.openxmlformats.org/drawingml/2006/main">
            <a:r>
              <a:t>[Worked Example]</a:t>
            </a:r>
          </a:p>
          <a:p xmlns:a="http://schemas.openxmlformats.org/drawingml/2006/main">
            <a:r>
              <a:t>Actual delivery time: `50` minutes  </a:t>
            </a:r>
          </a:p>
          <a:p xmlns:a="http://schemas.openxmlformats.org/drawingml/2006/main">
            <a:r>
              <a:t>Prediction: `46` minutes  </a:t>
            </a:r>
          </a:p>
          <a:p xmlns:a="http://schemas.openxmlformats.org/drawingml/2006/main">
            <a:r>
              <a:t>Residual: `actual - predicted = 50 - 46 = 4` minutes</a:t>
            </a:r>
          </a:p>
          <a:p xmlns:a="http://schemas.openxmlformats.org/drawingml/2006/main">
            <a:r>
              <a:t/>
            </a:r>
          </a:p>
          <a:p xmlns:a="http://schemas.openxmlformats.org/drawingml/2006/main">
            <a:r>
              <a:t>The model under-predicted by `4` minutes.</a:t>
            </a:r>
          </a:p>
          <a:p xmlns:a="http://schemas.openxmlformats.org/drawingml/2006/main">
            <a:r>
              <a:t/>
            </a:r>
          </a:p>
          <a:p xmlns:a="http://schemas.openxmlformats.org/drawingml/2006/main">
            <a:r>
              <a:t>[Visual Brief]</a:t>
            </a:r>
          </a:p>
          <a:p xmlns:a="http://schemas.openxmlformats.org/drawingml/2006/main">
            <a:r>
              <a:t>A number line shows actual and predicted positions separated by a four-minute residual.</a:t>
            </a:r>
          </a:p>
          <a:p xmlns:a="http://schemas.openxmlformats.org/drawingml/2006/main">
            <a:r>
              <a:t/>
            </a:r>
          </a:p>
          <a:p xmlns:a="http://schemas.openxmlformats.org/drawingml/2006/main">
            <a:r>
              <a:t>[Instructor Notes]</a:t>
            </a:r>
          </a:p>
          <a:p xmlns:a="http://schemas.openxmlformats.org/drawingml/2006/main">
            <a:r>
              <a:t>Use “continuous” to describe the target's meaning, even when stored measurements are rounded.</a:t>
            </a:r>
          </a:p>
          <a:p xmlns:a="http://schemas.openxmlformats.org/drawingml/2006/main">
            <a:r>
              <a:t/>
            </a:r>
          </a:p>
          <a:p xmlns:a="http://schemas.openxmlformats.org/drawingml/2006/main">
            <a:r>
              <a:t>[Notebook Connection]</a:t>
            </a:r>
          </a:p>
          <a:p xmlns:a="http://schemas.openxmlformats.org/drawingml/2006/main">
            <a:r>
              <a:t>Week 7 introduces a specific regression algorithm and its equation.</a:t>
            </a:r>
          </a:p>
          <a:p xmlns:a="http://schemas.openxmlformats.org/drawingml/2006/main">
            <a:r>
              <a:t/>
            </a:r>
          </a:p>
          <a:p xmlns:a="http://schemas.openxmlformats.org/drawingml/2006/main">
            <a:r>
              <a:t>[Sources]</a:t>
            </a:r>
          </a:p>
          <a:p xmlns:a="http://schemas.openxmlformats.org/drawingml/2006/main">
            <a:r>
              <a:t>- https://scikit-learn.org/stable/supervised_learning.html</a:t>
            </a:r>
          </a:p>
          <a:p xmlns:a="http://schemas.openxmlformats.org/drawingml/2006/main">
            <a:r>
              <a:t>- https://scikit-learn.org/stable/modules/model_evaluation.html#regression-metrics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**Classification** predicts a category or a probability for each category.</a:t>
            </a:r>
          </a:p>
          <a:p xmlns:a="http://schemas.openxmlformats.org/drawingml/2006/main">
            <a:r>
              <a:t/>
            </a:r>
          </a:p>
          <a:p xmlns:a="http://schemas.openxmlformats.org/drawingml/2006/main">
            <a:r>
              <a:t>- **Binary classification:** two classes, such as spam/not spam</a:t>
            </a:r>
          </a:p>
          <a:p xmlns:a="http://schemas.openxmlformats.org/drawingml/2006/main">
            <a:r>
              <a:t>- **Multiclass classification:** more than two classes, such as low/medium/high risk</a:t>
            </a:r>
          </a:p>
          <a:p xmlns:a="http://schemas.openxmlformats.org/drawingml/2006/main">
            <a:r>
              <a:t>- A **label** is a categorical target value.</a:t>
            </a:r>
          </a:p>
          <a:p xmlns:a="http://schemas.openxmlformats.org/drawingml/2006/main">
            <a:r>
              <a:t/>
            </a:r>
          </a:p>
          <a:p xmlns:a="http://schemas.openxmlformats.org/drawingml/2006/main">
            <a:r>
              <a:t>A classifier often estimates `P(class | features)`, then applies a decision rule. The predicted class is not the same thing as its probability.</a:t>
            </a:r>
          </a:p>
          <a:p xmlns:a="http://schemas.openxmlformats.org/drawingml/2006/main">
            <a:r>
              <a:t/>
            </a:r>
          </a:p>
          <a:p xmlns:a="http://schemas.openxmlformats.org/drawingml/2006/main">
            <a:r>
              <a:t>[Worked Example]</a:t>
            </a:r>
          </a:p>
          <a:p xmlns:a="http://schemas.openxmlformats.org/drawingml/2006/main">
            <a:r>
              <a:t>Model output:</a:t>
            </a:r>
          </a:p>
          <a:p xmlns:a="http://schemas.openxmlformats.org/drawingml/2006/main">
            <a:r>
              <a:t/>
            </a:r>
          </a:p>
          <a:p xmlns:a="http://schemas.openxmlformats.org/drawingml/2006/main">
            <a:r>
              <a:t>`P(spam | email) = 0.82`</a:t>
            </a:r>
          </a:p>
          <a:p xmlns:a="http://schemas.openxmlformats.org/drawingml/2006/main">
            <a:r>
              <a:t/>
            </a:r>
          </a:p>
          <a:p xmlns:a="http://schemas.openxmlformats.org/drawingml/2006/main">
            <a:r>
              <a:t>With threshold `0.50`, predict spam because `0.82 &gt;= 0.50`.  </a:t>
            </a:r>
          </a:p>
          <a:p xmlns:a="http://schemas.openxmlformats.org/drawingml/2006/main">
            <a:r>
              <a:t>With threshold `0.90`, predict not spam because `0.82 &lt; 0.90`.</a:t>
            </a:r>
          </a:p>
          <a:p xmlns:a="http://schemas.openxmlformats.org/drawingml/2006/main">
            <a:r>
              <a:t/>
            </a:r>
          </a:p>
          <a:p xmlns:a="http://schemas.openxmlformats.org/drawingml/2006/main">
            <a:r>
              <a:t>[Visual Brief]</a:t>
            </a:r>
          </a:p>
          <a:p xmlns:a="http://schemas.openxmlformats.org/drawingml/2006/main">
            <a:r>
              <a:t>A probability scale from 0 to 1 marks `0.82` and shows decisions under two thresholds.</a:t>
            </a:r>
          </a:p>
          <a:p xmlns:a="http://schemas.openxmlformats.org/drawingml/2006/main">
            <a:r>
              <a:t/>
            </a:r>
          </a:p>
          <a:p xmlns:a="http://schemas.openxmlformats.org/drawingml/2006/main">
            <a:r>
              <a:t>[Instructor Notes]</a:t>
            </a:r>
          </a:p>
          <a:p xmlns:a="http://schemas.openxmlformats.org/drawingml/2006/main">
            <a:r>
              <a:t>Explain that threshold choice depends on the cost of different errors; Week 8 develops this.</a:t>
            </a:r>
          </a:p>
          <a:p xmlns:a="http://schemas.openxmlformats.org/drawingml/2006/main">
            <a:r>
              <a:t/>
            </a:r>
          </a:p>
          <a:p xmlns:a="http://schemas.openxmlformats.org/drawingml/2006/main">
            <a:r>
              <a:t>[Notebook Connection]</a:t>
            </a:r>
          </a:p>
          <a:p xmlns:a="http://schemas.openxmlformats.org/drawingml/2006/main">
            <a:r>
              <a:t>The model-development and evaluation notebooks use categorical targets and probability-based metrics.</a:t>
            </a:r>
          </a:p>
          <a:p xmlns:a="http://schemas.openxmlformats.org/drawingml/2006/main">
            <a:r>
              <a:t/>
            </a:r>
          </a:p>
          <a:p xmlns:a="http://schemas.openxmlformats.org/drawingml/2006/main">
            <a:r>
              <a:t>[Sources]</a:t>
            </a:r>
          </a:p>
          <a:p xmlns:a="http://schemas.openxmlformats.org/drawingml/2006/main">
            <a:r>
              <a:t>- https://scikit-learn.org/stable/supervised_learning.html</a:t>
            </a:r>
          </a:p>
          <a:p xmlns:a="http://schemas.openxmlformats.org/drawingml/2006/main">
            <a:r>
              <a:t>- https://scikit-learn.org/stable/modules/classification_threshold.html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**Clustering** is an unsupervised task that groups observations using a defined similarity or distance.</a:t>
            </a:r>
          </a:p>
          <a:p xmlns:a="http://schemas.openxmlformats.org/drawingml/2006/main">
            <a:r>
              <a:t/>
            </a:r>
          </a:p>
          <a:p xmlns:a="http://schemas.openxmlformats.org/drawingml/2006/main">
            <a:r>
              <a:t>The clusters are discovered from features; no correct cluster label is supplied during training.</a:t>
            </a:r>
          </a:p>
          <a:p xmlns:a="http://schemas.openxmlformats.org/drawingml/2006/main">
            <a:r>
              <a:t/>
            </a:r>
          </a:p>
          <a:p xmlns:a="http://schemas.openxmlformats.org/drawingml/2006/main">
            <a:r>
              <a:t>Clusters are not automatically real customer “types.” Their meaning depends on:</a:t>
            </a:r>
          </a:p>
          <a:p xmlns:a="http://schemas.openxmlformats.org/drawingml/2006/main">
            <a:r>
              <a:t/>
            </a:r>
          </a:p>
          <a:p xmlns:a="http://schemas.openxmlformats.org/drawingml/2006/main">
            <a:r>
              <a:t>- selected features;</a:t>
            </a:r>
          </a:p>
          <a:p xmlns:a="http://schemas.openxmlformats.org/drawingml/2006/main">
            <a:r>
              <a:t>- scaling;</a:t>
            </a:r>
          </a:p>
          <a:p xmlns:a="http://schemas.openxmlformats.org/drawingml/2006/main">
            <a:r>
              <a:t>- distance rule;</a:t>
            </a:r>
          </a:p>
          <a:p xmlns:a="http://schemas.openxmlformats.org/drawingml/2006/main">
            <a:r>
              <a:t>- number or structure of clusters;</a:t>
            </a:r>
          </a:p>
          <a:p xmlns:a="http://schemas.openxmlformats.org/drawingml/2006/main">
            <a:r>
              <a:t>- stability across samples;</a:t>
            </a:r>
          </a:p>
          <a:p xmlns:a="http://schemas.openxmlformats.org/drawingml/2006/main">
            <a:r>
              <a:t>- domain interpretation.</a:t>
            </a:r>
          </a:p>
          <a:p xmlns:a="http://schemas.openxmlformats.org/drawingml/2006/main">
            <a:r>
              <a:t/>
            </a:r>
          </a:p>
          <a:p xmlns:a="http://schemas.openxmlformats.org/drawingml/2006/main">
            <a:r>
              <a:t>[Worked Example]</a:t>
            </a:r>
          </a:p>
          <a:p xmlns:a="http://schemas.openxmlformats.org/drawingml/2006/main">
            <a:r>
              <a:t>Customers have two features: visits per month and average purchase.</a:t>
            </a:r>
          </a:p>
          <a:p xmlns:a="http://schemas.openxmlformats.org/drawingml/2006/main">
            <a:r>
              <a:t/>
            </a:r>
          </a:p>
          <a:p xmlns:a="http://schemas.openxmlformats.org/drawingml/2006/main">
            <a:r>
              <a:t>The algorithm may identify frequent-low-spend and rare-high-spend groups. These names are interpretations added after examining the cluster centers.</a:t>
            </a:r>
          </a:p>
          <a:p xmlns:a="http://schemas.openxmlformats.org/drawingml/2006/main">
            <a:r>
              <a:t/>
            </a:r>
          </a:p>
          <a:p xmlns:a="http://schemas.openxmlformats.org/drawingml/2006/main">
            <a:r>
              <a:t>[Visual Brief]</a:t>
            </a:r>
          </a:p>
          <a:p xmlns:a="http://schemas.openxmlformats.org/drawingml/2006/main">
            <a:r>
              <a:t>A scatter plot shows unlabelled points, then the same points coloured into groups after clustering.</a:t>
            </a:r>
          </a:p>
          <a:p xmlns:a="http://schemas.openxmlformats.org/drawingml/2006/main">
            <a:r>
              <a:t/>
            </a:r>
          </a:p>
          <a:p xmlns:a="http://schemas.openxmlformats.org/drawingml/2006/main">
            <a:r>
              <a:t>[Instructor Notes]</a:t>
            </a:r>
          </a:p>
          <a:p xmlns:a="http://schemas.openxmlformats.org/drawingml/2006/main">
            <a:r>
              <a:t>Avoid teaching k-means mechanics here. Focus on the absence of target labels and the need for interpretation.</a:t>
            </a:r>
          </a:p>
          <a:p xmlns:a="http://schemas.openxmlformats.org/drawingml/2006/main">
            <a:r>
              <a:t/>
            </a:r>
          </a:p>
          <a:p xmlns:a="http://schemas.openxmlformats.org/drawingml/2006/main">
            <a:r>
              <a:t>[Notebook Connection]</a:t>
            </a:r>
          </a:p>
          <a:p xmlns:a="http://schemas.openxmlformats.org/drawingml/2006/main">
            <a:r>
              <a:t>Clustering is included for problem framing; the core notebook lab remains supervised.</a:t>
            </a:r>
          </a:p>
          <a:p xmlns:a="http://schemas.openxmlformats.org/drawingml/2006/main">
            <a:r>
              <a:t/>
            </a:r>
          </a:p>
          <a:p xmlns:a="http://schemas.openxmlformats.org/drawingml/2006/main">
            <a:r>
              <a:t>[Sources]</a:t>
            </a:r>
          </a:p>
          <a:p xmlns:a="http://schemas.openxmlformats.org/drawingml/2006/main">
            <a:r>
              <a:t>- https://scikit-learn.org/stable/modules/clustering.html</a:t>
            </a:r>
          </a:p>
          <a:p xmlns:a="http://schemas.openxmlformats.org/drawingml/2006/main">
            <a:r>
              <a:t>- https://scikit-learn.org/stable/modules/preprocessing.html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estimates model parameters using historical examples.</a:t>
            </a:r>
          </a:p>
          <a:p xmlns:a="http://schemas.openxmlformats.org/drawingml/2006/main">
            <a:r>
              <a:t/>
            </a:r>
          </a:p>
          <a:p xmlns:a="http://schemas.openxmlformats.org/drawingml/2006/main">
            <a:r>
              <a:t>**Inference** applies fixed learned parameters to new feature values to produce predictions.</a:t>
            </a:r>
          </a:p>
          <a:p xmlns:a="http://schemas.openxmlformats.org/drawingml/2006/main">
            <a:r>
              <a:t/>
            </a:r>
          </a:p>
          <a:p xmlns:a="http://schemas.openxmlformats.org/drawingml/2006/main">
            <a:r>
              <a:t>During training:</a:t>
            </a:r>
          </a:p>
          <a:p xmlns:a="http://schemas.openxmlformats.org/drawingml/2006/main">
            <a:r>
              <a:t/>
            </a:r>
          </a:p>
          <a:p xmlns:a="http://schemas.openxmlformats.org/drawingml/2006/main">
            <a:r>
              <a:t>1. calculate predictions;</a:t>
            </a:r>
          </a:p>
          <a:p xmlns:a="http://schemas.openxmlformats.org/drawingml/2006/main">
            <a:r>
              <a:t>2. compare with known targets;</a:t>
            </a:r>
          </a:p>
          <a:p xmlns:a="http://schemas.openxmlformats.org/drawingml/2006/main">
            <a:r>
              <a:t>3. measure loss;</a:t>
            </a:r>
          </a:p>
          <a:p xmlns:a="http://schemas.openxmlformats.org/drawingml/2006/main">
            <a:r>
              <a:t>4. update parameters;</a:t>
            </a:r>
          </a:p>
          <a:p xmlns:a="http://schemas.openxmlformats.org/drawingml/2006/main">
            <a:r>
              <a:t>5. repeat.</a:t>
            </a:r>
          </a:p>
          <a:p xmlns:a="http://schemas.openxmlformats.org/drawingml/2006/main">
            <a:r>
              <a:t/>
            </a:r>
          </a:p>
          <a:p xmlns:a="http://schemas.openxmlformats.org/drawingml/2006/main">
            <a:r>
              <a:t>During inference, the true target is not required and parameters should not change.</a:t>
            </a:r>
          </a:p>
          <a:p xmlns:a="http://schemas.openxmlformats.org/drawingml/2006/main">
            <a:r>
              <a:t/>
            </a:r>
          </a:p>
          <a:p xmlns:a="http://schemas.openxmlformats.org/drawingml/2006/main">
            <a:r>
              <a:t>[Worked Example]</a:t>
            </a:r>
          </a:p>
          <a:p xmlns:a="http://schemas.openxmlformats.org/drawingml/2006/main">
            <a:r>
              <a:t>Training row: features `[area=1200, bedrooms=3]`, target `185000`.  </a:t>
            </a:r>
          </a:p>
          <a:p xmlns:a="http://schemas.openxmlformats.org/drawingml/2006/main">
            <a:r>
              <a:t>Inference row: features `[area=1350, bedrooms=3]`, target unknown.  </a:t>
            </a:r>
          </a:p>
          <a:p xmlns:a="http://schemas.openxmlformats.org/drawingml/2006/main">
            <a:r>
              <a:t>The model returns an estimated price using parameters learned earlier.</a:t>
            </a:r>
          </a:p>
          <a:p xmlns:a="http://schemas.openxmlformats.org/drawingml/2006/main">
            <a:r>
              <a:t/>
            </a:r>
          </a:p>
          <a:p xmlns:a="http://schemas.openxmlformats.org/drawingml/2006/main">
            <a:r>
              <a:t>[Visual Brief]</a:t>
            </a:r>
          </a:p>
          <a:p xmlns:a="http://schemas.openxmlformats.org/drawingml/2006/main">
            <a:r>
              <a:t>Training is a loop with targets and updates. Inference is a one-way path with no target and no update.</a:t>
            </a:r>
          </a:p>
          <a:p xmlns:a="http://schemas.openxmlformats.org/drawingml/2006/main">
            <a:r>
              <a:t/>
            </a:r>
          </a:p>
          <a:p xmlns:a="http://schemas.openxmlformats.org/drawingml/2006/main">
            <a:r>
              <a:t>[Instructor Notes]</a:t>
            </a:r>
          </a:p>
          <a:p xmlns:a="http://schemas.openxmlformats.org/drawingml/2006/main">
            <a:r>
              <a:t>Explain `fit` and `predict` conceptually; model selection and pipelines appear later.</a:t>
            </a:r>
          </a:p>
          <a:p xmlns:a="http://schemas.openxmlformats.org/drawingml/2006/main">
            <a:r>
              <a:t/>
            </a:r>
          </a:p>
          <a:p xmlns:a="http://schemas.openxmlformats.org/drawingml/2006/main">
            <a:r>
              <a:t>[Notebook Connection]</a:t>
            </a:r>
          </a:p>
          <a:p xmlns:a="http://schemas.openxmlformats.org/drawingml/2006/main">
            <a:r>
              <a:t>The notebook uses `fit()` on training data and `predict()` on held-out data.</a:t>
            </a:r>
          </a:p>
          <a:p xmlns:a="http://schemas.openxmlformats.org/drawingml/2006/main">
            <a:r>
              <a:t/>
            </a:r>
          </a:p>
          <a:p xmlns:a="http://schemas.openxmlformats.org/drawingml/2006/main">
            <a:r>
              <a:t>[Sources]</a:t>
            </a:r>
          </a:p>
          <a:p xmlns:a="http://schemas.openxmlformats.org/drawingml/2006/main">
            <a:r>
              <a:t>- https://scikit-learn.org/stable/getting_started.html</a:t>
            </a:r>
          </a:p>
          <a:p xmlns:a="http://schemas.openxmlformats.org/drawingml/2006/main">
            <a:r>
              <a:t>- https://github.com/curiousily/AI-Bootcamp/blob/master/03.model-development.ipynb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**Training set:** estimates model parameters.</a:t>
            </a:r>
          </a:p>
          <a:p xmlns:a="http://schemas.openxmlformats.org/drawingml/2006/main">
            <a:r>
              <a:t>- **Validation set:** compares model choices and settings.</a:t>
            </a:r>
          </a:p>
          <a:p xmlns:a="http://schemas.openxmlformats.org/drawingml/2006/main">
            <a:r>
              <a:t>- **Test set:** estimates final performance after choices are complete.</a:t>
            </a:r>
          </a:p>
          <a:p xmlns:a="http://schemas.openxmlformats.org/drawingml/2006/main">
            <a:r>
              <a:t/>
            </a:r>
          </a:p>
          <a:p xmlns:a="http://schemas.openxmlformats.org/drawingml/2006/main">
            <a:r>
              <a:t>If test results influence repeated model changes, the test set becomes another validation set and no longer provides an independent final estimate.</a:t>
            </a:r>
          </a:p>
          <a:p xmlns:a="http://schemas.openxmlformats.org/drawingml/2006/main">
            <a:r>
              <a:t/>
            </a:r>
          </a:p>
          <a:p xmlns:a="http://schemas.openxmlformats.org/drawingml/2006/main">
            <a:r>
              <a:t>Splits should represent future use. Time-ordered, grouped, or repeated-person data may require specialized splitting instead of random rows.</a:t>
            </a:r>
          </a:p>
          <a:p xmlns:a="http://schemas.openxmlformats.org/drawingml/2006/main">
            <a:r>
              <a:t/>
            </a:r>
          </a:p>
          <a:p xmlns:a="http://schemas.openxmlformats.org/drawingml/2006/main">
            <a:r>
              <a:t>[Worked Example]</a:t>
            </a:r>
          </a:p>
          <a:p xmlns:a="http://schemas.openxmlformats.org/drawingml/2006/main">
            <a:r>
              <a:t>From `1,000` independent observations:</a:t>
            </a:r>
          </a:p>
          <a:p xmlns:a="http://schemas.openxmlformats.org/drawingml/2006/main">
            <a:r>
              <a:t/>
            </a:r>
          </a:p>
          <a:p xmlns:a="http://schemas.openxmlformats.org/drawingml/2006/main">
            <a:r>
              <a:t>- training: `700`</a:t>
            </a:r>
          </a:p>
          <a:p xmlns:a="http://schemas.openxmlformats.org/drawingml/2006/main">
            <a:r>
              <a:t>- validation: `150`</a:t>
            </a:r>
          </a:p>
          <a:p xmlns:a="http://schemas.openxmlformats.org/drawingml/2006/main">
            <a:r>
              <a:t>- test: `150`</a:t>
            </a:r>
          </a:p>
          <a:p xmlns:a="http://schemas.openxmlformats.org/drawingml/2006/main">
            <a:r>
              <a:t/>
            </a:r>
          </a:p>
          <a:p xmlns:a="http://schemas.openxmlformats.org/drawingml/2006/main">
            <a:r>
              <a:t>The exact percentages are less important than keeping roles separate and documenting the split.</a:t>
            </a:r>
          </a:p>
          <a:p xmlns:a="http://schemas.openxmlformats.org/drawingml/2006/main">
            <a:r>
              <a:t/>
            </a:r>
          </a:p>
          <a:p xmlns:a="http://schemas.openxmlformats.org/drawingml/2006/main">
            <a:r>
              <a:t>[Visual Brief]</a:t>
            </a:r>
          </a:p>
          <a:p xmlns:a="http://schemas.openxmlformats.org/drawingml/2006/main">
            <a:r>
              <a:t>One dataset bar splits into labelled train, validation, and test sections with arrows showing permitted use.</a:t>
            </a:r>
          </a:p>
          <a:p xmlns:a="http://schemas.openxmlformats.org/drawingml/2006/main">
            <a:r>
              <a:t/>
            </a:r>
          </a:p>
          <a:p xmlns:a="http://schemas.openxmlformats.org/drawingml/2006/main">
            <a:r>
              <a:t>[Instructor Notes]</a:t>
            </a:r>
          </a:p>
          <a:p xmlns:a="http://schemas.openxmlformats.org/drawingml/2006/main">
            <a:r>
              <a:t>State that the code example creates two sets; cross-validation in Week 10 can provide validation within training data.</a:t>
            </a:r>
          </a:p>
          <a:p xmlns:a="http://schemas.openxmlformats.org/drawingml/2006/main">
            <a:r>
              <a:t/>
            </a:r>
          </a:p>
          <a:p xmlns:a="http://schemas.openxmlformats.org/drawingml/2006/main">
            <a:r>
              <a:t>[Notebook Connection]</a:t>
            </a:r>
          </a:p>
          <a:p xmlns:a="http://schemas.openxmlformats.org/drawingml/2006/main">
            <a:r>
              <a:t>Learners should identify which notebook rows train the model and which estimate generalization.</a:t>
            </a:r>
          </a:p>
          <a:p xmlns:a="http://schemas.openxmlformats.org/drawingml/2006/main">
            <a:r>
              <a:t/>
            </a:r>
          </a:p>
          <a:p xmlns:a="http://schemas.openxmlformats.org/drawingml/2006/main">
            <a:r>
              <a:t>[Sources]</a:t>
            </a:r>
          </a:p>
          <a:p xmlns:a="http://schemas.openxmlformats.org/drawingml/2006/main">
            <a:r>
              <a:t>- https://scikit-learn.org/stable/model_selection.html</a:t>
            </a:r>
          </a:p>
          <a:p xmlns:a="http://schemas.openxmlformats.org/drawingml/2006/main">
            <a:r>
              <a:t>- https://scikit-learn.org/stable/modules/generated/sklearn.model_selection.train_test_split.html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**Generalization** is useful performance on representative examples that did not influence fitting.</a:t>
            </a:r>
          </a:p>
          <a:p xmlns:a="http://schemas.openxmlformats.org/drawingml/2006/main">
            <a:r>
              <a:t/>
            </a:r>
          </a:p>
          <a:p xmlns:a="http://schemas.openxmlformats.org/drawingml/2006/main">
            <a:r>
              <a:t>- **Underfitting:** the model is too limited or poorly trained to capture important structure.</a:t>
            </a:r>
          </a:p>
          <a:p xmlns:a="http://schemas.openxmlformats.org/drawingml/2006/main">
            <a:r>
              <a:t>- **Overfitting:** the model learns training-specific noise and performs worse on new data.</a:t>
            </a:r>
          </a:p>
          <a:p xmlns:a="http://schemas.openxmlformats.org/drawingml/2006/main">
            <a:r>
              <a:t>- **Generalization gap:** difference between training and validation performance.</a:t>
            </a:r>
          </a:p>
          <a:p xmlns:a="http://schemas.openxmlformats.org/drawingml/2006/main">
            <a:r>
              <a:t/>
            </a:r>
          </a:p>
          <a:p xmlns:a="http://schemas.openxmlformats.org/drawingml/2006/main">
            <a:r>
              <a:t>More training accuracy does not guarantee a better model. The goal is reliable unseen-data performance.</a:t>
            </a:r>
          </a:p>
          <a:p xmlns:a="http://schemas.openxmlformats.org/drawingml/2006/main">
            <a:r>
              <a:t/>
            </a:r>
          </a:p>
          <a:p xmlns:a="http://schemas.openxmlformats.org/drawingml/2006/main">
            <a:r>
              <a:t>[Worked Example]</a:t>
            </a:r>
          </a:p>
          <a:p xmlns:a="http://schemas.openxmlformats.org/drawingml/2006/main">
            <a:r>
              <a:t>Model A: training accuracy `70%`, validation `69%`  </a:t>
            </a:r>
          </a:p>
          <a:p xmlns:a="http://schemas.openxmlformats.org/drawingml/2006/main">
            <a:r>
              <a:t>Model B: training accuracy `99%`, validation `74%`</a:t>
            </a:r>
          </a:p>
          <a:p xmlns:a="http://schemas.openxmlformats.org/drawingml/2006/main">
            <a:r>
              <a:t/>
            </a:r>
          </a:p>
          <a:p xmlns:a="http://schemas.openxmlformats.org/drawingml/2006/main">
            <a:r>
              <a:t>Model B fits training data much more closely, but its `25`-point gap signals overfitting risk.</a:t>
            </a:r>
          </a:p>
          <a:p xmlns:a="http://schemas.openxmlformats.org/drawingml/2006/main">
            <a:r>
              <a:t/>
            </a:r>
          </a:p>
          <a:p xmlns:a="http://schemas.openxmlformats.org/drawingml/2006/main">
            <a:r>
              <a:t>[Visual Brief]</a:t>
            </a:r>
          </a:p>
          <a:p xmlns:a="http://schemas.openxmlformats.org/drawingml/2006/main">
            <a:r>
              <a:t>Three fitted curves show underfit, appropriate fit, and overfit against the same data.</a:t>
            </a:r>
          </a:p>
          <a:p xmlns:a="http://schemas.openxmlformats.org/drawingml/2006/main">
            <a:r>
              <a:t/>
            </a:r>
          </a:p>
          <a:p xmlns:a="http://schemas.openxmlformats.org/drawingml/2006/main">
            <a:r>
              <a:t>[Instructor Notes]</a:t>
            </a:r>
          </a:p>
          <a:p xmlns:a="http://schemas.openxmlformats.org/drawingml/2006/main">
            <a:r>
              <a:t>Avoid defining overfitting only as “high training score.” It requires comparison with unseen data.</a:t>
            </a:r>
          </a:p>
          <a:p xmlns:a="http://schemas.openxmlformats.org/drawingml/2006/main">
            <a:r>
              <a:t/>
            </a:r>
          </a:p>
          <a:p xmlns:a="http://schemas.openxmlformats.org/drawingml/2006/main">
            <a:r>
              <a:t>[Notebook Connection]</a:t>
            </a:r>
          </a:p>
          <a:p xmlns:a="http://schemas.openxmlformats.org/drawingml/2006/main">
            <a:r>
              <a:t>The notebook's evaluation section checks held-out performance rather than training fit alone.</a:t>
            </a:r>
          </a:p>
          <a:p xmlns:a="http://schemas.openxmlformats.org/drawingml/2006/main">
            <a:r>
              <a:t/>
            </a:r>
          </a:p>
          <a:p xmlns:a="http://schemas.openxmlformats.org/drawingml/2006/main">
            <a:r>
              <a:t>[Sources]</a:t>
            </a:r>
          </a:p>
          <a:p xmlns:a="http://schemas.openxmlformats.org/drawingml/2006/main">
            <a:r>
              <a:t>- https://scikit-learn.org/stable/auto_examples/model_selection/plot_underfitting_overfitting.html</a:t>
            </a:r>
          </a:p>
          <a:p xmlns:a="http://schemas.openxmlformats.org/drawingml/2006/main">
            <a:r>
              <a:t>- https://scikit-learn.org/stable/common_pitfalls.html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**baseline** is a simple rule used as a reference.</a:t>
            </a:r>
          </a:p>
          <a:p xmlns:a="http://schemas.openxmlformats.org/drawingml/2006/main">
            <a:r>
              <a:t/>
            </a:r>
          </a:p>
          <a:p xmlns:a="http://schemas.openxmlformats.org/drawingml/2006/main">
            <a:r>
              <a:t>Regression baseline: always predict the training-target mean.  </a:t>
            </a:r>
          </a:p>
          <a:p xmlns:a="http://schemas.openxmlformats.org/drawingml/2006/main">
            <a:r>
              <a:t>Classification baseline: always predict the most frequent training class.</a:t>
            </a:r>
          </a:p>
          <a:p xmlns:a="http://schemas.openxmlformats.org/drawingml/2006/main">
            <a:r>
              <a:t/>
            </a:r>
          </a:p>
          <a:p xmlns:a="http://schemas.openxmlformats.org/drawingml/2006/main">
            <a:r>
              <a:t>A complex model must beat the baseline on relevant unseen-data metrics. Otherwise, it has not demonstrated useful learning.</a:t>
            </a:r>
          </a:p>
          <a:p xmlns:a="http://schemas.openxmlformats.org/drawingml/2006/main">
            <a:r>
              <a:t/>
            </a:r>
          </a:p>
          <a:p xmlns:a="http://schemas.openxmlformats.org/drawingml/2006/main">
            <a:r>
              <a:t>The baseline must be fitted using training data only.</a:t>
            </a:r>
          </a:p>
          <a:p xmlns:a="http://schemas.openxmlformats.org/drawingml/2006/main">
            <a:r>
              <a:t/>
            </a:r>
          </a:p>
          <a:p xmlns:a="http://schemas.openxmlformats.org/drawingml/2006/main">
            <a:r>
              <a:t>[Worked Example]</a:t>
            </a:r>
          </a:p>
          <a:p xmlns:a="http://schemas.openxmlformats.org/drawingml/2006/main">
            <a:r>
              <a:t>Training prices: `[100, 120, 140]`  </a:t>
            </a:r>
          </a:p>
          <a:p xmlns:a="http://schemas.openxmlformats.org/drawingml/2006/main">
            <a:r>
              <a:t>Mean baseline: `(100 + 120 + 140) / 3 = 120`</a:t>
            </a:r>
          </a:p>
          <a:p xmlns:a="http://schemas.openxmlformats.org/drawingml/2006/main">
            <a:r>
              <a:t/>
            </a:r>
          </a:p>
          <a:p xmlns:a="http://schemas.openxmlformats.org/drawingml/2006/main">
            <a:r>
              <a:t>For test targets `[110, 150]`, predictions are `[120, 120]`.  </a:t>
            </a:r>
          </a:p>
          <a:p xmlns:a="http://schemas.openxmlformats.org/drawingml/2006/main">
            <a:r>
              <a:t>Absolute errors are `[10, 30]`; MAE is `(10 + 30) / 2 = 20`.</a:t>
            </a:r>
          </a:p>
          <a:p xmlns:a="http://schemas.openxmlformats.org/drawingml/2006/main">
            <a:r>
              <a:t/>
            </a:r>
          </a:p>
          <a:p xmlns:a="http://schemas.openxmlformats.org/drawingml/2006/main">
            <a:r>
              <a:t>[Visual Brief]</a:t>
            </a:r>
          </a:p>
          <a:p xmlns:a="http://schemas.openxmlformats.org/drawingml/2006/main">
            <a:r>
              <a:t>A simple baseline bar and a model bar stand beside a minimum-performance line.</a:t>
            </a:r>
          </a:p>
          <a:p xmlns:a="http://schemas.openxmlformats.org/drawingml/2006/main">
            <a:r>
              <a:t/>
            </a:r>
          </a:p>
          <a:p xmlns:a="http://schemas.openxmlformats.org/drawingml/2006/main">
            <a:r>
              <a:t>[Instructor Notes]</a:t>
            </a:r>
          </a:p>
          <a:p xmlns:a="http://schemas.openxmlformats.org/drawingml/2006/main">
            <a:r>
              <a:t>Explain why the test-target mean must not be used: it would reveal information unavailable at prediction time.</a:t>
            </a:r>
          </a:p>
          <a:p xmlns:a="http://schemas.openxmlformats.org/drawingml/2006/main">
            <a:r>
              <a:t/>
            </a:r>
          </a:p>
          <a:p xmlns:a="http://schemas.openxmlformats.org/drawingml/2006/main">
            <a:r>
              <a:t>[Notebook Connection]</a:t>
            </a:r>
          </a:p>
          <a:p xmlns:a="http://schemas.openxmlformats.org/drawingml/2006/main">
            <a:r>
              <a:t>Learners should compare the notebook model with a task-appropriate dummy estimator.</a:t>
            </a:r>
          </a:p>
          <a:p xmlns:a="http://schemas.openxmlformats.org/drawingml/2006/main">
            <a:r>
              <a:t/>
            </a:r>
          </a:p>
          <a:p xmlns:a="http://schemas.openxmlformats.org/drawingml/2006/main">
            <a:r>
              <a:t>[Sources]</a:t>
            </a:r>
          </a:p>
          <a:p xmlns:a="http://schemas.openxmlformats.org/drawingml/2006/main">
            <a:r>
              <a:t>- https://scikit-learn.org/stable/modules/model_evaluation.html#dummy-estimators</a:t>
            </a:r>
          </a:p>
          <a:p xmlns:a="http://schemas.openxmlformats.org/drawingml/2006/main">
            <a:r>
              <a:t>- https://scikit-learn.org/stable/modules/generated/sklearn.dummy.DummyRegressor.html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leakage** occurs when training uses information that would not be available at real prediction time or should belong only to validation/test data.</a:t>
            </a:r>
          </a:p>
          <a:p xmlns:a="http://schemas.openxmlformats.org/drawingml/2006/main">
            <a:r>
              <a:t/>
            </a:r>
          </a:p>
          <a:p xmlns:a="http://schemas.openxmlformats.org/drawingml/2006/main">
            <a:r>
              <a:t>Examples:</a:t>
            </a:r>
          </a:p>
          <a:p xmlns:a="http://schemas.openxmlformats.org/drawingml/2006/main">
            <a:r>
              <a:t/>
            </a:r>
          </a:p>
          <a:p xmlns:a="http://schemas.openxmlformats.org/drawingml/2006/main">
            <a:r>
              <a:t>- using final payment status to predict whether payment will occur;</a:t>
            </a:r>
          </a:p>
          <a:p xmlns:a="http://schemas.openxmlformats.org/drawingml/2006/main">
            <a:r>
              <a:t>- calculating scaling values from the complete dataset before splitting;</a:t>
            </a:r>
          </a:p>
          <a:p xmlns:a="http://schemas.openxmlformats.org/drawingml/2006/main">
            <a:r>
              <a:t>- imputing test values using statistics from test rows;</a:t>
            </a:r>
          </a:p>
          <a:p xmlns:a="http://schemas.openxmlformats.org/drawingml/2006/main">
            <a:r>
              <a:t>- including duplicate people in both training and test sets.</a:t>
            </a:r>
          </a:p>
          <a:p xmlns:a="http://schemas.openxmlformats.org/drawingml/2006/main">
            <a:r>
              <a:t/>
            </a:r>
          </a:p>
          <a:p xmlns:a="http://schemas.openxmlformats.org/drawingml/2006/main">
            <a:r>
              <a:t>Leakage can produce excellent evaluation scores and poor real-world performance.</a:t>
            </a:r>
          </a:p>
          <a:p xmlns:a="http://schemas.openxmlformats.org/drawingml/2006/main">
            <a:r>
              <a:t/>
            </a:r>
          </a:p>
          <a:p xmlns:a="http://schemas.openxmlformats.org/drawingml/2006/main">
            <a:r>
              <a:t>[Worked Example]</a:t>
            </a:r>
          </a:p>
          <a:p xmlns:a="http://schemas.openxmlformats.org/drawingml/2006/main">
            <a:r>
              <a:t>Goal: predict cancellation one month in advance.  </a:t>
            </a:r>
          </a:p>
          <a:p xmlns:a="http://schemas.openxmlformats.org/drawingml/2006/main">
            <a:r>
              <a:t>Feature: `cancellation_date`.</a:t>
            </a:r>
          </a:p>
          <a:p xmlns:a="http://schemas.openxmlformats.org/drawingml/2006/main">
            <a:r>
              <a:t/>
            </a:r>
          </a:p>
          <a:p xmlns:a="http://schemas.openxmlformats.org/drawingml/2006/main">
            <a:r>
              <a:t>This feature directly reveals the future target and is unavailable one month earlier. It must not be used.</a:t>
            </a:r>
          </a:p>
          <a:p xmlns:a="http://schemas.openxmlformats.org/drawingml/2006/main">
            <a:r>
              <a:t/>
            </a:r>
          </a:p>
          <a:p xmlns:a="http://schemas.openxmlformats.org/drawingml/2006/main">
            <a:r>
              <a:t>[Visual Brief]</a:t>
            </a:r>
          </a:p>
          <a:p xmlns:a="http://schemas.openxmlformats.org/drawingml/2006/main">
            <a:r>
              <a:t>A time line marks prediction time. Allowed features appear before it; a forbidden future feature appears after it.</a:t>
            </a:r>
          </a:p>
          <a:p xmlns:a="http://schemas.openxmlformats.org/drawingml/2006/main">
            <a:r>
              <a:t/>
            </a:r>
          </a:p>
          <a:p xmlns:a="http://schemas.openxmlformats.org/drawingml/2006/main">
            <a:r>
              <a:t>[Instructor Notes]</a:t>
            </a:r>
          </a:p>
          <a:p xmlns:a="http://schemas.openxmlformats.org/drawingml/2006/main">
            <a:r>
              <a:t>For every feature, ask “When is this value created?” Week 10 will prevent preprocessing leakage with pipelines.</a:t>
            </a:r>
          </a:p>
          <a:p xmlns:a="http://schemas.openxmlformats.org/drawingml/2006/main">
            <a:r>
              <a:t/>
            </a:r>
          </a:p>
          <a:p xmlns:a="http://schemas.openxmlformats.org/drawingml/2006/main">
            <a:r>
              <a:t>[Notebook Connection]</a:t>
            </a:r>
          </a:p>
          <a:p xmlns:a="http://schemas.openxmlformats.org/drawingml/2006/main">
            <a:r>
              <a:t>Learners must audit features before running the model-development pipeline.</a:t>
            </a:r>
          </a:p>
          <a:p xmlns:a="http://schemas.openxmlformats.org/drawingml/2006/main">
            <a:r>
              <a:t/>
            </a:r>
          </a:p>
          <a:p xmlns:a="http://schemas.openxmlformats.org/drawingml/2006/main">
            <a:r>
              <a:t>[Sources]</a:t>
            </a:r>
          </a:p>
          <a:p xmlns:a="http://schemas.openxmlformats.org/drawingml/2006/main">
            <a:r>
              <a:t>- https://scikit-learn.org/stable/common_pitfalls.html#data-leakage</a:t>
            </a:r>
          </a:p>
          <a:p xmlns:a="http://schemas.openxmlformats.org/drawingml/2006/main">
            <a:r>
              <a:t>- https://github.com/curiousily/AI-Bootcamp/blob/master/03.model-development.ipynb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asks whether model errors are acceptable for the intended decision.</a:t>
            </a:r>
          </a:p>
          <a:p xmlns:a="http://schemas.openxmlformats.org/drawingml/2006/main">
            <a:r>
              <a:t/>
            </a:r>
          </a:p>
          <a:p xmlns:a="http://schemas.openxmlformats.org/drawingml/2006/main">
            <a:r>
              <a:t>Regression compares numerical prediction distance, using measures such as MAE, RMSE, and R².</a:t>
            </a:r>
          </a:p>
          <a:p xmlns:a="http://schemas.openxmlformats.org/drawingml/2006/main">
            <a:r>
              <a:t/>
            </a:r>
          </a:p>
          <a:p xmlns:a="http://schemas.openxmlformats.org/drawingml/2006/main">
            <a:r>
              <a:t>Classification compares predicted and actual classes or probabilities, using measures such as precision, recall, F1, and ROC-AUC.</a:t>
            </a:r>
          </a:p>
          <a:p xmlns:a="http://schemas.openxmlformats.org/drawingml/2006/main">
            <a:r>
              <a:t/>
            </a:r>
          </a:p>
          <a:p xmlns:a="http://schemas.openxmlformats.org/drawingml/2006/main">
            <a:r>
              <a:t>Metrics are not interchangeable. Accuracy does not evaluate house-price distance, and RMSE does not describe spam categories.</a:t>
            </a:r>
          </a:p>
          <a:p xmlns:a="http://schemas.openxmlformats.org/drawingml/2006/main">
            <a:r>
              <a:t/>
            </a:r>
          </a:p>
          <a:p xmlns:a="http://schemas.openxmlformats.org/drawingml/2006/main">
            <a:r>
              <a:t>Also inspect errors across important groups, time periods, and operating thresholds.</a:t>
            </a:r>
          </a:p>
          <a:p xmlns:a="http://schemas.openxmlformats.org/drawingml/2006/main">
            <a:r>
              <a:t/>
            </a:r>
          </a:p>
          <a:p xmlns:a="http://schemas.openxmlformats.org/drawingml/2006/main">
            <a:r>
              <a:t>[Worked Example]</a:t>
            </a:r>
          </a:p>
          <a:p xmlns:a="http://schemas.openxmlformats.org/drawingml/2006/main">
            <a:r>
              <a:t>- Delivery-time prediction -&gt; regression -&gt; errors in minutes</a:t>
            </a:r>
          </a:p>
          <a:p xmlns:a="http://schemas.openxmlformats.org/drawingml/2006/main">
            <a:r>
              <a:t>- Fraud detection -&gt; classification -&gt; missed fraud and false alarms have different costs</a:t>
            </a:r>
          </a:p>
          <a:p xmlns:a="http://schemas.openxmlformats.org/drawingml/2006/main">
            <a:r>
              <a:t>- Customer segmentation -&gt; clustering -&gt; no supplied correct label; evaluate stability and usefulness</a:t>
            </a:r>
          </a:p>
          <a:p xmlns:a="http://schemas.openxmlformats.org/drawingml/2006/main">
            <a:r>
              <a:t/>
            </a:r>
          </a:p>
          <a:p xmlns:a="http://schemas.openxmlformats.org/drawingml/2006/main">
            <a:r>
              <a:t>[Visual Brief]</a:t>
            </a:r>
          </a:p>
          <a:p xmlns:a="http://schemas.openxmlformats.org/drawingml/2006/main">
            <a:r>
              <a:t>Three task cards map regression, classification, and clustering to different output and evaluation evidence.</a:t>
            </a:r>
          </a:p>
          <a:p xmlns:a="http://schemas.openxmlformats.org/drawingml/2006/main">
            <a:r>
              <a:t/>
            </a:r>
          </a:p>
          <a:p xmlns:a="http://schemas.openxmlformats.org/drawingml/2006/main">
            <a:r>
              <a:t>[Instructor Notes]</a:t>
            </a:r>
          </a:p>
          <a:p xmlns:a="http://schemas.openxmlformats.org/drawingml/2006/main">
            <a:r>
              <a:t>Keep formulas for Weeks 7 and 8. Focus on selecting evidence that matches the prediction target and decision.</a:t>
            </a:r>
          </a:p>
          <a:p xmlns:a="http://schemas.openxmlformats.org/drawingml/2006/main">
            <a:r>
              <a:t/>
            </a:r>
          </a:p>
          <a:p xmlns:a="http://schemas.openxmlformats.org/drawingml/2006/main">
            <a:r>
              <a:t>[Notebook Connection]</a:t>
            </a:r>
          </a:p>
          <a:p xmlns:a="http://schemas.openxmlformats.org/drawingml/2006/main">
            <a:r>
              <a:t>The evaluation notebook deepens the metrics after learners can frame the problem correctly.</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 https://github.com/curiousily/AI-Bootcamp/blob/master/04.model-evaluation-techniques.ipynb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five proposed ML projects, identify:</a:t>
            </a:r>
          </a:p>
          <a:p xmlns:a="http://schemas.openxmlformats.org/drawingml/2006/main">
            <a:r>
              <a:t/>
            </a:r>
          </a:p>
          <a:p xmlns:a="http://schemas.openxmlformats.org/drawingml/2006/main">
            <a:r>
              <a:t>1. one observation;</a:t>
            </a:r>
          </a:p>
          <a:p xmlns:a="http://schemas.openxmlformats.org/drawingml/2006/main">
            <a:r>
              <a:t>2. features available at prediction time;</a:t>
            </a:r>
          </a:p>
          <a:p xmlns:a="http://schemas.openxmlformats.org/drawingml/2006/main">
            <a:r>
              <a:t>3. target, if one exists;</a:t>
            </a:r>
          </a:p>
          <a:p xmlns:a="http://schemas.openxmlformats.org/drawingml/2006/main">
            <a:r>
              <a:t>4. regression, classification, or clustering;</a:t>
            </a:r>
          </a:p>
          <a:p xmlns:a="http://schemas.openxmlformats.org/drawingml/2006/main">
            <a:r>
              <a:t>5. training and inference moments;</a:t>
            </a:r>
          </a:p>
          <a:p xmlns:a="http://schemas.openxmlformats.org/drawingml/2006/main">
            <a:r>
              <a:t>6. split strategy;</a:t>
            </a:r>
          </a:p>
          <a:p xmlns:a="http://schemas.openxmlformats.org/drawingml/2006/main">
            <a:r>
              <a:t>7. baseline;</a:t>
            </a:r>
          </a:p>
          <a:p xmlns:a="http://schemas.openxmlformats.org/drawingml/2006/main">
            <a:r>
              <a:t>8. evaluation evidence;</a:t>
            </a:r>
          </a:p>
          <a:p xmlns:a="http://schemas.openxmlformats.org/drawingml/2006/main">
            <a:r>
              <a:t>9. one leakage risk.</a:t>
            </a:r>
          </a:p>
          <a:p xmlns:a="http://schemas.openxmlformats.org/drawingml/2006/main">
            <a:r>
              <a:t/>
            </a:r>
          </a:p>
          <a:p xmlns:a="http://schemas.openxmlformats.org/drawingml/2006/main">
            <a:r>
              <a:t>Then select one project and draw its complete data flow before running the Week 6 notebook.</a:t>
            </a:r>
          </a:p>
          <a:p xmlns:a="http://schemas.openxmlformats.org/drawingml/2006/main">
            <a:r>
              <a:t/>
            </a:r>
          </a:p>
          <a:p xmlns:a="http://schemas.openxmlformats.org/drawingml/2006/main">
            <a:r>
              <a:t>[Worked Example]</a:t>
            </a:r>
          </a:p>
          <a:p xmlns:a="http://schemas.openxmlformats.org/drawingml/2006/main">
            <a:r>
              <a:t>Project: predict tomorrow's electricity demand.</a:t>
            </a:r>
          </a:p>
          <a:p xmlns:a="http://schemas.openxmlformats.org/drawingml/2006/main">
            <a:r>
              <a:t/>
            </a:r>
          </a:p>
          <a:p xmlns:a="http://schemas.openxmlformats.org/drawingml/2006/main">
            <a:r>
              <a:t>Observation: one region-hour  </a:t>
            </a:r>
          </a:p>
          <a:p xmlns:a="http://schemas.openxmlformats.org/drawingml/2006/main">
            <a:r>
              <a:t>Target: next-hour kWh  </a:t>
            </a:r>
          </a:p>
          <a:p xmlns:a="http://schemas.openxmlformats.org/drawingml/2006/main">
            <a:r>
              <a:t>Task: regression  </a:t>
            </a:r>
          </a:p>
          <a:p xmlns:a="http://schemas.openxmlformats.org/drawingml/2006/main">
            <a:r>
              <a:t>Split: time-ordered  </a:t>
            </a:r>
          </a:p>
          <a:p xmlns:a="http://schemas.openxmlformats.org/drawingml/2006/main">
            <a:r>
              <a:t>Baseline: previous day's same-hour demand  </a:t>
            </a:r>
          </a:p>
          <a:p xmlns:a="http://schemas.openxmlformats.org/drawingml/2006/main">
            <a:r>
              <a:t>Leakage risk: using measurements recorded after the prediction time</a:t>
            </a:r>
          </a:p>
          <a:p xmlns:a="http://schemas.openxmlformats.org/drawingml/2006/main">
            <a:r>
              <a:t/>
            </a:r>
          </a:p>
          <a:p xmlns:a="http://schemas.openxmlformats.org/drawingml/2006/main">
            <a:r>
              <a:t>[Visual Brief]</a:t>
            </a:r>
          </a:p>
          <a:p xmlns:a="http://schemas.openxmlformats.org/drawingml/2006/main">
            <a:r>
              <a:t>A worksheet maps business question to observation, features, target, task, split, baseline, metric, and leakage check.</a:t>
            </a:r>
          </a:p>
          <a:p xmlns:a="http://schemas.openxmlformats.org/drawingml/2006/main">
            <a:r>
              <a:t/>
            </a:r>
          </a:p>
          <a:p xmlns:a="http://schemas.openxmlformats.org/drawingml/2006/main">
            <a:r>
              <a:t>[Instructor Notes]</a:t>
            </a:r>
          </a:p>
          <a:p xmlns:a="http://schemas.openxmlformats.org/drawingml/2006/main">
            <a:r>
              <a:t>Do not allow algorithm names until the problem definition is complete. Challenge features that may be unavailable at prediction time.</a:t>
            </a:r>
          </a:p>
          <a:p xmlns:a="http://schemas.openxmlformats.org/drawingml/2006/main">
            <a:r>
              <a:t/>
            </a:r>
          </a:p>
          <a:p xmlns:a="http://schemas.openxmlformats.org/drawingml/2006/main">
            <a:r>
              <a:t>[Notebook Connection]</a:t>
            </a:r>
          </a:p>
          <a:p xmlns:a="http://schemas.openxmlformats.org/drawingml/2006/main">
            <a:r>
              <a:t>Continue into `03.model-development.ipynb`, labelling each section as data preparation, training, inference, or evaluation.</a:t>
            </a:r>
          </a:p>
          <a:p xmlns:a="http://schemas.openxmlformats.org/drawingml/2006/main">
            <a:r>
              <a:t/>
            </a:r>
          </a:p>
          <a:p xmlns:a="http://schemas.openxmlformats.org/drawingml/2006/main">
            <a:r>
              <a:t>[Sources]</a:t>
            </a:r>
          </a:p>
          <a:p xmlns:a="http://schemas.openxmlformats.org/drawingml/2006/main">
            <a:r>
              <a:t>- https://github.com/curiousily/AI-Bootcamp/blob/master/03.model-development.ipynb</a:t>
            </a:r>
          </a:p>
          <a:p xmlns:a="http://schemas.openxmlformats.org/drawingml/2006/main">
            <a:r>
              <a:t>- https://scikit-learn.org/stable/getting_started.html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bef05d1d864c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fc6486b9da450c" /><Relationship Type="http://schemas.openxmlformats.org/officeDocument/2006/relationships/slideLayout" Target="/ppt/slideLayouts/slideLayout1.xml" Id="Rf3ae0071f25945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ae0071f25945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fa15666d2d462c" /><Relationship Type="http://schemas.openxmlformats.org/officeDocument/2006/relationships/image" Target="/ppt/media/image.png" Id="R133cab4b82c04efc" /><Relationship Type="http://schemas.openxmlformats.org/officeDocument/2006/relationships/image" Target="/ppt/media/image2.png" Id="Rbf8860e214c1446d" /><Relationship Type="http://schemas.openxmlformats.org/officeDocument/2006/relationships/notesSlide" Target="/ppt/notesSlides/notesSlide1.xml" Id="R877aa803159f44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ca1ce025744b23" /><Relationship Type="http://schemas.openxmlformats.org/officeDocument/2006/relationships/notesSlide" Target="/ppt/notesSlides/notesSlide2.xml" Id="R371749f267cf4d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e267748cea487e" /><Relationship Type="http://schemas.openxmlformats.org/officeDocument/2006/relationships/notesSlide" Target="/ppt/notesSlides/notesSlide3.xml" Id="R3cc873c0732443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231bcb21894a18" /><Relationship Type="http://schemas.openxmlformats.org/officeDocument/2006/relationships/notesSlide" Target="/ppt/notesSlides/notesSlide4.xml" Id="Rd953cd5d65974a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b95cc6667c4edc" /><Relationship Type="http://schemas.openxmlformats.org/officeDocument/2006/relationships/notesSlide" Target="/ppt/notesSlides/notesSlide5.xml" Id="R68120d34d9f94e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9c026f7bf04ac2" /><Relationship Type="http://schemas.openxmlformats.org/officeDocument/2006/relationships/notesSlide" Target="/ppt/notesSlides/notesSlide6.xml" Id="R3fab7f87d2a34a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96a38652cc4243" /><Relationship Type="http://schemas.openxmlformats.org/officeDocument/2006/relationships/notesSlide" Target="/ppt/notesSlides/notesSlide7.xml" Id="Ra640d41ed6b74b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6338320ac94503" /><Relationship Type="http://schemas.openxmlformats.org/officeDocument/2006/relationships/notesSlide" Target="/ppt/notesSlides/notesSlide8.xml" Id="R2d0991e595324c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bb25edc438f49d5" /><Relationship Type="http://schemas.openxmlformats.org/officeDocument/2006/relationships/notesSlide" Target="/ppt/notesSlides/notesSlide9.xml" Id="Re5a006a5f90349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4de26c40994da0" /><Relationship Type="http://schemas.openxmlformats.org/officeDocument/2006/relationships/notesSlide" Target="/ppt/notesSlides/notesSlide10.xml" Id="Raa5b8ef6a23546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44a85177034498a" /><Relationship Type="http://schemas.openxmlformats.org/officeDocument/2006/relationships/notesSlide" Target="/ppt/notesSlides/notesSlide11.xml" Id="R0d90b00fda6c4f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d5b27fd88847cd" /><Relationship Type="http://schemas.openxmlformats.org/officeDocument/2006/relationships/notesSlide" Target="/ppt/notesSlides/notesSlide12.xml" Id="R4c4c37b3512446d6" /></Relationships>
</file>

<file path=ppt/slides/slide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C59CD3-E094-454D-93BE-6C3986670B5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33cab4b82c04efc"/>
          <a:srcRect xmlns:a="http://schemas.openxmlformats.org/drawingml/2006/main" l="28270" t="0" r="28270" b="0"/>
          <a:stretch xmlns:a="http://schemas.openxmlformats.org/drawingml/2006/main">
            <a:fillRect l="0" t="0" r="0" b="0"/>
          </a:stretch>
        </p:blipFill>
        <p:spPr>
          <a:xfrm xmlns:a="http://schemas.openxmlformats.org/drawingml/2006/main">
            <a:off x="6896100" y="0"/>
            <a:ext cx="5295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AAD7F4B-3E62-49C0-A056-6C5390D762A3}"/>
              </a:ext>
            </a:extLst>
          </p:cNvPr>
          <p:cNvSpPr>
            <a:spLocks xmlns:a="http://schemas.openxmlformats.org/drawingml/2006/main" noGrp="1"/>
          </p:cNvSpPr>
          <p:nvPr/>
        </p:nvSpPr>
        <p:spPr>
          <a:xfrm xmlns:a="http://schemas.openxmlformats.org/drawingml/2006/main">
            <a:off x="6591300" y="0"/>
            <a:ext cx="304800" cy="68580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BAB06C-D837-4348-B148-920CFFDDE799}"/>
              </a:ext>
            </a:extLst>
          </p:cNvPr>
          <p:cNvSpPr>
            <a:spLocks xmlns:a="http://schemas.openxmlformats.org/drawingml/2006/main" noGrp="1"/>
          </p:cNvSpPr>
          <p:nvPr/>
        </p:nvSpPr>
        <p:spPr>
          <a:xfrm xmlns:a="http://schemas.openxmlformats.org/drawingml/2006/main">
            <a:off x="666750" y="6667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MODULE 06  /  LESSON 01</a:t>
            </a:r>
          </a:p>
        </p:txBody>
      </p:sp>
      <p:sp>
        <p:nvSpPr>
          <p:cNvPr id="5" name="">
            <a:extLst xmlns:a="http://schemas.openxmlformats.org/drawingml/2006/main">
              <a:ext uri="{FF2B5EF4-FFF2-40B4-BE49-F238E27FC236}">
                <a16:creationId xmlns:a16="http://schemas.microsoft.com/office/drawing/2014/main" id="{3CCA1136-88CC-4797-A9A1-59BEDB4D724A}"/>
              </a:ext>
            </a:extLst>
          </p:cNvPr>
          <p:cNvSpPr>
            <a:spLocks xmlns:a="http://schemas.openxmlformats.org/drawingml/2006/main" noGrp="1"/>
          </p:cNvSpPr>
          <p:nvPr/>
        </p:nvSpPr>
        <p:spPr>
          <a:xfrm xmlns:a="http://schemas.openxmlformats.org/drawingml/2006/main">
            <a:off x="666750" y="1409700"/>
            <a:ext cx="5219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FFFFFF"/>
                </a:solidFill>
              </a:defRPr>
            </a:pPr>
            <a:r>
              <a:rPr sz="3600" b="1">
                <a:solidFill>
                  <a:srgbClr val="FFFFFF"/>
                </a:solidFill>
              </a:rPr>
              <a:t>Machine Learning Learns a Mapping from Examples</a:t>
            </a:r>
          </a:p>
        </p:txBody>
      </p:sp>
      <p:sp>
        <p:nvSpPr>
          <p:cNvPr id="6" name="">
            <a:extLst xmlns:a="http://schemas.openxmlformats.org/drawingml/2006/main">
              <a:ext uri="{FF2B5EF4-FFF2-40B4-BE49-F238E27FC236}">
                <a16:creationId xmlns:a16="http://schemas.microsoft.com/office/drawing/2014/main" id="{75D1B998-B956-48D0-8853-F7B72B27FFE2}"/>
              </a:ext>
            </a:extLst>
          </p:cNvPr>
          <p:cNvSpPr>
            <a:spLocks xmlns:a="http://schemas.openxmlformats.org/drawingml/2006/main" noGrp="1"/>
          </p:cNvSpPr>
          <p:nvPr/>
        </p:nvSpPr>
        <p:spPr>
          <a:xfrm xmlns:a="http://schemas.openxmlformats.org/drawingml/2006/main">
            <a:off x="666750" y="4095750"/>
            <a:ext cx="91440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5D2B649-B231-4290-968A-27EE5A0D22DB}"/>
              </a:ext>
            </a:extLst>
          </p:cNvPr>
          <p:cNvSpPr>
            <a:spLocks xmlns:a="http://schemas.openxmlformats.org/drawingml/2006/main" noGrp="1"/>
          </p:cNvSpPr>
          <p:nvPr/>
        </p:nvSpPr>
        <p:spPr>
          <a:xfrm xmlns:a="http://schemas.openxmlformats.org/drawingml/2006/main">
            <a:off x="666750" y="4495800"/>
            <a:ext cx="5048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5E2EC"/>
                </a:solidFill>
              </a:defRPr>
            </a:pPr>
            <a:r>
              <a:rPr sz="1650">
                <a:solidFill>
                  <a:srgbClr val="D5E2EC"/>
                </a:solidFill>
              </a:rPr>
              <a:t>Machine learning (ML) uses examples to estimate a function or discover structure.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f8860e214c1446d"/>
          <a:stretch xmlns:a="http://schemas.openxmlformats.org/drawingml/2006/main"/>
        </p:blipFill>
        <p:spPr>
          <a:xfrm xmlns:a="http://schemas.openxmlformats.org/drawingml/2006/main">
            <a:off x="790575" y="5905500"/>
            <a:ext cx="1485900" cy="495300"/>
          </a:xfrm>
          <a:prstGeom xmlns:a="http://schemas.openxmlformats.org/drawingml/2006/main" prst="rect">
            <a:avLst/>
          </a:prstGeom>
        </p:spPr>
      </p:pic>
    </p:spTree>
    <p:extLst>
      <p:ext uri="{BB962C8B-B14F-4D97-AF65-F5344CB8AC3E}">
        <p14:creationId xmlns:p14="http://schemas.microsoft.com/office/powerpoint/2010/main" val="30625800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A33EC2-71CF-4122-B298-AD9E6942D859}"/>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M06 / L01</a:t>
            </a:r>
          </a:p>
        </p:txBody>
      </p:sp>
      <p:sp>
        <p:nvSpPr>
          <p:cNvPr id="2" name="">
            <a:extLst xmlns:a="http://schemas.openxmlformats.org/drawingml/2006/main">
              <a:ext uri="{FF2B5EF4-FFF2-40B4-BE49-F238E27FC236}">
                <a16:creationId xmlns:a16="http://schemas.microsoft.com/office/drawing/2014/main" id="{4B681F91-E128-4EAD-8332-CDB4C9AA30EE}"/>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Machine Learning Learns a Mapping from Examples</a:t>
            </a:r>
          </a:p>
        </p:txBody>
      </p:sp>
      <p:sp>
        <p:nvSpPr>
          <p:cNvPr id="3" name="">
            <a:extLst xmlns:a="http://schemas.openxmlformats.org/drawingml/2006/main">
              <a:ext uri="{FF2B5EF4-FFF2-40B4-BE49-F238E27FC236}">
                <a16:creationId xmlns:a16="http://schemas.microsoft.com/office/drawing/2014/main" id="{6495B734-FC64-4489-B406-72475BD75EC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02</a:t>
            </a:r>
          </a:p>
        </p:txBody>
      </p:sp>
      <p:sp>
        <p:nvSpPr>
          <p:cNvPr id="4" name="">
            <a:extLst xmlns:a="http://schemas.openxmlformats.org/drawingml/2006/main">
              <a:ext uri="{FF2B5EF4-FFF2-40B4-BE49-F238E27FC236}">
                <a16:creationId xmlns:a16="http://schemas.microsoft.com/office/drawing/2014/main" id="{2B370A81-5BFF-4CD7-B19E-D6D5A37A800B}"/>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E2D85212-7DD2-4594-A52E-87FA41092E37}"/>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Supervised and Unsupervised Learning Use Different Evidence</a:t>
            </a:r>
          </a:p>
        </p:txBody>
      </p:sp>
      <p:sp>
        <p:nvSpPr>
          <p:cNvPr id="6" name="">
            <a:extLst xmlns:a="http://schemas.openxmlformats.org/drawingml/2006/main">
              <a:ext uri="{FF2B5EF4-FFF2-40B4-BE49-F238E27FC236}">
                <a16:creationId xmlns:a16="http://schemas.microsoft.com/office/drawing/2014/main" id="{BE461491-705B-4A2F-BDA8-9AAC01D9E62A}"/>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36B8555-F933-4227-9BB3-5A114ABB1894}"/>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243244"/>
                </a:solidFill>
              </a:defRPr>
            </a:pPr>
            <a:r>
              <a:rPr sz="1275">
                <a:solidFill>
                  <a:srgbClr val="243244"/>
                </a:solidFill>
              </a:rPr>
              <a:t>Supervised learning uses examples with known targets. The model compares predictions with targets and learns from the error. Unsupervised learning uses data without supplied targets. It searches for structure such as groups, lower-dimensional representations, or unusual observations.</a:t>
            </a:r>
          </a:p>
        </p:txBody>
      </p:sp>
      <p:sp>
        <p:nvSpPr>
          <p:cNvPr id="8" name="">
            <a:extLst xmlns:a="http://schemas.openxmlformats.org/drawingml/2006/main">
              <a:ext uri="{FF2B5EF4-FFF2-40B4-BE49-F238E27FC236}">
                <a16:creationId xmlns:a16="http://schemas.microsoft.com/office/drawing/2014/main" id="{6336DC15-7885-4455-A1F8-6C631098AE51}"/>
              </a:ext>
            </a:extLst>
          </p:cNvPr>
          <p:cNvSpPr>
            <a:spLocks xmlns:a="http://schemas.openxmlformats.org/drawingml/2006/main" noGrp="1"/>
          </p:cNvSpPr>
          <p:nvPr/>
        </p:nvSpPr>
        <p:spPr>
          <a:xfrm xmlns:a="http://schemas.openxmlformats.org/drawingml/2006/main">
            <a:off x="609600" y="3714750"/>
            <a:ext cx="51435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DAABB84-1133-4F59-89AA-C041145DC40E}"/>
              </a:ext>
            </a:extLst>
          </p:cNvPr>
          <p:cNvSpPr>
            <a:spLocks xmlns:a="http://schemas.openxmlformats.org/drawingml/2006/main" noGrp="1"/>
          </p:cNvSpPr>
          <p:nvPr/>
        </p:nvSpPr>
        <p:spPr>
          <a:xfrm xmlns:a="http://schemas.openxmlformats.org/drawingml/2006/main">
            <a:off x="781050" y="38100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predicting willcancel is supervised;</a:t>
            </a:r>
          </a:p>
        </p:txBody>
      </p:sp>
      <p:sp>
        <p:nvSpPr>
          <p:cNvPr id="10" name="">
            <a:extLst xmlns:a="http://schemas.openxmlformats.org/drawingml/2006/main">
              <a:ext uri="{FF2B5EF4-FFF2-40B4-BE49-F238E27FC236}">
                <a16:creationId xmlns:a16="http://schemas.microsoft.com/office/drawing/2014/main" id="{BDA88B2E-3728-4482-94FF-3DC6BFCD59AF}"/>
              </a:ext>
            </a:extLst>
          </p:cNvPr>
          <p:cNvSpPr>
            <a:spLocks xmlns:a="http://schemas.openxmlformats.org/drawingml/2006/main" noGrp="1"/>
          </p:cNvSpPr>
          <p:nvPr/>
        </p:nvSpPr>
        <p:spPr>
          <a:xfrm xmlns:a="http://schemas.openxmlformats.org/drawingml/2006/main">
            <a:off x="6076950" y="3714750"/>
            <a:ext cx="51435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FAE6484-6DD7-4676-9C0B-9E0FA8D59E80}"/>
              </a:ext>
            </a:extLst>
          </p:cNvPr>
          <p:cNvSpPr>
            <a:spLocks xmlns:a="http://schemas.openxmlformats.org/drawingml/2006/main" noGrp="1"/>
          </p:cNvSpPr>
          <p:nvPr/>
        </p:nvSpPr>
        <p:spPr>
          <a:xfrm xmlns:a="http://schemas.openxmlformats.org/drawingml/2006/main">
            <a:off x="6248400" y="38100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grouping customers by similar behaviour without a group label is unsupervised.</a:t>
            </a:r>
          </a:p>
        </p:txBody>
      </p:sp>
    </p:spTree>
    <p:extLst>
      <p:ext uri="{BB962C8B-B14F-4D97-AF65-F5344CB8AC3E}">
        <p14:creationId xmlns:p14="http://schemas.microsoft.com/office/powerpoint/2010/main" val="1638205164"/>
      </p:ext>
    </p:extLst>
  </p:cSld>
</p:sld>
</file>

<file path=ppt/slides/slide3.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A300C80-A252-41BD-8C0C-C14871F574CC}"/>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M06 / L01</a:t>
            </a:r>
          </a:p>
        </p:txBody>
      </p:sp>
      <p:sp>
        <p:nvSpPr>
          <p:cNvPr id="2" name="">
            <a:extLst xmlns:a="http://schemas.openxmlformats.org/drawingml/2006/main">
              <a:ext uri="{FF2B5EF4-FFF2-40B4-BE49-F238E27FC236}">
                <a16:creationId xmlns:a16="http://schemas.microsoft.com/office/drawing/2014/main" id="{0ADC56E0-4865-4907-969E-06E82D10BF80}"/>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Machine Learning Learns a Mapping from Examples</a:t>
            </a:r>
          </a:p>
        </p:txBody>
      </p:sp>
      <p:sp>
        <p:nvSpPr>
          <p:cNvPr id="3" name="">
            <a:extLst xmlns:a="http://schemas.openxmlformats.org/drawingml/2006/main">
              <a:ext uri="{FF2B5EF4-FFF2-40B4-BE49-F238E27FC236}">
                <a16:creationId xmlns:a16="http://schemas.microsoft.com/office/drawing/2014/main" id="{1C214047-BA90-4F0C-94F1-85A0FA654586}"/>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03</a:t>
            </a:r>
          </a:p>
        </p:txBody>
      </p:sp>
      <p:sp>
        <p:nvSpPr>
          <p:cNvPr id="4" name="">
            <a:extLst xmlns:a="http://schemas.openxmlformats.org/drawingml/2006/main">
              <a:ext uri="{FF2B5EF4-FFF2-40B4-BE49-F238E27FC236}">
                <a16:creationId xmlns:a16="http://schemas.microsoft.com/office/drawing/2014/main" id="{AE3B30FA-6FE2-44DD-986A-6AD8385C5E3F}"/>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D5A500B0-5A7C-4D75-BAF4-5F6AC2C622CC}"/>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Regression Predicts a Quantity</a:t>
            </a:r>
          </a:p>
        </p:txBody>
      </p:sp>
      <p:sp>
        <p:nvSpPr>
          <p:cNvPr id="6" name="">
            <a:extLst xmlns:a="http://schemas.openxmlformats.org/drawingml/2006/main">
              <a:ext uri="{FF2B5EF4-FFF2-40B4-BE49-F238E27FC236}">
                <a16:creationId xmlns:a16="http://schemas.microsoft.com/office/drawing/2014/main" id="{B8255623-FA80-4BF6-ACAB-5F6E1EE0CCB7}"/>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4BA4C11-86FA-47AB-8BE2-BB5A94F0384D}"/>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23C9304-345B-40A1-9C9D-B8D714B49CCF}"/>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72DC4B5-8790-4E79-993F-ABE365F5DCD3}"/>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42C949B-6D6C-4EB6-B683-28CE7FDF4EB5}"/>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7D31D7A-8194-44D7-AC50-97610DE1701C}"/>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actual = 50</a:t>
            </a:r>
          </a:p>
          <a:p xmlns:a="http://schemas.openxmlformats.org/drawingml/2006/main">
            <a:pPr>
              <a:defRPr sz="1125">
                <a:solidFill>
                  <a:srgbClr val="E8F1F7"/>
                </a:solidFill>
              </a:defRPr>
            </a:pPr>
            <a:r>
              <a:rPr sz="1125">
                <a:solidFill>
                  <a:srgbClr val="E8F1F7"/>
                </a:solidFill>
              </a:rPr>
              <a:t>predicted = 46</a:t>
            </a:r>
          </a:p>
          <a:p xmlns:a="http://schemas.openxmlformats.org/drawingml/2006/main">
            <a:pPr>
              <a:defRPr sz="1125">
                <a:solidFill>
                  <a:srgbClr val="E8F1F7"/>
                </a:solidFill>
              </a:defRPr>
            </a:pPr>
            <a:r>
              <a:rPr sz="1125">
                <a:solidFill>
                  <a:srgbClr val="E8F1F7"/>
                </a:solidFill>
              </a:rPr>
              <a:t>residual = actual - predicted</a:t>
            </a:r>
          </a:p>
          <a:p xmlns:a="http://schemas.openxmlformats.org/drawingml/2006/main">
            <a:pPr>
              <a:defRPr sz="1125">
                <a:solidFill>
                  <a:srgbClr val="E8F1F7"/>
                </a:solidFill>
              </a:defRPr>
            </a:pPr>
            <a:r>
              <a:rPr sz="1125">
                <a:solidFill>
                  <a:srgbClr val="E8F1F7"/>
                </a:solidFill>
              </a:rPr>
              <a:t>print(residual)</a:t>
            </a:r>
          </a:p>
        </p:txBody>
      </p:sp>
      <p:sp>
        <p:nvSpPr>
          <p:cNvPr id="12" name="">
            <a:extLst xmlns:a="http://schemas.openxmlformats.org/drawingml/2006/main">
              <a:ext uri="{FF2B5EF4-FFF2-40B4-BE49-F238E27FC236}">
                <a16:creationId xmlns:a16="http://schemas.microsoft.com/office/drawing/2014/main" id="{59329F85-A1AB-4583-9BC1-98D982971108}"/>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98144B52-2BDE-42B4-9885-3574411C7F55}"/>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7619EF86-32FC-4DE5-8D5E-5F55429548D8}"/>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4</a:t>
            </a:r>
          </a:p>
        </p:txBody>
      </p:sp>
      <p:sp>
        <p:nvSpPr>
          <p:cNvPr id="15" name="">
            <a:extLst xmlns:a="http://schemas.openxmlformats.org/drawingml/2006/main">
              <a:ext uri="{FF2B5EF4-FFF2-40B4-BE49-F238E27FC236}">
                <a16:creationId xmlns:a16="http://schemas.microsoft.com/office/drawing/2014/main" id="{18B183D3-7D8E-4D13-84D8-B51F2953CE61}"/>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ACEF7E8-921F-4DA2-8324-469694810E06}"/>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The model under-predicted by 4 minutes.</a:t>
            </a:r>
          </a:p>
        </p:txBody>
      </p:sp>
    </p:spTree>
    <p:extLst>
      <p:ext uri="{BB962C8B-B14F-4D97-AF65-F5344CB8AC3E}">
        <p14:creationId xmlns:p14="http://schemas.microsoft.com/office/powerpoint/2010/main" val="1060659999"/>
      </p:ext>
    </p:extLst>
  </p:cSld>
</p:sld>
</file>

<file path=ppt/slides/slide4.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5E65916-D9F1-4F16-BC7D-7809A22FDA21}"/>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M06 / L01</a:t>
            </a:r>
          </a:p>
        </p:txBody>
      </p:sp>
      <p:sp>
        <p:nvSpPr>
          <p:cNvPr id="2" name="">
            <a:extLst xmlns:a="http://schemas.openxmlformats.org/drawingml/2006/main">
              <a:ext uri="{FF2B5EF4-FFF2-40B4-BE49-F238E27FC236}">
                <a16:creationId xmlns:a16="http://schemas.microsoft.com/office/drawing/2014/main" id="{816C0D53-5B0B-4F3C-9693-B0A00A0F5A3B}"/>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Machine Learning Learns a Mapping from Examples</a:t>
            </a:r>
          </a:p>
        </p:txBody>
      </p:sp>
      <p:sp>
        <p:nvSpPr>
          <p:cNvPr id="3" name="">
            <a:extLst xmlns:a="http://schemas.openxmlformats.org/drawingml/2006/main">
              <a:ext uri="{FF2B5EF4-FFF2-40B4-BE49-F238E27FC236}">
                <a16:creationId xmlns:a16="http://schemas.microsoft.com/office/drawing/2014/main" id="{9F6358B7-D80F-4723-8139-8012086137D3}"/>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04</a:t>
            </a:r>
          </a:p>
        </p:txBody>
      </p:sp>
      <p:sp>
        <p:nvSpPr>
          <p:cNvPr id="4" name="">
            <a:extLst xmlns:a="http://schemas.openxmlformats.org/drawingml/2006/main">
              <a:ext uri="{FF2B5EF4-FFF2-40B4-BE49-F238E27FC236}">
                <a16:creationId xmlns:a16="http://schemas.microsoft.com/office/drawing/2014/main" id="{18B6A8D3-E9D9-4A88-9F70-9A84C2976769}"/>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A9EC14BF-1B04-47B6-B9E7-A69867A2EF4B}"/>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Classification Predicts a Category</a:t>
            </a:r>
          </a:p>
        </p:txBody>
      </p:sp>
      <p:sp>
        <p:nvSpPr>
          <p:cNvPr id="6" name="">
            <a:extLst xmlns:a="http://schemas.openxmlformats.org/drawingml/2006/main">
              <a:ext uri="{FF2B5EF4-FFF2-40B4-BE49-F238E27FC236}">
                <a16:creationId xmlns:a16="http://schemas.microsoft.com/office/drawing/2014/main" id="{3FA5AE00-3F03-4A7C-935A-43995D09C872}"/>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21BAC6DA-4084-4E79-967B-0CB8A125B21E}"/>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Binary classification: two classes, such as spam/not spam</a:t>
            </a:r>
          </a:p>
        </p:txBody>
      </p:sp>
      <p:sp>
        <p:nvSpPr>
          <p:cNvPr id="8" name="">
            <a:extLst xmlns:a="http://schemas.openxmlformats.org/drawingml/2006/main">
              <a:ext uri="{FF2B5EF4-FFF2-40B4-BE49-F238E27FC236}">
                <a16:creationId xmlns:a16="http://schemas.microsoft.com/office/drawing/2014/main" id="{B8EAC6A6-9565-4327-8F25-4207152B49B0}"/>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503FD28-E79B-4D12-AB63-8351D486CE4E}"/>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ADF0B300-1161-4E4F-8221-CFBCF9FD3D09}"/>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5847F7E5-4868-4508-B8B1-1ECE98FE420E}"/>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FFFFF"/>
                </a:solidFill>
              </a:defRPr>
            </a:pPr>
            <a:r>
              <a:rPr sz="1275" b="1">
                <a:solidFill>
                  <a:srgbClr val="FFFFFF"/>
                </a:solidFill>
              </a:rPr>
              <a:t>Multiclass classification: more than two classes, such as low/medium/high risk</a:t>
            </a:r>
          </a:p>
        </p:txBody>
      </p:sp>
      <p:sp>
        <p:nvSpPr>
          <p:cNvPr id="12" name="">
            <a:extLst xmlns:a="http://schemas.openxmlformats.org/drawingml/2006/main">
              <a:ext uri="{FF2B5EF4-FFF2-40B4-BE49-F238E27FC236}">
                <a16:creationId xmlns:a16="http://schemas.microsoft.com/office/drawing/2014/main" id="{DA37B3DD-59C8-4BF6-B22E-8FDBB4420A87}"/>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6EE5466-B740-462A-83BD-344B5DFEB2A4}"/>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F0C6BFBB-2A68-486E-BA8C-4CB150D644DA}"/>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7FF805B4-C738-4423-8B27-1E792937C759}"/>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A label is a categorical target value.</a:t>
            </a:r>
          </a:p>
        </p:txBody>
      </p:sp>
      <p:sp>
        <p:nvSpPr>
          <p:cNvPr id="16" name="">
            <a:extLst xmlns:a="http://schemas.openxmlformats.org/drawingml/2006/main">
              <a:ext uri="{FF2B5EF4-FFF2-40B4-BE49-F238E27FC236}">
                <a16:creationId xmlns:a16="http://schemas.microsoft.com/office/drawing/2014/main" id="{E4E380D9-C403-4B0A-B2FF-ADE55682EFBE}"/>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2EEC318-6ED6-4FD4-B723-583CF493F026}"/>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50B5A27D-BC5B-4C3D-9115-25E1EADD8954}"/>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D1DEE8"/>
                </a:solidFill>
              </a:defRPr>
            </a:pPr>
            <a:r>
              <a:rPr sz="1350">
                <a:solidFill>
                  <a:srgbClr val="D1DEE8"/>
                </a:solidFill>
              </a:rPr>
              <a:t>Model output: P(spam | email) = 0.82 With threshold 0.50, predict spam because 0.82 &gt;= 0.50. With threshold 0.90, predict not spam because 0.82 &lt; 0.90.</a:t>
            </a:r>
          </a:p>
        </p:txBody>
      </p:sp>
    </p:spTree>
    <p:extLst>
      <p:ext uri="{BB962C8B-B14F-4D97-AF65-F5344CB8AC3E}">
        <p14:creationId xmlns:p14="http://schemas.microsoft.com/office/powerpoint/2010/main" val="319227798"/>
      </p:ext>
    </p:extLst>
  </p:cSld>
</p:sld>
</file>

<file path=ppt/slides/slide5.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FF580D5-88AE-43C4-859D-AEF94F29E73F}"/>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M06 / L01</a:t>
            </a:r>
          </a:p>
        </p:txBody>
      </p:sp>
      <p:sp>
        <p:nvSpPr>
          <p:cNvPr id="2" name="">
            <a:extLst xmlns:a="http://schemas.openxmlformats.org/drawingml/2006/main">
              <a:ext uri="{FF2B5EF4-FFF2-40B4-BE49-F238E27FC236}">
                <a16:creationId xmlns:a16="http://schemas.microsoft.com/office/drawing/2014/main" id="{211D77EC-0B4E-4E2B-BE94-491FC0A6042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Machine Learning Learns a Mapping from Examples</a:t>
            </a:r>
          </a:p>
        </p:txBody>
      </p:sp>
      <p:sp>
        <p:nvSpPr>
          <p:cNvPr id="3" name="">
            <a:extLst xmlns:a="http://schemas.openxmlformats.org/drawingml/2006/main">
              <a:ext uri="{FF2B5EF4-FFF2-40B4-BE49-F238E27FC236}">
                <a16:creationId xmlns:a16="http://schemas.microsoft.com/office/drawing/2014/main" id="{44DA2408-99DD-44C6-AEDD-0B3E05BD2E27}"/>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05</a:t>
            </a:r>
          </a:p>
        </p:txBody>
      </p:sp>
      <p:sp>
        <p:nvSpPr>
          <p:cNvPr id="4" name="">
            <a:extLst xmlns:a="http://schemas.openxmlformats.org/drawingml/2006/main">
              <a:ext uri="{FF2B5EF4-FFF2-40B4-BE49-F238E27FC236}">
                <a16:creationId xmlns:a16="http://schemas.microsoft.com/office/drawing/2014/main" id="{CF84304F-8520-4110-940B-241D30DACFEE}"/>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8EB6B61D-636E-4DAE-8544-95FB16CC3AEE}"/>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Clustering Finds Groups Without Labels</a:t>
            </a:r>
          </a:p>
        </p:txBody>
      </p:sp>
      <p:sp>
        <p:nvSpPr>
          <p:cNvPr id="6" name="">
            <a:extLst xmlns:a="http://schemas.openxmlformats.org/drawingml/2006/main">
              <a:ext uri="{FF2B5EF4-FFF2-40B4-BE49-F238E27FC236}">
                <a16:creationId xmlns:a16="http://schemas.microsoft.com/office/drawing/2014/main" id="{395DD20B-1722-4AA3-89BD-21E9DBA26851}"/>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CA1A842-8693-4654-A9C0-44BD4C9FA7CF}"/>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D6E2EB"/>
                </a:solidFill>
              </a:defRPr>
            </a:pPr>
            <a:r>
              <a:rPr sz="1275">
                <a:solidFill>
                  <a:srgbClr val="D6E2EB"/>
                </a:solidFill>
              </a:rPr>
              <a:t>Clustering is an unsupervised task that groups observations using a defined similarity or distance. The clusters are discovered from features; no correct cluster label is supplied during training. Clusters are not automatically real customer “types.” Their meaning depends on:</a:t>
            </a:r>
          </a:p>
        </p:txBody>
      </p:sp>
      <p:sp>
        <p:nvSpPr>
          <p:cNvPr id="8" name="">
            <a:extLst xmlns:a="http://schemas.openxmlformats.org/drawingml/2006/main">
              <a:ext uri="{FF2B5EF4-FFF2-40B4-BE49-F238E27FC236}">
                <a16:creationId xmlns:a16="http://schemas.microsoft.com/office/drawing/2014/main" id="{18606587-EAB1-4901-A623-94780A98D5F9}"/>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5E43F47-4774-4626-9725-9A0815E64796}"/>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selected features;</a:t>
            </a:r>
          </a:p>
        </p:txBody>
      </p:sp>
      <p:sp>
        <p:nvSpPr>
          <p:cNvPr id="10" name="">
            <a:extLst xmlns:a="http://schemas.openxmlformats.org/drawingml/2006/main">
              <a:ext uri="{FF2B5EF4-FFF2-40B4-BE49-F238E27FC236}">
                <a16:creationId xmlns:a16="http://schemas.microsoft.com/office/drawing/2014/main" id="{6CE54633-A8F5-4691-BA80-C7119005B3DF}"/>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E6ED551-F267-4133-84DD-3A8F90C68906}"/>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scaling;</a:t>
            </a:r>
          </a:p>
        </p:txBody>
      </p:sp>
      <p:sp>
        <p:nvSpPr>
          <p:cNvPr id="12" name="">
            <a:extLst xmlns:a="http://schemas.openxmlformats.org/drawingml/2006/main">
              <a:ext uri="{FF2B5EF4-FFF2-40B4-BE49-F238E27FC236}">
                <a16:creationId xmlns:a16="http://schemas.microsoft.com/office/drawing/2014/main" id="{6EE71AF6-A49D-44F1-AAB1-8612ACE06960}"/>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C2529BC-C212-450E-A5BB-8523ECED1D51}"/>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distance rule;</a:t>
            </a:r>
          </a:p>
        </p:txBody>
      </p:sp>
      <p:sp>
        <p:nvSpPr>
          <p:cNvPr id="14" name="">
            <a:extLst xmlns:a="http://schemas.openxmlformats.org/drawingml/2006/main">
              <a:ext uri="{FF2B5EF4-FFF2-40B4-BE49-F238E27FC236}">
                <a16:creationId xmlns:a16="http://schemas.microsoft.com/office/drawing/2014/main" id="{0BF3F3AA-94CB-48B8-8903-76BEBC9B4C2F}"/>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4F20EC3-0659-4554-BA1F-D3134CEB176F}"/>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number or structure of clusters;</a:t>
            </a:r>
          </a:p>
        </p:txBody>
      </p:sp>
      <p:sp>
        <p:nvSpPr>
          <p:cNvPr id="16" name="">
            <a:extLst xmlns:a="http://schemas.openxmlformats.org/drawingml/2006/main">
              <a:ext uri="{FF2B5EF4-FFF2-40B4-BE49-F238E27FC236}">
                <a16:creationId xmlns:a16="http://schemas.microsoft.com/office/drawing/2014/main" id="{BBC7036A-6856-47B5-BD0D-744F94EAA5F9}"/>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7CA5C08-ED8C-4CEA-ACC5-2B7B70A56533}"/>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stability across samples;</a:t>
            </a:r>
          </a:p>
        </p:txBody>
      </p:sp>
      <p:sp>
        <p:nvSpPr>
          <p:cNvPr id="18" name="">
            <a:extLst xmlns:a="http://schemas.openxmlformats.org/drawingml/2006/main">
              <a:ext uri="{FF2B5EF4-FFF2-40B4-BE49-F238E27FC236}">
                <a16:creationId xmlns:a16="http://schemas.microsoft.com/office/drawing/2014/main" id="{AB9A50BC-D6E4-4845-A85F-A4A20FB61C14}"/>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1DF0949-0081-4065-9130-346A32BE2284}"/>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domain interpretation.</a:t>
            </a:r>
          </a:p>
        </p:txBody>
      </p:sp>
    </p:spTree>
    <p:extLst>
      <p:ext uri="{BB962C8B-B14F-4D97-AF65-F5344CB8AC3E}">
        <p14:creationId xmlns:p14="http://schemas.microsoft.com/office/powerpoint/2010/main" val="363935595"/>
      </p:ext>
    </p:extLst>
  </p:cSld>
</p:sld>
</file>

<file path=ppt/slides/slide6.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DF0092E-0E62-428E-BC96-30657E2EE812}"/>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M06 / L01</a:t>
            </a:r>
          </a:p>
        </p:txBody>
      </p:sp>
      <p:sp>
        <p:nvSpPr>
          <p:cNvPr id="2" name="">
            <a:extLst xmlns:a="http://schemas.openxmlformats.org/drawingml/2006/main">
              <a:ext uri="{FF2B5EF4-FFF2-40B4-BE49-F238E27FC236}">
                <a16:creationId xmlns:a16="http://schemas.microsoft.com/office/drawing/2014/main" id="{42B424E9-EE35-4DBE-952A-5FD3E26970FC}"/>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Machine Learning Learns a Mapping from Examples</a:t>
            </a:r>
          </a:p>
        </p:txBody>
      </p:sp>
      <p:sp>
        <p:nvSpPr>
          <p:cNvPr id="3" name="">
            <a:extLst xmlns:a="http://schemas.openxmlformats.org/drawingml/2006/main">
              <a:ext uri="{FF2B5EF4-FFF2-40B4-BE49-F238E27FC236}">
                <a16:creationId xmlns:a16="http://schemas.microsoft.com/office/drawing/2014/main" id="{8DBC53CF-D405-4E58-B49C-6AAB0656A53C}"/>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06</a:t>
            </a:r>
          </a:p>
        </p:txBody>
      </p:sp>
      <p:sp>
        <p:nvSpPr>
          <p:cNvPr id="4" name="">
            <a:extLst xmlns:a="http://schemas.openxmlformats.org/drawingml/2006/main">
              <a:ext uri="{FF2B5EF4-FFF2-40B4-BE49-F238E27FC236}">
                <a16:creationId xmlns:a16="http://schemas.microsoft.com/office/drawing/2014/main" id="{0E03A8A2-0E4F-404B-9072-69EEF70EA2FC}"/>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35746FD9-A1AF-459E-9E93-534634FCA2E2}"/>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0B1220"/>
                </a:solidFill>
              </a:defRPr>
            </a:pPr>
            <a:r>
              <a:rPr sz="2625" b="1">
                <a:solidFill>
                  <a:srgbClr val="0B1220"/>
                </a:solidFill>
              </a:rPr>
              <a:t>Training Estimates Parameters; Inference Uses Them</a:t>
            </a:r>
          </a:p>
        </p:txBody>
      </p:sp>
      <p:sp>
        <p:nvSpPr>
          <p:cNvPr id="6" name="">
            <a:extLst xmlns:a="http://schemas.openxmlformats.org/drawingml/2006/main">
              <a:ext uri="{FF2B5EF4-FFF2-40B4-BE49-F238E27FC236}">
                <a16:creationId xmlns:a16="http://schemas.microsoft.com/office/drawing/2014/main" id="{79F7E729-66A5-40FB-B7CC-E87D0F91F674}"/>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F13BA8D-505E-4809-A0AF-65F6D4D92BD8}"/>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B98FC0E-BF43-4AF5-A660-36FBD25CE4B1}"/>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42D9B8E-107F-4AC0-B176-92460DEF38A6}"/>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E8E8963-71FD-4F47-BE0A-7AC881C82E80}"/>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70C7DDA-E943-498B-9359-752236CC77DB}"/>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model.fit(X_train, y_train)</a:t>
            </a:r>
          </a:p>
          <a:p xmlns:a="http://schemas.openxmlformats.org/drawingml/2006/main">
            <a:pPr>
              <a:defRPr sz="1125">
                <a:solidFill>
                  <a:srgbClr val="E8F1F7"/>
                </a:solidFill>
              </a:defRPr>
            </a:pPr>
            <a:r>
              <a:rPr sz="1125">
                <a:solidFill>
                  <a:srgbClr val="E8F1F7"/>
                </a:solidFill>
              </a:rPr>
              <a:t>predictions = model.predict(X_new)</a:t>
            </a:r>
          </a:p>
        </p:txBody>
      </p:sp>
      <p:sp>
        <p:nvSpPr>
          <p:cNvPr id="12" name="">
            <a:extLst xmlns:a="http://schemas.openxmlformats.org/drawingml/2006/main">
              <a:ext uri="{FF2B5EF4-FFF2-40B4-BE49-F238E27FC236}">
                <a16:creationId xmlns:a16="http://schemas.microsoft.com/office/drawing/2014/main" id="{AAD07C92-3C3C-44AC-A058-649207D6EA85}"/>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53A09DA4-71D4-4CC6-A5AF-B8E0CA2197BD}"/>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AE827A2F-1979-49C7-B962-27AED43653FD}"/>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One prediction for each row in X_new.</a:t>
            </a:r>
          </a:p>
        </p:txBody>
      </p:sp>
      <p:sp>
        <p:nvSpPr>
          <p:cNvPr id="15" name="">
            <a:extLst xmlns:a="http://schemas.openxmlformats.org/drawingml/2006/main">
              <a:ext uri="{FF2B5EF4-FFF2-40B4-BE49-F238E27FC236}">
                <a16:creationId xmlns:a16="http://schemas.microsoft.com/office/drawing/2014/main" id="{97B20598-6107-48AC-90FD-88C1CF29BA04}"/>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10B4E5B-017F-40A4-9202-0F3EF9003958}"/>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Training row: features [area=1200, bedrooms=3], target 185000. Inference row: features [area=1350, bedrooms=3], target unknown. The model returns an estimated price using parameters learned earlier.</a:t>
            </a:r>
          </a:p>
        </p:txBody>
      </p:sp>
    </p:spTree>
    <p:extLst>
      <p:ext uri="{BB962C8B-B14F-4D97-AF65-F5344CB8AC3E}">
        <p14:creationId xmlns:p14="http://schemas.microsoft.com/office/powerpoint/2010/main" val="165781262"/>
      </p:ext>
    </p:extLst>
  </p:cSld>
</p:sld>
</file>

<file path=ppt/slides/slide7.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A14FC09-FAAB-4D17-9120-87D2E514A89B}"/>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M06 / L01</a:t>
            </a:r>
          </a:p>
        </p:txBody>
      </p:sp>
      <p:sp>
        <p:nvSpPr>
          <p:cNvPr id="2" name="">
            <a:extLst xmlns:a="http://schemas.openxmlformats.org/drawingml/2006/main">
              <a:ext uri="{FF2B5EF4-FFF2-40B4-BE49-F238E27FC236}">
                <a16:creationId xmlns:a16="http://schemas.microsoft.com/office/drawing/2014/main" id="{6AE170AB-7D21-46F9-B0FF-80B4E59C32DA}"/>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Machine Learning Learns a Mapping from Examples</a:t>
            </a:r>
          </a:p>
        </p:txBody>
      </p:sp>
      <p:sp>
        <p:nvSpPr>
          <p:cNvPr id="3" name="">
            <a:extLst xmlns:a="http://schemas.openxmlformats.org/drawingml/2006/main">
              <a:ext uri="{FF2B5EF4-FFF2-40B4-BE49-F238E27FC236}">
                <a16:creationId xmlns:a16="http://schemas.microsoft.com/office/drawing/2014/main" id="{9DA0492C-18AB-4D94-BAC4-59DBED966ECA}"/>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07</a:t>
            </a:r>
          </a:p>
        </p:txBody>
      </p:sp>
      <p:sp>
        <p:nvSpPr>
          <p:cNvPr id="4" name="">
            <a:extLst xmlns:a="http://schemas.openxmlformats.org/drawingml/2006/main">
              <a:ext uri="{FF2B5EF4-FFF2-40B4-BE49-F238E27FC236}">
                <a16:creationId xmlns:a16="http://schemas.microsoft.com/office/drawing/2014/main" id="{E6C85951-0275-42B5-A59F-43766A661604}"/>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CD704FB2-AD52-4445-8AF7-3B6DD57012F2}"/>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Train, Validation, and Test Sets Have Different Jobs</a:t>
            </a:r>
          </a:p>
        </p:txBody>
      </p:sp>
      <p:sp>
        <p:nvSpPr>
          <p:cNvPr id="6" name="">
            <a:extLst xmlns:a="http://schemas.openxmlformats.org/drawingml/2006/main">
              <a:ext uri="{FF2B5EF4-FFF2-40B4-BE49-F238E27FC236}">
                <a16:creationId xmlns:a16="http://schemas.microsoft.com/office/drawing/2014/main" id="{DE040B71-E1A0-473C-AC10-512B8B90556D}"/>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C038D8D-478E-401C-B947-63DE037EF3DF}"/>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D6E2EB"/>
                </a:solidFill>
              </a:defRPr>
            </a:pPr>
            <a:r>
              <a:rPr sz="1275">
                <a:solidFill>
                  <a:srgbClr val="D6E2EB"/>
                </a:solidFill>
              </a:rPr>
              <a:t>If test results influence repeated model changes, the test set becomes another validation set and no longer provides an independent final estimate. Splits should represent future use. Time-ordered, grouped, or repeated-person data may require specialized splitting instead of random rows.</a:t>
            </a:r>
          </a:p>
        </p:txBody>
      </p:sp>
      <p:sp>
        <p:nvSpPr>
          <p:cNvPr id="8" name="">
            <a:extLst xmlns:a="http://schemas.openxmlformats.org/drawingml/2006/main">
              <a:ext uri="{FF2B5EF4-FFF2-40B4-BE49-F238E27FC236}">
                <a16:creationId xmlns:a16="http://schemas.microsoft.com/office/drawing/2014/main" id="{AF350FD6-ED67-4344-A7B4-F2C095230D4B}"/>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85DC240-49C9-40C5-A6AE-2E5FC10F11BC}"/>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Training set: estimates model parameters.</a:t>
            </a:r>
          </a:p>
        </p:txBody>
      </p:sp>
      <p:sp>
        <p:nvSpPr>
          <p:cNvPr id="10" name="">
            <a:extLst xmlns:a="http://schemas.openxmlformats.org/drawingml/2006/main">
              <a:ext uri="{FF2B5EF4-FFF2-40B4-BE49-F238E27FC236}">
                <a16:creationId xmlns:a16="http://schemas.microsoft.com/office/drawing/2014/main" id="{E09863AC-7641-4499-A83F-4FE2592C38C7}"/>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889A7DF-2185-48E6-897C-67399D3EA582}"/>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Validation set: compares model choices and settings.</a:t>
            </a:r>
          </a:p>
        </p:txBody>
      </p:sp>
      <p:sp>
        <p:nvSpPr>
          <p:cNvPr id="12" name="">
            <a:extLst xmlns:a="http://schemas.openxmlformats.org/drawingml/2006/main">
              <a:ext uri="{FF2B5EF4-FFF2-40B4-BE49-F238E27FC236}">
                <a16:creationId xmlns:a16="http://schemas.microsoft.com/office/drawing/2014/main" id="{D5A5E9B7-8468-47C0-B12A-511210F48BBC}"/>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A56B51E-6B8A-4B91-BE11-00E43BDAEFC2}"/>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Test set: estimates final performance after choices are complete.</a:t>
            </a:r>
          </a:p>
        </p:txBody>
      </p:sp>
      <p:sp>
        <p:nvSpPr>
          <p:cNvPr id="14" name="">
            <a:extLst xmlns:a="http://schemas.openxmlformats.org/drawingml/2006/main">
              <a:ext uri="{FF2B5EF4-FFF2-40B4-BE49-F238E27FC236}">
                <a16:creationId xmlns:a16="http://schemas.microsoft.com/office/drawing/2014/main" id="{34D2A346-19A9-4385-8FD0-D943AA13C47B}"/>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73B74D6-B7E5-4DF3-BAF2-2F0D87D7E8B3}"/>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training: 700</a:t>
            </a:r>
          </a:p>
        </p:txBody>
      </p:sp>
      <p:sp>
        <p:nvSpPr>
          <p:cNvPr id="16" name="">
            <a:extLst xmlns:a="http://schemas.openxmlformats.org/drawingml/2006/main">
              <a:ext uri="{FF2B5EF4-FFF2-40B4-BE49-F238E27FC236}">
                <a16:creationId xmlns:a16="http://schemas.microsoft.com/office/drawing/2014/main" id="{CC43082D-225F-469C-AC6D-32DF5771C53A}"/>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79F626C-A836-4A74-A8E3-26600765560D}"/>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validation: 150</a:t>
            </a:r>
          </a:p>
        </p:txBody>
      </p:sp>
      <p:sp>
        <p:nvSpPr>
          <p:cNvPr id="18" name="">
            <a:extLst xmlns:a="http://schemas.openxmlformats.org/drawingml/2006/main">
              <a:ext uri="{FF2B5EF4-FFF2-40B4-BE49-F238E27FC236}">
                <a16:creationId xmlns:a16="http://schemas.microsoft.com/office/drawing/2014/main" id="{DE95808F-1CDB-4C2A-A4DD-1957308413EA}"/>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6B23A33-CD81-473E-AAA8-4446036CF035}"/>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test: 150</a:t>
            </a:r>
          </a:p>
        </p:txBody>
      </p:sp>
    </p:spTree>
    <p:extLst>
      <p:ext uri="{BB962C8B-B14F-4D97-AF65-F5344CB8AC3E}">
        <p14:creationId xmlns:p14="http://schemas.microsoft.com/office/powerpoint/2010/main" val="1956048381"/>
      </p:ext>
    </p:extLst>
  </p:cSld>
</p:sld>
</file>

<file path=ppt/slides/slide8.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98D0E7C-8C3B-4F28-9238-FDC77938FB9F}"/>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M06 / L01</a:t>
            </a:r>
          </a:p>
        </p:txBody>
      </p:sp>
      <p:sp>
        <p:nvSpPr>
          <p:cNvPr id="2" name="">
            <a:extLst xmlns:a="http://schemas.openxmlformats.org/drawingml/2006/main">
              <a:ext uri="{FF2B5EF4-FFF2-40B4-BE49-F238E27FC236}">
                <a16:creationId xmlns:a16="http://schemas.microsoft.com/office/drawing/2014/main" id="{2E0ECDB0-5EC3-4DB3-8E0E-0ABAEEF86301}"/>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Machine Learning Learns a Mapping from Examples</a:t>
            </a:r>
          </a:p>
        </p:txBody>
      </p:sp>
      <p:sp>
        <p:nvSpPr>
          <p:cNvPr id="3" name="">
            <a:extLst xmlns:a="http://schemas.openxmlformats.org/drawingml/2006/main">
              <a:ext uri="{FF2B5EF4-FFF2-40B4-BE49-F238E27FC236}">
                <a16:creationId xmlns:a16="http://schemas.microsoft.com/office/drawing/2014/main" id="{B66DF1E9-E18D-485F-BA26-23D4FD0BFDDC}"/>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08</a:t>
            </a:r>
          </a:p>
        </p:txBody>
      </p:sp>
      <p:sp>
        <p:nvSpPr>
          <p:cNvPr id="4" name="">
            <a:extLst xmlns:a="http://schemas.openxmlformats.org/drawingml/2006/main">
              <a:ext uri="{FF2B5EF4-FFF2-40B4-BE49-F238E27FC236}">
                <a16:creationId xmlns:a16="http://schemas.microsoft.com/office/drawing/2014/main" id="{C6EA5E2E-C09C-4EAA-BBE2-E0D87034CDA6}"/>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70585F68-A513-432B-8734-D3133D9C9EC5}"/>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FFFFFF"/>
                </a:solidFill>
              </a:defRPr>
            </a:pPr>
            <a:r>
              <a:rPr sz="2625" b="1">
                <a:solidFill>
                  <a:srgbClr val="FFFFFF"/>
                </a:solidFill>
              </a:rPr>
              <a:t>Generalization Is Performance on Unseen Examples</a:t>
            </a:r>
          </a:p>
        </p:txBody>
      </p:sp>
      <p:sp>
        <p:nvSpPr>
          <p:cNvPr id="6" name="">
            <a:extLst xmlns:a="http://schemas.openxmlformats.org/drawingml/2006/main">
              <a:ext uri="{FF2B5EF4-FFF2-40B4-BE49-F238E27FC236}">
                <a16:creationId xmlns:a16="http://schemas.microsoft.com/office/drawing/2014/main" id="{05298F19-3546-4D01-A877-631833768A34}"/>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8C9C0E01-3B01-477F-8FF1-4A2D1700B22A}"/>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FFFFF"/>
                </a:solidFill>
              </a:defRPr>
            </a:pPr>
            <a:r>
              <a:rPr sz="1275" b="1">
                <a:solidFill>
                  <a:srgbClr val="FFFFFF"/>
                </a:solidFill>
              </a:rPr>
              <a:t>Underfitting: the model is too limited or poorly trained to capture important structure.</a:t>
            </a:r>
          </a:p>
        </p:txBody>
      </p:sp>
      <p:sp>
        <p:nvSpPr>
          <p:cNvPr id="8" name="">
            <a:extLst xmlns:a="http://schemas.openxmlformats.org/drawingml/2006/main">
              <a:ext uri="{FF2B5EF4-FFF2-40B4-BE49-F238E27FC236}">
                <a16:creationId xmlns:a16="http://schemas.microsoft.com/office/drawing/2014/main" id="{196CFFF6-3085-4D67-A366-36FE98AB1A92}"/>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CE1BC14-C6EB-440C-88A1-7F2799E519FC}"/>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39D297E1-8662-461A-A907-16CC6457FADE}"/>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5457CF8A-024F-4726-8130-7B9C23E0950B}"/>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FFFFF"/>
                </a:solidFill>
              </a:defRPr>
            </a:pPr>
            <a:r>
              <a:rPr sz="1275" b="1">
                <a:solidFill>
                  <a:srgbClr val="FFFFFF"/>
                </a:solidFill>
              </a:rPr>
              <a:t>Overfitting: the model learns training-specific noise and performs worse on new data.</a:t>
            </a:r>
          </a:p>
        </p:txBody>
      </p:sp>
      <p:sp>
        <p:nvSpPr>
          <p:cNvPr id="12" name="">
            <a:extLst xmlns:a="http://schemas.openxmlformats.org/drawingml/2006/main">
              <a:ext uri="{FF2B5EF4-FFF2-40B4-BE49-F238E27FC236}">
                <a16:creationId xmlns:a16="http://schemas.microsoft.com/office/drawing/2014/main" id="{3666C0D8-3FDE-4A7C-BF15-A5659C3C9C7B}"/>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B6B56C-C9E5-4D37-ADE8-1B3C991454CA}"/>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0CBA0D7E-9FBB-45BB-A934-332B5EC56895}"/>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EC5EE138-51EB-4353-8169-5BA2A6E2A860}"/>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FFFFF"/>
                </a:solidFill>
              </a:defRPr>
            </a:pPr>
            <a:r>
              <a:rPr sz="1275" b="1">
                <a:solidFill>
                  <a:srgbClr val="FFFFFF"/>
                </a:solidFill>
              </a:rPr>
              <a:t>Generalization gap: difference between training and validation performance.</a:t>
            </a:r>
          </a:p>
        </p:txBody>
      </p:sp>
      <p:sp>
        <p:nvSpPr>
          <p:cNvPr id="16" name="">
            <a:extLst xmlns:a="http://schemas.openxmlformats.org/drawingml/2006/main">
              <a:ext uri="{FF2B5EF4-FFF2-40B4-BE49-F238E27FC236}">
                <a16:creationId xmlns:a16="http://schemas.microsoft.com/office/drawing/2014/main" id="{B3487588-1B49-4880-8720-8DAD9A4A675F}"/>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A490CDE-FFC4-45FF-AB17-619EF1E1479F}"/>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31A0EFC3-B088-404F-BA01-28AB70362402}"/>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D1DEE8"/>
                </a:solidFill>
              </a:defRPr>
            </a:pPr>
            <a:r>
              <a:rPr sz="1350">
                <a:solidFill>
                  <a:srgbClr val="D1DEE8"/>
                </a:solidFill>
              </a:rPr>
              <a:t>Model A: training accuracy 70%, validation 69% Model B: training accuracy 99%, validation 74% Model B fits training data much more closely, but its 25-point gap signals overfitting risk.</a:t>
            </a:r>
          </a:p>
        </p:txBody>
      </p:sp>
    </p:spTree>
    <p:extLst>
      <p:ext uri="{BB962C8B-B14F-4D97-AF65-F5344CB8AC3E}">
        <p14:creationId xmlns:p14="http://schemas.microsoft.com/office/powerpoint/2010/main" val="920972119"/>
      </p:ext>
    </p:extLst>
  </p:cSld>
</p:sld>
</file>

<file path=ppt/slides/slide9.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6387832-9348-40A4-9719-BAB9ECE0ACB9}"/>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M06 / L01</a:t>
            </a:r>
          </a:p>
        </p:txBody>
      </p:sp>
      <p:sp>
        <p:nvSpPr>
          <p:cNvPr id="2" name="">
            <a:extLst xmlns:a="http://schemas.openxmlformats.org/drawingml/2006/main">
              <a:ext uri="{FF2B5EF4-FFF2-40B4-BE49-F238E27FC236}">
                <a16:creationId xmlns:a16="http://schemas.microsoft.com/office/drawing/2014/main" id="{7894E753-53EC-44E5-92C4-1FBEEFF69CE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Machine Learning Learns a Mapping from Examples</a:t>
            </a:r>
          </a:p>
        </p:txBody>
      </p:sp>
      <p:sp>
        <p:nvSpPr>
          <p:cNvPr id="3" name="">
            <a:extLst xmlns:a="http://schemas.openxmlformats.org/drawingml/2006/main">
              <a:ext uri="{FF2B5EF4-FFF2-40B4-BE49-F238E27FC236}">
                <a16:creationId xmlns:a16="http://schemas.microsoft.com/office/drawing/2014/main" id="{F0654E05-016A-4777-8D97-AF2F786E2BAA}"/>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09</a:t>
            </a:r>
          </a:p>
        </p:txBody>
      </p:sp>
      <p:sp>
        <p:nvSpPr>
          <p:cNvPr id="4" name="">
            <a:extLst xmlns:a="http://schemas.openxmlformats.org/drawingml/2006/main">
              <a:ext uri="{FF2B5EF4-FFF2-40B4-BE49-F238E27FC236}">
                <a16:creationId xmlns:a16="http://schemas.microsoft.com/office/drawing/2014/main" id="{6E8944AE-D5FD-48F7-A066-13993725C6F2}"/>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5C65F34E-FFFA-4818-97DF-7BB2E93AD4DE}"/>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A Baseline Sets the Minimum Standard</a:t>
            </a:r>
          </a:p>
        </p:txBody>
      </p:sp>
      <p:sp>
        <p:nvSpPr>
          <p:cNvPr id="6" name="">
            <a:extLst xmlns:a="http://schemas.openxmlformats.org/drawingml/2006/main">
              <a:ext uri="{FF2B5EF4-FFF2-40B4-BE49-F238E27FC236}">
                <a16:creationId xmlns:a16="http://schemas.microsoft.com/office/drawing/2014/main" id="{B4D244BE-AA76-4733-954E-F6CAB9ACCB54}"/>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A6C2F66-02DA-4506-8176-38536E92A8DE}"/>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0ED900-D486-4D2C-B44B-748738D93C79}"/>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B30D539-9B64-4343-B8CC-6C4FC3CAD7F2}"/>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A06D530-184B-46D0-89FB-799CBC05763C}"/>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E65E80-DBA3-4AEB-81F7-CDED68B71AD9}"/>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from sklearn.dummy import DummyRegressor</a:t>
            </a:r>
          </a:p>
          <a:p xmlns:a="http://schemas.openxmlformats.org/drawingml/2006/main">
            <a:r>
              <a:t/>
            </a:r>
          </a:p>
          <a:p xmlns:a="http://schemas.openxmlformats.org/drawingml/2006/main">
            <a:pPr>
              <a:defRPr sz="1125">
                <a:solidFill>
                  <a:srgbClr val="E8F1F7"/>
                </a:solidFill>
              </a:defRPr>
            </a:pPr>
            <a:r>
              <a:rPr sz="1125">
                <a:solidFill>
                  <a:srgbClr val="E8F1F7"/>
                </a:solidFill>
              </a:rPr>
              <a:t>baseline = DummyRegressor(strategy="mean")</a:t>
            </a:r>
          </a:p>
          <a:p xmlns:a="http://schemas.openxmlformats.org/drawingml/2006/main">
            <a:pPr>
              <a:defRPr sz="1125">
                <a:solidFill>
                  <a:srgbClr val="E8F1F7"/>
                </a:solidFill>
              </a:defRPr>
            </a:pPr>
            <a:r>
              <a:rPr sz="1125">
                <a:solidFill>
                  <a:srgbClr val="E8F1F7"/>
                </a:solidFill>
              </a:rPr>
              <a:t>baseline.fit(X_train, y_train)</a:t>
            </a:r>
          </a:p>
        </p:txBody>
      </p:sp>
      <p:sp>
        <p:nvSpPr>
          <p:cNvPr id="12" name="">
            <a:extLst xmlns:a="http://schemas.openxmlformats.org/drawingml/2006/main">
              <a:ext uri="{FF2B5EF4-FFF2-40B4-BE49-F238E27FC236}">
                <a16:creationId xmlns:a16="http://schemas.microsoft.com/office/drawing/2014/main" id="{C79FAEEC-75DE-42AA-A7AD-8D2091912B54}"/>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07C235F4-2145-4AEA-88E5-5421396BF554}"/>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F48433FC-56D1-4BF5-9EF2-D6D474C6EB34}"/>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A fitted baseline that predicts the training-target mean.</a:t>
            </a:r>
          </a:p>
        </p:txBody>
      </p:sp>
      <p:sp>
        <p:nvSpPr>
          <p:cNvPr id="15" name="">
            <a:extLst xmlns:a="http://schemas.openxmlformats.org/drawingml/2006/main">
              <a:ext uri="{FF2B5EF4-FFF2-40B4-BE49-F238E27FC236}">
                <a16:creationId xmlns:a16="http://schemas.microsoft.com/office/drawing/2014/main" id="{80705E72-5545-4FB5-B75E-1451F47E0FF8}"/>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3CAB7C3-7E21-45B5-91A0-6EF3036B11DF}"/>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B1220"/>
                </a:solidFill>
              </a:defRPr>
            </a:pPr>
            <a:r>
              <a:rPr sz="1275" b="1">
                <a:solidFill>
                  <a:srgbClr val="0B1220"/>
                </a:solidFill>
              </a:rPr>
              <a:t>For test targets [110, 150], predictions are [120, 120]. Absolute errors are [10, 30]; MAE is (10 + 30) / 2 = 20.</a:t>
            </a:r>
          </a:p>
        </p:txBody>
      </p:sp>
    </p:spTree>
    <p:extLst>
      <p:ext uri="{BB962C8B-B14F-4D97-AF65-F5344CB8AC3E}">
        <p14:creationId xmlns:p14="http://schemas.microsoft.com/office/powerpoint/2010/main" val="18436862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1A69903-19F0-498D-9D61-2A7B092CF3D5}"/>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M06 / L01</a:t>
            </a:r>
          </a:p>
        </p:txBody>
      </p:sp>
      <p:sp>
        <p:nvSpPr>
          <p:cNvPr id="2" name="">
            <a:extLst xmlns:a="http://schemas.openxmlformats.org/drawingml/2006/main">
              <a:ext uri="{FF2B5EF4-FFF2-40B4-BE49-F238E27FC236}">
                <a16:creationId xmlns:a16="http://schemas.microsoft.com/office/drawing/2014/main" id="{2BEF0C62-B2BB-4116-ADE0-70D8F639A62C}"/>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Machine Learning Learns a Mapping from Examples</a:t>
            </a:r>
          </a:p>
        </p:txBody>
      </p:sp>
      <p:sp>
        <p:nvSpPr>
          <p:cNvPr id="3" name="">
            <a:extLst xmlns:a="http://schemas.openxmlformats.org/drawingml/2006/main">
              <a:ext uri="{FF2B5EF4-FFF2-40B4-BE49-F238E27FC236}">
                <a16:creationId xmlns:a16="http://schemas.microsoft.com/office/drawing/2014/main" id="{8D924C67-D92F-418A-A9B2-123E57B82C81}"/>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10</a:t>
            </a:r>
          </a:p>
        </p:txBody>
      </p:sp>
      <p:sp>
        <p:nvSpPr>
          <p:cNvPr id="4" name="">
            <a:extLst xmlns:a="http://schemas.openxmlformats.org/drawingml/2006/main">
              <a:ext uri="{FF2B5EF4-FFF2-40B4-BE49-F238E27FC236}">
                <a16:creationId xmlns:a16="http://schemas.microsoft.com/office/drawing/2014/main" id="{1F275B3E-52A2-437D-B5D9-1D86ED100A05}"/>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AE080E29-8730-4065-B106-16E2E783175A}"/>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Leakage Gives the Model Unfair Information</a:t>
            </a:r>
          </a:p>
        </p:txBody>
      </p:sp>
      <p:sp>
        <p:nvSpPr>
          <p:cNvPr id="6" name="">
            <a:extLst xmlns:a="http://schemas.openxmlformats.org/drawingml/2006/main">
              <a:ext uri="{FF2B5EF4-FFF2-40B4-BE49-F238E27FC236}">
                <a16:creationId xmlns:a16="http://schemas.microsoft.com/office/drawing/2014/main" id="{DDDE9DB0-1169-4DD7-9183-BA98EDD2243B}"/>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39E12AC7-2173-45B7-B601-41450F506B5E}"/>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C175A961-ADA7-42AE-A64E-B3AACA42C342}"/>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using final payment status to predict whether payment will occur;</a:t>
            </a:r>
          </a:p>
        </p:txBody>
      </p:sp>
      <p:sp>
        <p:nvSpPr>
          <p:cNvPr id="9" name="">
            <a:extLst xmlns:a="http://schemas.openxmlformats.org/drawingml/2006/main">
              <a:ext uri="{FF2B5EF4-FFF2-40B4-BE49-F238E27FC236}">
                <a16:creationId xmlns:a16="http://schemas.microsoft.com/office/drawing/2014/main" id="{F83F66ED-DF8F-451C-82C5-EBC41A2D5E57}"/>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CC76DDF-E8AD-4C39-BF47-CCC6AAD5E581}"/>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71CE9DAD-CFF3-4B46-8F38-99066A5BDD64}"/>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A624740C-4394-4484-96CE-4F210F993CB4}"/>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calculating scaling values from the complete dataset before splitting;</a:t>
            </a:r>
          </a:p>
        </p:txBody>
      </p:sp>
      <p:sp>
        <p:nvSpPr>
          <p:cNvPr id="13" name="">
            <a:extLst xmlns:a="http://schemas.openxmlformats.org/drawingml/2006/main">
              <a:ext uri="{FF2B5EF4-FFF2-40B4-BE49-F238E27FC236}">
                <a16:creationId xmlns:a16="http://schemas.microsoft.com/office/drawing/2014/main" id="{93B8D8DA-7E6B-4A7A-A84D-87BF8C871728}"/>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3504966-9CF6-4AC7-9450-E00694906CC5}"/>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D43FE863-4784-4D30-8692-056C71973B4B}"/>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507B64F0-33BB-4B22-941F-07FA0F164BC3}"/>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imputing test values using statistics from test rows;</a:t>
            </a:r>
          </a:p>
        </p:txBody>
      </p:sp>
      <p:sp>
        <p:nvSpPr>
          <p:cNvPr id="17" name="">
            <a:extLst xmlns:a="http://schemas.openxmlformats.org/drawingml/2006/main">
              <a:ext uri="{FF2B5EF4-FFF2-40B4-BE49-F238E27FC236}">
                <a16:creationId xmlns:a16="http://schemas.microsoft.com/office/drawing/2014/main" id="{36AED416-EC6D-4F61-BB6A-50FE4CF5A4DC}"/>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A2FDA04-F1CD-4451-99BF-FD1F091D11C1}"/>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EC860265-A950-4C3F-A2CF-3D494EF6246F}"/>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011F9604-C28F-42FD-8FC6-357B1FC7D3E0}"/>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including duplicate people in both training and test sets.</a:t>
            </a:r>
          </a:p>
        </p:txBody>
      </p:sp>
      <p:sp>
        <p:nvSpPr>
          <p:cNvPr id="21" name="">
            <a:extLst xmlns:a="http://schemas.openxmlformats.org/drawingml/2006/main">
              <a:ext uri="{FF2B5EF4-FFF2-40B4-BE49-F238E27FC236}">
                <a16:creationId xmlns:a16="http://schemas.microsoft.com/office/drawing/2014/main" id="{25BF4405-972E-46CC-B1AF-D17DA490159C}"/>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3651791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CF1E2E9-FBD1-4A8F-A411-C5ECDD62B4A0}"/>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M06 / L01</a:t>
            </a:r>
          </a:p>
        </p:txBody>
      </p:sp>
      <p:sp>
        <p:nvSpPr>
          <p:cNvPr id="2" name="">
            <a:extLst xmlns:a="http://schemas.openxmlformats.org/drawingml/2006/main">
              <a:ext uri="{FF2B5EF4-FFF2-40B4-BE49-F238E27FC236}">
                <a16:creationId xmlns:a16="http://schemas.microsoft.com/office/drawing/2014/main" id="{AC7A70AC-F69C-4561-B9CF-9113522F2469}"/>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Machine Learning Learns a Mapping from Examples</a:t>
            </a:r>
          </a:p>
        </p:txBody>
      </p:sp>
      <p:sp>
        <p:nvSpPr>
          <p:cNvPr id="3" name="">
            <a:extLst xmlns:a="http://schemas.openxmlformats.org/drawingml/2006/main">
              <a:ext uri="{FF2B5EF4-FFF2-40B4-BE49-F238E27FC236}">
                <a16:creationId xmlns:a16="http://schemas.microsoft.com/office/drawing/2014/main" id="{7BA36CC7-3439-4B4A-AFEE-0A63E8FFC93C}"/>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11</a:t>
            </a:r>
          </a:p>
        </p:txBody>
      </p:sp>
      <p:sp>
        <p:nvSpPr>
          <p:cNvPr id="4" name="">
            <a:extLst xmlns:a="http://schemas.openxmlformats.org/drawingml/2006/main">
              <a:ext uri="{FF2B5EF4-FFF2-40B4-BE49-F238E27FC236}">
                <a16:creationId xmlns:a16="http://schemas.microsoft.com/office/drawing/2014/main" id="{0B48CF65-2F61-44E4-854B-ED242A08B033}"/>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807BCBC4-D4A5-4A3C-BE4D-F7A6FEEA9A36}"/>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Evaluation Must Match the Problem</a:t>
            </a:r>
          </a:p>
        </p:txBody>
      </p:sp>
      <p:sp>
        <p:nvSpPr>
          <p:cNvPr id="6" name="">
            <a:extLst xmlns:a="http://schemas.openxmlformats.org/drawingml/2006/main">
              <a:ext uri="{FF2B5EF4-FFF2-40B4-BE49-F238E27FC236}">
                <a16:creationId xmlns:a16="http://schemas.microsoft.com/office/drawing/2014/main" id="{F1FE6C20-662E-4225-833B-730D345AC3FE}"/>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22286084-A75A-4742-9186-FB4E71A2F1F0}"/>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2877D560-C067-40EE-9B2A-35A349E203DA}"/>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Delivery-time prediction -&gt; regression -&gt; errors in minutes</a:t>
            </a:r>
          </a:p>
        </p:txBody>
      </p:sp>
      <p:sp>
        <p:nvSpPr>
          <p:cNvPr id="9" name="">
            <a:extLst xmlns:a="http://schemas.openxmlformats.org/drawingml/2006/main">
              <a:ext uri="{FF2B5EF4-FFF2-40B4-BE49-F238E27FC236}">
                <a16:creationId xmlns:a16="http://schemas.microsoft.com/office/drawing/2014/main" id="{3656F705-AD4B-44B2-93A2-ECF7471EF180}"/>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5599D3-54A2-4AAA-B017-CC3687AB9A3E}"/>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02DE269B-CC8B-46B5-9816-D36CF937C964}"/>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7C31A8C9-1C1C-466B-89C1-8A783E85FA9F}"/>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Fraud detection -&gt; classification -&gt; missed fraud and false alarms have different costs</a:t>
            </a:r>
          </a:p>
        </p:txBody>
      </p:sp>
      <p:sp>
        <p:nvSpPr>
          <p:cNvPr id="13" name="">
            <a:extLst xmlns:a="http://schemas.openxmlformats.org/drawingml/2006/main">
              <a:ext uri="{FF2B5EF4-FFF2-40B4-BE49-F238E27FC236}">
                <a16:creationId xmlns:a16="http://schemas.microsoft.com/office/drawing/2014/main" id="{E33F10DD-DC19-4D57-90C2-FC58EF883A32}"/>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3AF1FD-091B-4F2B-B6D2-5A15A8E36F4D}"/>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8DC45B1A-5DAD-4725-826E-72FD2B9C07BD}"/>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F9910A83-2F91-48ED-A1F6-9CE31487BDE6}"/>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Customer segmentation -&gt; clustering -&gt; no supplied correct label; evaluate stability and usefulness</a:t>
            </a:r>
          </a:p>
        </p:txBody>
      </p:sp>
      <p:sp>
        <p:nvSpPr>
          <p:cNvPr id="17" name="">
            <a:extLst xmlns:a="http://schemas.openxmlformats.org/drawingml/2006/main">
              <a:ext uri="{FF2B5EF4-FFF2-40B4-BE49-F238E27FC236}">
                <a16:creationId xmlns:a16="http://schemas.microsoft.com/office/drawing/2014/main" id="{F3A6B38E-D788-4050-9E51-414FC8E16EA4}"/>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1609585263"/>
      </p:ext>
    </p:extLst>
  </p:cSld>
</p:sld>
</file>

<file path=ppt/slides/slide12.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F0D331-52CB-41BE-90A4-1273CFB53FD1}"/>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M06 / L01</a:t>
            </a:r>
          </a:p>
        </p:txBody>
      </p:sp>
      <p:sp>
        <p:nvSpPr>
          <p:cNvPr id="2" name="">
            <a:extLst xmlns:a="http://schemas.openxmlformats.org/drawingml/2006/main">
              <a:ext uri="{FF2B5EF4-FFF2-40B4-BE49-F238E27FC236}">
                <a16:creationId xmlns:a16="http://schemas.microsoft.com/office/drawing/2014/main" id="{1294BE1C-1EBF-4CB4-AA93-372766F1ADCF}"/>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Machine Learning Learns a Mapping from Examples</a:t>
            </a:r>
          </a:p>
        </p:txBody>
      </p:sp>
      <p:sp>
        <p:nvSpPr>
          <p:cNvPr id="3" name="">
            <a:extLst xmlns:a="http://schemas.openxmlformats.org/drawingml/2006/main">
              <a:ext uri="{FF2B5EF4-FFF2-40B4-BE49-F238E27FC236}">
                <a16:creationId xmlns:a16="http://schemas.microsoft.com/office/drawing/2014/main" id="{A02D9FDC-2C19-4408-BABE-F0F247EFF3D9}"/>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12</a:t>
            </a:r>
          </a:p>
        </p:txBody>
      </p:sp>
      <p:sp>
        <p:nvSpPr>
          <p:cNvPr id="4" name="">
            <a:extLst xmlns:a="http://schemas.openxmlformats.org/drawingml/2006/main">
              <a:ext uri="{FF2B5EF4-FFF2-40B4-BE49-F238E27FC236}">
                <a16:creationId xmlns:a16="http://schemas.microsoft.com/office/drawing/2014/main" id="{4AC03B5B-E098-47B2-962E-69EEC3628D44}"/>
              </a:ext>
            </a:extLst>
          </p:cNvPr>
          <p:cNvSpPr>
            <a:spLocks xmlns:a="http://schemas.openxmlformats.org/drawingml/2006/main" noGrp="1"/>
          </p:cNvSpPr>
          <p:nvPr/>
        </p:nvSpPr>
        <p:spPr>
          <a:xfrm xmlns:a="http://schemas.openxmlformats.org/drawingml/2006/main">
            <a:off x="609600" y="876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GUIDED LAB</a:t>
            </a:r>
          </a:p>
        </p:txBody>
      </p:sp>
      <p:sp>
        <p:nvSpPr>
          <p:cNvPr id="5" name="">
            <a:extLst xmlns:a="http://schemas.openxmlformats.org/drawingml/2006/main">
              <a:ext uri="{FF2B5EF4-FFF2-40B4-BE49-F238E27FC236}">
                <a16:creationId xmlns:a16="http://schemas.microsoft.com/office/drawing/2014/main" id="{2B1A1AC6-5986-4DE0-B760-1FB894427705}"/>
              </a:ext>
            </a:extLst>
          </p:cNvPr>
          <p:cNvSpPr>
            <a:spLocks xmlns:a="http://schemas.openxmlformats.org/drawingml/2006/main" noGrp="1"/>
          </p:cNvSpPr>
          <p:nvPr/>
        </p:nvSpPr>
        <p:spPr>
          <a:xfrm xmlns:a="http://schemas.openxmlformats.org/drawingml/2006/main">
            <a:off x="609600" y="14668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FFFFF"/>
                </a:solidFill>
              </a:defRPr>
            </a:pPr>
            <a:r>
              <a:rPr sz="2550" b="1">
                <a:solidFill>
                  <a:srgbClr val="FFFFFF"/>
                </a:solidFill>
              </a:rPr>
              <a:t>Guided Lab: Frame the Problem Before Modelling</a:t>
            </a:r>
          </a:p>
        </p:txBody>
      </p:sp>
      <p:sp>
        <p:nvSpPr>
          <p:cNvPr id="6" name="">
            <a:extLst xmlns:a="http://schemas.openxmlformats.org/drawingml/2006/main">
              <a:ext uri="{FF2B5EF4-FFF2-40B4-BE49-F238E27FC236}">
                <a16:creationId xmlns:a16="http://schemas.microsoft.com/office/drawing/2014/main" id="{29AB757B-C6B1-4BDB-A2D0-DA75DB55F4E8}"/>
              </a:ext>
            </a:extLst>
          </p:cNvPr>
          <p:cNvSpPr>
            <a:spLocks xmlns:a="http://schemas.openxmlformats.org/drawingml/2006/main" noGrp="1"/>
          </p:cNvSpPr>
          <p:nvPr/>
        </p:nvSpPr>
        <p:spPr>
          <a:xfrm xmlns:a="http://schemas.openxmlformats.org/drawingml/2006/main">
            <a:off x="6096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EBA480B6-3885-425B-9D60-881F32568EFF}"/>
              </a:ext>
            </a:extLst>
          </p:cNvPr>
          <p:cNvSpPr>
            <a:spLocks xmlns:a="http://schemas.openxmlformats.org/drawingml/2006/main" noGrp="1"/>
          </p:cNvSpPr>
          <p:nvPr/>
        </p:nvSpPr>
        <p:spPr>
          <a:xfrm xmlns:a="http://schemas.openxmlformats.org/drawingml/2006/main">
            <a:off x="6096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D07C0B0-2B0E-4C9E-96FC-3794D24BFB46}"/>
              </a:ext>
            </a:extLst>
          </p:cNvPr>
          <p:cNvSpPr>
            <a:spLocks xmlns:a="http://schemas.openxmlformats.org/drawingml/2006/main" noGrp="1"/>
          </p:cNvSpPr>
          <p:nvPr/>
        </p:nvSpPr>
        <p:spPr>
          <a:xfrm xmlns:a="http://schemas.openxmlformats.org/drawingml/2006/main">
            <a:off x="6096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FFFFF"/>
                </a:solidFill>
              </a:defRPr>
            </a:pPr>
            <a:r>
              <a:rPr sz="1875" b="1">
                <a:solidFill>
                  <a:srgbClr val="FFFFFF"/>
                </a:solidFill>
              </a:rPr>
              <a:t>one observation</a:t>
            </a:r>
          </a:p>
        </p:txBody>
      </p:sp>
      <p:sp>
        <p:nvSpPr>
          <p:cNvPr id="9" name="">
            <a:extLst xmlns:a="http://schemas.openxmlformats.org/drawingml/2006/main">
              <a:ext uri="{FF2B5EF4-FFF2-40B4-BE49-F238E27FC236}">
                <a16:creationId xmlns:a16="http://schemas.microsoft.com/office/drawing/2014/main" id="{C19288F7-AB00-48C1-B617-5D800A884E46}"/>
              </a:ext>
            </a:extLst>
          </p:cNvPr>
          <p:cNvSpPr>
            <a:spLocks xmlns:a="http://schemas.openxmlformats.org/drawingml/2006/main" noGrp="1"/>
          </p:cNvSpPr>
          <p:nvPr/>
        </p:nvSpPr>
        <p:spPr>
          <a:xfrm xmlns:a="http://schemas.openxmlformats.org/drawingml/2006/main">
            <a:off x="33718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0" name="">
            <a:extLst xmlns:a="http://schemas.openxmlformats.org/drawingml/2006/main">
              <a:ext uri="{FF2B5EF4-FFF2-40B4-BE49-F238E27FC236}">
                <a16:creationId xmlns:a16="http://schemas.microsoft.com/office/drawing/2014/main" id="{9358B916-C686-48A5-B7EC-FC0D9613BDC6}"/>
              </a:ext>
            </a:extLst>
          </p:cNvPr>
          <p:cNvSpPr>
            <a:spLocks xmlns:a="http://schemas.openxmlformats.org/drawingml/2006/main" noGrp="1"/>
          </p:cNvSpPr>
          <p:nvPr/>
        </p:nvSpPr>
        <p:spPr>
          <a:xfrm xmlns:a="http://schemas.openxmlformats.org/drawingml/2006/main">
            <a:off x="337185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6079B91-BAD7-407A-9448-F6A8DDFECFFD}"/>
              </a:ext>
            </a:extLst>
          </p:cNvPr>
          <p:cNvSpPr>
            <a:spLocks xmlns:a="http://schemas.openxmlformats.org/drawingml/2006/main" noGrp="1"/>
          </p:cNvSpPr>
          <p:nvPr/>
        </p:nvSpPr>
        <p:spPr>
          <a:xfrm xmlns:a="http://schemas.openxmlformats.org/drawingml/2006/main">
            <a:off x="33718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features available at prediction time</a:t>
            </a:r>
          </a:p>
        </p:txBody>
      </p:sp>
      <p:sp>
        <p:nvSpPr>
          <p:cNvPr id="12" name="">
            <a:extLst xmlns:a="http://schemas.openxmlformats.org/drawingml/2006/main">
              <a:ext uri="{FF2B5EF4-FFF2-40B4-BE49-F238E27FC236}">
                <a16:creationId xmlns:a16="http://schemas.microsoft.com/office/drawing/2014/main" id="{3584D9BC-5E1D-4E2C-8E6A-4D796D7AA6F5}"/>
              </a:ext>
            </a:extLst>
          </p:cNvPr>
          <p:cNvSpPr>
            <a:spLocks xmlns:a="http://schemas.openxmlformats.org/drawingml/2006/main" noGrp="1"/>
          </p:cNvSpPr>
          <p:nvPr/>
        </p:nvSpPr>
        <p:spPr>
          <a:xfrm xmlns:a="http://schemas.openxmlformats.org/drawingml/2006/main">
            <a:off x="61341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3" name="">
            <a:extLst xmlns:a="http://schemas.openxmlformats.org/drawingml/2006/main">
              <a:ext uri="{FF2B5EF4-FFF2-40B4-BE49-F238E27FC236}">
                <a16:creationId xmlns:a16="http://schemas.microsoft.com/office/drawing/2014/main" id="{613FA272-D431-47B0-AD40-0F7E5FDD2881}"/>
              </a:ext>
            </a:extLst>
          </p:cNvPr>
          <p:cNvSpPr>
            <a:spLocks xmlns:a="http://schemas.openxmlformats.org/drawingml/2006/main" noGrp="1"/>
          </p:cNvSpPr>
          <p:nvPr/>
        </p:nvSpPr>
        <p:spPr>
          <a:xfrm xmlns:a="http://schemas.openxmlformats.org/drawingml/2006/main">
            <a:off x="61341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BF8759-9B6B-4E45-9246-B5F465679376}"/>
              </a:ext>
            </a:extLst>
          </p:cNvPr>
          <p:cNvSpPr>
            <a:spLocks xmlns:a="http://schemas.openxmlformats.org/drawingml/2006/main" noGrp="1"/>
          </p:cNvSpPr>
          <p:nvPr/>
        </p:nvSpPr>
        <p:spPr>
          <a:xfrm xmlns:a="http://schemas.openxmlformats.org/drawingml/2006/main">
            <a:off x="61341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FFFFF"/>
                </a:solidFill>
              </a:defRPr>
            </a:pPr>
            <a:r>
              <a:rPr sz="1875" b="1">
                <a:solidFill>
                  <a:srgbClr val="FFFFFF"/>
                </a:solidFill>
              </a:rPr>
              <a:t>target, if one exists</a:t>
            </a:r>
          </a:p>
        </p:txBody>
      </p:sp>
      <p:sp>
        <p:nvSpPr>
          <p:cNvPr id="15" name="">
            <a:extLst xmlns:a="http://schemas.openxmlformats.org/drawingml/2006/main">
              <a:ext uri="{FF2B5EF4-FFF2-40B4-BE49-F238E27FC236}">
                <a16:creationId xmlns:a16="http://schemas.microsoft.com/office/drawing/2014/main" id="{A8195920-87F9-4449-AC35-421812DBF489}"/>
              </a:ext>
            </a:extLst>
          </p:cNvPr>
          <p:cNvSpPr>
            <a:spLocks xmlns:a="http://schemas.openxmlformats.org/drawingml/2006/main" noGrp="1"/>
          </p:cNvSpPr>
          <p:nvPr/>
        </p:nvSpPr>
        <p:spPr>
          <a:xfrm xmlns:a="http://schemas.openxmlformats.org/drawingml/2006/main">
            <a:off x="88963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6" name="">
            <a:extLst xmlns:a="http://schemas.openxmlformats.org/drawingml/2006/main">
              <a:ext uri="{FF2B5EF4-FFF2-40B4-BE49-F238E27FC236}">
                <a16:creationId xmlns:a16="http://schemas.microsoft.com/office/drawing/2014/main" id="{11DDA498-EBA0-4652-9351-1FAA422A50A1}"/>
              </a:ext>
            </a:extLst>
          </p:cNvPr>
          <p:cNvSpPr>
            <a:spLocks xmlns:a="http://schemas.openxmlformats.org/drawingml/2006/main" noGrp="1"/>
          </p:cNvSpPr>
          <p:nvPr/>
        </p:nvSpPr>
        <p:spPr>
          <a:xfrm xmlns:a="http://schemas.openxmlformats.org/drawingml/2006/main">
            <a:off x="8896350" y="4400550"/>
            <a:ext cx="203835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BD15289-67B1-4DC5-A473-DF9CABB4AE05}"/>
              </a:ext>
            </a:extLst>
          </p:cNvPr>
          <p:cNvSpPr>
            <a:spLocks xmlns:a="http://schemas.openxmlformats.org/drawingml/2006/main" noGrp="1"/>
          </p:cNvSpPr>
          <p:nvPr/>
        </p:nvSpPr>
        <p:spPr>
          <a:xfrm xmlns:a="http://schemas.openxmlformats.org/drawingml/2006/main">
            <a:off x="88963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FFFFF"/>
                </a:solidFill>
              </a:defRPr>
            </a:pPr>
            <a:r>
              <a:rPr sz="1425" b="1">
                <a:solidFill>
                  <a:srgbClr val="FFFFFF"/>
                </a:solidFill>
              </a:rPr>
              <a:t>regression, classification, or clustering</a:t>
            </a:r>
          </a:p>
        </p:txBody>
      </p:sp>
    </p:spTree>
    <p:extLst>
      <p:ext uri="{BB962C8B-B14F-4D97-AF65-F5344CB8AC3E}">
        <p14:creationId xmlns:p14="http://schemas.microsoft.com/office/powerpoint/2010/main" val="9068828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2026-07-28T19:27:24.5640000Z</dcterms:created>
  <dcterms:modified xsi:type="dcterms:W3CDTF">2026-07-28T19:27:24.5640000Z</dcterms:modified>
</coreProperties>
</file>