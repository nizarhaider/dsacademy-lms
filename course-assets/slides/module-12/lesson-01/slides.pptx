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b11c378100403e" /><Relationship Type="http://schemas.openxmlformats.org/officeDocument/2006/relationships/extended-properties" Target="/docProps/app.xml" Id="R744cbd7a9d384573" /><Relationship Type="http://schemas.openxmlformats.org/officeDocument/2006/relationships/officeDocument" Target="/ppt/presentation.xml" Id="R4e882b1e403b4e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797c9dbe6e4bbb"/>
  </p:sldMasterIdLst>
  <p:notesMasterIdLst>
    <p:notesMasterId xmlns:r="http://schemas.openxmlformats.org/officeDocument/2006/relationships" r:id="Rbe7ebe37b55241a8"/>
  </p:notesMasterIdLst>
  <p:sldIdLst>
    <p:sldId xmlns:r="http://schemas.openxmlformats.org/officeDocument/2006/relationships" id="256" r:id="Rc3f658fcf4fa4171"/>
    <p:sldId xmlns:r="http://schemas.openxmlformats.org/officeDocument/2006/relationships" id="257" r:id="Re8a7e766d5624bf5"/>
    <p:sldId xmlns:r="http://schemas.openxmlformats.org/officeDocument/2006/relationships" id="258" r:id="R91b8fb3e01354c74"/>
    <p:sldId xmlns:r="http://schemas.openxmlformats.org/officeDocument/2006/relationships" id="259" r:id="R1d4a0bd5c53a4ad8"/>
    <p:sldId xmlns:r="http://schemas.openxmlformats.org/officeDocument/2006/relationships" id="260" r:id="R943f89dd14764b1f"/>
    <p:sldId xmlns:r="http://schemas.openxmlformats.org/officeDocument/2006/relationships" id="261" r:id="R4aada71bbcfd45ad"/>
    <p:sldId xmlns:r="http://schemas.openxmlformats.org/officeDocument/2006/relationships" id="262" r:id="R709f73230ba74344"/>
    <p:sldId xmlns:r="http://schemas.openxmlformats.org/officeDocument/2006/relationships" id="263" r:id="R6cab049778e143cc"/>
    <p:sldId xmlns:r="http://schemas.openxmlformats.org/officeDocument/2006/relationships" id="264" r:id="R3ca9881f929c4ea2"/>
    <p:sldId xmlns:r="http://schemas.openxmlformats.org/officeDocument/2006/relationships" id="265" r:id="R9f38cad12076469b"/>
    <p:sldId xmlns:r="http://schemas.openxmlformats.org/officeDocument/2006/relationships" id="266" r:id="R5b5a8511378644c8"/>
    <p:sldId xmlns:r="http://schemas.openxmlformats.org/officeDocument/2006/relationships" id="267" r:id="R604d4a8c40bf4d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0fbf5c9b3c4d7c" /><Relationship Type="http://schemas.openxmlformats.org/officeDocument/2006/relationships/slideMaster" Target="/ppt/slideMasters/slideMaster1.xml" Id="Rc3797c9dbe6e4bbb" /><Relationship Type="http://schemas.openxmlformats.org/officeDocument/2006/relationships/notesMaster" Target="/ppt/notesMasters/notesMaster1.xml" Id="Rbe7ebe37b55241a8" /><Relationship Type="http://schemas.openxmlformats.org/officeDocument/2006/relationships/presProps" Target="/ppt/presProps.xml" Id="Rc79950294f7148cd" /><Relationship Type="http://schemas.openxmlformats.org/officeDocument/2006/relationships/tableStyles" Target="/ppt/tableStyles.xml" Id="Rf6bf149697ca4b27" /><Relationship Type="http://schemas.openxmlformats.org/officeDocument/2006/relationships/slide" Target="/ppt/slides/slide1.xml" Id="Rc3f658fcf4fa4171" /><Relationship Type="http://schemas.openxmlformats.org/officeDocument/2006/relationships/slide" Target="/ppt/slides/slide2.xml" Id="Re8a7e766d5624bf5" /><Relationship Type="http://schemas.openxmlformats.org/officeDocument/2006/relationships/slide" Target="/ppt/slides/slide3.xml" Id="R91b8fb3e01354c74" /><Relationship Type="http://schemas.openxmlformats.org/officeDocument/2006/relationships/slide" Target="/ppt/slides/slide4.xml" Id="R1d4a0bd5c53a4ad8" /><Relationship Type="http://schemas.openxmlformats.org/officeDocument/2006/relationships/slide" Target="/ppt/slides/slide5.xml" Id="R943f89dd14764b1f" /><Relationship Type="http://schemas.openxmlformats.org/officeDocument/2006/relationships/slide" Target="/ppt/slides/slide6.xml" Id="R4aada71bbcfd45ad" /><Relationship Type="http://schemas.openxmlformats.org/officeDocument/2006/relationships/slide" Target="/ppt/slides/slide7.xml" Id="R709f73230ba74344" /><Relationship Type="http://schemas.openxmlformats.org/officeDocument/2006/relationships/slide" Target="/ppt/slides/slide8.xml" Id="R6cab049778e143cc" /><Relationship Type="http://schemas.openxmlformats.org/officeDocument/2006/relationships/slide" Target="/ppt/slides/slide9.xml" Id="R3ca9881f929c4ea2" /><Relationship Type="http://schemas.openxmlformats.org/officeDocument/2006/relationships/slide" Target="/ppt/slides/slide10.xml" Id="R9f38cad12076469b" /><Relationship Type="http://schemas.openxmlformats.org/officeDocument/2006/relationships/slide" Target="/ppt/slides/slide11.xml" Id="R5b5a8511378644c8" /><Relationship Type="http://schemas.openxmlformats.org/officeDocument/2006/relationships/slide" Target="/ppt/slides/slide12.xml" Id="R604d4a8c40bf4d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deb312bbbf46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ebc406d93d428f" /><Relationship Type="http://schemas.openxmlformats.org/officeDocument/2006/relationships/notesMaster" Target="/ppt/notesMasters/notesMaster1.xml" Id="Rf2bab30087364f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6d3e8f29704662" /><Relationship Type="http://schemas.openxmlformats.org/officeDocument/2006/relationships/notesMaster" Target="/ppt/notesMasters/notesMaster1.xml" Id="Rc546172cb2e946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06cfdecebf43ba" /><Relationship Type="http://schemas.openxmlformats.org/officeDocument/2006/relationships/notesMaster" Target="/ppt/notesMasters/notesMaster1.xml" Id="R6e871fe4614144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1e55ead43e4f11" /><Relationship Type="http://schemas.openxmlformats.org/officeDocument/2006/relationships/notesMaster" Target="/ppt/notesMasters/notesMaster1.xml" Id="R82216a44de3444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c576f710114e41" /><Relationship Type="http://schemas.openxmlformats.org/officeDocument/2006/relationships/notesMaster" Target="/ppt/notesMasters/notesMaster1.xml" Id="R320605f3d65e4d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92d459caa94e29" /><Relationship Type="http://schemas.openxmlformats.org/officeDocument/2006/relationships/notesMaster" Target="/ppt/notesMasters/notesMaster1.xml" Id="R5772ff4754a543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d6f7a8faa841fe" /><Relationship Type="http://schemas.openxmlformats.org/officeDocument/2006/relationships/notesMaster" Target="/ppt/notesMasters/notesMaster1.xml" Id="Rd90dc4e1abfa42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224bf04f56f4057" /><Relationship Type="http://schemas.openxmlformats.org/officeDocument/2006/relationships/notesMaster" Target="/ppt/notesMasters/notesMaster1.xml" Id="Rf5af1ec48c0a493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43526c48ce4ae9" /><Relationship Type="http://schemas.openxmlformats.org/officeDocument/2006/relationships/notesMaster" Target="/ppt/notesMasters/notesMaster1.xml" Id="R2d166fae0bc44a3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199c828b7e4d0d" /><Relationship Type="http://schemas.openxmlformats.org/officeDocument/2006/relationships/notesMaster" Target="/ppt/notesMasters/notesMaster1.xml" Id="R84ef4c213d67465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3a21a35d744476a" /><Relationship Type="http://schemas.openxmlformats.org/officeDocument/2006/relationships/notesMaster" Target="/ppt/notesMasters/notesMaster1.xml" Id="R9016200cdcad44b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64960494e0344e6" /><Relationship Type="http://schemas.openxmlformats.org/officeDocument/2006/relationships/notesMaster" Target="/ppt/notesMasters/notesMaster1.xml" Id="Rdf0ae02e60944f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**language model** assigns probabilities to possible token sequences.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 autoregressive large language model repeatedly predicts: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`P(next token | tokens already in context)`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Generation is a loop: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tokenize the input;</a:t>
            </a:r>
          </a:p>
          <a:p xmlns:a="http://schemas.openxmlformats.org/drawingml/2006/main">
            <a:r>
              <a:t>2. calculate next-token scores;</a:t>
            </a:r>
          </a:p>
          <a:p xmlns:a="http://schemas.openxmlformats.org/drawingml/2006/main">
            <a:r>
              <a:t>3. convert scores to probabilities;</a:t>
            </a:r>
          </a:p>
          <a:p xmlns:a="http://schemas.openxmlformats.org/drawingml/2006/main">
            <a:r>
              <a:t>4. choose one token;</a:t>
            </a:r>
          </a:p>
          <a:p xmlns:a="http://schemas.openxmlformats.org/drawingml/2006/main">
            <a:r>
              <a:t>5. append it to context;</a:t>
            </a:r>
          </a:p>
          <a:p xmlns:a="http://schemas.openxmlformats.org/drawingml/2006/main">
            <a:r>
              <a:t>6. repeat until a stopping condition.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model does not retrieve truth automatically. It predicts plausible continuations from learned parameters and supplied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Context: `The capital of Sri Lanka is`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Candidate probabilities might include: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`Colombo 0.55`, `Sri 0.12`, `Kandy 0.08`, others `0.25`.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selected token is appended and the model predicts again.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generation loop shows context, probability distribution, selected token, appended context, and repeat.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Separate fluent prediction from verified knowledge. Use “token” rather than “word” until tokenization is explained.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LLMs 101 notebook performs a simple next-token prediction before chat generation.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https://huggingface.co/docs/transformers/main_classes/text_generation</a:t>
            </a:r>
          </a:p>
          <a:p xmlns:a="http://schemas.openxmlformats.org/drawingml/2006/main">
            <a:r>
              <a:t>- https://github.com/curiousily/AI-Bootcamp/blob/master/05.llms-101.ipynb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**tokenizer** converts text into tokens and integer **token IDs** from a fixed vocabulary.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token may be: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a complete word;</a:t>
            </a:r>
          </a:p>
          <a:p xmlns:a="http://schemas.openxmlformats.org/drawingml/2006/main">
            <a:r>
              <a:t>- part of a word;</a:t>
            </a:r>
          </a:p>
          <a:p xmlns:a="http://schemas.openxmlformats.org/drawingml/2006/main">
            <a:r>
              <a:t>- punctuation;</a:t>
            </a:r>
          </a:p>
          <a:p xmlns:a="http://schemas.openxmlformats.org/drawingml/2006/main">
            <a:r>
              <a:t>- whitespace pattern;</a:t>
            </a:r>
          </a:p>
          <a:p xmlns:a="http://schemas.openxmlformats.org/drawingml/2006/main">
            <a:r>
              <a:t>- special control marker.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Tokenization depends on the model. Character count and word count do not equal token count.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decoder maps token IDs back to text, but decoding individual tokens can look unusual because boundaries and spaces are encoded.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The word `unhelpful` might become pieces such as: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`un` + `help` + `ful`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these map to IDs `[320, 912, 77]`, the model receives numbers, not raw letters.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Text splits into token pieces, each maps to an ID, then IDs form an input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Run the same text through only the notebook's tokenizer; exact tokens vary across models.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notebook inspects token IDs and decodes generated sequences.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https://huggingface.co/docs/transformers/tokenizer_summary</a:t>
            </a:r>
          </a:p>
          <a:p xmlns:a="http://schemas.openxmlformats.org/drawingml/2006/main">
            <a:r>
              <a:t>- https://github.com/curiousily/AI-Bootcamp/blob/master/05.llms-101.ipynb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 **embedding** maps a token ID to a learned vector.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hidden size is `d`, each token begins as a vector with `d` numerical components. The model also needs position information because token order changes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During transformer layers, representations become **contextual**: the vector for a token changes according to surrounding tokens.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Embedding similarity can reflect learned usage patterns, but it does not guarantee factual or logical equivalence.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Sequence length `6`, hidden size `4`.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Token-ID shape: `(6,)`  </a:t>
            </a:r>
          </a:p>
          <a:p xmlns:a="http://schemas.openxmlformats.org/drawingml/2006/main">
            <a:r>
              <a:t>Embedding shape: `(6,4)`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There is one four-number vector per token.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Three token IDs each expand into a vector row, forming a sequence-by-hidden-size matrix.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Do not present individual vector dimensions as human-readable concepts.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RAG later uses separate embedding models to represent document chunks and queries.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https://huggingface.co/docs/transformers/main_classes/output</a:t>
            </a:r>
          </a:p>
          <a:p xmlns:a="http://schemas.openxmlformats.org/drawingml/2006/main">
            <a:r>
              <a:t>- https://jalammar.github.io/illustrated-transformer/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**transformer** processes token representations with repeated attention and feed-forward blocks.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 **self-attention**, each token: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forms a query describing what information it seeks;</a:t>
            </a:r>
          </a:p>
          <a:p xmlns:a="http://schemas.openxmlformats.org/drawingml/2006/main">
            <a:r>
              <a:t>2. compares that query with keys from allowed tokens;</a:t>
            </a:r>
          </a:p>
          <a:p xmlns:a="http://schemas.openxmlformats.org/drawingml/2006/main">
            <a:r>
              <a:t>3. converts comparisons into attention weights;</a:t>
            </a:r>
          </a:p>
          <a:p xmlns:a="http://schemas.openxmlformats.org/drawingml/2006/main">
            <a:r>
              <a:t>4. combines value vectors using those weights.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 causal generation, a token cannot attend to future tokens that have not been generated.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Sentence: `The bank raised its rate because it expected inflation.`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When representing the second `it`, attention may assign more weight to `bank` and surrounding context. The result is a context-dependent representation.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One token sends weighted lines to earlier tokens, then combines their value vectors. Future positions are masked.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Define query, key, and value by role, not as database concepts. Avoid claiming attention weights are complete explanations.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notebook uses a pretrained transformer; learners now understand its core data 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https://arxiv.org/abs/1706.03762</a:t>
            </a:r>
          </a:p>
          <a:p xmlns:a="http://schemas.openxmlformats.org/drawingml/2006/main">
            <a:r>
              <a:t>- https://huggingface.co/docs/transformers/tasks/language_modeling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**context window** is the maximum token sequence the model can process in one request, including some combination of: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system and user messages;</a:t>
            </a:r>
          </a:p>
          <a:p xmlns:a="http://schemas.openxmlformats.org/drawingml/2006/main">
            <a:r>
              <a:t>- conversation history;</a:t>
            </a:r>
          </a:p>
          <a:p xmlns:a="http://schemas.openxmlformats.org/drawingml/2006/main">
            <a:r>
              <a:t>- retrieved documents;</a:t>
            </a:r>
          </a:p>
          <a:p xmlns:a="http://schemas.openxmlformats.org/drawingml/2006/main">
            <a:r>
              <a:t>- tool results;</a:t>
            </a:r>
          </a:p>
          <a:p xmlns:a="http://schemas.openxmlformats.org/drawingml/2006/main">
            <a:r>
              <a:t>- generated output.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Longer context consumes memory, latency, and cost. Content may be truncated or rejected when the limit is exceeded.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More context is not always better: irrelevant or conflicting text can reduce answer quality.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Context limit `8,000` tokens.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Instructions `500`  </a:t>
            </a:r>
          </a:p>
          <a:p xmlns:a="http://schemas.openxmlformats.org/drawingml/2006/main">
            <a:r>
              <a:t>History `2,000`  </a:t>
            </a:r>
          </a:p>
          <a:p xmlns:a="http://schemas.openxmlformats.org/drawingml/2006/main">
            <a:r>
              <a:t>Retrieved evidence `3,500`  </a:t>
            </a:r>
          </a:p>
          <a:p xmlns:a="http://schemas.openxmlformats.org/drawingml/2006/main">
            <a:r>
              <a:t>Reserved output `1,000`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Total `7,000`, leaving `1,000` tokens of headroom.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fixed-width context bar allocates tokens to instructions, history, evidence, and output.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Explain why character truncation can split tokens and why output budget must be reserved.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Learners should inspect prompt token counts before generation.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https://huggingface.co/docs/transformers/main_classes/text_generation</a:t>
            </a:r>
          </a:p>
          <a:p xmlns:a="http://schemas.openxmlformats.org/drawingml/2006/main">
            <a:r>
              <a:t>- https://github.com/curiousily/AI-Bootcamp/blob/master/05.llms-101.ipynb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each vocabulary token, the model produces a **logit**: an unrestricted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Softmax converts logits into probabilities: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`P(i) = e^(zi) / Σj e^(zj)`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`zi`: logit for token `i`</a:t>
            </a:r>
          </a:p>
          <a:p xmlns:a="http://schemas.openxmlformats.org/drawingml/2006/main">
            <a:r>
              <a:t>- exponentials make values positive</a:t>
            </a:r>
          </a:p>
          <a:p xmlns:a="http://schemas.openxmlformats.org/drawingml/2006/main">
            <a:r>
              <a:t>- denominator adds exponentials for all candidates</a:t>
            </a:r>
          </a:p>
          <a:p xmlns:a="http://schemas.openxmlformats.org/drawingml/2006/main">
            <a:r>
              <a:t>- probabilities sum to `1`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Only relative logit differences matter.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Logits `[2,1,0]`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Exponentials approximately `[7.39,2.72,1.00]`  </a:t>
            </a:r>
          </a:p>
          <a:p xmlns:a="http://schemas.openxmlformats.org/drawingml/2006/main">
            <a:r>
              <a:t>Sum `11.11`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Probabilities: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`[7.39/11.11, 2.72/11.11, 1/11.11]`  </a:t>
            </a:r>
          </a:p>
          <a:p xmlns:a="http://schemas.openxmlformats.org/drawingml/2006/main">
            <a:r>
              <a:t>`≈ [0.665,0.245,0.090]`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Three raw logits pass through exponentiation, normalization, and a probability bar chart.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Calculate each step. Explain that logits are not percentages.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notebook inspects model logits and selects likely next tokens.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https://docs.pytorch.org/docs/stable/generated/torch.nn.functional.softmax.html</a:t>
            </a:r>
          </a:p>
          <a:p xmlns:a="http://schemas.openxmlformats.org/drawingml/2006/main">
            <a:r>
              <a:t>- https://huggingface.co/docs/transformers/main_classes/text_generation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**Greedy decoding** selects the highest-probability token each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**Sampling** randomly selects according to a probability distribution.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**Temperature** rescales logits before softmax: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`softmax(logits / T)`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lower `T` sharpens the distribution;</a:t>
            </a:r>
          </a:p>
          <a:p xmlns:a="http://schemas.openxmlformats.org/drawingml/2006/main">
            <a:r>
              <a:t>- higher `T` flattens it;</a:t>
            </a:r>
          </a:p>
          <a:p xmlns:a="http://schemas.openxmlformats.org/drawingml/2006/main">
            <a:r>
              <a:t>- temperature does not add knowledge or verify facts.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Top-k and top-p restrict which candidates may be sampled.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At low temperature, probabilities might be `[0.90,0.08,0.02]`.  </a:t>
            </a:r>
          </a:p>
          <a:p xmlns:a="http://schemas.openxmlformats.org/drawingml/2006/main">
            <a:r>
              <a:t>At higher temperature, they might be `[0.55,0.30,0.15]`.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first remains most likely, but alternatives are selected more often.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The same logits produce sharp and flat probability bars under two temperatures, then a sampling wheel.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Do not call low temperature deterministic when sampling is still enabled. Use a seed only for controlled demonstrations.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Learners compare greedy and sampled generation while keeping the prompt fixed.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https://huggingface.co/docs/transformers/generation_strategies</a:t>
            </a:r>
          </a:p>
          <a:p xmlns:a="http://schemas.openxmlformats.org/drawingml/2006/main">
            <a:r>
              <a:t>- https://huggingface.co/docs/transformers/main_classes/text_generation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**base model** is pretrained mainly to continue token sequences.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 **instruction model** is further adapted using instruction-response examples and often preference training so it follows conversational tasks more reliably.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Instruction models usually expect a model-specific **chat template** containing role and control tokens. Sending plain text to an instruction model or chat-formatted text to a base model changes behaviour.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Neither model type guarantees truth, safety, or task correctness.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Prompt to a base model: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`Question: What is 2+2? Answer:`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may continue a learned document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 instruction model receives structured messages such as user request and assistant turn, then generates the assistant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Base pretraining and instruction adaptation form two branches with different expected prompt formats.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Do not describe instruction tuning as adding current knowledge. It primarily changes task-following behaviour.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LLMs 101 notebook loads both base and instruction-tuned variants.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https://huggingface.co/docs/transformers/chat_templating</a:t>
            </a:r>
          </a:p>
          <a:p xmlns:a="http://schemas.openxmlformats.org/drawingml/2006/main">
            <a:r>
              <a:t>- https://github.com/curiousily/AI-Bootcamp/blob/master/05.llms-101.ipynb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**hallucination** is generated content presented as factual despite lacking support or being incorrect.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LLMs can: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invent citations;</a:t>
            </a:r>
          </a:p>
          <a:p xmlns:a="http://schemas.openxmlformats.org/drawingml/2006/main">
            <a:r>
              <a:t>- combine incompatible facts;</a:t>
            </a:r>
          </a:p>
          <a:p xmlns:a="http://schemas.openxmlformats.org/drawingml/2006/main">
            <a:r>
              <a:t>- follow false assumptions in a prompt;</a:t>
            </a:r>
          </a:p>
          <a:p xmlns:a="http://schemas.openxmlformats.org/drawingml/2006/main">
            <a:r>
              <a:t>- produce outdated information;</a:t>
            </a:r>
          </a:p>
          <a:p xmlns:a="http://schemas.openxmlformats.org/drawingml/2006/main">
            <a:r>
              <a:t>- make arithmetic or logical mistakes;</a:t>
            </a:r>
          </a:p>
          <a:p xmlns:a="http://schemas.openxmlformats.org/drawingml/2006/main">
            <a:r>
              <a:t>- sound confident while uncertain.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Mitigations include trusted retrieval, tools, structured validation, explicit refusal rules, test datasets, and human review. A prompt alone cannot guarantee factuality.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Question asks for a policy section that does not exist in the supplied document.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Unsafe answer invents a section number.  </a:t>
            </a:r>
          </a:p>
          <a:p xmlns:a="http://schemas.openxmlformats.org/drawingml/2006/main">
            <a:r>
              <a:t>Grounded answer states that the evidence does not contain the requested policy and cites what was checked.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One generation path invents a claim; another checks evidence and returns an explicit insufficient-evidence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Use “unsupported” as an observable criterion. Avoid implying that confidence wording reveals true model certainty.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Later RAG lessons add evidence retrieval and citation checks around generation.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https://www.nist.gov/itl/ai-risk-management-framework</a:t>
            </a:r>
          </a:p>
          <a:p xmlns:a="http://schemas.openxmlformats.org/drawingml/2006/main">
            <a:r>
              <a:t>- https://huggingface.co/learn/llm-course/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**Quantization** stores or computes model values with lower numerical precision.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Possible effects: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lower memory use;</a:t>
            </a:r>
          </a:p>
          <a:p xmlns:a="http://schemas.openxmlformats.org/drawingml/2006/main">
            <a:r>
              <a:t>- faster inference on supported hardware;</a:t>
            </a:r>
          </a:p>
          <a:p xmlns:a="http://schemas.openxmlformats.org/drawingml/2006/main">
            <a:r>
              <a:t>- smaller model files;</a:t>
            </a:r>
          </a:p>
          <a:p xmlns:a="http://schemas.openxmlformats.org/drawingml/2006/main">
            <a:r>
              <a:t>- some quality loss;</a:t>
            </a:r>
          </a:p>
          <a:p xmlns:a="http://schemas.openxmlformats.org/drawingml/2006/main">
            <a:r>
              <a:t>- hardware- and implementation-dependent speed.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Quantization does not reduce prompt tokens or expand the context window automatically. Evaluate the quantized model on the actual tasks before deployment.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One billion parameters: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- 16-bit storage is roughly `2 GB` for raw weights;</a:t>
            </a:r>
          </a:p>
          <a:p xmlns:a="http://schemas.openxmlformats.org/drawingml/2006/main">
            <a:r>
              <a:t>- 8-bit storage is roughly `1 GB`;</a:t>
            </a:r>
          </a:p>
          <a:p xmlns:a="http://schemas.openxmlformats.org/drawingml/2006/main">
            <a:r>
              <a:t>- 4-bit storage is roughly `0.5 GB`.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Runtime requires additional memory for cache and application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The same model appears as 16-bit, 8-bit, and 4-bit weight blocks with decreasing size and an evaluation warning.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Describe estimates as raw-weight approximations, not total runtime memory.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Ollama commonly runs quantized local models; learners should inspect the selected model size.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https://huggingface.co/docs/transformers/quantization/overview</a:t>
            </a:r>
          </a:p>
          <a:p xmlns:a="http://schemas.openxmlformats.org/drawingml/2006/main">
            <a:r>
              <a:t>- https://docs.ollama.com/import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Ollama runs supported models locally and exposes a command-line and HTTP interface.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ideas: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model identifier and version determine the artifact;</a:t>
            </a:r>
          </a:p>
          <a:p xmlns:a="http://schemas.openxmlformats.org/drawingml/2006/main">
            <a:r>
              <a:t>- local runtime still consumes CPU, memory, and storage;</a:t>
            </a:r>
          </a:p>
          <a:p xmlns:a="http://schemas.openxmlformats.org/drawingml/2006/main">
            <a:r>
              <a:t>- prompts and responses remain on the machine unless the application sends data elsewhere;</a:t>
            </a:r>
          </a:p>
          <a:p xmlns:a="http://schemas.openxmlformats.org/drawingml/2006/main">
            <a:r>
              <a:t>- local does not automatically mean secure;</a:t>
            </a:r>
          </a:p>
          <a:p xmlns:a="http://schemas.openxmlformats.org/drawingml/2006/main">
            <a:r>
              <a:t>- output must still be validated and evaluated.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only model licences and sizes suitable for the intended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Workflow: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pull a small model;</a:t>
            </a:r>
          </a:p>
          <a:p xmlns:a="http://schemas.openxmlformats.org/drawingml/2006/main">
            <a:r>
              <a:t>2. run one prompt;</a:t>
            </a:r>
          </a:p>
          <a:p xmlns:a="http://schemas.openxmlformats.org/drawingml/2006/main">
            <a:r>
              <a:t>3. inspect token and latency behaviour;</a:t>
            </a:r>
          </a:p>
          <a:p xmlns:a="http://schemas.openxmlformats.org/drawingml/2006/main">
            <a:r>
              <a:t>4. call the local API;</a:t>
            </a:r>
          </a:p>
          <a:p xmlns:a="http://schemas.openxmlformats.org/drawingml/2006/main">
            <a:r>
              <a:t>5. stop the model when not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laptop contains the Ollama runtime and model, with CLI and local HTTP clients connecting to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Do not hardcode a model name in the lesson; available models and licences change. Record the exact selected artifact in the lab.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Ollama quickstart notebook introduces local generation after the model mechanism is understood.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https://docs.ollama.com/</a:t>
            </a:r>
          </a:p>
          <a:p xmlns:a="http://schemas.openxmlformats.org/drawingml/2006/main">
            <a:r>
              <a:t>- https://github.com/curiousily/AI-Bootcamp/blob/master/28.ollama-quickstart.ipynb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tokenize a short prompt and inspect IDs;</a:t>
            </a:r>
          </a:p>
          <a:p xmlns:a="http://schemas.openxmlformats.org/drawingml/2006/main">
            <a:r>
              <a:t>2. report input token count;</a:t>
            </a:r>
          </a:p>
          <a:p xmlns:a="http://schemas.openxmlformats.org/drawingml/2006/main">
            <a:r>
              <a:t>3. inspect model and tokenizer identifiers;</a:t>
            </a:r>
          </a:p>
          <a:p xmlns:a="http://schemas.openxmlformats.org/drawingml/2006/main">
            <a:r>
              <a:t>4. obtain next-token logits;</a:t>
            </a:r>
          </a:p>
          <a:p xmlns:a="http://schemas.openxmlformats.org/drawingml/2006/main">
            <a:r>
              <a:t>5. apply softmax to a small candidate set;</a:t>
            </a:r>
          </a:p>
          <a:p xmlns:a="http://schemas.openxmlformats.org/drawingml/2006/main">
            <a:r>
              <a:t>6. identify the highest-probability token;</a:t>
            </a:r>
          </a:p>
          <a:p xmlns:a="http://schemas.openxmlformats.org/drawingml/2006/main">
            <a:r>
              <a:t>7. compare greedy and sampled generation;</a:t>
            </a:r>
          </a:p>
          <a:p xmlns:a="http://schemas.openxmlformats.org/drawingml/2006/main">
            <a:r>
              <a:t>8. change temperature and describe the distribution change;</a:t>
            </a:r>
          </a:p>
          <a:p xmlns:a="http://schemas.openxmlformats.org/drawingml/2006/main">
            <a:r>
              <a:t>9. compare base and instruction prompt formats;</a:t>
            </a:r>
          </a:p>
          <a:p xmlns:a="http://schemas.openxmlformats.org/drawingml/2006/main">
            <a:r>
              <a:t>10. run a small local model with Ollama;</a:t>
            </a:r>
          </a:p>
          <a:p xmlns:a="http://schemas.openxmlformats.org/drawingml/2006/main">
            <a:r>
              <a:t>11. record latency and model size;</a:t>
            </a:r>
          </a:p>
          <a:p xmlns:a="http://schemas.openxmlformats.org/drawingml/2006/main">
            <a:r>
              <a:t>12. document one unsupported answer and a safer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For logits `[2,1,0]`, probabilities are approximately `[0.665,0.245,0.090]`. Greedy decoding chooses the first token; sampling may choose another.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trace sheet follows text, token IDs, embeddings, logits, probabilities, token choice, decoded text, and verification.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Require model-specific observations rather than memorized claims. Keep fine-tuning out of the core lab.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Complete `05.llms-101.ipynb` and `28.ollama-quickstart.ipynb`.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https://github.com/curiousily/AI-Bootcamp/blob/master/05.llms-101.ipynb</a:t>
            </a:r>
          </a:p>
          <a:p xmlns:a="http://schemas.openxmlformats.org/drawingml/2006/main">
            <a:r>
              <a:t>- https://github.com/curiousily/AI-Bootcamp/blob/master/28.ollama-quickstart.ipynb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35b45a4aed49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68cd5d6bf8467c" /><Relationship Type="http://schemas.openxmlformats.org/officeDocument/2006/relationships/slideLayout" Target="/ppt/slideLayouts/slideLayout1.xml" Id="R5b565095fba74f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565095fba74f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10585f9d741d4" /><Relationship Type="http://schemas.openxmlformats.org/officeDocument/2006/relationships/image" Target="/ppt/media/image.png" Id="R3d223b4c21c44f5e" /><Relationship Type="http://schemas.openxmlformats.org/officeDocument/2006/relationships/image" Target="/ppt/media/image2.png" Id="R0e7434941b954a5f" /><Relationship Type="http://schemas.openxmlformats.org/officeDocument/2006/relationships/notesSlide" Target="/ppt/notesSlides/notesSlide1.xml" Id="R7d1e8b7b059849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f0b8726584b0a" /><Relationship Type="http://schemas.openxmlformats.org/officeDocument/2006/relationships/notesSlide" Target="/ppt/notesSlides/notesSlide2.xml" Id="Rebf5025304be40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d6e5bf9c14124" /><Relationship Type="http://schemas.openxmlformats.org/officeDocument/2006/relationships/notesSlide" Target="/ppt/notesSlides/notesSlide3.xml" Id="R570ff1ac8d4547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3d60480472465b" /><Relationship Type="http://schemas.openxmlformats.org/officeDocument/2006/relationships/notesSlide" Target="/ppt/notesSlides/notesSlide4.xml" Id="R3a001a9ba2ef45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e99cc3391481b" /><Relationship Type="http://schemas.openxmlformats.org/officeDocument/2006/relationships/notesSlide" Target="/ppt/notesSlides/notesSlide5.xml" Id="R1d9a257b46904e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ed5450fe54b04" /><Relationship Type="http://schemas.openxmlformats.org/officeDocument/2006/relationships/notesSlide" Target="/ppt/notesSlides/notesSlide6.xml" Id="Rbab61249f5bc42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cd5ae14c14d5b" /><Relationship Type="http://schemas.openxmlformats.org/officeDocument/2006/relationships/notesSlide" Target="/ppt/notesSlides/notesSlide7.xml" Id="R3adfa4ceafda48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33e84a8a5a410a" /><Relationship Type="http://schemas.openxmlformats.org/officeDocument/2006/relationships/notesSlide" Target="/ppt/notesSlides/notesSlide8.xml" Id="Rdadb1781238d421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03c31abce49b7" /><Relationship Type="http://schemas.openxmlformats.org/officeDocument/2006/relationships/notesSlide" Target="/ppt/notesSlides/notesSlide9.xml" Id="Rbcaefb9cfe2345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773036bf54b55" /><Relationship Type="http://schemas.openxmlformats.org/officeDocument/2006/relationships/notesSlide" Target="/ppt/notesSlides/notesSlide10.xml" Id="R7fe1b295e6ba444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3ac111c134b40" /><Relationship Type="http://schemas.openxmlformats.org/officeDocument/2006/relationships/notesSlide" Target="/ppt/notesSlides/notesSlide11.xml" Id="Rbdce2b218e0f4b5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3c2e698264ec3" /><Relationship Type="http://schemas.openxmlformats.org/officeDocument/2006/relationships/notesSlide" Target="/ppt/notesSlides/notesSlide12.xml" Id="R9557ee4ca5a74c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423094-03E6-4995-B4E9-99D0ED02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223b4c21c44f5e"/>
          <a:srcRect xmlns:a="http://schemas.openxmlformats.org/drawingml/2006/main" l="28270" t="0" r="282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6100" y="0"/>
            <a:ext cx="52959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A54DA-5EEB-4D11-B294-A11F3386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0"/>
            <a:ext cx="304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EB93BF-861B-4675-B11E-2DA313F9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MODULE 12  /  LESSON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970DE5-F620-4C3A-A7AA-68D118A6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52197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A Language Model Predicts the Next Token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67F167-44EB-49BE-802F-D57FCDDE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4604D3-D730-42C2-8815-9249D3D5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5048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5E2EC"/>
                </a:solidFill>
              </a:defRPr>
            </a:pPr>
            <a:r>
              <a:rPr sz="1650">
                <a:solidFill>
                  <a:srgbClr val="D5E2EC"/>
                </a:solidFill>
              </a:rPr>
              <a:t>A language model assigns probabilities to possible token sequences.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7434941b954a5f"/>
          <a:stretch xmlns:a="http://schemas.openxmlformats.org/drawingml/2006/main"/>
        </p:blipFill>
        <p:spPr>
          <a:xfrm xmlns:a="http://schemas.openxmlformats.org/drawingml/2006/main">
            <a:off x="790575" y="5905500"/>
            <a:ext cx="1485900" cy="495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1572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F5E14B-D8BE-48AD-95BC-E5784046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M12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9DA8A5-E18A-4AEB-A444-A4D9C899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A Language Model Predicts the Next Token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377E1C-A267-4E73-B77B-F8AF5C16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6D4245-BE59-466B-9AD7-B4C34796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22DE20-6486-4F5E-8E5E-587CF1ED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Tokenization Converts Text into IDs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16B07F-6371-4100-8912-5AD285D0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D6C1F0-3024-47EA-B42F-23EFC3EF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43244"/>
                </a:solidFill>
              </a:defRPr>
            </a:pPr>
            <a:r>
              <a:rPr sz="1425">
                <a:solidFill>
                  <a:srgbClr val="243244"/>
                </a:solidFill>
              </a:rPr>
              <a:t>A tokenizer converts text into tokens and integer token IDs from a fixed vocabulary. A token may be: Tokenization depends on the model. Character count and word count do not equal token count.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D8C729-17C3-4193-8803-6BCC929C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A8598A-952F-4C89-BF64-4959CEAB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a complete word;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62D19F-9942-48EB-B854-05D8ED8B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C81713-1CB4-478D-A9CD-7789B207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part of a word;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28A43D-6654-4FDE-820C-54524487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28178D-6A7A-4248-9828-DF9A8B39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punctuation;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9061BE-7B3C-44B3-B7D1-3FB68C47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4A5A2F-FEF3-4B6E-A365-418C33A5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whitespace pattern;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275574-7278-41B8-A36D-57F463FF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863A45-F241-4FDA-ADF1-B74EAFE6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special control marker.</a:t>
            </a:r>
          </a:p>
        </p:txBody>
      </p:sp>
    </p:spTree>
    <p:extLst>
      <p:ext uri="{BB962C8B-B14F-4D97-AF65-F5344CB8AC3E}">
        <p14:creationId xmlns:p14="http://schemas.microsoft.com/office/powerpoint/2010/main" val="13537464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1217D5-548B-40C3-B4E3-114160A3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M12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F19864-0336-4729-92CE-670BAE2A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A Language Model Predicts the Next Token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F2E798-CA82-4845-A909-A12F85D0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465AFB-F66D-4048-A41A-BE9E5913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RUN IT AND INSPECT THE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514A41-DAF6-454A-812A-2BF48E2A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Embeddings Turn Token IDs into Vectors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F4410-2560-4A28-9558-0BACF750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CFC137-B338-4F67-A646-12E689E8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6982DA-3D72-42EE-A857-531063C5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1767CE-DA53-49A5-A186-23D81D68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E03CBD-1338-4260-A753-49199B12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E53DB6-555D-4282-BD90-A85203F2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150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input_ids = torch.tensor([[10, 20, 30]])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embeddings = model.get_input_embeddings()(input_ids)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print(embeddings.shape)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773DCE-2872-4DDA-9F71-DBE07D2A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324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26449E-C713-4C3E-A951-3FE49E44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E11994-5986-4B7D-A110-35A8D7E8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28850"/>
            <a:ext cx="37909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torch.Size([1, 3, hidden_size])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D66844-0A04-49E9-AE77-E3223735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A837AE-CDB0-45EC-B038-9BDFA8B3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There is one four-number vector per token.</a:t>
            </a:r>
          </a:p>
        </p:txBody>
      </p:sp>
    </p:spTree>
    <p:extLst>
      <p:ext uri="{BB962C8B-B14F-4D97-AF65-F5344CB8AC3E}">
        <p14:creationId xmlns:p14="http://schemas.microsoft.com/office/powerpoint/2010/main" val="3675127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3E941F-9636-4784-8CBF-8F0B5EC8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M12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B961D-D7B5-4104-BB8D-C3C8F654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A Language Model Predicts the Next Token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AD14CE-3DC1-4DFB-9435-C9DC0186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4733EF-9054-413C-91DD-EF19EFCB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REASONING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8E4836-E897-4FB6-B222-C59D09AA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Self-Attention Mixes Information Across Tokens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4A335-86DD-4E02-9332-2031B95D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368B9-005B-4771-871F-11FF9795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forms a query describing what information it seeks;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1E6C76-BF59-4525-B29A-C66CE1AA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59E74B-6786-44A8-9C61-C1460821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EE3187-D98E-4A7B-8D57-307FEB51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Transform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E7A687-F8E8-4585-BFE9-D57AC430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compares that query with keys from allowed tokens;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14A05E-9FFD-4EC3-974F-33899C23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C330CC-5D3A-437B-82E5-6A6E618E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23CB66-3779-498B-A1E1-7420B630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Validate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D1B66E-872A-47B8-A411-F4119475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converts comparisons into attention weights;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8CD07F-2BBC-4DFE-97A3-E5AABFEE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2D3794-110B-4C40-BFB1-11A619B8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5B563E-D034-45F2-AD78-9C58F002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06B5F"/>
                </a:solidFill>
              </a:defRPr>
            </a:pPr>
            <a:r>
              <a:rPr sz="2025" b="1">
                <a:solidFill>
                  <a:srgbClr val="F06B5F"/>
                </a:solidFill>
              </a:rPr>
              <a:t>Explain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137A9D-2786-4E1B-8E55-A019519D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combines value vectors using those weights.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5E5389-82D0-44A2-9ABA-1B378E50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020965-828B-44E6-A0EE-34DF1660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B2D304-1D00-4045-92E2-B783AAC7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816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1DEE8"/>
                </a:solidFill>
              </a:defRPr>
            </a:pPr>
            <a:r>
              <a:rPr sz="1200">
                <a:solidFill>
                  <a:srgbClr val="D1DEE8"/>
                </a:solidFill>
              </a:rPr>
              <a:t>Sentence: The bank raised its rate because it expected inflation. When representing the second it, attention may assign more weight to bank and surrounding context. The result is a context-dependent representation.</a:t>
            </a:r>
          </a:p>
        </p:txBody>
      </p:sp>
    </p:spTree>
    <p:extLst>
      <p:ext uri="{BB962C8B-B14F-4D97-AF65-F5344CB8AC3E}">
        <p14:creationId xmlns:p14="http://schemas.microsoft.com/office/powerpoint/2010/main" val="17044950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A0C56B-CD42-49FB-A820-E0AD65A6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M12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DD5ADD-B425-4A9F-B1EF-CC2FD0CE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A Language Model Predicts the Next Token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3B212C-5945-4333-8001-E6E3A0D7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310835-284D-4255-8F5E-0AD68D2C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D22725-F413-4DC0-93C2-CA572FA7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The Context Window Is a Finite Token Budget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85A531-9CDB-415C-A240-527B9005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DB09C6-7585-4BD3-875C-BC304DDE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D6E2EB"/>
                </a:solidFill>
              </a:defRPr>
            </a:pPr>
            <a:r>
              <a:rPr sz="1425">
                <a:solidFill>
                  <a:srgbClr val="D6E2EB"/>
                </a:solidFill>
              </a:rPr>
              <a:t>The context window is the maximum token sequence the model can process in one request, including some combination of: Longer context consumes memory, latency, and cost. Content may be truncated or rejected when the limit is exceeded.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BF46B2-5329-4493-9844-C3FA1356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199FC-B117-4CB3-A448-F600F3CD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system and user messages;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ED80E2-9804-4E4B-AB73-B4D22601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711C94-4A1D-4DCD-88B2-D3B54A4E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conversation history;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ED238E-3119-4B75-9DE7-653995F1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352001-B181-4649-847D-405F940C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retrieved documents;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53AFA4-0441-454A-8AFE-28F00590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06C80D-AAD9-455B-B1AB-7419A708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tool results;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E52959-E76D-4282-9524-535E3B6F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43C5CA-BDEA-40A3-9EFC-32C76BF7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generated output.</a:t>
            </a:r>
          </a:p>
        </p:txBody>
      </p:sp>
    </p:spTree>
    <p:extLst>
      <p:ext uri="{BB962C8B-B14F-4D97-AF65-F5344CB8AC3E}">
        <p14:creationId xmlns:p14="http://schemas.microsoft.com/office/powerpoint/2010/main" val="5982065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19D34D-EE86-48C9-845E-93AD625D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M12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F6E0E0-FF01-457A-8402-3ECF17E2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A Language Model Predicts the Next Token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3152D-EA29-4756-9EEC-7D64E0B6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B9BF4D-C053-441E-BB0D-817B544D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RUN IT AND INSPECT THE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C25C85-0011-47B3-A734-985CB096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Logits Become Probabilities through Softmax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580102-CA4E-484B-B2EA-9C3EC6BE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4CCFC-D41D-4644-AD8F-410879C9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7A645-28ED-4B53-952F-F7473AD4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66F533-5B4C-48AD-964D-F5C40841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980614-C844-4855-81C0-5A6593E8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A8AE41-BBE6-412A-854B-173C7010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150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logits = torch.tensor([2.0, 1.0, 0.0])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print(torch.softmax(logits, dim=0))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55EBA4-2C8A-4FC2-85A0-EDBD4079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324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54F7A7-6F06-4861-AFDF-9434E244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19F9FA-7184-403F-8269-31AC12FF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28850"/>
            <a:ext cx="37909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tensor([0.6652, 0.2447, 0.0900])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CADFA3-E894-4AF4-8B97-BDC2F7DE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C6E773-160C-4A8C-92F4-C1E65B85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[7.39/11.11, 2.72/11.11, 1/11.11] ≈ [0.665,0.245,0.090]</a:t>
            </a:r>
          </a:p>
        </p:txBody>
      </p:sp>
    </p:spTree>
    <p:extLst>
      <p:ext uri="{BB962C8B-B14F-4D97-AF65-F5344CB8AC3E}">
        <p14:creationId xmlns:p14="http://schemas.microsoft.com/office/powerpoint/2010/main" val="13716512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A5CC6A-0DF0-448D-BAAD-CBC795FF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M12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F68D7-37A2-4F0C-9A05-D762E003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A Language Model Predicts the Next Token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33EC0A-C72C-4215-A946-9E2861BC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1D05C-1CA7-48C6-BA8D-70E8FBF7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3BE7D-D749-486E-BFB2-F81B392B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Sampling Controls How a Token Is Chosen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B1AB26-323B-47F5-A663-C8EAFEE3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2BE794-1E4C-4AF0-8F30-00E24DEF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D6E2EB"/>
                </a:solidFill>
              </a:defRPr>
            </a:pPr>
            <a:r>
              <a:rPr sz="1575">
                <a:solidFill>
                  <a:srgbClr val="D6E2EB"/>
                </a:solidFill>
              </a:rPr>
              <a:t>Greedy decoding selects the highest-probability token each step. Sampling randomly selects according to a probability distribution. Temperature rescales logits before softmax: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CC004C-F93A-45AB-BC04-BC512B69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14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31DBA5-370C-4C79-9029-B8F43D38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4800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lower T sharpens the distribution;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397CBE-97C1-4846-8FE3-746A0906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14750"/>
            <a:ext cx="514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E910EE-42C4-4F82-BB11-4743B98A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10000"/>
            <a:ext cx="4800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higher T flattens it;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C45709-83BB-457C-A5F4-DD01FB4B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514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B7671F-BE9A-437C-AF8C-A14CA57E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4800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temperature does not add knowledge or verify facts.</a:t>
            </a:r>
          </a:p>
        </p:txBody>
      </p:sp>
    </p:spTree>
    <p:extLst>
      <p:ext uri="{BB962C8B-B14F-4D97-AF65-F5344CB8AC3E}">
        <p14:creationId xmlns:p14="http://schemas.microsoft.com/office/powerpoint/2010/main" val="286968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E13B5B-E431-4592-BC44-4F43EC5B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M12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E4C63F-FE72-44E7-9DC4-3401DDAD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A Language Model Predicts the Next Token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D2BC0E-ABA9-4CDA-8614-9996228A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0F8851-4574-4B74-987D-DB2E3FE4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REASONING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A69BF5-ECB4-4E7F-85F8-5745524C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Base and Instruction Models Have Different Training Goals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A37315-DBFA-4757-8CB6-4D25A5D4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2BE6B4-CB41-4377-83C7-4B167A57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 base model is pretrained mainly to continue token sequences.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0313E-356D-41D0-86E2-3BEF4BE6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BC607-DAF8-4DA6-AA7F-4091E75E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ED5D2F-5122-43DA-BC47-B168E923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Transform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094C12-4D42-48F7-A042-11827667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Instruction models usually expect a model-specific chat template containing role and control tokens.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42F86F-A006-4454-9A33-0234171E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5EA2CD-A97A-48B4-AED2-5601BFFB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0EBA60-0401-49B0-A9F4-2433BC3E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Validate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E81B9D-2059-49EE-AE36-1659048F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Sending plain text to an instruction model or chat-formatted text to a base model changes behaviour.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740555-287C-4779-AEE2-7E471EE4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08EC82-46B2-4E2C-A258-931E2651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E63210-595A-46B8-B56C-E3A10E0E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06B5F"/>
                </a:solidFill>
              </a:defRPr>
            </a:pPr>
            <a:r>
              <a:rPr sz="2025" b="1">
                <a:solidFill>
                  <a:srgbClr val="F06B5F"/>
                </a:solidFill>
              </a:rPr>
              <a:t>Explain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D836C0-AA72-465A-8D78-AAD2402C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Neither model type guarantees truth, safety, or task correctness.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009E24-66FC-47CA-8872-5821AE27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13FC29-A4EC-440B-B084-5164BE60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CDC1A8-396B-4414-9D00-D0F81A76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816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1DEE8"/>
                </a:solidFill>
              </a:defRPr>
            </a:pPr>
            <a:r>
              <a:rPr sz="1200">
                <a:solidFill>
                  <a:srgbClr val="D1DEE8"/>
                </a:solidFill>
              </a:rPr>
              <a:t>Prompt to a base model: Question: What is 2+2? Answer: may continue a learned document pattern. An instruction model receives structured messages such as user request and assistant turn, then generates the assistant response.</a:t>
            </a:r>
          </a:p>
        </p:txBody>
      </p:sp>
    </p:spTree>
    <p:extLst>
      <p:ext uri="{BB962C8B-B14F-4D97-AF65-F5344CB8AC3E}">
        <p14:creationId xmlns:p14="http://schemas.microsoft.com/office/powerpoint/2010/main" val="12976739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68D3FF-0E5F-4F99-838A-93905F8D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M12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7ADEBD-2253-4DB0-A180-31F68B99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A Language Model Predicts the Next Token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0E19EF-BD94-481C-91B3-073831EC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705985-EB4C-44E5-9572-A9DEF00B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RUN IT AND INSPECT THE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D60AB3-23B2-4163-830D-4CB38CA2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Hallucination Is Unsupported Generation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F7829-4D1F-4A30-A7E7-F86F3890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14DE72-C160-4376-9D83-12E4A558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1037B-7AA6-4D62-9E2B-41B7F5E8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5AF4C9-225B-4009-91E0-7819C88B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6F5A94-482C-4DC8-BEFF-A7BBA3CD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3CA916-9F59-4175-A288-5B81A519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150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if not supporting_chunks: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    return {"answer": None, "reason": "insufficient_evidence"}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0BA114-805C-415A-BB7C-34B57E39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324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1C1C50-B962-4203-A02F-76A03752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7DF163-1796-4EF6-A4CE-70AFD1A3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28850"/>
            <a:ext cx="37909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A machine-readable refusal instead of an unsupported factual answer.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E6A6CE-C566-4EDF-9307-2C9CA50E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0FE08A-E83B-496C-A0E9-2129BDBF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Unsafe answer invents a section number. Grounded answer states that the evidence does not contain the requested policy and cites what was checked.</a:t>
            </a:r>
          </a:p>
        </p:txBody>
      </p:sp>
    </p:spTree>
    <p:extLst>
      <p:ext uri="{BB962C8B-B14F-4D97-AF65-F5344CB8AC3E}">
        <p14:creationId xmlns:p14="http://schemas.microsoft.com/office/powerpoint/2010/main" val="16989555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FDF351-B0AD-499A-8373-DBC15DF4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M12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A75DE2-E3B2-4DE9-97BD-007ABC68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A Language Model Predicts the Next Token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F35E67-D8F3-4C59-A4EE-D3D30C7B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A8AC5-6CD1-44E3-86B3-1B369522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B48BC8-7D16-4A93-AB39-94A75FBE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B1220"/>
                </a:solidFill>
              </a:defRPr>
            </a:pPr>
            <a:r>
              <a:rPr sz="2625" b="1">
                <a:solidFill>
                  <a:srgbClr val="0B1220"/>
                </a:solidFill>
              </a:rPr>
              <a:t>Quantization Trades Precision for Resource 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2B324C-EBD2-4870-BCA7-7885740D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005624-66D0-49A0-BF78-ED029DBD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430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CAC065-90DB-4413-A81E-82914AE6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954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lower memory use;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7C360C-9077-4CAD-AA45-BBE95ECD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0DFE34-9F26-4A89-BE32-FA4FBC2D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636AA1-6BD1-4EE2-BA2C-5077D400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098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C389FB-9523-4251-A796-B0171666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622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faster inference on supported hardware;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21FA26-7919-4630-B7D5-258A7C95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242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2284E3-F102-44D0-86ED-B2B9D60F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902F1C-861F-4B54-AB9D-B3EC47AC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766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318BA4-D45F-4F37-B659-685458C6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smaller model files;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A63D19-3205-4640-A728-01FAB233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8D4C50-26EA-44F3-8893-606C5C94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37C55C-B588-409D-8408-28575A56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434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A01631-6575-4B6B-8C2C-88B2DBA2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some quality loss;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C56816-B1F6-431D-B823-BB30D0A9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578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66232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F3A7E7-41BB-4B34-A22C-47966214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M12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1DA655-391D-4774-A0B2-56A56CAA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A Language Model Predicts the Next Token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D9236-1588-4B76-BC3C-C1A5AEAA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2FBC19-1877-47F3-B80D-B6712012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7EE817-BD80-485B-A2A9-9863758C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Ollama Provides a Local Model Runtime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F96002-928D-4832-99A4-2E8F7FE1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8FED7-8C05-46D6-AE5E-391C6B80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430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991140-ADD2-4EF3-A259-1915B6CA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954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model identifier and version determine the artifact;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925D7E-528A-4A30-9C32-76ED7943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1682AF-3391-464A-A20C-3E7DBCEE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B60C35-09DE-4187-8343-0CFEDED5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098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D9AFCD-4A18-41EF-A953-38440FD5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622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local runtime still consumes CPU, memory, and storage;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A88597-1E96-4B4D-96B9-ED0647B7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242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A425CA-3B99-4230-9B6E-C344A82A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CB119A-6970-48CC-9390-DFC07C54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766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990A59-BE9C-4B63-ABD2-B978F339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prompts and responses remain on the machine unless the application sends data elsewhere;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D00BC3-3B5D-48FB-AF3F-980F97BA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73C8A5-F469-402F-9AD2-CF454D5C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382F21-C194-46A3-A6A9-78E12E59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434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E8A3C9-514C-4A1F-AFE6-7713D55C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local does not automatically mean secure;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588B69-EB45-4617-90CC-676D4D6F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578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98392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17719F-EE0D-4CD2-9429-19C747B0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M12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5D844-08B7-4E48-9E63-13F74501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A Language Model Predicts the Next Token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B785C2-1E40-419B-9A64-18BA0329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2A9DF9-B73D-473F-94C3-78DA9319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GUIDED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DDFF5E-DF42-4156-874F-708AB581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477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Guided Lab: Trace One Generated Token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EFF6C9-7F44-4300-82AB-559CFC2F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62098F-7632-44C7-8DE0-A5677FB1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560BBE-8328-4866-B13A-959F667B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tokenize a short prompt and inspect IDs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F82523-CDE4-465E-B645-FFE988C2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E05166-C271-4B8D-B916-510241F2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6C0B11-BB9C-4E33-8BEA-129B1189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report input token count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BC5AED-14DD-40F2-B4B5-8CFBA961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2AB35D-4B3F-4D15-A931-C3947E76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7BBFDE-BCCD-4425-BC4F-1964F4B8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inspect model and tokenizer identifiers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4BEDBA-AAD4-4414-9037-0FEB6D11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2CCE49-6FAB-4639-8B54-D2105CEC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2A2FD8-3D5D-496E-8095-922CE35E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obtain next-token logits</a:t>
            </a:r>
          </a:p>
        </p:txBody>
      </p:sp>
    </p:spTree>
    <p:extLst>
      <p:ext uri="{BB962C8B-B14F-4D97-AF65-F5344CB8AC3E}">
        <p14:creationId xmlns:p14="http://schemas.microsoft.com/office/powerpoint/2010/main" val="21261741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2026-07-28T19:28:44.7660000Z</dcterms:created>
  <dcterms:modified xsi:type="dcterms:W3CDTF">2026-07-28T19:28:44.7660000Z</dcterms:modified>
</coreProperties>
</file>