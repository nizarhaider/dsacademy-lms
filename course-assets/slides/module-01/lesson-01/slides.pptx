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program is a set of instructions that a computer can execute. We can understand most small programs as a flow from input, through instructions and processing, to output. Here the inputs are a rectangle's length of five and width of three. The instruction says to multiply them, the processing calculates five times three, and the output is an area of fifteen square units. The computer follows the written instructions exactly, so every required step must be stated.</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Before writing code, describe the solution as an algorithm: a finite, ordered sequence of steps. For this problem, read the length, read the width, multiply them, and then display the area. The algorithm can be written in plain English because it describes the reasoning, not a particular programming language. Order matters: if we try to calculate before reading the dimensions, the required values do not exist yet.</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statement is one instruction written in code, and Python normally executes statements from top to bottom. The values currently remembered by the program are its state. After the first line, length contains five; after the second, width contains three; after the third, area contains fifteen. The final line displays fifteen as output. Tracing means following these changes one line at a time, and it is one of the best ways to understand unfamiliar code.</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Every value has a type, and the type tells Python what kind of information it represents. An integer is a whole number such as five, while a float is a decimal number such as three point five. A string is text inside quotation marks, and a boolean is either true or false. The number five and the string quote five quote may look similar to us, but Python treats them differently. The type function lets us inspect the type of a value.</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variable is a name that refers to a value. In length equals five, Python first takes the value on the right and assigns it to the name on the left. In programming, one equals sign means assign; two equals signs ask whether two values are equal. A variable can be reassigned, so length can refer to five and later refer to seven. Descriptive names such as rectangle length make the program easier to understand than a vague name such as x.</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 expression combines values, variables, and operators to produce a new value. If length is five and width is three, length times width evaluates to fifteen. Python follows precedence rules, so parentheses are useful when we need to make the intended order clear. The common operators add, subtract, multiply, and divide. Whole-number division gives the number of complete groups, while the remainder operator gives what is left; we will use both shortly.</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comparison asks a question about two values and produces a boolean result. With area equal to fifteen, asking whether area is greater than twenty gives false, asking whether it equals fifteen gives true, and asking whether it differs from ten also gives true. Remember that one equals sign assigns and two equals signs compare. Other comparison operators ask whether a value is smaller, greater, at least, or at most another value. In Week Two, these results will control which instructions a program runs.</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string is text inside quotation marks, while a function is reusable code that performs a task. We call a function by writing its name followed by parentheses, as in print. An f-string lets us insert current values into a readable sentence by placing expressions inside braces. Here the shape, length, width, and area values are inserted into one output line. The result is the sentence Rectangle: five times three equals fifteen square units, without manually joining separate pieces of text.</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input function pauses the program, displays a prompt, and returns whatever the user types as a string. If the user types five and three, Python initially receives the text values quote five quote and quote three quote. Type conversion changes those strings into numeric values; float gives us five point zero and three point zero. The program can then multiply them and produce an area of fifteen point zero. Input validation comes later, but conversion must happen before arithmetic.</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Different failures point to different parts of a program. A syntax error means the code breaks Python's grammar, such as a missing closing quotation mark, so the program cannot start. A runtime error happens after execution begins, such as trying to convert the word wide into a number. A logic error does not necessarily show an error message: the code runs, but adding length and width produces the wrong area. Read the final line of an error message first, then inspect the referenced code and compare the actual result with the expected result.</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we combine input, conversion, variables, arithmetic, and output in one program. For one hundred and thirty-five minutes, whole-number division by sixty gives two complete hours, and the remainder after division by sixty is fifteen minutes. The program reads text, converts it with integer, calculates hours with double slash, calculates remaining minutes with percent, and displays both values with an f-string. Test values around the boundary: zero, fifty-nine, sixty, sixty-one, and one hundred and thirty-five. These cases confirm that the program handles no complete hour, an exact hour, and a remainder correctly.</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Trace the final program before executing it. With total minutes equal to one hundred and fifty, whole-number division gives two hours, the remainder is thirty minutes, and the comparison with one hundred and twenty gives true. The output is therefore two, thirty, true. You are ready for the next lesson when you can recognize the basic types, explain variables and expressions, trace code in order, separate input from state and output, and identify the three error categories. Week Two builds on this foundation with conditions, loops, functions, lists, and dictionaries.</a:t>
            </a:r>
          </a:p>
          <a:p>
            <a:r>
              <a:rPr lang="en-US" dirty="0"/>
              <a:t>[Sources]
- https://docs.python.org/3/tutorial/introduction.html
- https://swcarpentry.github.io/python-novice-inflammation/
- https://github.com/curiousily/AI-Bootcamp/blob/master/01.python-essentials-for-ai.ipynb
[/Sources]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week-01-python-basic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week-01-python-basic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5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50" kern="1200">
          <a:solidFill>
            <a:schemeClr val="tx1"/>
          </a:solidFill>
          <a:latin typeface="+mn-lt"/>
          <a:ea typeface="+mn-ea"/>
          <a:cs typeface="+mn-cs"/>
        </a:defRPr>
      </a:lvl9pPr>
    </p:bodyStyle>
    <p:otherStyle>
      <a:defPPr>
        <a:defRPr lang="en-US"/>
      </a:defPPr>
      <a:lvl1pPr marL="0" algn="l" defTabSz="457200" rtl="0" eaLnBrk="1" latinLnBrk="0" hangingPunct="1">
        <a:defRPr sz="1900" kern="1200">
          <a:solidFill>
            <a:schemeClr val="tx1"/>
          </a:solidFill>
          <a:latin typeface="+mn-lt"/>
          <a:ea typeface="+mn-ea"/>
          <a:cs typeface="+mn-cs"/>
        </a:defRPr>
      </a:lvl1pPr>
      <a:lvl2pPr marL="457200" algn="l" defTabSz="457200" rtl="0" eaLnBrk="1" latinLnBrk="0" hangingPunct="1">
        <a:defRPr sz="1750" kern="1200">
          <a:solidFill>
            <a:schemeClr val="tx1"/>
          </a:solidFill>
          <a:latin typeface="+mn-lt"/>
          <a:ea typeface="+mn-ea"/>
          <a:cs typeface="+mn-cs"/>
        </a:defRPr>
      </a:lvl2pPr>
      <a:lvl3pPr marL="914400" algn="l" defTabSz="457200" rtl="0" eaLnBrk="1" latinLnBrk="0" hangingPunct="1">
        <a:defRPr sz="1650" kern="1200">
          <a:solidFill>
            <a:schemeClr val="tx1"/>
          </a:solidFill>
          <a:latin typeface="+mn-lt"/>
          <a:ea typeface="+mn-ea"/>
          <a:cs typeface="+mn-cs"/>
        </a:defRPr>
      </a:lvl3pPr>
      <a:lvl4pPr marL="1371600" algn="l" defTabSz="457200" rtl="0" eaLnBrk="1" latinLnBrk="0" hangingPunct="1">
        <a:defRPr sz="1550" kern="1200">
          <a:solidFill>
            <a:schemeClr val="tx1"/>
          </a:solidFill>
          <a:latin typeface="+mn-lt"/>
          <a:ea typeface="+mn-ea"/>
          <a:cs typeface="+mn-cs"/>
        </a:defRPr>
      </a:lvl4pPr>
      <a:lvl5pPr marL="1828800" algn="l" defTabSz="457200" rtl="0" eaLnBrk="1" latinLnBrk="0" hangingPunct="1">
        <a:defRPr sz="1400" kern="1200">
          <a:solidFill>
            <a:schemeClr val="tx1"/>
          </a:solidFill>
          <a:latin typeface="+mn-lt"/>
          <a:ea typeface="+mn-ea"/>
          <a:cs typeface="+mn-cs"/>
        </a:defRPr>
      </a:lvl5pPr>
      <a:lvl6pPr marL="2286000" algn="l" defTabSz="457200" rtl="0" eaLnBrk="1" latinLnBrk="0" hangingPunct="1">
        <a:defRPr sz="13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050" kern="1200">
          <a:solidFill>
            <a:schemeClr val="tx1"/>
          </a:solidFill>
          <a:latin typeface="+mn-lt"/>
          <a:ea typeface="+mn-ea"/>
          <a:cs typeface="+mn-cs"/>
        </a:defRPr>
      </a:lvl8pPr>
      <a:lvl9pPr marL="3657600" algn="l" defTabSz="457200" rtl="0" eaLnBrk="1" latinLnBrk="0" hangingPunct="1">
        <a:defRPr sz="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90500"/>
          </a:xfrm>
          <a:custGeom>
            <a:avLst/>
            <a:gdLst/>
            <a:ahLst/>
            <a:cxnLst/>
            <a:rect l="l" t="t" r="r" b="b"/>
            <a:pathLst>
              <a:path w="12192000" h="190500">
                <a:moveTo>
                  <a:pt x="0" y="0"/>
                </a:moveTo>
                <a:lnTo>
                  <a:pt x="12192000" y="0"/>
                </a:lnTo>
                <a:lnTo>
                  <a:pt x="12192000" y="190500"/>
                </a:lnTo>
                <a:lnTo>
                  <a:pt x="0" y="190500"/>
                </a:lnTo>
                <a:close/>
              </a:path>
            </a:pathLst>
          </a:custGeom>
          <a:solidFill>
            <a:schemeClr val="accent1"/>
          </a:solidFill>
          <a:ln>
            <a:noFill/>
          </a:ln>
        </p:spPr>
      </p:sp>
      <p:grpSp>
        <p:nvGrpSpPr>
          <p:cNvPr id="5" name="Group 5"/>
          <p:cNvGrpSpPr/>
          <p:nvPr/>
        </p:nvGrpSpPr>
        <p:grpSpPr>
          <a:xfrm>
            <a:off x="592836" y="616268"/>
            <a:ext cx="9168430" cy="1025461"/>
            <a:chOff x="592836" y="616268"/>
            <a:chExt cx="9168430" cy="1025461"/>
          </a:xfrm>
        </p:grpSpPr>
        <p:sp>
          <p:nvSpPr>
            <p:cNvPr id="3" name="TextBox 3"/>
            <p:cNvSpPr txBox="1"/>
            <p:nvPr/>
          </p:nvSpPr>
          <p:spPr>
            <a:xfrm>
              <a:off x="602742" y="616268"/>
              <a:ext cx="33707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WEEK 01 / COMPUTATIONAL THINKING</a:t>
              </a:r>
            </a:p>
          </p:txBody>
        </p:sp>
        <p:sp>
          <p:nvSpPr>
            <p:cNvPr id="4" name="TextBox 4"/>
            <p:cNvSpPr txBox="1"/>
            <p:nvPr/>
          </p:nvSpPr>
          <p:spPr>
            <a:xfrm>
              <a:off x="592836" y="996315"/>
              <a:ext cx="9168430"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 program transforms input into output</a:t>
              </a:r>
            </a:p>
          </p:txBody>
        </p:sp>
      </p:grpSp>
      <p:grpSp>
        <p:nvGrpSpPr>
          <p:cNvPr id="7" name="Group 7"/>
          <p:cNvGrpSpPr/>
          <p:nvPr/>
        </p:nvGrpSpPr>
        <p:grpSpPr>
          <a:xfrm>
            <a:off x="600075" y="1807369"/>
            <a:ext cx="8012763" cy="366712"/>
            <a:chOff x="600075" y="1807369"/>
            <a:chExt cx="8012763" cy="366712"/>
          </a:xfrm>
        </p:grpSpPr>
        <p:sp>
          <p:nvSpPr>
            <p:cNvPr id="6" name="TextBox 6"/>
            <p:cNvSpPr txBox="1"/>
            <p:nvPr/>
          </p:nvSpPr>
          <p:spPr>
            <a:xfrm>
              <a:off x="600075" y="1807369"/>
              <a:ext cx="8012763"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A program is a set of instructions that a computer can execute.</a:t>
              </a:r>
            </a:p>
          </p:txBody>
        </p:sp>
      </p:grpSp>
      <p:grpSp>
        <p:nvGrpSpPr>
          <p:cNvPr id="11" name="Group 11"/>
          <p:cNvGrpSpPr/>
          <p:nvPr/>
        </p:nvGrpSpPr>
        <p:grpSpPr>
          <a:xfrm>
            <a:off x="609600" y="2667000"/>
            <a:ext cx="2286000" cy="1638300"/>
            <a:chOff x="609600" y="2667000"/>
            <a:chExt cx="2286000" cy="1638300"/>
          </a:xfrm>
        </p:grpSpPr>
        <p:sp>
          <p:nvSpPr>
            <p:cNvPr id="8" name="Rectangle 8"/>
            <p:cNvSpPr/>
            <p:nvPr/>
          </p:nvSpPr>
          <p:spPr>
            <a:xfrm>
              <a:off x="609600" y="2667000"/>
              <a:ext cx="2286000" cy="1638300"/>
            </a:xfrm>
            <a:prstGeom prst="roundRect">
              <a:avLst>
                <a:gd name="adj" fmla="val 9302"/>
              </a:avLst>
            </a:prstGeom>
            <a:solidFill>
              <a:schemeClr val="accent5"/>
            </a:solidFill>
            <a:ln>
              <a:noFill/>
            </a:ln>
          </p:spPr>
        </p:sp>
        <p:sp>
          <p:nvSpPr>
            <p:cNvPr id="9" name="TextBox 9"/>
            <p:cNvSpPr txBox="1"/>
            <p:nvPr/>
          </p:nvSpPr>
          <p:spPr>
            <a:xfrm>
              <a:off x="831342" y="2892742"/>
              <a:ext cx="51777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INPUT</a:t>
              </a:r>
            </a:p>
          </p:txBody>
        </p:sp>
        <p:sp>
          <p:nvSpPr>
            <p:cNvPr id="10" name="TextBox 10"/>
            <p:cNvSpPr txBox="1"/>
            <p:nvPr/>
          </p:nvSpPr>
          <p:spPr>
            <a:xfrm>
              <a:off x="826770" y="3290888"/>
              <a:ext cx="1448038" cy="821055"/>
            </a:xfrm>
            <a:prstGeom prst="rect">
              <a:avLst/>
            </a:prstGeom>
            <a:noFill/>
            <a:ln>
              <a:noFill/>
            </a:ln>
          </p:spPr>
          <p:txBody>
            <a:bodyPr wrap="square" lIns="0" tIns="0" rIns="0" bIns="0" anchor="t" anchorCtr="0"/>
            <a:lstStyle/>
            <a:p>
              <a:pPr algn="l">
                <a:lnSpc>
                  <a:spcPts val="3000"/>
                </a:lnSpc>
              </a:pPr>
              <a:r>
                <a:rPr lang="en-US" sz="2250" b="1" dirty="0">
                  <a:solidFill>
                    <a:schemeClr val="dk1"/>
                  </a:solidFill>
                  <a:latin typeface="+mn-lt"/>
                  <a:ea typeface="+mn-ea"/>
                  <a:cs typeface="+mn-cs"/>
                </a:rPr>
                <a:t>length = 5 width = 3</a:t>
              </a:r>
            </a:p>
          </p:txBody>
        </p:sp>
      </p:grpSp>
      <p:grpSp>
        <p:nvGrpSpPr>
          <p:cNvPr id="15" name="Group 15"/>
          <p:cNvGrpSpPr/>
          <p:nvPr/>
        </p:nvGrpSpPr>
        <p:grpSpPr>
          <a:xfrm>
            <a:off x="3276600" y="2667000"/>
            <a:ext cx="2286000" cy="1638300"/>
            <a:chOff x="3276600" y="2667000"/>
            <a:chExt cx="2286000" cy="1638300"/>
          </a:xfrm>
        </p:grpSpPr>
        <p:sp>
          <p:nvSpPr>
            <p:cNvPr id="12" name="Rectangle 12"/>
            <p:cNvSpPr/>
            <p:nvPr/>
          </p:nvSpPr>
          <p:spPr>
            <a:xfrm>
              <a:off x="3276600" y="2667000"/>
              <a:ext cx="2286000" cy="1638300"/>
            </a:xfrm>
            <a:prstGeom prst="roundRect">
              <a:avLst>
                <a:gd name="adj" fmla="val 9302"/>
              </a:avLst>
            </a:prstGeom>
            <a:solidFill>
              <a:srgbClr val="FFFFFF"/>
            </a:solidFill>
            <a:ln w="19050">
              <a:solidFill>
                <a:schemeClr val="accent1"/>
              </a:solidFill>
            </a:ln>
          </p:spPr>
        </p:sp>
        <p:sp>
          <p:nvSpPr>
            <p:cNvPr id="13" name="TextBox 13"/>
            <p:cNvSpPr txBox="1"/>
            <p:nvPr/>
          </p:nvSpPr>
          <p:spPr>
            <a:xfrm>
              <a:off x="3498342" y="2892742"/>
              <a:ext cx="128395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INSTRUCTIONS</a:t>
              </a:r>
            </a:p>
          </p:txBody>
        </p:sp>
        <p:sp>
          <p:nvSpPr>
            <p:cNvPr id="14" name="TextBox 14"/>
            <p:cNvSpPr txBox="1"/>
            <p:nvPr/>
          </p:nvSpPr>
          <p:spPr>
            <a:xfrm>
              <a:off x="3495675" y="3331369"/>
              <a:ext cx="1824076" cy="700088"/>
            </a:xfrm>
            <a:prstGeom prst="rect">
              <a:avLst/>
            </a:prstGeom>
            <a:noFill/>
            <a:ln>
              <a:noFill/>
            </a:ln>
          </p:spPr>
          <p:txBody>
            <a:bodyPr wrap="square" lIns="0" tIns="0" rIns="0" bIns="0" anchor="t" anchorCtr="0"/>
            <a:lstStyle/>
            <a:p>
              <a:pPr algn="l">
                <a:lnSpc>
                  <a:spcPts val="2625"/>
                </a:lnSpc>
              </a:pPr>
              <a:r>
                <a:rPr lang="en-US" sz="1880" b="1" dirty="0">
                  <a:solidFill>
                    <a:schemeClr val="dk1"/>
                  </a:solidFill>
                  <a:latin typeface="+mn-lt"/>
                  <a:ea typeface="+mn-ea"/>
                  <a:cs typeface="+mn-cs"/>
                </a:rPr>
                <a:t>Multiply length by width</a:t>
              </a:r>
            </a:p>
          </p:txBody>
        </p:sp>
      </p:grpSp>
      <p:grpSp>
        <p:nvGrpSpPr>
          <p:cNvPr id="19" name="Group 19"/>
          <p:cNvGrpSpPr/>
          <p:nvPr/>
        </p:nvGrpSpPr>
        <p:grpSpPr>
          <a:xfrm>
            <a:off x="5943600" y="2667000"/>
            <a:ext cx="2286000" cy="1638300"/>
            <a:chOff x="5943600" y="2667000"/>
            <a:chExt cx="2286000" cy="1638300"/>
          </a:xfrm>
        </p:grpSpPr>
        <p:sp>
          <p:nvSpPr>
            <p:cNvPr id="16" name="Rectangle 16"/>
            <p:cNvSpPr/>
            <p:nvPr/>
          </p:nvSpPr>
          <p:spPr>
            <a:xfrm>
              <a:off x="5943600" y="2667000"/>
              <a:ext cx="2286000" cy="1638300"/>
            </a:xfrm>
            <a:prstGeom prst="roundRect">
              <a:avLst>
                <a:gd name="adj" fmla="val 9302"/>
              </a:avLst>
            </a:prstGeom>
            <a:solidFill>
              <a:srgbClr val="FFF3E2"/>
            </a:solidFill>
            <a:ln>
              <a:noFill/>
            </a:ln>
          </p:spPr>
        </p:sp>
        <p:sp>
          <p:nvSpPr>
            <p:cNvPr id="17" name="TextBox 17"/>
            <p:cNvSpPr txBox="1"/>
            <p:nvPr/>
          </p:nvSpPr>
          <p:spPr>
            <a:xfrm>
              <a:off x="6165342" y="2892742"/>
              <a:ext cx="1112573" cy="264033"/>
            </a:xfrm>
            <a:prstGeom prst="rect">
              <a:avLst/>
            </a:prstGeom>
            <a:noFill/>
            <a:ln>
              <a:noFill/>
            </a:ln>
          </p:spPr>
          <p:txBody>
            <a:bodyPr wrap="none" lIns="0" tIns="0" rIns="0" bIns="0" anchor="t" anchorCtr="0">
              <a:spAutoFit/>
            </a:bodyPr>
            <a:lstStyle/>
            <a:p>
              <a:pPr algn="l"/>
              <a:r>
                <a:rPr lang="en-US" sz="1350" b="1" dirty="0">
                  <a:solidFill>
                    <a:srgbClr val="A26D00"/>
                  </a:solidFill>
                  <a:latin typeface="+mn-lt"/>
                  <a:ea typeface="+mn-ea"/>
                  <a:cs typeface="+mn-cs"/>
                </a:rPr>
                <a:t>PROCESSING</a:t>
              </a:r>
            </a:p>
          </p:txBody>
        </p:sp>
        <p:sp>
          <p:nvSpPr>
            <p:cNvPr id="18" name="TextBox 18"/>
            <p:cNvSpPr txBox="1"/>
            <p:nvPr/>
          </p:nvSpPr>
          <p:spPr>
            <a:xfrm>
              <a:off x="6160770" y="3462338"/>
              <a:ext cx="73844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5 * 3</a:t>
              </a:r>
            </a:p>
          </p:txBody>
        </p:sp>
      </p:grpSp>
      <p:grpSp>
        <p:nvGrpSpPr>
          <p:cNvPr id="24" name="Group 24"/>
          <p:cNvGrpSpPr/>
          <p:nvPr/>
        </p:nvGrpSpPr>
        <p:grpSpPr>
          <a:xfrm>
            <a:off x="8610600" y="2667000"/>
            <a:ext cx="2971800" cy="1638300"/>
            <a:chOff x="8610600" y="2667000"/>
            <a:chExt cx="2971800" cy="1638300"/>
          </a:xfrm>
        </p:grpSpPr>
        <p:sp>
          <p:nvSpPr>
            <p:cNvPr id="20" name="Rectangle 20"/>
            <p:cNvSpPr/>
            <p:nvPr/>
          </p:nvSpPr>
          <p:spPr>
            <a:xfrm>
              <a:off x="8610600" y="2667000"/>
              <a:ext cx="2971800" cy="1638300"/>
            </a:xfrm>
            <a:prstGeom prst="roundRect">
              <a:avLst>
                <a:gd name="adj" fmla="val 9302"/>
              </a:avLst>
            </a:prstGeom>
            <a:solidFill>
              <a:srgbClr val="FDE9E5"/>
            </a:solidFill>
            <a:ln>
              <a:noFill/>
            </a:ln>
          </p:spPr>
        </p:sp>
        <p:sp>
          <p:nvSpPr>
            <p:cNvPr id="21" name="TextBox 21"/>
            <p:cNvSpPr txBox="1"/>
            <p:nvPr/>
          </p:nvSpPr>
          <p:spPr>
            <a:xfrm>
              <a:off x="8832342" y="2892742"/>
              <a:ext cx="719404" cy="264033"/>
            </a:xfrm>
            <a:prstGeom prst="rect">
              <a:avLst/>
            </a:prstGeom>
            <a:noFill/>
            <a:ln>
              <a:noFill/>
            </a:ln>
          </p:spPr>
          <p:txBody>
            <a:bodyPr wrap="none" lIns="0" tIns="0" rIns="0" bIns="0" anchor="t" anchorCtr="0">
              <a:spAutoFit/>
            </a:bodyPr>
            <a:lstStyle/>
            <a:p>
              <a:pPr algn="l"/>
              <a:r>
                <a:rPr lang="en-US" sz="1350" b="1" dirty="0">
                  <a:solidFill>
                    <a:srgbClr val="C3402D"/>
                  </a:solidFill>
                  <a:latin typeface="+mn-lt"/>
                  <a:ea typeface="+mn-ea"/>
                  <a:cs typeface="+mn-cs"/>
                </a:rPr>
                <a:t>OUTPUT</a:t>
              </a:r>
            </a:p>
          </p:txBody>
        </p:sp>
        <p:sp>
          <p:nvSpPr>
            <p:cNvPr id="22" name="TextBox 22"/>
            <p:cNvSpPr txBox="1"/>
            <p:nvPr/>
          </p:nvSpPr>
          <p:spPr>
            <a:xfrm>
              <a:off x="8822436" y="3244215"/>
              <a:ext cx="546632"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15</a:t>
              </a:r>
            </a:p>
          </p:txBody>
        </p:sp>
        <p:sp>
          <p:nvSpPr>
            <p:cNvPr id="23" name="TextBox 23"/>
            <p:cNvSpPr txBox="1"/>
            <p:nvPr/>
          </p:nvSpPr>
          <p:spPr>
            <a:xfrm>
              <a:off x="9515475" y="3398044"/>
              <a:ext cx="1562872"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square units</a:t>
              </a:r>
            </a:p>
          </p:txBody>
        </p:sp>
      </p:grpSp>
      <p:grpSp>
        <p:nvGrpSpPr>
          <p:cNvPr id="31" name="Group 31"/>
          <p:cNvGrpSpPr/>
          <p:nvPr/>
        </p:nvGrpSpPr>
        <p:grpSpPr>
          <a:xfrm>
            <a:off x="2990850" y="3409950"/>
            <a:ext cx="5572125" cy="152400"/>
            <a:chOff x="2990850" y="3409950"/>
            <a:chExt cx="5572125" cy="152400"/>
          </a:xfrm>
        </p:grpSpPr>
        <p:sp>
          <p:nvSpPr>
            <p:cNvPr id="25" name="Freeform 25"/>
            <p:cNvSpPr/>
            <p:nvPr/>
          </p:nvSpPr>
          <p:spPr>
            <a:xfrm>
              <a:off x="2990850" y="3486150"/>
              <a:ext cx="190500" cy="9525"/>
            </a:xfrm>
            <a:custGeom>
              <a:avLst/>
              <a:gdLst/>
              <a:ahLst/>
              <a:cxnLst/>
              <a:rect l="l" t="t" r="r" b="b"/>
              <a:pathLst>
                <a:path w="190500" h="9525">
                  <a:moveTo>
                    <a:pt x="0" y="0"/>
                  </a:moveTo>
                  <a:lnTo>
                    <a:pt x="190500" y="0"/>
                  </a:lnTo>
                </a:path>
              </a:pathLst>
            </a:custGeom>
            <a:noFill/>
            <a:ln w="38100">
              <a:solidFill>
                <a:schemeClr val="accent1"/>
              </a:solidFill>
            </a:ln>
          </p:spPr>
        </p:sp>
        <p:sp>
          <p:nvSpPr>
            <p:cNvPr id="26" name="Freeform 26"/>
            <p:cNvSpPr/>
            <p:nvPr/>
          </p:nvSpPr>
          <p:spPr>
            <a:xfrm>
              <a:off x="3133725" y="3409950"/>
              <a:ext cx="95250" cy="152400"/>
            </a:xfrm>
            <a:custGeom>
              <a:avLst/>
              <a:gdLst/>
              <a:ahLst/>
              <a:cxnLst/>
              <a:rect l="l" t="t" r="r" b="b"/>
              <a:pathLst>
                <a:path w="95250" h="152400">
                  <a:moveTo>
                    <a:pt x="0" y="0"/>
                  </a:moveTo>
                  <a:lnTo>
                    <a:pt x="95250" y="76200"/>
                  </a:lnTo>
                  <a:lnTo>
                    <a:pt x="0" y="152400"/>
                  </a:lnTo>
                  <a:close/>
                </a:path>
              </a:pathLst>
            </a:custGeom>
            <a:solidFill>
              <a:schemeClr val="accent1"/>
            </a:solidFill>
            <a:ln>
              <a:noFill/>
            </a:ln>
          </p:spPr>
        </p:sp>
        <p:sp>
          <p:nvSpPr>
            <p:cNvPr id="27" name="Freeform 27"/>
            <p:cNvSpPr/>
            <p:nvPr/>
          </p:nvSpPr>
          <p:spPr>
            <a:xfrm>
              <a:off x="5657850" y="3486150"/>
              <a:ext cx="190500" cy="9525"/>
            </a:xfrm>
            <a:custGeom>
              <a:avLst/>
              <a:gdLst/>
              <a:ahLst/>
              <a:cxnLst/>
              <a:rect l="l" t="t" r="r" b="b"/>
              <a:pathLst>
                <a:path w="190500" h="9525">
                  <a:moveTo>
                    <a:pt x="0" y="0"/>
                  </a:moveTo>
                  <a:lnTo>
                    <a:pt x="190500" y="0"/>
                  </a:lnTo>
                </a:path>
              </a:pathLst>
            </a:custGeom>
            <a:noFill/>
            <a:ln w="38100">
              <a:solidFill>
                <a:schemeClr val="accent1"/>
              </a:solidFill>
            </a:ln>
          </p:spPr>
        </p:sp>
        <p:sp>
          <p:nvSpPr>
            <p:cNvPr id="28" name="Freeform 28"/>
            <p:cNvSpPr/>
            <p:nvPr/>
          </p:nvSpPr>
          <p:spPr>
            <a:xfrm>
              <a:off x="5800725" y="3409950"/>
              <a:ext cx="95250" cy="152400"/>
            </a:xfrm>
            <a:custGeom>
              <a:avLst/>
              <a:gdLst/>
              <a:ahLst/>
              <a:cxnLst/>
              <a:rect l="l" t="t" r="r" b="b"/>
              <a:pathLst>
                <a:path w="95250" h="152400">
                  <a:moveTo>
                    <a:pt x="0" y="0"/>
                  </a:moveTo>
                  <a:lnTo>
                    <a:pt x="95250" y="76200"/>
                  </a:lnTo>
                  <a:lnTo>
                    <a:pt x="0" y="152400"/>
                  </a:lnTo>
                  <a:close/>
                </a:path>
              </a:pathLst>
            </a:custGeom>
            <a:solidFill>
              <a:schemeClr val="accent1"/>
            </a:solidFill>
            <a:ln>
              <a:noFill/>
            </a:ln>
          </p:spPr>
        </p:sp>
        <p:sp>
          <p:nvSpPr>
            <p:cNvPr id="29" name="Freeform 29"/>
            <p:cNvSpPr/>
            <p:nvPr/>
          </p:nvSpPr>
          <p:spPr>
            <a:xfrm>
              <a:off x="8324850" y="3486150"/>
              <a:ext cx="190500" cy="9525"/>
            </a:xfrm>
            <a:custGeom>
              <a:avLst/>
              <a:gdLst/>
              <a:ahLst/>
              <a:cxnLst/>
              <a:rect l="l" t="t" r="r" b="b"/>
              <a:pathLst>
                <a:path w="190500" h="9525">
                  <a:moveTo>
                    <a:pt x="0" y="0"/>
                  </a:moveTo>
                  <a:lnTo>
                    <a:pt x="190500" y="0"/>
                  </a:lnTo>
                </a:path>
              </a:pathLst>
            </a:custGeom>
            <a:noFill/>
            <a:ln w="38100">
              <a:solidFill>
                <a:schemeClr val="accent1"/>
              </a:solidFill>
            </a:ln>
          </p:spPr>
        </p:sp>
        <p:sp>
          <p:nvSpPr>
            <p:cNvPr id="30" name="Freeform 30"/>
            <p:cNvSpPr/>
            <p:nvPr/>
          </p:nvSpPr>
          <p:spPr>
            <a:xfrm>
              <a:off x="8467725" y="3409950"/>
              <a:ext cx="95250" cy="152400"/>
            </a:xfrm>
            <a:custGeom>
              <a:avLst/>
              <a:gdLst/>
              <a:ahLst/>
              <a:cxnLst/>
              <a:rect l="l" t="t" r="r" b="b"/>
              <a:pathLst>
                <a:path w="95250" h="152400">
                  <a:moveTo>
                    <a:pt x="0" y="0"/>
                  </a:moveTo>
                  <a:lnTo>
                    <a:pt x="95250" y="76200"/>
                  </a:lnTo>
                  <a:lnTo>
                    <a:pt x="0" y="152400"/>
                  </a:lnTo>
                  <a:close/>
                </a:path>
              </a:pathLst>
            </a:custGeom>
            <a:solidFill>
              <a:schemeClr val="accent1"/>
            </a:solidFill>
            <a:ln>
              <a:noFill/>
            </a:ln>
          </p:spPr>
        </p:sp>
      </p:grpSp>
      <p:grpSp>
        <p:nvGrpSpPr>
          <p:cNvPr id="34" name="Group 34"/>
          <p:cNvGrpSpPr/>
          <p:nvPr/>
        </p:nvGrpSpPr>
        <p:grpSpPr>
          <a:xfrm>
            <a:off x="609600" y="4905375"/>
            <a:ext cx="10972800" cy="723900"/>
            <a:chOff x="609600" y="4905375"/>
            <a:chExt cx="10972800" cy="723900"/>
          </a:xfrm>
        </p:grpSpPr>
        <p:sp>
          <p:nvSpPr>
            <p:cNvPr id="32" name="Rectangle 32"/>
            <p:cNvSpPr/>
            <p:nvPr/>
          </p:nvSpPr>
          <p:spPr>
            <a:xfrm>
              <a:off x="609600" y="4905375"/>
              <a:ext cx="10972800" cy="723900"/>
            </a:xfrm>
            <a:prstGeom prst="roundRect">
              <a:avLst>
                <a:gd name="adj" fmla="val 21053"/>
              </a:avLst>
            </a:prstGeom>
            <a:solidFill>
              <a:schemeClr val="dk1"/>
            </a:solidFill>
            <a:ln>
              <a:noFill/>
            </a:ln>
          </p:spPr>
        </p:sp>
        <p:sp>
          <p:nvSpPr>
            <p:cNvPr id="33" name="TextBox 33"/>
            <p:cNvSpPr txBox="1"/>
            <p:nvPr/>
          </p:nvSpPr>
          <p:spPr>
            <a:xfrm>
              <a:off x="866775" y="5150644"/>
              <a:ext cx="10413992"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n-lt"/>
                  <a:ea typeface="+mn-ea"/>
                  <a:cs typeface="+mn-cs"/>
                </a:rPr>
                <a:t>The computer follows the instructions exactly. It does not infer missing steps.</a:t>
              </a:r>
            </a:p>
          </p:txBody>
        </p:sp>
      </p:grpSp>
      <p:grpSp>
        <p:nvGrpSpPr>
          <p:cNvPr id="37" name="Group 37"/>
          <p:cNvGrpSpPr/>
          <p:nvPr/>
        </p:nvGrpSpPr>
        <p:grpSpPr>
          <a:xfrm>
            <a:off x="602742" y="6274118"/>
            <a:ext cx="10710291" cy="264033"/>
            <a:chOff x="602742" y="6274118"/>
            <a:chExt cx="10710291" cy="264033"/>
          </a:xfrm>
        </p:grpSpPr>
        <p:sp>
          <p:nvSpPr>
            <p:cNvPr id="35" name="TextBox 35"/>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6" name="TextBox 36"/>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7045635" cy="911161"/>
            <a:chOff x="592836" y="597218"/>
            <a:chExt cx="7045635" cy="911161"/>
          </a:xfrm>
        </p:grpSpPr>
        <p:sp>
          <p:nvSpPr>
            <p:cNvPr id="3" name="TextBox 3"/>
            <p:cNvSpPr txBox="1"/>
            <p:nvPr/>
          </p:nvSpPr>
          <p:spPr>
            <a:xfrm>
              <a:off x="602742" y="597218"/>
              <a:ext cx="222151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02 / PLAN BEFORE CODE</a:t>
              </a:r>
            </a:p>
          </p:txBody>
        </p:sp>
        <p:sp>
          <p:nvSpPr>
            <p:cNvPr id="4" name="TextBox 4"/>
            <p:cNvSpPr txBox="1"/>
            <p:nvPr/>
          </p:nvSpPr>
          <p:spPr>
            <a:xfrm>
              <a:off x="592836" y="862965"/>
              <a:ext cx="7045635"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An algorithm is an ordered plan</a:t>
              </a:r>
            </a:p>
          </p:txBody>
        </p:sp>
      </p:grpSp>
      <p:grpSp>
        <p:nvGrpSpPr>
          <p:cNvPr id="7" name="Group 7"/>
          <p:cNvGrpSpPr/>
          <p:nvPr/>
        </p:nvGrpSpPr>
        <p:grpSpPr>
          <a:xfrm>
            <a:off x="600075" y="1540669"/>
            <a:ext cx="9164059" cy="366712"/>
            <a:chOff x="600075" y="1540669"/>
            <a:chExt cx="9164059" cy="366712"/>
          </a:xfrm>
        </p:grpSpPr>
        <p:sp>
          <p:nvSpPr>
            <p:cNvPr id="6" name="TextBox 6"/>
            <p:cNvSpPr txBox="1"/>
            <p:nvPr/>
          </p:nvSpPr>
          <p:spPr>
            <a:xfrm>
              <a:off x="600075" y="1540669"/>
              <a:ext cx="9164059"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An algorithm is a finite, ordered sequence of steps for solving a problem.</a:t>
              </a:r>
            </a:p>
          </p:txBody>
        </p:sp>
      </p:grpSp>
      <p:grpSp>
        <p:nvGrpSpPr>
          <p:cNvPr id="21" name="Group 21"/>
          <p:cNvGrpSpPr/>
          <p:nvPr/>
        </p:nvGrpSpPr>
        <p:grpSpPr>
          <a:xfrm>
            <a:off x="781050" y="2343150"/>
            <a:ext cx="3957666" cy="2857500"/>
            <a:chOff x="781050" y="2343150"/>
            <a:chExt cx="3957666" cy="2857500"/>
          </a:xfrm>
        </p:grpSpPr>
        <p:sp>
          <p:nvSpPr>
            <p:cNvPr id="8" name="Freeform 8"/>
            <p:cNvSpPr/>
            <p:nvPr/>
          </p:nvSpPr>
          <p:spPr>
            <a:xfrm>
              <a:off x="1066800" y="2628900"/>
              <a:ext cx="9525" cy="2190750"/>
            </a:xfrm>
            <a:custGeom>
              <a:avLst/>
              <a:gdLst/>
              <a:ahLst/>
              <a:cxnLst/>
              <a:rect l="l" t="t" r="r" b="b"/>
              <a:pathLst>
                <a:path w="9525" h="2190750">
                  <a:moveTo>
                    <a:pt x="0" y="0"/>
                  </a:moveTo>
                  <a:lnTo>
                    <a:pt x="0" y="2190750"/>
                  </a:lnTo>
                </a:path>
              </a:pathLst>
            </a:custGeom>
            <a:noFill/>
            <a:ln w="76200" cap="rnd">
              <a:solidFill>
                <a:srgbClr val="B9D4D1"/>
              </a:solidFill>
            </a:ln>
          </p:spPr>
        </p:sp>
        <p:sp>
          <p:nvSpPr>
            <p:cNvPr id="9" name="Ellipse 9"/>
            <p:cNvSpPr/>
            <p:nvPr/>
          </p:nvSpPr>
          <p:spPr>
            <a:xfrm>
              <a:off x="781050" y="2343150"/>
              <a:ext cx="571500" cy="571500"/>
            </a:xfrm>
            <a:prstGeom prst="ellipse">
              <a:avLst/>
            </a:prstGeom>
            <a:solidFill>
              <a:schemeClr val="accent1"/>
            </a:solidFill>
            <a:ln>
              <a:noFill/>
            </a:ln>
          </p:spPr>
        </p:sp>
        <p:sp>
          <p:nvSpPr>
            <p:cNvPr id="10" name="Ellipse 10"/>
            <p:cNvSpPr/>
            <p:nvPr/>
          </p:nvSpPr>
          <p:spPr>
            <a:xfrm>
              <a:off x="781050" y="3105150"/>
              <a:ext cx="571500" cy="571500"/>
            </a:xfrm>
            <a:prstGeom prst="ellipse">
              <a:avLst/>
            </a:prstGeom>
            <a:solidFill>
              <a:schemeClr val="accent1"/>
            </a:solidFill>
            <a:ln>
              <a:noFill/>
            </a:ln>
          </p:spPr>
        </p:sp>
        <p:sp>
          <p:nvSpPr>
            <p:cNvPr id="11" name="Ellipse 11"/>
            <p:cNvSpPr/>
            <p:nvPr/>
          </p:nvSpPr>
          <p:spPr>
            <a:xfrm>
              <a:off x="781050" y="3867150"/>
              <a:ext cx="571500" cy="571500"/>
            </a:xfrm>
            <a:prstGeom prst="ellipse">
              <a:avLst/>
            </a:prstGeom>
            <a:solidFill>
              <a:schemeClr val="accent1"/>
            </a:solidFill>
            <a:ln>
              <a:noFill/>
            </a:ln>
          </p:spPr>
        </p:sp>
        <p:sp>
          <p:nvSpPr>
            <p:cNvPr id="12" name="Ellipse 12"/>
            <p:cNvSpPr/>
            <p:nvPr/>
          </p:nvSpPr>
          <p:spPr>
            <a:xfrm>
              <a:off x="781050" y="4629150"/>
              <a:ext cx="571500" cy="571500"/>
            </a:xfrm>
            <a:prstGeom prst="ellipse">
              <a:avLst/>
            </a:prstGeom>
            <a:solidFill>
              <a:schemeClr val="accent2"/>
            </a:solidFill>
            <a:ln>
              <a:noFill/>
            </a:ln>
          </p:spPr>
        </p:sp>
        <p:sp>
          <p:nvSpPr>
            <p:cNvPr id="13" name="TextBox 13"/>
            <p:cNvSpPr txBox="1"/>
            <p:nvPr/>
          </p:nvSpPr>
          <p:spPr>
            <a:xfrm>
              <a:off x="984197" y="2512219"/>
              <a:ext cx="165207"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1</a:t>
              </a:r>
            </a:p>
          </p:txBody>
        </p:sp>
        <p:sp>
          <p:nvSpPr>
            <p:cNvPr id="14" name="TextBox 14"/>
            <p:cNvSpPr txBox="1"/>
            <p:nvPr/>
          </p:nvSpPr>
          <p:spPr>
            <a:xfrm>
              <a:off x="984197" y="3274219"/>
              <a:ext cx="165207"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2</a:t>
              </a:r>
            </a:p>
          </p:txBody>
        </p:sp>
        <p:sp>
          <p:nvSpPr>
            <p:cNvPr id="15" name="TextBox 15"/>
            <p:cNvSpPr txBox="1"/>
            <p:nvPr/>
          </p:nvSpPr>
          <p:spPr>
            <a:xfrm>
              <a:off x="984197" y="4036219"/>
              <a:ext cx="165207"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3</a:t>
              </a:r>
            </a:p>
          </p:txBody>
        </p:sp>
        <p:sp>
          <p:nvSpPr>
            <p:cNvPr id="16" name="TextBox 16"/>
            <p:cNvSpPr txBox="1"/>
            <p:nvPr/>
          </p:nvSpPr>
          <p:spPr>
            <a:xfrm>
              <a:off x="984197" y="4798219"/>
              <a:ext cx="165207"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4</a:t>
              </a:r>
            </a:p>
          </p:txBody>
        </p:sp>
        <p:sp>
          <p:nvSpPr>
            <p:cNvPr id="17" name="TextBox 17"/>
            <p:cNvSpPr txBox="1"/>
            <p:nvPr/>
          </p:nvSpPr>
          <p:spPr>
            <a:xfrm>
              <a:off x="1628775" y="2512219"/>
              <a:ext cx="2020777"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Read the length</a:t>
              </a:r>
            </a:p>
          </p:txBody>
        </p:sp>
        <p:sp>
          <p:nvSpPr>
            <p:cNvPr id="18" name="TextBox 18"/>
            <p:cNvSpPr txBox="1"/>
            <p:nvPr/>
          </p:nvSpPr>
          <p:spPr>
            <a:xfrm>
              <a:off x="1628775" y="3274219"/>
              <a:ext cx="1928053"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Read the width</a:t>
              </a:r>
            </a:p>
          </p:txBody>
        </p:sp>
        <p:sp>
          <p:nvSpPr>
            <p:cNvPr id="19" name="TextBox 19"/>
            <p:cNvSpPr txBox="1"/>
            <p:nvPr/>
          </p:nvSpPr>
          <p:spPr>
            <a:xfrm>
              <a:off x="1628775" y="4036219"/>
              <a:ext cx="3109941"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Multiply length by width</a:t>
              </a:r>
            </a:p>
          </p:txBody>
        </p:sp>
        <p:sp>
          <p:nvSpPr>
            <p:cNvPr id="20" name="TextBox 20"/>
            <p:cNvSpPr txBox="1"/>
            <p:nvPr/>
          </p:nvSpPr>
          <p:spPr>
            <a:xfrm>
              <a:off x="1628775" y="4798219"/>
              <a:ext cx="2100202"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Display the area</a:t>
              </a:r>
            </a:p>
          </p:txBody>
        </p:sp>
      </p:grpSp>
      <p:grpSp>
        <p:nvGrpSpPr>
          <p:cNvPr id="29" name="Group 29"/>
          <p:cNvGrpSpPr/>
          <p:nvPr/>
        </p:nvGrpSpPr>
        <p:grpSpPr>
          <a:xfrm>
            <a:off x="7962900" y="2143125"/>
            <a:ext cx="3619500" cy="3238500"/>
            <a:chOff x="7962900" y="2143125"/>
            <a:chExt cx="3619500" cy="3238500"/>
          </a:xfrm>
        </p:grpSpPr>
        <p:sp>
          <p:nvSpPr>
            <p:cNvPr id="22" name="Rectangle 22"/>
            <p:cNvSpPr/>
            <p:nvPr/>
          </p:nvSpPr>
          <p:spPr>
            <a:xfrm>
              <a:off x="7962900" y="2143125"/>
              <a:ext cx="3619500" cy="3238500"/>
            </a:xfrm>
            <a:prstGeom prst="roundRect">
              <a:avLst>
                <a:gd name="adj" fmla="val 4706"/>
              </a:avLst>
            </a:prstGeom>
            <a:solidFill>
              <a:srgbClr val="FDE9E5"/>
            </a:solidFill>
            <a:ln>
              <a:noFill/>
            </a:ln>
          </p:spPr>
        </p:sp>
        <p:sp>
          <p:nvSpPr>
            <p:cNvPr id="23" name="TextBox 23"/>
            <p:cNvSpPr txBox="1"/>
            <p:nvPr/>
          </p:nvSpPr>
          <p:spPr>
            <a:xfrm>
              <a:off x="8260842" y="2426018"/>
              <a:ext cx="1919074" cy="264033"/>
            </a:xfrm>
            <a:prstGeom prst="rect">
              <a:avLst/>
            </a:prstGeom>
            <a:noFill/>
            <a:ln>
              <a:noFill/>
            </a:ln>
          </p:spPr>
          <p:txBody>
            <a:bodyPr wrap="none" lIns="0" tIns="0" rIns="0" bIns="0" anchor="t" anchorCtr="0">
              <a:spAutoFit/>
            </a:bodyPr>
            <a:lstStyle/>
            <a:p>
              <a:pPr algn="l"/>
              <a:r>
                <a:rPr lang="en-US" sz="1350" b="1" dirty="0">
                  <a:solidFill>
                    <a:srgbClr val="C3402D"/>
                  </a:solidFill>
                  <a:latin typeface="+mn-lt"/>
                  <a:ea typeface="+mn-ea"/>
                  <a:cs typeface="+mn-cs"/>
                </a:rPr>
                <a:t>WHY ORDER MATTERS</a:t>
              </a:r>
            </a:p>
          </p:txBody>
        </p:sp>
        <p:sp>
          <p:nvSpPr>
            <p:cNvPr id="24" name="TextBox 24"/>
            <p:cNvSpPr txBox="1"/>
            <p:nvPr/>
          </p:nvSpPr>
          <p:spPr>
            <a:xfrm>
              <a:off x="8258175" y="2912269"/>
              <a:ext cx="2392502"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Calculate the area</a:t>
              </a:r>
            </a:p>
          </p:txBody>
        </p:sp>
        <p:sp>
          <p:nvSpPr>
            <p:cNvPr id="25" name="TextBox 25"/>
            <p:cNvSpPr txBox="1"/>
            <p:nvPr/>
          </p:nvSpPr>
          <p:spPr>
            <a:xfrm>
              <a:off x="8258175" y="3302794"/>
              <a:ext cx="2537968" cy="700088"/>
            </a:xfrm>
            <a:prstGeom prst="rect">
              <a:avLst/>
            </a:prstGeom>
            <a:noFill/>
            <a:ln>
              <a:noFill/>
            </a:ln>
          </p:spPr>
          <p:txBody>
            <a:bodyPr wrap="square" lIns="0" tIns="0" rIns="0" bIns="0" anchor="t" anchorCtr="0"/>
            <a:lstStyle/>
            <a:p>
              <a:pPr algn="l">
                <a:lnSpc>
                  <a:spcPts val="2625"/>
                </a:lnSpc>
              </a:pPr>
              <a:r>
                <a:rPr lang="en-US" sz="1880" dirty="0">
                  <a:solidFill>
                    <a:schemeClr val="dk1"/>
                  </a:solidFill>
                  <a:latin typeface="+mn-lt"/>
                  <a:ea typeface="+mn-ea"/>
                  <a:cs typeface="+mn-cs"/>
                </a:rPr>
                <a:t>before reading length and width?</a:t>
              </a:r>
            </a:p>
          </p:txBody>
        </p:sp>
        <p:sp>
          <p:nvSpPr>
            <p:cNvPr id="26" name="Freeform 26"/>
            <p:cNvSpPr/>
            <p:nvPr/>
          </p:nvSpPr>
          <p:spPr>
            <a:xfrm>
              <a:off x="8267700" y="4267200"/>
              <a:ext cx="2952750" cy="9525"/>
            </a:xfrm>
            <a:custGeom>
              <a:avLst/>
              <a:gdLst/>
              <a:ahLst/>
              <a:cxnLst/>
              <a:rect l="l" t="t" r="r" b="b"/>
              <a:pathLst>
                <a:path w="2952750" h="9525">
                  <a:moveTo>
                    <a:pt x="0" y="0"/>
                  </a:moveTo>
                  <a:lnTo>
                    <a:pt x="2952750" y="0"/>
                  </a:lnTo>
                </a:path>
              </a:pathLst>
            </a:custGeom>
            <a:solidFill>
              <a:srgbClr val="000000"/>
            </a:solidFill>
            <a:ln w="28575">
              <a:solidFill>
                <a:schemeClr val="accent2"/>
              </a:solidFill>
              <a:custDash>
                <a:ds d="333333" sp="266667"/>
              </a:custDash>
            </a:ln>
          </p:spPr>
        </p:sp>
        <p:sp>
          <p:nvSpPr>
            <p:cNvPr id="27" name="TextBox 27"/>
            <p:cNvSpPr txBox="1"/>
            <p:nvPr/>
          </p:nvSpPr>
          <p:spPr>
            <a:xfrm>
              <a:off x="8258937" y="4509611"/>
              <a:ext cx="2574912" cy="632650"/>
            </a:xfrm>
            <a:prstGeom prst="rect">
              <a:avLst/>
            </a:prstGeom>
            <a:noFill/>
            <a:ln>
              <a:noFill/>
            </a:ln>
          </p:spPr>
          <p:txBody>
            <a:bodyPr wrap="square" lIns="0" tIns="0" rIns="0" bIns="0" anchor="t" anchorCtr="0"/>
            <a:lstStyle/>
            <a:p>
              <a:pPr algn="l">
                <a:lnSpc>
                  <a:spcPts val="2325"/>
                </a:lnSpc>
              </a:pPr>
              <a:r>
                <a:rPr lang="en-US" sz="1720" b="1" dirty="0">
                  <a:solidFill>
                    <a:schemeClr val="accent2"/>
                  </a:solidFill>
                  <a:latin typeface="+mn-lt"/>
                  <a:ea typeface="+mn-ea"/>
                  <a:cs typeface="+mn-cs"/>
                </a:rPr>
                <a:t>The values do not exist yet.</a:t>
              </a:r>
            </a:p>
          </p:txBody>
        </p:sp>
        <p:sp>
          <p:nvSpPr>
            <p:cNvPr id="28" name="TextBox 28"/>
            <p:cNvSpPr txBox="1"/>
            <p:nvPr/>
          </p:nvSpPr>
          <p:spPr>
            <a:xfrm>
              <a:off x="8260842" y="5093018"/>
              <a:ext cx="2324005"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Plan in plain English first.</a:t>
              </a:r>
            </a:p>
          </p:txBody>
        </p:sp>
      </p:grpSp>
      <p:grpSp>
        <p:nvGrpSpPr>
          <p:cNvPr id="32" name="Group 32"/>
          <p:cNvGrpSpPr/>
          <p:nvPr/>
        </p:nvGrpSpPr>
        <p:grpSpPr>
          <a:xfrm>
            <a:off x="602742" y="6274118"/>
            <a:ext cx="10710291" cy="264033"/>
            <a:chOff x="602742" y="6274118"/>
            <a:chExt cx="10710291" cy="264033"/>
          </a:xfrm>
        </p:grpSpPr>
        <p:sp>
          <p:nvSpPr>
            <p:cNvPr id="30" name="TextBox 30"/>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1" name="TextBox 31"/>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10148683" cy="911161"/>
            <a:chOff x="592836" y="597218"/>
            <a:chExt cx="10148683" cy="911161"/>
          </a:xfrm>
        </p:grpSpPr>
        <p:sp>
          <p:nvSpPr>
            <p:cNvPr id="3" name="TextBox 3"/>
            <p:cNvSpPr txBox="1"/>
            <p:nvPr/>
          </p:nvSpPr>
          <p:spPr>
            <a:xfrm>
              <a:off x="602742" y="597218"/>
              <a:ext cx="21106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03 / EXECUTION ORDER</a:t>
              </a:r>
            </a:p>
          </p:txBody>
        </p:sp>
        <p:sp>
          <p:nvSpPr>
            <p:cNvPr id="4" name="TextBox 4"/>
            <p:cNvSpPr txBox="1"/>
            <p:nvPr/>
          </p:nvSpPr>
          <p:spPr>
            <a:xfrm>
              <a:off x="592836" y="862965"/>
              <a:ext cx="10148683"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Python runs statements from top to bottom</a:t>
              </a:r>
            </a:p>
          </p:txBody>
        </p:sp>
      </p:grpSp>
      <p:grpSp>
        <p:nvGrpSpPr>
          <p:cNvPr id="7" name="Group 7"/>
          <p:cNvGrpSpPr/>
          <p:nvPr/>
        </p:nvGrpSpPr>
        <p:grpSpPr>
          <a:xfrm>
            <a:off x="600837" y="1537811"/>
            <a:ext cx="10259260" cy="337376"/>
            <a:chOff x="600837" y="1537811"/>
            <a:chExt cx="10259260" cy="337376"/>
          </a:xfrm>
        </p:grpSpPr>
        <p:sp>
          <p:nvSpPr>
            <p:cNvPr id="6" name="TextBox 6"/>
            <p:cNvSpPr txBox="1"/>
            <p:nvPr/>
          </p:nvSpPr>
          <p:spPr>
            <a:xfrm>
              <a:off x="600837" y="1537811"/>
              <a:ext cx="10259260"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Statement</a:t>
              </a:r>
              <a:r>
                <a:rPr lang="en-US" sz="1720" dirty="0">
                  <a:solidFill>
                    <a:schemeClr val="dk1"/>
                  </a:solidFill>
                  <a:latin typeface="+mn-lt"/>
                  <a:ea typeface="+mn-ea"/>
                  <a:cs typeface="+mn-cs"/>
                </a:rPr>
                <a:t xml:space="preserve"> = one code instruction </a:t>
              </a:r>
              <a:r>
                <a:rPr lang="en-US" sz="1720" b="1" dirty="0">
                  <a:solidFill>
                    <a:schemeClr val="accent1"/>
                  </a:solidFill>
                  <a:latin typeface="+mn-lt"/>
                  <a:ea typeface="+mn-ea"/>
                  <a:cs typeface="+mn-cs"/>
                </a:rPr>
                <a:t>State</a:t>
              </a:r>
              <a:r>
                <a:rPr lang="en-US" sz="1720" dirty="0">
                  <a:solidFill>
                    <a:schemeClr val="dk1"/>
                  </a:solidFill>
                  <a:latin typeface="+mn-lt"/>
                  <a:ea typeface="+mn-ea"/>
                  <a:cs typeface="+mn-cs"/>
                </a:rPr>
                <a:t xml:space="preserve"> = values remembered now </a:t>
              </a:r>
              <a:r>
                <a:rPr lang="en-US" sz="1720" b="1" dirty="0">
                  <a:solidFill>
                    <a:schemeClr val="accent1"/>
                  </a:solidFill>
                  <a:latin typeface="+mn-lt"/>
                  <a:ea typeface="+mn-ea"/>
                  <a:cs typeface="+mn-cs"/>
                </a:rPr>
                <a:t>Trace</a:t>
              </a:r>
              <a:r>
                <a:rPr lang="en-US" sz="1720" dirty="0">
                  <a:solidFill>
                    <a:schemeClr val="dk1"/>
                  </a:solidFill>
                  <a:latin typeface="+mn-lt"/>
                  <a:ea typeface="+mn-ea"/>
                  <a:cs typeface="+mn-cs"/>
                </a:rPr>
                <a:t xml:space="preserve"> = follow each line</a:t>
              </a:r>
            </a:p>
          </p:txBody>
        </p:sp>
      </p:grpSp>
      <p:grpSp>
        <p:nvGrpSpPr>
          <p:cNvPr id="15" name="Group 15"/>
          <p:cNvGrpSpPr/>
          <p:nvPr/>
        </p:nvGrpSpPr>
        <p:grpSpPr>
          <a:xfrm>
            <a:off x="609600" y="2190750"/>
            <a:ext cx="4762500" cy="3238500"/>
            <a:chOff x="609600" y="2190750"/>
            <a:chExt cx="4762500" cy="3238500"/>
          </a:xfrm>
        </p:grpSpPr>
        <p:sp>
          <p:nvSpPr>
            <p:cNvPr id="8" name="Rectangle 8"/>
            <p:cNvSpPr/>
            <p:nvPr/>
          </p:nvSpPr>
          <p:spPr>
            <a:xfrm>
              <a:off x="609600" y="2190750"/>
              <a:ext cx="4762500" cy="3238500"/>
            </a:xfrm>
            <a:prstGeom prst="roundRect">
              <a:avLst>
                <a:gd name="adj" fmla="val 4706"/>
              </a:avLst>
            </a:prstGeom>
            <a:solidFill>
              <a:schemeClr val="dk1"/>
            </a:solidFill>
            <a:ln>
              <a:noFill/>
            </a:ln>
          </p:spPr>
        </p:sp>
        <p:sp>
          <p:nvSpPr>
            <p:cNvPr id="9" name="TextBox 9"/>
            <p:cNvSpPr txBox="1"/>
            <p:nvPr/>
          </p:nvSpPr>
          <p:spPr>
            <a:xfrm>
              <a:off x="869442" y="2426018"/>
              <a:ext cx="870623" cy="264033"/>
            </a:xfrm>
            <a:prstGeom prst="rect">
              <a:avLst/>
            </a:prstGeom>
            <a:noFill/>
            <a:ln>
              <a:noFill/>
            </a:ln>
          </p:spPr>
          <p:txBody>
            <a:bodyPr wrap="none" lIns="0" tIns="0" rIns="0" bIns="0" anchor="t" anchorCtr="0">
              <a:spAutoFit/>
            </a:bodyPr>
            <a:lstStyle/>
            <a:p>
              <a:pPr algn="l"/>
              <a:r>
                <a:rPr lang="en-US" sz="1350" b="1" dirty="0">
                  <a:solidFill>
                    <a:srgbClr val="9FD8D2"/>
                  </a:solidFill>
                  <a:latin typeface="+mn-lt"/>
                  <a:ea typeface="+mn-ea"/>
                  <a:cs typeface="+mn-cs"/>
                </a:rPr>
                <a:t>PROGRAM</a:t>
              </a:r>
            </a:p>
          </p:txBody>
        </p:sp>
        <p:sp>
          <p:nvSpPr>
            <p:cNvPr id="10" name="Rectangle 10"/>
            <p:cNvSpPr/>
            <p:nvPr/>
          </p:nvSpPr>
          <p:spPr>
            <a:xfrm>
              <a:off x="838200" y="2819400"/>
              <a:ext cx="4267200" cy="495300"/>
            </a:xfrm>
            <a:prstGeom prst="roundRect">
              <a:avLst>
                <a:gd name="adj" fmla="val 19231"/>
              </a:avLst>
            </a:prstGeom>
            <a:solidFill>
              <a:srgbClr val="27413F"/>
            </a:solidFill>
            <a:ln>
              <a:noFill/>
            </a:ln>
          </p:spPr>
        </p:sp>
        <p:sp>
          <p:nvSpPr>
            <p:cNvPr id="11" name="TextBox 11"/>
            <p:cNvSpPr txBox="1"/>
            <p:nvPr/>
          </p:nvSpPr>
          <p:spPr>
            <a:xfrm>
              <a:off x="1019937" y="2957036"/>
              <a:ext cx="1117371"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length = 5</a:t>
              </a:r>
            </a:p>
          </p:txBody>
        </p:sp>
        <p:sp>
          <p:nvSpPr>
            <p:cNvPr id="12" name="TextBox 12"/>
            <p:cNvSpPr txBox="1"/>
            <p:nvPr/>
          </p:nvSpPr>
          <p:spPr>
            <a:xfrm>
              <a:off x="1019937" y="3538061"/>
              <a:ext cx="1036330"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width = 3</a:t>
              </a:r>
            </a:p>
          </p:txBody>
        </p:sp>
        <p:sp>
          <p:nvSpPr>
            <p:cNvPr id="13" name="TextBox 13"/>
            <p:cNvSpPr txBox="1"/>
            <p:nvPr/>
          </p:nvSpPr>
          <p:spPr>
            <a:xfrm>
              <a:off x="1019937" y="4119086"/>
              <a:ext cx="2390877"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area = length * width</a:t>
              </a:r>
            </a:p>
          </p:txBody>
        </p:sp>
        <p:sp>
          <p:nvSpPr>
            <p:cNvPr id="14" name="TextBox 14"/>
            <p:cNvSpPr txBox="1"/>
            <p:nvPr/>
          </p:nvSpPr>
          <p:spPr>
            <a:xfrm>
              <a:off x="1019937" y="4700111"/>
              <a:ext cx="1360495"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print(area)</a:t>
              </a:r>
            </a:p>
          </p:txBody>
        </p:sp>
      </p:grpSp>
      <p:grpSp>
        <p:nvGrpSpPr>
          <p:cNvPr id="25" name="Group 25"/>
          <p:cNvGrpSpPr/>
          <p:nvPr/>
        </p:nvGrpSpPr>
        <p:grpSpPr>
          <a:xfrm>
            <a:off x="5705475" y="2340769"/>
            <a:ext cx="5876925" cy="2983706"/>
            <a:chOff x="5705475" y="2340769"/>
            <a:chExt cx="5876925" cy="2983706"/>
          </a:xfrm>
        </p:grpSpPr>
        <p:sp>
          <p:nvSpPr>
            <p:cNvPr id="16" name="TextBox 16"/>
            <p:cNvSpPr txBox="1"/>
            <p:nvPr/>
          </p:nvSpPr>
          <p:spPr>
            <a:xfrm>
              <a:off x="5705475" y="2340769"/>
              <a:ext cx="2764778"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State after each line</a:t>
              </a:r>
            </a:p>
          </p:txBody>
        </p:sp>
        <p:sp>
          <p:nvSpPr>
            <p:cNvPr id="17" name="Rectangle 17"/>
            <p:cNvSpPr/>
            <p:nvPr/>
          </p:nvSpPr>
          <p:spPr>
            <a:xfrm>
              <a:off x="5715000" y="2771775"/>
              <a:ext cx="5867400" cy="552450"/>
            </a:xfrm>
            <a:prstGeom prst="roundRect">
              <a:avLst>
                <a:gd name="adj" fmla="val 20690"/>
              </a:avLst>
            </a:prstGeom>
            <a:solidFill>
              <a:schemeClr val="accent5"/>
            </a:solidFill>
            <a:ln>
              <a:noFill/>
            </a:ln>
          </p:spPr>
        </p:sp>
        <p:sp>
          <p:nvSpPr>
            <p:cNvPr id="18" name="Rectangle 18"/>
            <p:cNvSpPr/>
            <p:nvPr/>
          </p:nvSpPr>
          <p:spPr>
            <a:xfrm>
              <a:off x="5715000" y="3438525"/>
              <a:ext cx="5867400" cy="552450"/>
            </a:xfrm>
            <a:prstGeom prst="roundRect">
              <a:avLst>
                <a:gd name="adj" fmla="val 20690"/>
              </a:avLst>
            </a:prstGeom>
            <a:solidFill>
              <a:schemeClr val="accent5"/>
            </a:solidFill>
            <a:ln>
              <a:noFill/>
            </a:ln>
          </p:spPr>
        </p:sp>
        <p:sp>
          <p:nvSpPr>
            <p:cNvPr id="19" name="Rectangle 19"/>
            <p:cNvSpPr/>
            <p:nvPr/>
          </p:nvSpPr>
          <p:spPr>
            <a:xfrm>
              <a:off x="5715000" y="4105275"/>
              <a:ext cx="5867400" cy="552450"/>
            </a:xfrm>
            <a:prstGeom prst="roundRect">
              <a:avLst>
                <a:gd name="adj" fmla="val 20690"/>
              </a:avLst>
            </a:prstGeom>
            <a:solidFill>
              <a:srgbClr val="FFF3E2"/>
            </a:solidFill>
            <a:ln>
              <a:noFill/>
            </a:ln>
          </p:spPr>
        </p:sp>
        <p:sp>
          <p:nvSpPr>
            <p:cNvPr id="20" name="Rectangle 20"/>
            <p:cNvSpPr/>
            <p:nvPr/>
          </p:nvSpPr>
          <p:spPr>
            <a:xfrm>
              <a:off x="5715000" y="4772025"/>
              <a:ext cx="5867400" cy="552450"/>
            </a:xfrm>
            <a:prstGeom prst="roundRect">
              <a:avLst>
                <a:gd name="adj" fmla="val 20690"/>
              </a:avLst>
            </a:prstGeom>
            <a:solidFill>
              <a:srgbClr val="FDE9E5"/>
            </a:solidFill>
            <a:ln>
              <a:noFill/>
            </a:ln>
          </p:spPr>
        </p:sp>
        <p:sp>
          <p:nvSpPr>
            <p:cNvPr id="21" name="TextBox 21"/>
            <p:cNvSpPr txBox="1"/>
            <p:nvPr/>
          </p:nvSpPr>
          <p:spPr>
            <a:xfrm>
              <a:off x="5935599" y="2954179"/>
              <a:ext cx="962515" cy="308039"/>
            </a:xfrm>
            <a:prstGeom prst="rect">
              <a:avLst/>
            </a:prstGeom>
            <a:noFill/>
            <a:ln>
              <a:noFill/>
            </a:ln>
          </p:spPr>
          <p:txBody>
            <a:bodyPr wrap="none" lIns="0" tIns="0" rIns="0" bIns="0" anchor="t" anchorCtr="0">
              <a:spAutoFit/>
            </a:bodyPr>
            <a:lstStyle/>
            <a:p>
              <a:pPr algn="l"/>
              <a:r>
                <a:rPr lang="en-US" sz="1580" dirty="0">
                  <a:solidFill>
                    <a:schemeClr val="dk1"/>
                  </a:solidFill>
                  <a:latin typeface="Consolas"/>
                  <a:ea typeface="Consolas"/>
                  <a:cs typeface="Consolas"/>
                </a:rPr>
                <a:t>length: 5</a:t>
              </a:r>
            </a:p>
          </p:txBody>
        </p:sp>
        <p:sp>
          <p:nvSpPr>
            <p:cNvPr id="22" name="TextBox 22"/>
            <p:cNvSpPr txBox="1"/>
            <p:nvPr/>
          </p:nvSpPr>
          <p:spPr>
            <a:xfrm>
              <a:off x="5935599" y="3620929"/>
              <a:ext cx="1898393" cy="308039"/>
            </a:xfrm>
            <a:prstGeom prst="rect">
              <a:avLst/>
            </a:prstGeom>
            <a:noFill/>
            <a:ln>
              <a:noFill/>
            </a:ln>
          </p:spPr>
          <p:txBody>
            <a:bodyPr wrap="none" lIns="0" tIns="0" rIns="0" bIns="0" anchor="t" anchorCtr="0">
              <a:spAutoFit/>
            </a:bodyPr>
            <a:lstStyle/>
            <a:p>
              <a:pPr algn="l"/>
              <a:r>
                <a:rPr lang="en-US" sz="1580" dirty="0">
                  <a:solidFill>
                    <a:schemeClr val="dk1"/>
                  </a:solidFill>
                  <a:latin typeface="Consolas"/>
                  <a:ea typeface="Consolas"/>
                  <a:cs typeface="Consolas"/>
                </a:rPr>
                <a:t>length: 5 width: 3</a:t>
              </a:r>
            </a:p>
          </p:txBody>
        </p:sp>
        <p:sp>
          <p:nvSpPr>
            <p:cNvPr id="23" name="TextBox 23"/>
            <p:cNvSpPr txBox="1"/>
            <p:nvPr/>
          </p:nvSpPr>
          <p:spPr>
            <a:xfrm>
              <a:off x="5935599" y="4287679"/>
              <a:ext cx="2844907" cy="308039"/>
            </a:xfrm>
            <a:prstGeom prst="rect">
              <a:avLst/>
            </a:prstGeom>
            <a:noFill/>
            <a:ln>
              <a:noFill/>
            </a:ln>
          </p:spPr>
          <p:txBody>
            <a:bodyPr wrap="none" lIns="0" tIns="0" rIns="0" bIns="0" anchor="t" anchorCtr="0">
              <a:spAutoFit/>
            </a:bodyPr>
            <a:lstStyle/>
            <a:p>
              <a:pPr algn="l"/>
              <a:r>
                <a:rPr lang="en-US" sz="1580" dirty="0">
                  <a:solidFill>
                    <a:schemeClr val="dk1"/>
                  </a:solidFill>
                  <a:latin typeface="Consolas"/>
                  <a:ea typeface="Consolas"/>
                  <a:cs typeface="Consolas"/>
                </a:rPr>
                <a:t>length: 5 width: 3 area: 15</a:t>
              </a:r>
            </a:p>
          </p:txBody>
        </p:sp>
        <p:sp>
          <p:nvSpPr>
            <p:cNvPr id="24" name="TextBox 24"/>
            <p:cNvSpPr txBox="1"/>
            <p:nvPr/>
          </p:nvSpPr>
          <p:spPr>
            <a:xfrm>
              <a:off x="5935599" y="4954429"/>
              <a:ext cx="1188509"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Consolas"/>
                  <a:ea typeface="Consolas"/>
                  <a:cs typeface="Consolas"/>
                </a:rPr>
                <a:t>output: 15</a:t>
              </a:r>
            </a:p>
          </p:txBody>
        </p:sp>
      </p:grpSp>
      <p:grpSp>
        <p:nvGrpSpPr>
          <p:cNvPr id="27" name="Group 27"/>
          <p:cNvGrpSpPr/>
          <p:nvPr/>
        </p:nvGrpSpPr>
        <p:grpSpPr>
          <a:xfrm>
            <a:off x="600837" y="5738336"/>
            <a:ext cx="6902674" cy="337376"/>
            <a:chOff x="600837" y="5738336"/>
            <a:chExt cx="6902674" cy="337376"/>
          </a:xfrm>
        </p:grpSpPr>
        <p:sp>
          <p:nvSpPr>
            <p:cNvPr id="26" name="TextBox 26"/>
            <p:cNvSpPr txBox="1"/>
            <p:nvPr/>
          </p:nvSpPr>
          <p:spPr>
            <a:xfrm>
              <a:off x="600837" y="5738336"/>
              <a:ext cx="690267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Stored values are program state. Printed text is output.</a:t>
              </a:r>
            </a:p>
          </p:txBody>
        </p:sp>
      </p:grpSp>
      <p:grpSp>
        <p:nvGrpSpPr>
          <p:cNvPr id="30" name="Group 30"/>
          <p:cNvGrpSpPr/>
          <p:nvPr/>
        </p:nvGrpSpPr>
        <p:grpSpPr>
          <a:xfrm>
            <a:off x="602742" y="6274118"/>
            <a:ext cx="10710291" cy="264033"/>
            <a:chOff x="602742" y="6274118"/>
            <a:chExt cx="10710291" cy="264033"/>
          </a:xfrm>
        </p:grpSpPr>
        <p:sp>
          <p:nvSpPr>
            <p:cNvPr id="28" name="TextBox 28"/>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29" name="TextBox 29"/>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8834969" cy="911161"/>
            <a:chOff x="592836" y="597218"/>
            <a:chExt cx="8834969" cy="911161"/>
          </a:xfrm>
        </p:grpSpPr>
        <p:sp>
          <p:nvSpPr>
            <p:cNvPr id="3" name="TextBox 3"/>
            <p:cNvSpPr txBox="1"/>
            <p:nvPr/>
          </p:nvSpPr>
          <p:spPr>
            <a:xfrm>
              <a:off x="602742" y="597218"/>
              <a:ext cx="214086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04 / VALUES AND TYPES</a:t>
              </a:r>
            </a:p>
          </p:txBody>
        </p:sp>
        <p:sp>
          <p:nvSpPr>
            <p:cNvPr id="4" name="TextBox 4"/>
            <p:cNvSpPr txBox="1"/>
            <p:nvPr/>
          </p:nvSpPr>
          <p:spPr>
            <a:xfrm>
              <a:off x="592836" y="862965"/>
              <a:ext cx="8834969"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 type tells Python what a value means</a:t>
              </a:r>
            </a:p>
          </p:txBody>
        </p:sp>
      </p:grpSp>
      <p:grpSp>
        <p:nvGrpSpPr>
          <p:cNvPr id="11" name="Group 11"/>
          <p:cNvGrpSpPr/>
          <p:nvPr/>
        </p:nvGrpSpPr>
        <p:grpSpPr>
          <a:xfrm>
            <a:off x="609600" y="1657350"/>
            <a:ext cx="2514600" cy="2686050"/>
            <a:chOff x="609600" y="1657350"/>
            <a:chExt cx="2514600" cy="2686050"/>
          </a:xfrm>
        </p:grpSpPr>
        <p:sp>
          <p:nvSpPr>
            <p:cNvPr id="6" name="Rectangle 6"/>
            <p:cNvSpPr/>
            <p:nvPr/>
          </p:nvSpPr>
          <p:spPr>
            <a:xfrm>
              <a:off x="609600" y="1657350"/>
              <a:ext cx="2514600" cy="2686050"/>
            </a:xfrm>
            <a:prstGeom prst="roundRect">
              <a:avLst>
                <a:gd name="adj" fmla="val 6061"/>
              </a:avLst>
            </a:prstGeom>
            <a:solidFill>
              <a:schemeClr val="accent5"/>
            </a:solidFill>
            <a:ln>
              <a:noFill/>
            </a:ln>
          </p:spPr>
        </p:sp>
        <p:sp>
          <p:nvSpPr>
            <p:cNvPr id="7" name="TextBox 7"/>
            <p:cNvSpPr txBox="1"/>
            <p:nvPr/>
          </p:nvSpPr>
          <p:spPr>
            <a:xfrm>
              <a:off x="829437" y="1861661"/>
              <a:ext cx="357899"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Consolas"/>
                  <a:ea typeface="Consolas"/>
                  <a:cs typeface="Consolas"/>
                </a:rPr>
                <a:t>int</a:t>
              </a:r>
            </a:p>
          </p:txBody>
        </p:sp>
        <p:sp>
          <p:nvSpPr>
            <p:cNvPr id="8" name="TextBox 8"/>
            <p:cNvSpPr txBox="1"/>
            <p:nvPr/>
          </p:nvSpPr>
          <p:spPr>
            <a:xfrm>
              <a:off x="821436" y="2367915"/>
              <a:ext cx="290080"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5</a:t>
              </a:r>
            </a:p>
          </p:txBody>
        </p:sp>
        <p:sp>
          <p:nvSpPr>
            <p:cNvPr id="9" name="TextBox 9"/>
            <p:cNvSpPr txBox="1"/>
            <p:nvPr/>
          </p:nvSpPr>
          <p:spPr>
            <a:xfrm>
              <a:off x="828675" y="2997994"/>
              <a:ext cx="983449"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Integer</a:t>
              </a:r>
            </a:p>
          </p:txBody>
        </p:sp>
        <p:sp>
          <p:nvSpPr>
            <p:cNvPr id="10" name="TextBox 10"/>
            <p:cNvSpPr txBox="1"/>
            <p:nvPr/>
          </p:nvSpPr>
          <p:spPr>
            <a:xfrm>
              <a:off x="829437" y="3376136"/>
              <a:ext cx="1727420"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A whole number</a:t>
              </a:r>
            </a:p>
          </p:txBody>
        </p:sp>
      </p:grpSp>
      <p:grpSp>
        <p:nvGrpSpPr>
          <p:cNvPr id="17" name="Group 17"/>
          <p:cNvGrpSpPr/>
          <p:nvPr/>
        </p:nvGrpSpPr>
        <p:grpSpPr>
          <a:xfrm>
            <a:off x="3429000" y="1657350"/>
            <a:ext cx="2514600" cy="2686050"/>
            <a:chOff x="3429000" y="1657350"/>
            <a:chExt cx="2514600" cy="2686050"/>
          </a:xfrm>
        </p:grpSpPr>
        <p:sp>
          <p:nvSpPr>
            <p:cNvPr id="12" name="Rectangle 12"/>
            <p:cNvSpPr/>
            <p:nvPr/>
          </p:nvSpPr>
          <p:spPr>
            <a:xfrm>
              <a:off x="3429000" y="1657350"/>
              <a:ext cx="2514600" cy="2686050"/>
            </a:xfrm>
            <a:prstGeom prst="roundRect">
              <a:avLst>
                <a:gd name="adj" fmla="val 6061"/>
              </a:avLst>
            </a:prstGeom>
            <a:solidFill>
              <a:srgbClr val="FFF3E2"/>
            </a:solidFill>
            <a:ln>
              <a:noFill/>
            </a:ln>
          </p:spPr>
        </p:sp>
        <p:sp>
          <p:nvSpPr>
            <p:cNvPr id="13" name="TextBox 13"/>
            <p:cNvSpPr txBox="1"/>
            <p:nvPr/>
          </p:nvSpPr>
          <p:spPr>
            <a:xfrm>
              <a:off x="3648837" y="1861661"/>
              <a:ext cx="625335" cy="337376"/>
            </a:xfrm>
            <a:prstGeom prst="rect">
              <a:avLst/>
            </a:prstGeom>
            <a:noFill/>
            <a:ln>
              <a:noFill/>
            </a:ln>
          </p:spPr>
          <p:txBody>
            <a:bodyPr wrap="none" lIns="0" tIns="0" rIns="0" bIns="0" anchor="t" anchorCtr="0">
              <a:spAutoFit/>
            </a:bodyPr>
            <a:lstStyle/>
            <a:p>
              <a:pPr algn="l"/>
              <a:r>
                <a:rPr lang="en-US" sz="1720" b="1" dirty="0">
                  <a:solidFill>
                    <a:srgbClr val="A26D00"/>
                  </a:solidFill>
                  <a:latin typeface="Consolas"/>
                  <a:ea typeface="Consolas"/>
                  <a:cs typeface="Consolas"/>
                </a:rPr>
                <a:t>float</a:t>
              </a:r>
            </a:p>
          </p:txBody>
        </p:sp>
        <p:sp>
          <p:nvSpPr>
            <p:cNvPr id="14" name="TextBox 14"/>
            <p:cNvSpPr txBox="1"/>
            <p:nvPr/>
          </p:nvSpPr>
          <p:spPr>
            <a:xfrm>
              <a:off x="3640836" y="2367915"/>
              <a:ext cx="80318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3.5</a:t>
              </a:r>
            </a:p>
          </p:txBody>
        </p:sp>
        <p:sp>
          <p:nvSpPr>
            <p:cNvPr id="15" name="TextBox 15"/>
            <p:cNvSpPr txBox="1"/>
            <p:nvPr/>
          </p:nvSpPr>
          <p:spPr>
            <a:xfrm>
              <a:off x="3648075" y="2997994"/>
              <a:ext cx="690921"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Float</a:t>
              </a:r>
            </a:p>
          </p:txBody>
        </p:sp>
        <p:sp>
          <p:nvSpPr>
            <p:cNvPr id="16" name="TextBox 16"/>
            <p:cNvSpPr txBox="1"/>
            <p:nvPr/>
          </p:nvSpPr>
          <p:spPr>
            <a:xfrm>
              <a:off x="3648837" y="3376136"/>
              <a:ext cx="1923883"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A decimal number</a:t>
              </a:r>
            </a:p>
          </p:txBody>
        </p:sp>
      </p:grpSp>
      <p:grpSp>
        <p:nvGrpSpPr>
          <p:cNvPr id="23" name="Group 23"/>
          <p:cNvGrpSpPr/>
          <p:nvPr/>
        </p:nvGrpSpPr>
        <p:grpSpPr>
          <a:xfrm>
            <a:off x="6248400" y="1657350"/>
            <a:ext cx="2514600" cy="2686050"/>
            <a:chOff x="6248400" y="1657350"/>
            <a:chExt cx="2514600" cy="2686050"/>
          </a:xfrm>
        </p:grpSpPr>
        <p:sp>
          <p:nvSpPr>
            <p:cNvPr id="18" name="Rectangle 18"/>
            <p:cNvSpPr/>
            <p:nvPr/>
          </p:nvSpPr>
          <p:spPr>
            <a:xfrm>
              <a:off x="6248400" y="1657350"/>
              <a:ext cx="2514600" cy="2686050"/>
            </a:xfrm>
            <a:prstGeom prst="roundRect">
              <a:avLst>
                <a:gd name="adj" fmla="val 6061"/>
              </a:avLst>
            </a:prstGeom>
            <a:solidFill>
              <a:srgbClr val="FDE9E5"/>
            </a:solidFill>
            <a:ln>
              <a:noFill/>
            </a:ln>
          </p:spPr>
        </p:sp>
        <p:sp>
          <p:nvSpPr>
            <p:cNvPr id="19" name="TextBox 19"/>
            <p:cNvSpPr txBox="1"/>
            <p:nvPr/>
          </p:nvSpPr>
          <p:spPr>
            <a:xfrm>
              <a:off x="6468237" y="1861661"/>
              <a:ext cx="418680" cy="337376"/>
            </a:xfrm>
            <a:prstGeom prst="rect">
              <a:avLst/>
            </a:prstGeom>
            <a:noFill/>
            <a:ln>
              <a:noFill/>
            </a:ln>
          </p:spPr>
          <p:txBody>
            <a:bodyPr wrap="none" lIns="0" tIns="0" rIns="0" bIns="0" anchor="t" anchorCtr="0">
              <a:spAutoFit/>
            </a:bodyPr>
            <a:lstStyle/>
            <a:p>
              <a:pPr algn="l"/>
              <a:r>
                <a:rPr lang="en-US" sz="1720" b="1" dirty="0">
                  <a:solidFill>
                    <a:srgbClr val="C3402D"/>
                  </a:solidFill>
                  <a:latin typeface="Consolas"/>
                  <a:ea typeface="Consolas"/>
                  <a:cs typeface="Consolas"/>
                </a:rPr>
                <a:t>str</a:t>
              </a:r>
            </a:p>
          </p:txBody>
        </p:sp>
        <p:sp>
          <p:nvSpPr>
            <p:cNvPr id="20" name="TextBox 20"/>
            <p:cNvSpPr txBox="1"/>
            <p:nvPr/>
          </p:nvSpPr>
          <p:spPr>
            <a:xfrm>
              <a:off x="6468237" y="2461736"/>
              <a:ext cx="143651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Consolas"/>
                  <a:ea typeface="Consolas"/>
                  <a:cs typeface="Consolas"/>
                </a:rPr>
                <a:t>"Rectangle"</a:t>
              </a:r>
            </a:p>
          </p:txBody>
        </p:sp>
        <p:sp>
          <p:nvSpPr>
            <p:cNvPr id="21" name="TextBox 21"/>
            <p:cNvSpPr txBox="1"/>
            <p:nvPr/>
          </p:nvSpPr>
          <p:spPr>
            <a:xfrm>
              <a:off x="6467475" y="2997994"/>
              <a:ext cx="837203"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String</a:t>
              </a:r>
            </a:p>
          </p:txBody>
        </p:sp>
        <p:sp>
          <p:nvSpPr>
            <p:cNvPr id="22" name="TextBox 22"/>
            <p:cNvSpPr txBox="1"/>
            <p:nvPr/>
          </p:nvSpPr>
          <p:spPr>
            <a:xfrm>
              <a:off x="6468237" y="3376136"/>
              <a:ext cx="1634364"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Text in quotes</a:t>
              </a:r>
            </a:p>
          </p:txBody>
        </p:sp>
      </p:grpSp>
      <p:grpSp>
        <p:nvGrpSpPr>
          <p:cNvPr id="29" name="Group 29"/>
          <p:cNvGrpSpPr/>
          <p:nvPr/>
        </p:nvGrpSpPr>
        <p:grpSpPr>
          <a:xfrm>
            <a:off x="9067800" y="1657350"/>
            <a:ext cx="2514600" cy="2686050"/>
            <a:chOff x="9067800" y="1657350"/>
            <a:chExt cx="2514600" cy="2686050"/>
          </a:xfrm>
        </p:grpSpPr>
        <p:sp>
          <p:nvSpPr>
            <p:cNvPr id="24" name="Rectangle 24"/>
            <p:cNvSpPr/>
            <p:nvPr/>
          </p:nvSpPr>
          <p:spPr>
            <a:xfrm>
              <a:off x="9067800" y="1657350"/>
              <a:ext cx="2514600" cy="2686050"/>
            </a:xfrm>
            <a:prstGeom prst="roundRect">
              <a:avLst>
                <a:gd name="adj" fmla="val 6061"/>
              </a:avLst>
            </a:prstGeom>
            <a:solidFill>
              <a:srgbClr val="E9E7F4"/>
            </a:solidFill>
            <a:ln>
              <a:noFill/>
            </a:ln>
          </p:spPr>
        </p:sp>
        <p:sp>
          <p:nvSpPr>
            <p:cNvPr id="25" name="TextBox 25"/>
            <p:cNvSpPr txBox="1"/>
            <p:nvPr/>
          </p:nvSpPr>
          <p:spPr>
            <a:xfrm>
              <a:off x="9287637" y="1861661"/>
              <a:ext cx="491617" cy="337376"/>
            </a:xfrm>
            <a:prstGeom prst="rect">
              <a:avLst/>
            </a:prstGeom>
            <a:noFill/>
            <a:ln>
              <a:noFill/>
            </a:ln>
          </p:spPr>
          <p:txBody>
            <a:bodyPr wrap="none" lIns="0" tIns="0" rIns="0" bIns="0" anchor="t" anchorCtr="0">
              <a:spAutoFit/>
            </a:bodyPr>
            <a:lstStyle/>
            <a:p>
              <a:pPr algn="l"/>
              <a:r>
                <a:rPr lang="en-US" sz="1720" b="1" dirty="0">
                  <a:solidFill>
                    <a:srgbClr val="51458C"/>
                  </a:solidFill>
                  <a:latin typeface="Consolas"/>
                  <a:ea typeface="Consolas"/>
                  <a:cs typeface="Consolas"/>
                </a:rPr>
                <a:t>bool</a:t>
              </a:r>
            </a:p>
          </p:txBody>
        </p:sp>
        <p:sp>
          <p:nvSpPr>
            <p:cNvPr id="26" name="TextBox 26"/>
            <p:cNvSpPr txBox="1"/>
            <p:nvPr/>
          </p:nvSpPr>
          <p:spPr>
            <a:xfrm>
              <a:off x="9279636" y="2367915"/>
              <a:ext cx="1074258"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True</a:t>
              </a:r>
            </a:p>
          </p:txBody>
        </p:sp>
        <p:sp>
          <p:nvSpPr>
            <p:cNvPr id="27" name="TextBox 27"/>
            <p:cNvSpPr txBox="1"/>
            <p:nvPr/>
          </p:nvSpPr>
          <p:spPr>
            <a:xfrm>
              <a:off x="9286875" y="2997994"/>
              <a:ext cx="983449"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Boolean</a:t>
              </a:r>
            </a:p>
          </p:txBody>
        </p:sp>
        <p:sp>
          <p:nvSpPr>
            <p:cNvPr id="28" name="TextBox 28"/>
            <p:cNvSpPr txBox="1"/>
            <p:nvPr/>
          </p:nvSpPr>
          <p:spPr>
            <a:xfrm>
              <a:off x="9287637" y="3376136"/>
              <a:ext cx="1514674"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True or False</a:t>
              </a:r>
            </a:p>
          </p:txBody>
        </p:sp>
      </p:grpSp>
      <p:grpSp>
        <p:nvGrpSpPr>
          <p:cNvPr id="37" name="Group 37"/>
          <p:cNvGrpSpPr/>
          <p:nvPr/>
        </p:nvGrpSpPr>
        <p:grpSpPr>
          <a:xfrm>
            <a:off x="609600" y="4705350"/>
            <a:ext cx="10972800" cy="914400"/>
            <a:chOff x="609600" y="4705350"/>
            <a:chExt cx="10972800" cy="914400"/>
          </a:xfrm>
        </p:grpSpPr>
        <p:sp>
          <p:nvSpPr>
            <p:cNvPr id="30" name="Rectangle 30"/>
            <p:cNvSpPr/>
            <p:nvPr/>
          </p:nvSpPr>
          <p:spPr>
            <a:xfrm>
              <a:off x="609600" y="4705350"/>
              <a:ext cx="10972800" cy="914400"/>
            </a:xfrm>
            <a:prstGeom prst="roundRect">
              <a:avLst>
                <a:gd name="adj" fmla="val 16667"/>
              </a:avLst>
            </a:prstGeom>
            <a:solidFill>
              <a:schemeClr val="dk1"/>
            </a:solidFill>
            <a:ln>
              <a:noFill/>
            </a:ln>
          </p:spPr>
        </p:sp>
        <p:sp>
          <p:nvSpPr>
            <p:cNvPr id="31" name="TextBox 31"/>
            <p:cNvSpPr txBox="1"/>
            <p:nvPr/>
          </p:nvSpPr>
          <p:spPr>
            <a:xfrm>
              <a:off x="864870" y="4852988"/>
              <a:ext cx="19778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Consolas"/>
                  <a:ea typeface="Consolas"/>
                  <a:cs typeface="Consolas"/>
                </a:rPr>
                <a:t>5</a:t>
              </a:r>
            </a:p>
          </p:txBody>
        </p:sp>
        <p:sp>
          <p:nvSpPr>
            <p:cNvPr id="32" name="TextBox 32"/>
            <p:cNvSpPr txBox="1"/>
            <p:nvPr/>
          </p:nvSpPr>
          <p:spPr>
            <a:xfrm>
              <a:off x="1286637" y="4909661"/>
              <a:ext cx="1291031"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mn-lt"/>
                  <a:ea typeface="+mn-ea"/>
                  <a:cs typeface="+mn-cs"/>
                </a:rPr>
                <a:t>is a number</a:t>
              </a:r>
            </a:p>
          </p:txBody>
        </p:sp>
        <p:sp>
          <p:nvSpPr>
            <p:cNvPr id="33" name="TextBox 33"/>
            <p:cNvSpPr txBox="1"/>
            <p:nvPr/>
          </p:nvSpPr>
          <p:spPr>
            <a:xfrm>
              <a:off x="4131945" y="4852988"/>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"5"</a:t>
              </a:r>
            </a:p>
          </p:txBody>
        </p:sp>
        <p:sp>
          <p:nvSpPr>
            <p:cNvPr id="34" name="TextBox 34"/>
            <p:cNvSpPr txBox="1"/>
            <p:nvPr/>
          </p:nvSpPr>
          <p:spPr>
            <a:xfrm>
              <a:off x="4763262" y="4909661"/>
              <a:ext cx="793206"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mn-lt"/>
                  <a:ea typeface="+mn-ea"/>
                  <a:cs typeface="+mn-cs"/>
                </a:rPr>
                <a:t>is text</a:t>
              </a:r>
            </a:p>
          </p:txBody>
        </p:sp>
        <p:sp>
          <p:nvSpPr>
            <p:cNvPr id="35" name="TextBox 35"/>
            <p:cNvSpPr txBox="1"/>
            <p:nvPr/>
          </p:nvSpPr>
          <p:spPr>
            <a:xfrm>
              <a:off x="7230237" y="4909661"/>
              <a:ext cx="3745117" cy="337376"/>
            </a:xfrm>
            <a:prstGeom prst="rect">
              <a:avLst/>
            </a:prstGeom>
            <a:noFill/>
            <a:ln>
              <a:noFill/>
            </a:ln>
          </p:spPr>
          <p:txBody>
            <a:bodyPr wrap="none" lIns="0" tIns="0" rIns="0" bIns="0" anchor="t" anchorCtr="0">
              <a:spAutoFit/>
            </a:bodyPr>
            <a:lstStyle/>
            <a:p>
              <a:pPr algn="l"/>
              <a:r>
                <a:rPr lang="en-US" sz="1720" b="1" dirty="0">
                  <a:solidFill>
                    <a:srgbClr val="9FD8D2"/>
                  </a:solidFill>
                  <a:latin typeface="+mn-lt"/>
                  <a:ea typeface="+mn-ea"/>
                  <a:cs typeface="+mn-cs"/>
                </a:rPr>
                <a:t>Type controls valid operations.</a:t>
              </a:r>
            </a:p>
          </p:txBody>
        </p:sp>
        <p:sp>
          <p:nvSpPr>
            <p:cNvPr id="36" name="TextBox 36"/>
            <p:cNvSpPr txBox="1"/>
            <p:nvPr/>
          </p:nvSpPr>
          <p:spPr>
            <a:xfrm>
              <a:off x="869442" y="5264468"/>
              <a:ext cx="4447165" cy="264033"/>
            </a:xfrm>
            <a:prstGeom prst="rect">
              <a:avLst/>
            </a:prstGeom>
            <a:noFill/>
            <a:ln>
              <a:noFill/>
            </a:ln>
          </p:spPr>
          <p:txBody>
            <a:bodyPr wrap="none" lIns="0" tIns="0" rIns="0" bIns="0" anchor="t" anchorCtr="0">
              <a:spAutoFit/>
            </a:bodyPr>
            <a:lstStyle/>
            <a:p>
              <a:pPr algn="l"/>
              <a:r>
                <a:rPr lang="en-US" sz="1350" dirty="0">
                  <a:solidFill>
                    <a:srgbClr val="C9D2D1"/>
                  </a:solidFill>
                  <a:latin typeface="Consolas"/>
                  <a:ea typeface="Consolas"/>
                  <a:cs typeface="Consolas"/>
                </a:rPr>
                <a:t>type(5) type(3.5) type("Rectangle") type(True)</a:t>
              </a:r>
            </a:p>
          </p:txBody>
        </p:sp>
      </p:grpSp>
      <p:grpSp>
        <p:nvGrpSpPr>
          <p:cNvPr id="40" name="Group 40"/>
          <p:cNvGrpSpPr/>
          <p:nvPr/>
        </p:nvGrpSpPr>
        <p:grpSpPr>
          <a:xfrm>
            <a:off x="602742" y="6274118"/>
            <a:ext cx="10710291" cy="264033"/>
            <a:chOff x="602742" y="6274118"/>
            <a:chExt cx="10710291" cy="264033"/>
          </a:xfrm>
        </p:grpSpPr>
        <p:sp>
          <p:nvSpPr>
            <p:cNvPr id="38" name="TextBox 38"/>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9" name="TextBox 39"/>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8817544" cy="911161"/>
            <a:chOff x="592836" y="597218"/>
            <a:chExt cx="8817544" cy="911161"/>
          </a:xfrm>
        </p:grpSpPr>
        <p:sp>
          <p:nvSpPr>
            <p:cNvPr id="3" name="TextBox 3"/>
            <p:cNvSpPr txBox="1"/>
            <p:nvPr/>
          </p:nvSpPr>
          <p:spPr>
            <a:xfrm>
              <a:off x="602742" y="597218"/>
              <a:ext cx="14150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05 / VARIABLES</a:t>
              </a:r>
            </a:p>
          </p:txBody>
        </p:sp>
        <p:sp>
          <p:nvSpPr>
            <p:cNvPr id="4" name="TextBox 4"/>
            <p:cNvSpPr txBox="1"/>
            <p:nvPr/>
          </p:nvSpPr>
          <p:spPr>
            <a:xfrm>
              <a:off x="592836" y="862965"/>
              <a:ext cx="881754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Variables give values meaningful names</a:t>
              </a:r>
            </a:p>
          </p:txBody>
        </p:sp>
      </p:grpSp>
      <p:grpSp>
        <p:nvGrpSpPr>
          <p:cNvPr id="7" name="Group 7"/>
          <p:cNvGrpSpPr/>
          <p:nvPr/>
        </p:nvGrpSpPr>
        <p:grpSpPr>
          <a:xfrm>
            <a:off x="600075" y="1588294"/>
            <a:ext cx="5380722" cy="366712"/>
            <a:chOff x="600075" y="1588294"/>
            <a:chExt cx="5380722" cy="366712"/>
          </a:xfrm>
        </p:grpSpPr>
        <p:sp>
          <p:nvSpPr>
            <p:cNvPr id="6" name="TextBox 6"/>
            <p:cNvSpPr txBox="1"/>
            <p:nvPr/>
          </p:nvSpPr>
          <p:spPr>
            <a:xfrm>
              <a:off x="600075" y="1588294"/>
              <a:ext cx="5380722"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A variable is a name that refers to a value.</a:t>
              </a:r>
            </a:p>
          </p:txBody>
        </p:sp>
      </p:grpSp>
      <p:grpSp>
        <p:nvGrpSpPr>
          <p:cNvPr id="15" name="Group 15"/>
          <p:cNvGrpSpPr/>
          <p:nvPr/>
        </p:nvGrpSpPr>
        <p:grpSpPr>
          <a:xfrm>
            <a:off x="609600" y="2190750"/>
            <a:ext cx="10972800" cy="1352550"/>
            <a:chOff x="609600" y="2190750"/>
            <a:chExt cx="10972800" cy="1352550"/>
          </a:xfrm>
        </p:grpSpPr>
        <p:sp>
          <p:nvSpPr>
            <p:cNvPr id="8" name="Rectangle 8"/>
            <p:cNvSpPr/>
            <p:nvPr/>
          </p:nvSpPr>
          <p:spPr>
            <a:xfrm>
              <a:off x="609600" y="2190750"/>
              <a:ext cx="10972800" cy="1352550"/>
            </a:xfrm>
            <a:prstGeom prst="roundRect">
              <a:avLst>
                <a:gd name="adj" fmla="val 11268"/>
              </a:avLst>
            </a:prstGeom>
            <a:solidFill>
              <a:schemeClr val="dk1"/>
            </a:solidFill>
            <a:ln>
              <a:noFill/>
            </a:ln>
          </p:spPr>
        </p:sp>
        <p:sp>
          <p:nvSpPr>
            <p:cNvPr id="9" name="TextBox 9"/>
            <p:cNvSpPr txBox="1"/>
            <p:nvPr/>
          </p:nvSpPr>
          <p:spPr>
            <a:xfrm>
              <a:off x="2402586" y="2596515"/>
              <a:ext cx="1456226" cy="645414"/>
            </a:xfrm>
            <a:prstGeom prst="rect">
              <a:avLst/>
            </a:prstGeom>
            <a:noFill/>
            <a:ln>
              <a:noFill/>
            </a:ln>
          </p:spPr>
          <p:txBody>
            <a:bodyPr wrap="none" lIns="0" tIns="0" rIns="0" bIns="0" anchor="t" anchorCtr="0">
              <a:spAutoFit/>
            </a:bodyPr>
            <a:lstStyle/>
            <a:p>
              <a:pPr algn="l"/>
              <a:r>
                <a:rPr lang="en-US" sz="3300" b="1" dirty="0">
                  <a:solidFill>
                    <a:srgbClr val="9FD8D2"/>
                  </a:solidFill>
                  <a:latin typeface="Consolas"/>
                  <a:ea typeface="Consolas"/>
                  <a:cs typeface="Consolas"/>
                </a:rPr>
                <a:t>length</a:t>
              </a:r>
            </a:p>
          </p:txBody>
        </p:sp>
        <p:sp>
          <p:nvSpPr>
            <p:cNvPr id="10" name="TextBox 10"/>
            <p:cNvSpPr txBox="1"/>
            <p:nvPr/>
          </p:nvSpPr>
          <p:spPr>
            <a:xfrm>
              <a:off x="5393436" y="2596515"/>
              <a:ext cx="290080"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a:t>
              </a:r>
            </a:p>
          </p:txBody>
        </p:sp>
        <p:sp>
          <p:nvSpPr>
            <p:cNvPr id="11" name="TextBox 11"/>
            <p:cNvSpPr txBox="1"/>
            <p:nvPr/>
          </p:nvSpPr>
          <p:spPr>
            <a:xfrm>
              <a:off x="7317486" y="2596515"/>
              <a:ext cx="290080" cy="645414"/>
            </a:xfrm>
            <a:prstGeom prst="rect">
              <a:avLst/>
            </a:prstGeom>
            <a:noFill/>
            <a:ln>
              <a:noFill/>
            </a:ln>
          </p:spPr>
          <p:txBody>
            <a:bodyPr wrap="none" lIns="0" tIns="0" rIns="0" bIns="0" anchor="t" anchorCtr="0">
              <a:spAutoFit/>
            </a:bodyPr>
            <a:lstStyle/>
            <a:p>
              <a:pPr algn="l"/>
              <a:r>
                <a:rPr lang="en-US" sz="3300" b="1" dirty="0">
                  <a:solidFill>
                    <a:schemeClr val="accent3"/>
                  </a:solidFill>
                  <a:latin typeface="Consolas"/>
                  <a:ea typeface="Consolas"/>
                  <a:cs typeface="Consolas"/>
                </a:rPr>
                <a:t>5</a:t>
              </a:r>
            </a:p>
          </p:txBody>
        </p:sp>
        <p:sp>
          <p:nvSpPr>
            <p:cNvPr id="12" name="TextBox 12"/>
            <p:cNvSpPr txBox="1"/>
            <p:nvPr/>
          </p:nvSpPr>
          <p:spPr>
            <a:xfrm>
              <a:off x="2374392" y="3149918"/>
              <a:ext cx="1213180"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variable name</a:t>
              </a:r>
            </a:p>
          </p:txBody>
        </p:sp>
        <p:sp>
          <p:nvSpPr>
            <p:cNvPr id="13" name="TextBox 13"/>
            <p:cNvSpPr txBox="1"/>
            <p:nvPr/>
          </p:nvSpPr>
          <p:spPr>
            <a:xfrm>
              <a:off x="5022342" y="3149918"/>
              <a:ext cx="56801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assign</a:t>
              </a:r>
            </a:p>
          </p:txBody>
        </p:sp>
        <p:sp>
          <p:nvSpPr>
            <p:cNvPr id="14" name="TextBox 14"/>
            <p:cNvSpPr txBox="1"/>
            <p:nvPr/>
          </p:nvSpPr>
          <p:spPr>
            <a:xfrm>
              <a:off x="7117842" y="3149918"/>
              <a:ext cx="468058"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value</a:t>
              </a:r>
            </a:p>
          </p:txBody>
        </p:sp>
      </p:grpSp>
      <p:grpSp>
        <p:nvGrpSpPr>
          <p:cNvPr id="23" name="Group 23"/>
          <p:cNvGrpSpPr/>
          <p:nvPr/>
        </p:nvGrpSpPr>
        <p:grpSpPr>
          <a:xfrm>
            <a:off x="600075" y="4160044"/>
            <a:ext cx="5686425" cy="1212056"/>
            <a:chOff x="600075" y="4160044"/>
            <a:chExt cx="5686425" cy="1212056"/>
          </a:xfrm>
        </p:grpSpPr>
        <p:sp>
          <p:nvSpPr>
            <p:cNvPr id="16" name="TextBox 16"/>
            <p:cNvSpPr txBox="1"/>
            <p:nvPr/>
          </p:nvSpPr>
          <p:spPr>
            <a:xfrm>
              <a:off x="600075" y="4160044"/>
              <a:ext cx="4133338"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Reassignment changes the value</a:t>
              </a:r>
            </a:p>
          </p:txBody>
        </p:sp>
        <p:sp>
          <p:nvSpPr>
            <p:cNvPr id="17" name="Rectangle 17"/>
            <p:cNvSpPr/>
            <p:nvPr/>
          </p:nvSpPr>
          <p:spPr>
            <a:xfrm>
              <a:off x="609600" y="4591050"/>
              <a:ext cx="2190750" cy="781050"/>
            </a:xfrm>
            <a:prstGeom prst="roundRect">
              <a:avLst>
                <a:gd name="adj" fmla="val 19512"/>
              </a:avLst>
            </a:prstGeom>
            <a:solidFill>
              <a:schemeClr val="accent5"/>
            </a:solidFill>
            <a:ln>
              <a:noFill/>
            </a:ln>
          </p:spPr>
        </p:sp>
        <p:sp>
          <p:nvSpPr>
            <p:cNvPr id="18" name="TextBox 18"/>
            <p:cNvSpPr txBox="1"/>
            <p:nvPr/>
          </p:nvSpPr>
          <p:spPr>
            <a:xfrm>
              <a:off x="819912" y="4890611"/>
              <a:ext cx="1117371"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length = 5</a:t>
              </a:r>
            </a:p>
          </p:txBody>
        </p:sp>
        <p:sp>
          <p:nvSpPr>
            <p:cNvPr id="19" name="Freeform 19"/>
            <p:cNvSpPr/>
            <p:nvPr/>
          </p:nvSpPr>
          <p:spPr>
            <a:xfrm>
              <a:off x="3028950" y="4981575"/>
              <a:ext cx="800100" cy="9525"/>
            </a:xfrm>
            <a:custGeom>
              <a:avLst/>
              <a:gdLst/>
              <a:ahLst/>
              <a:cxnLst/>
              <a:rect l="l" t="t" r="r" b="b"/>
              <a:pathLst>
                <a:path w="800100" h="9525">
                  <a:moveTo>
                    <a:pt x="0" y="0"/>
                  </a:moveTo>
                  <a:lnTo>
                    <a:pt x="800100" y="0"/>
                  </a:lnTo>
                </a:path>
              </a:pathLst>
            </a:custGeom>
            <a:solidFill>
              <a:srgbClr val="000000"/>
            </a:solidFill>
            <a:ln w="38100">
              <a:solidFill>
                <a:schemeClr val="accent1"/>
              </a:solidFill>
            </a:ln>
          </p:spPr>
        </p:sp>
        <p:sp>
          <p:nvSpPr>
            <p:cNvPr id="20" name="Freeform 20"/>
            <p:cNvSpPr/>
            <p:nvPr/>
          </p:nvSpPr>
          <p:spPr>
            <a:xfrm>
              <a:off x="3752850" y="4886325"/>
              <a:ext cx="133350" cy="190500"/>
            </a:xfrm>
            <a:custGeom>
              <a:avLst/>
              <a:gdLst/>
              <a:ahLst/>
              <a:cxnLst/>
              <a:rect l="l" t="t" r="r" b="b"/>
              <a:pathLst>
                <a:path w="133350" h="190500">
                  <a:moveTo>
                    <a:pt x="0" y="0"/>
                  </a:moveTo>
                  <a:lnTo>
                    <a:pt x="133350" y="95250"/>
                  </a:lnTo>
                  <a:lnTo>
                    <a:pt x="0" y="190500"/>
                  </a:lnTo>
                  <a:close/>
                </a:path>
              </a:pathLst>
            </a:custGeom>
            <a:solidFill>
              <a:schemeClr val="accent1"/>
            </a:solidFill>
            <a:ln>
              <a:noFill/>
            </a:ln>
          </p:spPr>
        </p:sp>
        <p:sp>
          <p:nvSpPr>
            <p:cNvPr id="21" name="Rectangle 21"/>
            <p:cNvSpPr/>
            <p:nvPr/>
          </p:nvSpPr>
          <p:spPr>
            <a:xfrm>
              <a:off x="4095750" y="4591050"/>
              <a:ext cx="2190750" cy="781050"/>
            </a:xfrm>
            <a:prstGeom prst="roundRect">
              <a:avLst>
                <a:gd name="adj" fmla="val 19512"/>
              </a:avLst>
            </a:prstGeom>
            <a:solidFill>
              <a:srgbClr val="FDE9E5"/>
            </a:solidFill>
            <a:ln>
              <a:noFill/>
            </a:ln>
          </p:spPr>
        </p:sp>
        <p:sp>
          <p:nvSpPr>
            <p:cNvPr id="22" name="TextBox 22"/>
            <p:cNvSpPr txBox="1"/>
            <p:nvPr/>
          </p:nvSpPr>
          <p:spPr>
            <a:xfrm>
              <a:off x="4306062" y="4890611"/>
              <a:ext cx="1117371"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length = 7</a:t>
              </a:r>
            </a:p>
          </p:txBody>
        </p:sp>
      </p:grpSp>
      <p:grpSp>
        <p:nvGrpSpPr>
          <p:cNvPr id="30" name="Group 30"/>
          <p:cNvGrpSpPr/>
          <p:nvPr/>
        </p:nvGrpSpPr>
        <p:grpSpPr>
          <a:xfrm>
            <a:off x="7620000" y="4000500"/>
            <a:ext cx="3962400" cy="1416367"/>
            <a:chOff x="7620000" y="4000500"/>
            <a:chExt cx="3962400" cy="1416367"/>
          </a:xfrm>
        </p:grpSpPr>
        <p:sp>
          <p:nvSpPr>
            <p:cNvPr id="24" name="Rectangle 24"/>
            <p:cNvSpPr/>
            <p:nvPr/>
          </p:nvSpPr>
          <p:spPr>
            <a:xfrm>
              <a:off x="7620000" y="4000500"/>
              <a:ext cx="3962400" cy="1371600"/>
            </a:xfrm>
            <a:prstGeom prst="roundRect">
              <a:avLst>
                <a:gd name="adj" fmla="val 11111"/>
              </a:avLst>
            </a:prstGeom>
            <a:solidFill>
              <a:schemeClr val="accent5"/>
            </a:solidFill>
            <a:ln>
              <a:noFill/>
            </a:ln>
          </p:spPr>
        </p:sp>
        <p:sp>
          <p:nvSpPr>
            <p:cNvPr id="25" name="TextBox 25"/>
            <p:cNvSpPr txBox="1"/>
            <p:nvPr/>
          </p:nvSpPr>
          <p:spPr>
            <a:xfrm>
              <a:off x="7915275" y="4207669"/>
              <a:ext cx="1941402"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Do not confuse</a:t>
              </a:r>
            </a:p>
          </p:txBody>
        </p:sp>
        <p:sp>
          <p:nvSpPr>
            <p:cNvPr id="26" name="TextBox 26"/>
            <p:cNvSpPr txBox="1"/>
            <p:nvPr/>
          </p:nvSpPr>
          <p:spPr>
            <a:xfrm>
              <a:off x="7913370" y="46148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Consolas"/>
                  <a:ea typeface="Consolas"/>
                  <a:cs typeface="Consolas"/>
                </a:rPr>
                <a:t>=</a:t>
              </a:r>
            </a:p>
          </p:txBody>
        </p:sp>
        <p:sp>
          <p:nvSpPr>
            <p:cNvPr id="27" name="TextBox 27"/>
            <p:cNvSpPr txBox="1"/>
            <p:nvPr/>
          </p:nvSpPr>
          <p:spPr>
            <a:xfrm>
              <a:off x="8373237" y="4671536"/>
              <a:ext cx="1696237"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assigns a value</a:t>
              </a:r>
            </a:p>
          </p:txBody>
        </p:sp>
        <p:sp>
          <p:nvSpPr>
            <p:cNvPr id="28" name="TextBox 28"/>
            <p:cNvSpPr txBox="1"/>
            <p:nvPr/>
          </p:nvSpPr>
          <p:spPr>
            <a:xfrm>
              <a:off x="7913370" y="4976812"/>
              <a:ext cx="37270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a:t>
              </a:r>
            </a:p>
          </p:txBody>
        </p:sp>
        <p:sp>
          <p:nvSpPr>
            <p:cNvPr id="29" name="TextBox 29"/>
            <p:cNvSpPr txBox="1"/>
            <p:nvPr/>
          </p:nvSpPr>
          <p:spPr>
            <a:xfrm>
              <a:off x="8544687" y="5033486"/>
              <a:ext cx="1858320"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compares values</a:t>
              </a:r>
            </a:p>
          </p:txBody>
        </p:sp>
      </p:grpSp>
      <p:grpSp>
        <p:nvGrpSpPr>
          <p:cNvPr id="33" name="Group 33"/>
          <p:cNvGrpSpPr/>
          <p:nvPr/>
        </p:nvGrpSpPr>
        <p:grpSpPr>
          <a:xfrm>
            <a:off x="600837" y="5728811"/>
            <a:ext cx="4473659" cy="337376"/>
            <a:chOff x="600837" y="5728811"/>
            <a:chExt cx="4473659" cy="337376"/>
          </a:xfrm>
        </p:grpSpPr>
        <p:sp>
          <p:nvSpPr>
            <p:cNvPr id="31" name="TextBox 31"/>
            <p:cNvSpPr txBox="1"/>
            <p:nvPr/>
          </p:nvSpPr>
          <p:spPr>
            <a:xfrm>
              <a:off x="600837" y="5728811"/>
              <a:ext cx="285793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Clear: rectangle_length</a:t>
              </a:r>
            </a:p>
          </p:txBody>
        </p:sp>
        <p:sp>
          <p:nvSpPr>
            <p:cNvPr id="32" name="TextBox 32"/>
            <p:cNvSpPr txBox="1"/>
            <p:nvPr/>
          </p:nvSpPr>
          <p:spPr>
            <a:xfrm>
              <a:off x="4086987" y="5728811"/>
              <a:ext cx="987509" cy="337376"/>
            </a:xfrm>
            <a:prstGeom prst="rect">
              <a:avLst/>
            </a:prstGeom>
            <a:noFill/>
            <a:ln>
              <a:noFill/>
            </a:ln>
          </p:spPr>
          <p:txBody>
            <a:bodyPr wrap="none" lIns="0" tIns="0" rIns="0" bIns="0" anchor="t" anchorCtr="0">
              <a:spAutoFit/>
            </a:bodyPr>
            <a:lstStyle/>
            <a:p>
              <a:pPr algn="l"/>
              <a:r>
                <a:rPr lang="en-US" sz="1720" dirty="0">
                  <a:solidFill>
                    <a:srgbClr val="5F6B6A"/>
                  </a:solidFill>
                  <a:latin typeface="+mn-lt"/>
                  <a:ea typeface="+mn-ea"/>
                  <a:cs typeface="+mn-cs"/>
                </a:rPr>
                <a:t>Vague: x</a:t>
              </a:r>
            </a:p>
          </p:txBody>
        </p:sp>
      </p:grpSp>
      <p:grpSp>
        <p:nvGrpSpPr>
          <p:cNvPr id="36" name="Group 36"/>
          <p:cNvGrpSpPr/>
          <p:nvPr/>
        </p:nvGrpSpPr>
        <p:grpSpPr>
          <a:xfrm>
            <a:off x="602742" y="6274118"/>
            <a:ext cx="10710291" cy="264033"/>
            <a:chOff x="602742" y="6274118"/>
            <a:chExt cx="10710291" cy="264033"/>
          </a:xfrm>
        </p:grpSpPr>
        <p:sp>
          <p:nvSpPr>
            <p:cNvPr id="34" name="TextBox 34"/>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5" name="TextBox 35"/>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7534797" cy="911161"/>
            <a:chOff x="592836" y="597218"/>
            <a:chExt cx="7534797" cy="911161"/>
          </a:xfrm>
        </p:grpSpPr>
        <p:sp>
          <p:nvSpPr>
            <p:cNvPr id="3" name="TextBox 3"/>
            <p:cNvSpPr txBox="1"/>
            <p:nvPr/>
          </p:nvSpPr>
          <p:spPr>
            <a:xfrm>
              <a:off x="602742" y="597218"/>
              <a:ext cx="167712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06 / EXPRESSIONS</a:t>
              </a:r>
            </a:p>
          </p:txBody>
        </p:sp>
        <p:sp>
          <p:nvSpPr>
            <p:cNvPr id="4" name="TextBox 4"/>
            <p:cNvSpPr txBox="1"/>
            <p:nvPr/>
          </p:nvSpPr>
          <p:spPr>
            <a:xfrm>
              <a:off x="592836" y="862965"/>
              <a:ext cx="7534797"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Expressions calculate new values</a:t>
              </a:r>
            </a:p>
          </p:txBody>
        </p:sp>
      </p:grpSp>
      <p:grpSp>
        <p:nvGrpSpPr>
          <p:cNvPr id="7" name="Group 7"/>
          <p:cNvGrpSpPr/>
          <p:nvPr/>
        </p:nvGrpSpPr>
        <p:grpSpPr>
          <a:xfrm>
            <a:off x="600075" y="1540669"/>
            <a:ext cx="9644944" cy="366712"/>
            <a:chOff x="600075" y="1540669"/>
            <a:chExt cx="9644944" cy="366712"/>
          </a:xfrm>
        </p:grpSpPr>
        <p:sp>
          <p:nvSpPr>
            <p:cNvPr id="6" name="TextBox 6"/>
            <p:cNvSpPr txBox="1"/>
            <p:nvPr/>
          </p:nvSpPr>
          <p:spPr>
            <a:xfrm>
              <a:off x="600075" y="1540669"/>
              <a:ext cx="9644944"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An expression combines values, variables, and operators to produce a result.</a:t>
              </a:r>
            </a:p>
          </p:txBody>
        </p:sp>
      </p:grpSp>
      <p:grpSp>
        <p:nvGrpSpPr>
          <p:cNvPr id="14" name="Group 14"/>
          <p:cNvGrpSpPr/>
          <p:nvPr/>
        </p:nvGrpSpPr>
        <p:grpSpPr>
          <a:xfrm>
            <a:off x="609600" y="2114550"/>
            <a:ext cx="4495800" cy="2403729"/>
            <a:chOff x="609600" y="2114550"/>
            <a:chExt cx="4495800" cy="2403729"/>
          </a:xfrm>
        </p:grpSpPr>
        <p:sp>
          <p:nvSpPr>
            <p:cNvPr id="8" name="Rectangle 8"/>
            <p:cNvSpPr/>
            <p:nvPr/>
          </p:nvSpPr>
          <p:spPr>
            <a:xfrm>
              <a:off x="609600" y="2114550"/>
              <a:ext cx="4495800" cy="2381250"/>
            </a:xfrm>
            <a:prstGeom prst="roundRect">
              <a:avLst>
                <a:gd name="adj" fmla="val 6400"/>
              </a:avLst>
            </a:prstGeom>
            <a:solidFill>
              <a:schemeClr val="accent5"/>
            </a:solidFill>
            <a:ln>
              <a:noFill/>
            </a:ln>
          </p:spPr>
        </p:sp>
        <p:sp>
          <p:nvSpPr>
            <p:cNvPr id="9" name="TextBox 9"/>
            <p:cNvSpPr txBox="1"/>
            <p:nvPr/>
          </p:nvSpPr>
          <p:spPr>
            <a:xfrm>
              <a:off x="869442" y="2368868"/>
              <a:ext cx="161663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AREA EXPRESSION</a:t>
              </a:r>
            </a:p>
          </p:txBody>
        </p:sp>
        <p:sp>
          <p:nvSpPr>
            <p:cNvPr id="10" name="TextBox 10"/>
            <p:cNvSpPr txBox="1"/>
            <p:nvPr/>
          </p:nvSpPr>
          <p:spPr>
            <a:xfrm>
              <a:off x="864870" y="2824162"/>
              <a:ext cx="22173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length * width</a:t>
              </a:r>
            </a:p>
          </p:txBody>
        </p:sp>
        <p:sp>
          <p:nvSpPr>
            <p:cNvPr id="11" name="Freeform 11"/>
            <p:cNvSpPr/>
            <p:nvPr/>
          </p:nvSpPr>
          <p:spPr>
            <a:xfrm>
              <a:off x="876300" y="3314700"/>
              <a:ext cx="3810000" cy="9525"/>
            </a:xfrm>
            <a:custGeom>
              <a:avLst/>
              <a:gdLst/>
              <a:ahLst/>
              <a:cxnLst/>
              <a:rect l="l" t="t" r="r" b="b"/>
              <a:pathLst>
                <a:path w="3810000" h="9525">
                  <a:moveTo>
                    <a:pt x="0" y="0"/>
                  </a:moveTo>
                  <a:lnTo>
                    <a:pt x="3810000" y="0"/>
                  </a:lnTo>
                </a:path>
              </a:pathLst>
            </a:custGeom>
            <a:solidFill>
              <a:srgbClr val="000000"/>
            </a:solidFill>
            <a:ln w="28575">
              <a:solidFill>
                <a:srgbClr val="B9D4D1"/>
              </a:solidFill>
            </a:ln>
          </p:spPr>
        </p:sp>
        <p:sp>
          <p:nvSpPr>
            <p:cNvPr id="12" name="TextBox 12"/>
            <p:cNvSpPr txBox="1"/>
            <p:nvPr/>
          </p:nvSpPr>
          <p:spPr>
            <a:xfrm>
              <a:off x="864870" y="3490912"/>
              <a:ext cx="704374" cy="440055"/>
            </a:xfrm>
            <a:prstGeom prst="rect">
              <a:avLst/>
            </a:prstGeom>
            <a:noFill/>
            <a:ln>
              <a:noFill/>
            </a:ln>
          </p:spPr>
          <p:txBody>
            <a:bodyPr wrap="none" lIns="0" tIns="0" rIns="0" bIns="0" anchor="t" anchorCtr="0">
              <a:spAutoFit/>
            </a:bodyPr>
            <a:lstStyle/>
            <a:p>
              <a:pPr algn="l"/>
              <a:r>
                <a:rPr lang="en-US" sz="2250" dirty="0">
                  <a:solidFill>
                    <a:schemeClr val="dk1"/>
                  </a:solidFill>
                  <a:latin typeface="Consolas"/>
                  <a:ea typeface="Consolas"/>
                  <a:cs typeface="Consolas"/>
                </a:rPr>
                <a:t>5 * 3</a:t>
              </a:r>
            </a:p>
          </p:txBody>
        </p:sp>
        <p:sp>
          <p:nvSpPr>
            <p:cNvPr id="13" name="TextBox 13"/>
            <p:cNvSpPr txBox="1"/>
            <p:nvPr/>
          </p:nvSpPr>
          <p:spPr>
            <a:xfrm>
              <a:off x="859536" y="3872865"/>
              <a:ext cx="546632"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15</a:t>
              </a:r>
            </a:p>
          </p:txBody>
        </p:sp>
      </p:grpSp>
      <p:grpSp>
        <p:nvGrpSpPr>
          <p:cNvPr id="21" name="Group 21"/>
          <p:cNvGrpSpPr/>
          <p:nvPr/>
        </p:nvGrpSpPr>
        <p:grpSpPr>
          <a:xfrm>
            <a:off x="5410200" y="2114550"/>
            <a:ext cx="6172200" cy="2381250"/>
            <a:chOff x="5410200" y="2114550"/>
            <a:chExt cx="6172200" cy="2381250"/>
          </a:xfrm>
        </p:grpSpPr>
        <p:sp>
          <p:nvSpPr>
            <p:cNvPr id="15" name="Rectangle 15"/>
            <p:cNvSpPr/>
            <p:nvPr/>
          </p:nvSpPr>
          <p:spPr>
            <a:xfrm>
              <a:off x="5410200" y="2114550"/>
              <a:ext cx="6172200" cy="2381250"/>
            </a:xfrm>
            <a:prstGeom prst="roundRect">
              <a:avLst>
                <a:gd name="adj" fmla="val 6400"/>
              </a:avLst>
            </a:prstGeom>
            <a:solidFill>
              <a:srgbClr val="FFF3E2"/>
            </a:solidFill>
            <a:ln>
              <a:noFill/>
            </a:ln>
          </p:spPr>
        </p:sp>
        <p:sp>
          <p:nvSpPr>
            <p:cNvPr id="16" name="TextBox 16"/>
            <p:cNvSpPr txBox="1"/>
            <p:nvPr/>
          </p:nvSpPr>
          <p:spPr>
            <a:xfrm>
              <a:off x="5670042" y="2368868"/>
              <a:ext cx="3048175" cy="264033"/>
            </a:xfrm>
            <a:prstGeom prst="rect">
              <a:avLst/>
            </a:prstGeom>
            <a:noFill/>
            <a:ln>
              <a:noFill/>
            </a:ln>
          </p:spPr>
          <p:txBody>
            <a:bodyPr wrap="none" lIns="0" tIns="0" rIns="0" bIns="0" anchor="t" anchorCtr="0">
              <a:spAutoFit/>
            </a:bodyPr>
            <a:lstStyle/>
            <a:p>
              <a:pPr algn="l"/>
              <a:r>
                <a:rPr lang="en-US" sz="1350" b="1" dirty="0">
                  <a:solidFill>
                    <a:srgbClr val="A26D00"/>
                  </a:solidFill>
                  <a:latin typeface="+mn-lt"/>
                  <a:ea typeface="+mn-ea"/>
                  <a:cs typeface="+mn-cs"/>
                </a:rPr>
                <a:t>PARENTHESES MAKE ORDER CLEAR</a:t>
              </a:r>
            </a:p>
          </p:txBody>
        </p:sp>
        <p:sp>
          <p:nvSpPr>
            <p:cNvPr id="17" name="TextBox 17"/>
            <p:cNvSpPr txBox="1"/>
            <p:nvPr/>
          </p:nvSpPr>
          <p:spPr>
            <a:xfrm>
              <a:off x="5668137" y="2804636"/>
              <a:ext cx="2375826"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Consolas"/>
                  <a:ea typeface="Consolas"/>
                  <a:cs typeface="Consolas"/>
                </a:rPr>
                <a:t>(length + 2) * width</a:t>
              </a:r>
            </a:p>
          </p:txBody>
        </p:sp>
        <p:sp>
          <p:nvSpPr>
            <p:cNvPr id="18" name="TextBox 18"/>
            <p:cNvSpPr txBox="1"/>
            <p:nvPr/>
          </p:nvSpPr>
          <p:spPr>
            <a:xfrm>
              <a:off x="5668137" y="3195161"/>
              <a:ext cx="1186835"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(5 + 2) * 3</a:t>
              </a:r>
            </a:p>
          </p:txBody>
        </p:sp>
        <p:sp>
          <p:nvSpPr>
            <p:cNvPr id="19" name="TextBox 19"/>
            <p:cNvSpPr txBox="1"/>
            <p:nvPr/>
          </p:nvSpPr>
          <p:spPr>
            <a:xfrm>
              <a:off x="5668137" y="3585686"/>
              <a:ext cx="538505"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7 * 3</a:t>
              </a:r>
            </a:p>
          </p:txBody>
        </p:sp>
        <p:sp>
          <p:nvSpPr>
            <p:cNvPr id="20" name="TextBox 20"/>
            <p:cNvSpPr txBox="1"/>
            <p:nvPr/>
          </p:nvSpPr>
          <p:spPr>
            <a:xfrm>
              <a:off x="5665470" y="3995738"/>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Consolas"/>
                  <a:ea typeface="Consolas"/>
                  <a:cs typeface="Consolas"/>
                </a:rPr>
                <a:t>21</a:t>
              </a:r>
            </a:p>
          </p:txBody>
        </p:sp>
      </p:grpSp>
      <p:grpSp>
        <p:nvGrpSpPr>
          <p:cNvPr id="41" name="Group 41"/>
          <p:cNvGrpSpPr/>
          <p:nvPr/>
        </p:nvGrpSpPr>
        <p:grpSpPr>
          <a:xfrm>
            <a:off x="602742" y="4997768"/>
            <a:ext cx="10979658" cy="860107"/>
            <a:chOff x="602742" y="4997768"/>
            <a:chExt cx="10979658" cy="860107"/>
          </a:xfrm>
        </p:grpSpPr>
        <p:sp>
          <p:nvSpPr>
            <p:cNvPr id="22" name="TextBox 22"/>
            <p:cNvSpPr txBox="1"/>
            <p:nvPr/>
          </p:nvSpPr>
          <p:spPr>
            <a:xfrm>
              <a:off x="602742" y="4997768"/>
              <a:ext cx="204004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OPERATOR REFERENCE</a:t>
              </a:r>
            </a:p>
          </p:txBody>
        </p:sp>
        <p:sp>
          <p:nvSpPr>
            <p:cNvPr id="23" name="Rectangle 23"/>
            <p:cNvSpPr/>
            <p:nvPr/>
          </p:nvSpPr>
          <p:spPr>
            <a:xfrm>
              <a:off x="609600" y="5305425"/>
              <a:ext cx="1676400" cy="552450"/>
            </a:xfrm>
            <a:prstGeom prst="roundRect">
              <a:avLst>
                <a:gd name="adj" fmla="val 20690"/>
              </a:avLst>
            </a:prstGeom>
            <a:solidFill>
              <a:schemeClr val="dk1"/>
            </a:solidFill>
            <a:ln>
              <a:noFill/>
            </a:ln>
          </p:spPr>
        </p:sp>
        <p:sp>
          <p:nvSpPr>
            <p:cNvPr id="24" name="Rectangle 24"/>
            <p:cNvSpPr/>
            <p:nvPr/>
          </p:nvSpPr>
          <p:spPr>
            <a:xfrm>
              <a:off x="2438400" y="5305425"/>
              <a:ext cx="1676400" cy="552450"/>
            </a:xfrm>
            <a:prstGeom prst="roundRect">
              <a:avLst>
                <a:gd name="adj" fmla="val 20690"/>
              </a:avLst>
            </a:prstGeom>
            <a:solidFill>
              <a:schemeClr val="dk1"/>
            </a:solidFill>
            <a:ln>
              <a:noFill/>
            </a:ln>
          </p:spPr>
        </p:sp>
        <p:sp>
          <p:nvSpPr>
            <p:cNvPr id="25" name="Rectangle 25"/>
            <p:cNvSpPr/>
            <p:nvPr/>
          </p:nvSpPr>
          <p:spPr>
            <a:xfrm>
              <a:off x="4267200" y="5305425"/>
              <a:ext cx="1676400" cy="552450"/>
            </a:xfrm>
            <a:prstGeom prst="roundRect">
              <a:avLst>
                <a:gd name="adj" fmla="val 20690"/>
              </a:avLst>
            </a:prstGeom>
            <a:solidFill>
              <a:schemeClr val="dk1"/>
            </a:solidFill>
            <a:ln>
              <a:noFill/>
            </a:ln>
          </p:spPr>
        </p:sp>
        <p:sp>
          <p:nvSpPr>
            <p:cNvPr id="26" name="Rectangle 26"/>
            <p:cNvSpPr/>
            <p:nvPr/>
          </p:nvSpPr>
          <p:spPr>
            <a:xfrm>
              <a:off x="6096000" y="5305425"/>
              <a:ext cx="1676400" cy="552450"/>
            </a:xfrm>
            <a:prstGeom prst="roundRect">
              <a:avLst>
                <a:gd name="adj" fmla="val 20690"/>
              </a:avLst>
            </a:prstGeom>
            <a:solidFill>
              <a:schemeClr val="dk1"/>
            </a:solidFill>
            <a:ln>
              <a:noFill/>
            </a:ln>
          </p:spPr>
        </p:sp>
        <p:sp>
          <p:nvSpPr>
            <p:cNvPr id="27" name="Rectangle 27"/>
            <p:cNvSpPr/>
            <p:nvPr/>
          </p:nvSpPr>
          <p:spPr>
            <a:xfrm>
              <a:off x="7924800" y="5305425"/>
              <a:ext cx="1676400" cy="552450"/>
            </a:xfrm>
            <a:prstGeom prst="roundRect">
              <a:avLst>
                <a:gd name="adj" fmla="val 20690"/>
              </a:avLst>
            </a:prstGeom>
            <a:solidFill>
              <a:schemeClr val="dk1"/>
            </a:solidFill>
            <a:ln>
              <a:noFill/>
            </a:ln>
          </p:spPr>
        </p:sp>
        <p:sp>
          <p:nvSpPr>
            <p:cNvPr id="28" name="Rectangle 28"/>
            <p:cNvSpPr/>
            <p:nvPr/>
          </p:nvSpPr>
          <p:spPr>
            <a:xfrm>
              <a:off x="9753600" y="5305425"/>
              <a:ext cx="1828800" cy="552450"/>
            </a:xfrm>
            <a:prstGeom prst="roundRect">
              <a:avLst>
                <a:gd name="adj" fmla="val 20690"/>
              </a:avLst>
            </a:prstGeom>
            <a:solidFill>
              <a:schemeClr val="dk1"/>
            </a:solidFill>
            <a:ln>
              <a:noFill/>
            </a:ln>
          </p:spPr>
        </p:sp>
        <p:sp>
          <p:nvSpPr>
            <p:cNvPr id="29" name="TextBox 29"/>
            <p:cNvSpPr txBox="1"/>
            <p:nvPr/>
          </p:nvSpPr>
          <p:spPr>
            <a:xfrm>
              <a:off x="791337" y="5471636"/>
              <a:ext cx="151244"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30" name="TextBox 30"/>
            <p:cNvSpPr txBox="1"/>
            <p:nvPr/>
          </p:nvSpPr>
          <p:spPr>
            <a:xfrm>
              <a:off x="1155192" y="5512118"/>
              <a:ext cx="313582"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add</a:t>
              </a:r>
            </a:p>
          </p:txBody>
        </p:sp>
        <p:sp>
          <p:nvSpPr>
            <p:cNvPr id="31" name="TextBox 31"/>
            <p:cNvSpPr txBox="1"/>
            <p:nvPr/>
          </p:nvSpPr>
          <p:spPr>
            <a:xfrm>
              <a:off x="2620137" y="5471636"/>
              <a:ext cx="151244"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32" name="TextBox 32"/>
            <p:cNvSpPr txBox="1"/>
            <p:nvPr/>
          </p:nvSpPr>
          <p:spPr>
            <a:xfrm>
              <a:off x="2983992" y="5512118"/>
              <a:ext cx="81335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subtract</a:t>
              </a:r>
            </a:p>
          </p:txBody>
        </p:sp>
        <p:sp>
          <p:nvSpPr>
            <p:cNvPr id="33" name="TextBox 33"/>
            <p:cNvSpPr txBox="1"/>
            <p:nvPr/>
          </p:nvSpPr>
          <p:spPr>
            <a:xfrm>
              <a:off x="4448937" y="5471636"/>
              <a:ext cx="151244"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34" name="TextBox 34"/>
            <p:cNvSpPr txBox="1"/>
            <p:nvPr/>
          </p:nvSpPr>
          <p:spPr>
            <a:xfrm>
              <a:off x="4812792" y="5512118"/>
              <a:ext cx="713403"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multiply</a:t>
              </a:r>
            </a:p>
          </p:txBody>
        </p:sp>
        <p:sp>
          <p:nvSpPr>
            <p:cNvPr id="35" name="TextBox 35"/>
            <p:cNvSpPr txBox="1"/>
            <p:nvPr/>
          </p:nvSpPr>
          <p:spPr>
            <a:xfrm>
              <a:off x="6277737" y="5471636"/>
              <a:ext cx="151244"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36" name="TextBox 36"/>
            <p:cNvSpPr txBox="1"/>
            <p:nvPr/>
          </p:nvSpPr>
          <p:spPr>
            <a:xfrm>
              <a:off x="6641592" y="5512118"/>
              <a:ext cx="522580"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divide</a:t>
              </a:r>
            </a:p>
          </p:txBody>
        </p:sp>
        <p:sp>
          <p:nvSpPr>
            <p:cNvPr id="37" name="TextBox 37"/>
            <p:cNvSpPr txBox="1"/>
            <p:nvPr/>
          </p:nvSpPr>
          <p:spPr>
            <a:xfrm>
              <a:off x="8106537" y="5471636"/>
              <a:ext cx="284962"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38" name="TextBox 38"/>
            <p:cNvSpPr txBox="1"/>
            <p:nvPr/>
          </p:nvSpPr>
          <p:spPr>
            <a:xfrm>
              <a:off x="8584692" y="5512118"/>
              <a:ext cx="50440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whole</a:t>
              </a:r>
            </a:p>
          </p:txBody>
        </p:sp>
        <p:sp>
          <p:nvSpPr>
            <p:cNvPr id="39" name="TextBox 39"/>
            <p:cNvSpPr txBox="1"/>
            <p:nvPr/>
          </p:nvSpPr>
          <p:spPr>
            <a:xfrm>
              <a:off x="9935337" y="5471636"/>
              <a:ext cx="199869"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a:t>
              </a:r>
            </a:p>
          </p:txBody>
        </p:sp>
        <p:sp>
          <p:nvSpPr>
            <p:cNvPr id="40" name="TextBox 40"/>
            <p:cNvSpPr txBox="1"/>
            <p:nvPr/>
          </p:nvSpPr>
          <p:spPr>
            <a:xfrm>
              <a:off x="10299192" y="5512118"/>
              <a:ext cx="904227"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remainder</a:t>
              </a:r>
            </a:p>
          </p:txBody>
        </p:sp>
      </p:grpSp>
      <p:grpSp>
        <p:nvGrpSpPr>
          <p:cNvPr id="44" name="Group 44"/>
          <p:cNvGrpSpPr/>
          <p:nvPr/>
        </p:nvGrpSpPr>
        <p:grpSpPr>
          <a:xfrm>
            <a:off x="602742" y="6274118"/>
            <a:ext cx="10710291" cy="264033"/>
            <a:chOff x="602742" y="6274118"/>
            <a:chExt cx="10710291" cy="264033"/>
          </a:xfrm>
        </p:grpSpPr>
        <p:sp>
          <p:nvSpPr>
            <p:cNvPr id="42" name="TextBox 42"/>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43" name="TextBox 43"/>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7939374" cy="911161"/>
            <a:chOff x="592836" y="597218"/>
            <a:chExt cx="7939374" cy="911161"/>
          </a:xfrm>
        </p:grpSpPr>
        <p:sp>
          <p:nvSpPr>
            <p:cNvPr id="3" name="TextBox 3"/>
            <p:cNvSpPr txBox="1"/>
            <p:nvPr/>
          </p:nvSpPr>
          <p:spPr>
            <a:xfrm>
              <a:off x="602742" y="597218"/>
              <a:ext cx="175777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07 / COMPARISONS</a:t>
              </a:r>
            </a:p>
          </p:txBody>
        </p:sp>
        <p:sp>
          <p:nvSpPr>
            <p:cNvPr id="4" name="TextBox 4"/>
            <p:cNvSpPr txBox="1"/>
            <p:nvPr/>
          </p:nvSpPr>
          <p:spPr>
            <a:xfrm>
              <a:off x="592836" y="862965"/>
              <a:ext cx="793937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Comparisons produce True or False</a:t>
              </a:r>
            </a:p>
          </p:txBody>
        </p:sp>
      </p:grpSp>
      <p:grpSp>
        <p:nvGrpSpPr>
          <p:cNvPr id="7" name="Group 7"/>
          <p:cNvGrpSpPr/>
          <p:nvPr/>
        </p:nvGrpSpPr>
        <p:grpSpPr>
          <a:xfrm>
            <a:off x="600075" y="1540669"/>
            <a:ext cx="8645325" cy="366712"/>
            <a:chOff x="600075" y="1540669"/>
            <a:chExt cx="8645325" cy="366712"/>
          </a:xfrm>
        </p:grpSpPr>
        <p:sp>
          <p:nvSpPr>
            <p:cNvPr id="6" name="TextBox 6"/>
            <p:cNvSpPr txBox="1"/>
            <p:nvPr/>
          </p:nvSpPr>
          <p:spPr>
            <a:xfrm>
              <a:off x="600075" y="1540669"/>
              <a:ext cx="8645325" cy="366712"/>
            </a:xfrm>
            <a:prstGeom prst="rect">
              <a:avLst/>
            </a:prstGeom>
            <a:noFill/>
            <a:ln>
              <a:noFill/>
            </a:ln>
          </p:spPr>
          <p:txBody>
            <a:bodyPr wrap="none" lIns="0" tIns="0" rIns="0" bIns="0" anchor="t" anchorCtr="0">
              <a:spAutoFit/>
            </a:bodyPr>
            <a:lstStyle/>
            <a:p>
              <a:pPr algn="l"/>
              <a:r>
                <a:rPr lang="en-US" sz="1880" dirty="0">
                  <a:solidFill>
                    <a:schemeClr val="dk1"/>
                  </a:solidFill>
                  <a:latin typeface="+mn-lt"/>
                  <a:ea typeface="+mn-ea"/>
                  <a:cs typeface="+mn-cs"/>
                </a:rPr>
                <a:t>A comparison asks a question about two values and returns a boolean.</a:t>
              </a:r>
            </a:p>
          </p:txBody>
        </p:sp>
      </p:grpSp>
      <p:grpSp>
        <p:nvGrpSpPr>
          <p:cNvPr id="16" name="Group 16"/>
          <p:cNvGrpSpPr/>
          <p:nvPr/>
        </p:nvGrpSpPr>
        <p:grpSpPr>
          <a:xfrm>
            <a:off x="609600" y="2209800"/>
            <a:ext cx="4800600" cy="2324100"/>
            <a:chOff x="609600" y="2209800"/>
            <a:chExt cx="4800600" cy="2324100"/>
          </a:xfrm>
        </p:grpSpPr>
        <p:sp>
          <p:nvSpPr>
            <p:cNvPr id="8" name="Rectangle 8"/>
            <p:cNvSpPr/>
            <p:nvPr/>
          </p:nvSpPr>
          <p:spPr>
            <a:xfrm>
              <a:off x="609600" y="2209800"/>
              <a:ext cx="4800600" cy="2324100"/>
            </a:xfrm>
            <a:prstGeom prst="roundRect">
              <a:avLst>
                <a:gd name="adj" fmla="val 6557"/>
              </a:avLst>
            </a:prstGeom>
            <a:solidFill>
              <a:schemeClr val="accent5"/>
            </a:solidFill>
            <a:ln>
              <a:noFill/>
            </a:ln>
          </p:spPr>
        </p:sp>
        <p:sp>
          <p:nvSpPr>
            <p:cNvPr id="9" name="TextBox 9"/>
            <p:cNvSpPr txBox="1"/>
            <p:nvPr/>
          </p:nvSpPr>
          <p:spPr>
            <a:xfrm>
              <a:off x="866775" y="2416969"/>
              <a:ext cx="2674675"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Start with area = 15</a:t>
              </a:r>
            </a:p>
          </p:txBody>
        </p:sp>
        <p:sp>
          <p:nvSpPr>
            <p:cNvPr id="10" name="Freeform 10"/>
            <p:cNvSpPr/>
            <p:nvPr/>
          </p:nvSpPr>
          <p:spPr>
            <a:xfrm>
              <a:off x="1066800" y="3552825"/>
              <a:ext cx="3886200" cy="9525"/>
            </a:xfrm>
            <a:custGeom>
              <a:avLst/>
              <a:gdLst/>
              <a:ahLst/>
              <a:cxnLst/>
              <a:rect l="l" t="t" r="r" b="b"/>
              <a:pathLst>
                <a:path w="3886200" h="9525">
                  <a:moveTo>
                    <a:pt x="0" y="0"/>
                  </a:moveTo>
                  <a:lnTo>
                    <a:pt x="3886200" y="0"/>
                  </a:lnTo>
                </a:path>
              </a:pathLst>
            </a:custGeom>
            <a:solidFill>
              <a:srgbClr val="000000"/>
            </a:solidFill>
            <a:ln w="38100">
              <a:solidFill>
                <a:schemeClr val="dk1"/>
              </a:solidFill>
            </a:ln>
          </p:spPr>
        </p:sp>
        <p:sp>
          <p:nvSpPr>
            <p:cNvPr id="11" name="Freeform 11"/>
            <p:cNvSpPr/>
            <p:nvPr/>
          </p:nvSpPr>
          <p:spPr>
            <a:xfrm>
              <a:off x="1066800" y="3371850"/>
              <a:ext cx="3886200" cy="361950"/>
            </a:xfrm>
            <a:custGeom>
              <a:avLst/>
              <a:gdLst/>
              <a:ahLst/>
              <a:cxnLst/>
              <a:rect l="l" t="t" r="r" b="b"/>
              <a:pathLst>
                <a:path w="3886200" h="361950">
                  <a:moveTo>
                    <a:pt x="0" y="76200"/>
                  </a:moveTo>
                  <a:lnTo>
                    <a:pt x="0" y="285750"/>
                  </a:lnTo>
                  <a:moveTo>
                    <a:pt x="1943100" y="0"/>
                  </a:moveTo>
                  <a:lnTo>
                    <a:pt x="1943100" y="361950"/>
                  </a:lnTo>
                  <a:moveTo>
                    <a:pt x="3886200" y="76200"/>
                  </a:moveTo>
                  <a:lnTo>
                    <a:pt x="3886200" y="285750"/>
                  </a:lnTo>
                </a:path>
              </a:pathLst>
            </a:custGeom>
            <a:solidFill>
              <a:srgbClr val="000000"/>
            </a:solidFill>
            <a:ln w="38100">
              <a:solidFill>
                <a:schemeClr val="dk1"/>
              </a:solidFill>
            </a:ln>
          </p:spPr>
        </p:sp>
        <p:sp>
          <p:nvSpPr>
            <p:cNvPr id="12" name="Ellipse 12"/>
            <p:cNvSpPr/>
            <p:nvPr/>
          </p:nvSpPr>
          <p:spPr>
            <a:xfrm>
              <a:off x="2857500" y="3400425"/>
              <a:ext cx="304800" cy="304800"/>
            </a:xfrm>
            <a:prstGeom prst="ellipse">
              <a:avLst/>
            </a:prstGeom>
            <a:solidFill>
              <a:schemeClr val="accent2"/>
            </a:solidFill>
            <a:ln>
              <a:noFill/>
            </a:ln>
          </p:spPr>
        </p:sp>
        <p:sp>
          <p:nvSpPr>
            <p:cNvPr id="13" name="TextBox 13"/>
            <p:cNvSpPr txBox="1"/>
            <p:nvPr/>
          </p:nvSpPr>
          <p:spPr>
            <a:xfrm>
              <a:off x="930686" y="3833336"/>
              <a:ext cx="272227" cy="337376"/>
            </a:xfrm>
            <a:prstGeom prst="rect">
              <a:avLst/>
            </a:prstGeom>
            <a:noFill/>
            <a:ln>
              <a:noFill/>
            </a:ln>
          </p:spPr>
          <p:txBody>
            <a:bodyPr wrap="none" lIns="0" tIns="0" rIns="0" bIns="0" anchor="t" anchorCtr="0">
              <a:spAutoFit/>
            </a:bodyPr>
            <a:lstStyle/>
            <a:p>
              <a:pPr algn="ctr"/>
              <a:r>
                <a:rPr lang="en-US" sz="1720" dirty="0">
                  <a:solidFill>
                    <a:schemeClr val="dk1"/>
                  </a:solidFill>
                  <a:latin typeface="+mn-lt"/>
                  <a:ea typeface="+mn-ea"/>
                  <a:cs typeface="+mn-cs"/>
                </a:rPr>
                <a:t>10</a:t>
              </a:r>
            </a:p>
          </p:txBody>
        </p:sp>
        <p:sp>
          <p:nvSpPr>
            <p:cNvPr id="14" name="TextBox 14"/>
            <p:cNvSpPr txBox="1"/>
            <p:nvPr/>
          </p:nvSpPr>
          <p:spPr>
            <a:xfrm>
              <a:off x="2867419" y="3833336"/>
              <a:ext cx="284962" cy="337376"/>
            </a:xfrm>
            <a:prstGeom prst="rect">
              <a:avLst/>
            </a:prstGeom>
            <a:noFill/>
            <a:ln>
              <a:noFill/>
            </a:ln>
          </p:spPr>
          <p:txBody>
            <a:bodyPr wrap="none" lIns="0" tIns="0" rIns="0" bIns="0" anchor="t" anchorCtr="0">
              <a:spAutoFit/>
            </a:bodyPr>
            <a:lstStyle/>
            <a:p>
              <a:pPr algn="ctr"/>
              <a:r>
                <a:rPr lang="en-US" sz="1720" b="1" dirty="0">
                  <a:solidFill>
                    <a:schemeClr val="accent2"/>
                  </a:solidFill>
                  <a:latin typeface="+mn-lt"/>
                  <a:ea typeface="+mn-ea"/>
                  <a:cs typeface="+mn-cs"/>
                </a:rPr>
                <a:t>15</a:t>
              </a:r>
            </a:p>
          </p:txBody>
        </p:sp>
        <p:sp>
          <p:nvSpPr>
            <p:cNvPr id="15" name="TextBox 15"/>
            <p:cNvSpPr txBox="1"/>
            <p:nvPr/>
          </p:nvSpPr>
          <p:spPr>
            <a:xfrm>
              <a:off x="4816886" y="3833336"/>
              <a:ext cx="272227" cy="337376"/>
            </a:xfrm>
            <a:prstGeom prst="rect">
              <a:avLst/>
            </a:prstGeom>
            <a:noFill/>
            <a:ln>
              <a:noFill/>
            </a:ln>
          </p:spPr>
          <p:txBody>
            <a:bodyPr wrap="none" lIns="0" tIns="0" rIns="0" bIns="0" anchor="t" anchorCtr="0">
              <a:spAutoFit/>
            </a:bodyPr>
            <a:lstStyle/>
            <a:p>
              <a:pPr algn="ctr"/>
              <a:r>
                <a:rPr lang="en-US" sz="1720" dirty="0">
                  <a:solidFill>
                    <a:schemeClr val="dk1"/>
                  </a:solidFill>
                  <a:latin typeface="+mn-lt"/>
                  <a:ea typeface="+mn-ea"/>
                  <a:cs typeface="+mn-cs"/>
                </a:rPr>
                <a:t>20</a:t>
              </a:r>
            </a:p>
          </p:txBody>
        </p:sp>
      </p:grpSp>
      <p:grpSp>
        <p:nvGrpSpPr>
          <p:cNvPr id="26" name="Group 26"/>
          <p:cNvGrpSpPr/>
          <p:nvPr/>
        </p:nvGrpSpPr>
        <p:grpSpPr>
          <a:xfrm>
            <a:off x="5715000" y="2209800"/>
            <a:ext cx="5867400" cy="2247900"/>
            <a:chOff x="5715000" y="2209800"/>
            <a:chExt cx="5867400" cy="2247900"/>
          </a:xfrm>
        </p:grpSpPr>
        <p:sp>
          <p:nvSpPr>
            <p:cNvPr id="17" name="Rectangle 17"/>
            <p:cNvSpPr/>
            <p:nvPr/>
          </p:nvSpPr>
          <p:spPr>
            <a:xfrm>
              <a:off x="5715000" y="2209800"/>
              <a:ext cx="5867400" cy="647700"/>
            </a:xfrm>
            <a:prstGeom prst="roundRect">
              <a:avLst>
                <a:gd name="adj" fmla="val 20588"/>
              </a:avLst>
            </a:prstGeom>
            <a:solidFill>
              <a:srgbClr val="FDE9E5"/>
            </a:solidFill>
            <a:ln>
              <a:noFill/>
            </a:ln>
          </p:spPr>
        </p:sp>
        <p:sp>
          <p:nvSpPr>
            <p:cNvPr id="18" name="Rectangle 18"/>
            <p:cNvSpPr/>
            <p:nvPr/>
          </p:nvSpPr>
          <p:spPr>
            <a:xfrm>
              <a:off x="5715000" y="3009900"/>
              <a:ext cx="5867400" cy="647700"/>
            </a:xfrm>
            <a:prstGeom prst="roundRect">
              <a:avLst>
                <a:gd name="adj" fmla="val 20588"/>
              </a:avLst>
            </a:prstGeom>
            <a:solidFill>
              <a:schemeClr val="accent5"/>
            </a:solidFill>
            <a:ln>
              <a:noFill/>
            </a:ln>
          </p:spPr>
        </p:sp>
        <p:sp>
          <p:nvSpPr>
            <p:cNvPr id="19" name="Rectangle 19"/>
            <p:cNvSpPr/>
            <p:nvPr/>
          </p:nvSpPr>
          <p:spPr>
            <a:xfrm>
              <a:off x="5715000" y="3810000"/>
              <a:ext cx="5867400" cy="647700"/>
            </a:xfrm>
            <a:prstGeom prst="roundRect">
              <a:avLst>
                <a:gd name="adj" fmla="val 20588"/>
              </a:avLst>
            </a:prstGeom>
            <a:solidFill>
              <a:schemeClr val="accent5"/>
            </a:solidFill>
            <a:ln>
              <a:noFill/>
            </a:ln>
          </p:spPr>
        </p:sp>
        <p:sp>
          <p:nvSpPr>
            <p:cNvPr id="20" name="TextBox 20"/>
            <p:cNvSpPr txBox="1"/>
            <p:nvPr/>
          </p:nvSpPr>
          <p:spPr>
            <a:xfrm>
              <a:off x="5972937" y="2433161"/>
              <a:ext cx="1047907"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area &gt; 20</a:t>
              </a:r>
            </a:p>
          </p:txBody>
        </p:sp>
        <p:sp>
          <p:nvSpPr>
            <p:cNvPr id="21" name="TextBox 21"/>
            <p:cNvSpPr txBox="1"/>
            <p:nvPr/>
          </p:nvSpPr>
          <p:spPr>
            <a:xfrm>
              <a:off x="10443804" y="2416969"/>
              <a:ext cx="690921" cy="366712"/>
            </a:xfrm>
            <a:prstGeom prst="rect">
              <a:avLst/>
            </a:prstGeom>
            <a:noFill/>
            <a:ln>
              <a:noFill/>
            </a:ln>
          </p:spPr>
          <p:txBody>
            <a:bodyPr wrap="none" lIns="0" tIns="0" rIns="0" bIns="0" anchor="t" anchorCtr="0">
              <a:spAutoFit/>
            </a:bodyPr>
            <a:lstStyle/>
            <a:p>
              <a:pPr algn="r"/>
              <a:r>
                <a:rPr lang="en-US" sz="1880" b="1" dirty="0">
                  <a:solidFill>
                    <a:schemeClr val="accent2"/>
                  </a:solidFill>
                  <a:latin typeface="+mn-lt"/>
                  <a:ea typeface="+mn-ea"/>
                  <a:cs typeface="+mn-cs"/>
                </a:rPr>
                <a:t>False</a:t>
              </a:r>
            </a:p>
          </p:txBody>
        </p:sp>
        <p:sp>
          <p:nvSpPr>
            <p:cNvPr id="22" name="TextBox 22"/>
            <p:cNvSpPr txBox="1"/>
            <p:nvPr/>
          </p:nvSpPr>
          <p:spPr>
            <a:xfrm>
              <a:off x="5972937" y="3233261"/>
              <a:ext cx="1175258"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area == 15</a:t>
              </a:r>
            </a:p>
          </p:txBody>
        </p:sp>
        <p:sp>
          <p:nvSpPr>
            <p:cNvPr id="23" name="TextBox 23"/>
            <p:cNvSpPr txBox="1"/>
            <p:nvPr/>
          </p:nvSpPr>
          <p:spPr>
            <a:xfrm>
              <a:off x="10522774" y="3217069"/>
              <a:ext cx="611951" cy="366712"/>
            </a:xfrm>
            <a:prstGeom prst="rect">
              <a:avLst/>
            </a:prstGeom>
            <a:noFill/>
            <a:ln>
              <a:noFill/>
            </a:ln>
          </p:spPr>
          <p:txBody>
            <a:bodyPr wrap="none" lIns="0" tIns="0" rIns="0" bIns="0" anchor="t" anchorCtr="0">
              <a:spAutoFit/>
            </a:bodyPr>
            <a:lstStyle/>
            <a:p>
              <a:pPr algn="r"/>
              <a:r>
                <a:rPr lang="en-US" sz="1880" b="1" dirty="0">
                  <a:solidFill>
                    <a:schemeClr val="accent1"/>
                  </a:solidFill>
                  <a:latin typeface="+mn-lt"/>
                  <a:ea typeface="+mn-ea"/>
                  <a:cs typeface="+mn-cs"/>
                </a:rPr>
                <a:t>True</a:t>
              </a:r>
            </a:p>
          </p:txBody>
        </p:sp>
        <p:sp>
          <p:nvSpPr>
            <p:cNvPr id="24" name="TextBox 24"/>
            <p:cNvSpPr txBox="1"/>
            <p:nvPr/>
          </p:nvSpPr>
          <p:spPr>
            <a:xfrm>
              <a:off x="5972937" y="4033361"/>
              <a:ext cx="1117371"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area != 10</a:t>
              </a:r>
            </a:p>
          </p:txBody>
        </p:sp>
        <p:sp>
          <p:nvSpPr>
            <p:cNvPr id="25" name="TextBox 25"/>
            <p:cNvSpPr txBox="1"/>
            <p:nvPr/>
          </p:nvSpPr>
          <p:spPr>
            <a:xfrm>
              <a:off x="10522774" y="4017169"/>
              <a:ext cx="611951" cy="366712"/>
            </a:xfrm>
            <a:prstGeom prst="rect">
              <a:avLst/>
            </a:prstGeom>
            <a:noFill/>
            <a:ln>
              <a:noFill/>
            </a:ln>
          </p:spPr>
          <p:txBody>
            <a:bodyPr wrap="none" lIns="0" tIns="0" rIns="0" bIns="0" anchor="t" anchorCtr="0">
              <a:spAutoFit/>
            </a:bodyPr>
            <a:lstStyle/>
            <a:p>
              <a:pPr algn="r"/>
              <a:r>
                <a:rPr lang="en-US" sz="1880" b="1" dirty="0">
                  <a:solidFill>
                    <a:schemeClr val="accent1"/>
                  </a:solidFill>
                  <a:latin typeface="+mn-lt"/>
                  <a:ea typeface="+mn-ea"/>
                  <a:cs typeface="+mn-cs"/>
                </a:rPr>
                <a:t>True</a:t>
              </a:r>
            </a:p>
          </p:txBody>
        </p:sp>
      </p:grpSp>
      <p:grpSp>
        <p:nvGrpSpPr>
          <p:cNvPr id="34" name="Group 34"/>
          <p:cNvGrpSpPr/>
          <p:nvPr/>
        </p:nvGrpSpPr>
        <p:grpSpPr>
          <a:xfrm>
            <a:off x="609600" y="4876800"/>
            <a:ext cx="10972800" cy="742950"/>
            <a:chOff x="609600" y="4876800"/>
            <a:chExt cx="10972800" cy="742950"/>
          </a:xfrm>
        </p:grpSpPr>
        <p:sp>
          <p:nvSpPr>
            <p:cNvPr id="27" name="Rectangle 27"/>
            <p:cNvSpPr/>
            <p:nvPr/>
          </p:nvSpPr>
          <p:spPr>
            <a:xfrm>
              <a:off x="609600" y="4876800"/>
              <a:ext cx="10972800" cy="742950"/>
            </a:xfrm>
            <a:prstGeom prst="roundRect">
              <a:avLst>
                <a:gd name="adj" fmla="val 20513"/>
              </a:avLst>
            </a:prstGeom>
            <a:solidFill>
              <a:schemeClr val="dk1"/>
            </a:solidFill>
            <a:ln>
              <a:noFill/>
            </a:ln>
          </p:spPr>
        </p:sp>
        <p:sp>
          <p:nvSpPr>
            <p:cNvPr id="28" name="TextBox 28"/>
            <p:cNvSpPr txBox="1"/>
            <p:nvPr/>
          </p:nvSpPr>
          <p:spPr>
            <a:xfrm>
              <a:off x="867537" y="5147786"/>
              <a:ext cx="965709" cy="337376"/>
            </a:xfrm>
            <a:prstGeom prst="rect">
              <a:avLst/>
            </a:prstGeom>
            <a:noFill/>
            <a:ln>
              <a:noFill/>
            </a:ln>
          </p:spPr>
          <p:txBody>
            <a:bodyPr wrap="none" lIns="0" tIns="0" rIns="0" bIns="0" anchor="t" anchorCtr="0">
              <a:spAutoFit/>
            </a:bodyPr>
            <a:lstStyle/>
            <a:p>
              <a:pPr algn="l"/>
              <a:r>
                <a:rPr lang="en-US" sz="1720" b="1" dirty="0">
                  <a:solidFill>
                    <a:srgbClr val="9FD8D2"/>
                  </a:solidFill>
                  <a:latin typeface="Consolas"/>
                  <a:ea typeface="Consolas"/>
                  <a:cs typeface="Consolas"/>
                </a:rPr>
                <a:t>== equal</a:t>
              </a:r>
            </a:p>
          </p:txBody>
        </p:sp>
        <p:sp>
          <p:nvSpPr>
            <p:cNvPr id="29" name="TextBox 29"/>
            <p:cNvSpPr txBox="1"/>
            <p:nvPr/>
          </p:nvSpPr>
          <p:spPr>
            <a:xfrm>
              <a:off x="2582037" y="5147786"/>
              <a:ext cx="1439800" cy="337376"/>
            </a:xfrm>
            <a:prstGeom prst="rect">
              <a:avLst/>
            </a:prstGeom>
            <a:noFill/>
            <a:ln>
              <a:noFill/>
            </a:ln>
          </p:spPr>
          <p:txBody>
            <a:bodyPr wrap="none" lIns="0" tIns="0" rIns="0" bIns="0" anchor="t" anchorCtr="0">
              <a:spAutoFit/>
            </a:bodyPr>
            <a:lstStyle/>
            <a:p>
              <a:pPr algn="l"/>
              <a:r>
                <a:rPr lang="en-US" sz="1720" b="1" dirty="0">
                  <a:solidFill>
                    <a:srgbClr val="9FD8D2"/>
                  </a:solidFill>
                  <a:latin typeface="Consolas"/>
                  <a:ea typeface="Consolas"/>
                  <a:cs typeface="Consolas"/>
                </a:rPr>
                <a:t>!= different</a:t>
              </a:r>
            </a:p>
          </p:txBody>
        </p:sp>
        <p:sp>
          <p:nvSpPr>
            <p:cNvPr id="30" name="TextBox 30"/>
            <p:cNvSpPr txBox="1"/>
            <p:nvPr/>
          </p:nvSpPr>
          <p:spPr>
            <a:xfrm>
              <a:off x="4791837" y="5147786"/>
              <a:ext cx="1160207" cy="337376"/>
            </a:xfrm>
            <a:prstGeom prst="rect">
              <a:avLst/>
            </a:prstGeom>
            <a:noFill/>
            <a:ln>
              <a:noFill/>
            </a:ln>
          </p:spPr>
          <p:txBody>
            <a:bodyPr wrap="none" lIns="0" tIns="0" rIns="0" bIns="0" anchor="t" anchorCtr="0">
              <a:spAutoFit/>
            </a:bodyPr>
            <a:lstStyle/>
            <a:p>
              <a:pPr algn="l"/>
              <a:r>
                <a:rPr lang="en-US" sz="1720" b="1" dirty="0">
                  <a:solidFill>
                    <a:srgbClr val="9FD8D2"/>
                  </a:solidFill>
                  <a:latin typeface="Consolas"/>
                  <a:ea typeface="Consolas"/>
                  <a:cs typeface="Consolas"/>
                </a:rPr>
                <a:t>&gt; greater</a:t>
              </a:r>
            </a:p>
          </p:txBody>
        </p:sp>
        <p:sp>
          <p:nvSpPr>
            <p:cNvPr id="31" name="TextBox 31"/>
            <p:cNvSpPr txBox="1"/>
            <p:nvPr/>
          </p:nvSpPr>
          <p:spPr>
            <a:xfrm>
              <a:off x="6620637" y="5147786"/>
              <a:ext cx="1087270" cy="337376"/>
            </a:xfrm>
            <a:prstGeom prst="rect">
              <a:avLst/>
            </a:prstGeom>
            <a:noFill/>
            <a:ln>
              <a:noFill/>
            </a:ln>
          </p:spPr>
          <p:txBody>
            <a:bodyPr wrap="none" lIns="0" tIns="0" rIns="0" bIns="0" anchor="t" anchorCtr="0">
              <a:spAutoFit/>
            </a:bodyPr>
            <a:lstStyle/>
            <a:p>
              <a:pPr algn="l"/>
              <a:r>
                <a:rPr lang="en-US" sz="1720" b="1" dirty="0">
                  <a:solidFill>
                    <a:srgbClr val="9FD8D2"/>
                  </a:solidFill>
                  <a:latin typeface="Consolas"/>
                  <a:ea typeface="Consolas"/>
                  <a:cs typeface="Consolas"/>
                </a:rPr>
                <a:t>&lt; smaller</a:t>
              </a:r>
            </a:p>
          </p:txBody>
        </p:sp>
        <p:sp>
          <p:nvSpPr>
            <p:cNvPr id="32" name="TextBox 32"/>
            <p:cNvSpPr txBox="1"/>
            <p:nvPr/>
          </p:nvSpPr>
          <p:spPr>
            <a:xfrm>
              <a:off x="8392287" y="5147786"/>
              <a:ext cx="1306082"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&gt;= at least</a:t>
              </a:r>
            </a:p>
          </p:txBody>
        </p:sp>
        <p:sp>
          <p:nvSpPr>
            <p:cNvPr id="33" name="TextBox 33"/>
            <p:cNvSpPr txBox="1"/>
            <p:nvPr/>
          </p:nvSpPr>
          <p:spPr>
            <a:xfrm>
              <a:off x="10278237" y="5147786"/>
              <a:ext cx="1281769"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&lt;= at most</a:t>
              </a:r>
            </a:p>
          </p:txBody>
        </p:sp>
      </p:grpSp>
      <p:grpSp>
        <p:nvGrpSpPr>
          <p:cNvPr id="36" name="Group 36"/>
          <p:cNvGrpSpPr/>
          <p:nvPr/>
        </p:nvGrpSpPr>
        <p:grpSpPr>
          <a:xfrm>
            <a:off x="600837" y="5776436"/>
            <a:ext cx="7028105" cy="337376"/>
            <a:chOff x="600837" y="5776436"/>
            <a:chExt cx="7028105" cy="337376"/>
          </a:xfrm>
        </p:grpSpPr>
        <p:sp>
          <p:nvSpPr>
            <p:cNvPr id="35" name="TextBox 35"/>
            <p:cNvSpPr txBox="1"/>
            <p:nvPr/>
          </p:nvSpPr>
          <p:spPr>
            <a:xfrm>
              <a:off x="600837" y="5776436"/>
              <a:ext cx="7028105"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Week 2 uses these results to decide which code should run.</a:t>
              </a:r>
            </a:p>
          </p:txBody>
        </p:sp>
      </p:grpSp>
      <p:grpSp>
        <p:nvGrpSpPr>
          <p:cNvPr id="39" name="Group 39"/>
          <p:cNvGrpSpPr/>
          <p:nvPr/>
        </p:nvGrpSpPr>
        <p:grpSpPr>
          <a:xfrm>
            <a:off x="602742" y="6274118"/>
            <a:ext cx="10710291" cy="264033"/>
            <a:chOff x="602742" y="6274118"/>
            <a:chExt cx="10710291" cy="264033"/>
          </a:xfrm>
        </p:grpSpPr>
        <p:sp>
          <p:nvSpPr>
            <p:cNvPr id="37" name="TextBox 37"/>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8" name="TextBox 38"/>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10403932" cy="911161"/>
            <a:chOff x="592836" y="597218"/>
            <a:chExt cx="10403932" cy="911161"/>
          </a:xfrm>
        </p:grpSpPr>
        <p:sp>
          <p:nvSpPr>
            <p:cNvPr id="3" name="TextBox 3"/>
            <p:cNvSpPr txBox="1"/>
            <p:nvPr/>
          </p:nvSpPr>
          <p:spPr>
            <a:xfrm>
              <a:off x="602742" y="597218"/>
              <a:ext cx="212069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08 / READABLE OUTPUT</a:t>
              </a:r>
            </a:p>
          </p:txBody>
        </p:sp>
        <p:sp>
          <p:nvSpPr>
            <p:cNvPr id="4" name="TextBox 4"/>
            <p:cNvSpPr txBox="1"/>
            <p:nvPr/>
          </p:nvSpPr>
          <p:spPr>
            <a:xfrm>
              <a:off x="592836" y="862965"/>
              <a:ext cx="1040393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Strings and functions create readable output</a:t>
              </a:r>
            </a:p>
          </p:txBody>
        </p:sp>
      </p:grpSp>
      <p:grpSp>
        <p:nvGrpSpPr>
          <p:cNvPr id="8" name="Group 8"/>
          <p:cNvGrpSpPr/>
          <p:nvPr/>
        </p:nvGrpSpPr>
        <p:grpSpPr>
          <a:xfrm>
            <a:off x="600837" y="1566386"/>
            <a:ext cx="9805234" cy="642176"/>
            <a:chOff x="600837" y="1566386"/>
            <a:chExt cx="9805234" cy="642176"/>
          </a:xfrm>
        </p:grpSpPr>
        <p:sp>
          <p:nvSpPr>
            <p:cNvPr id="6" name="TextBox 6"/>
            <p:cNvSpPr txBox="1"/>
            <p:nvPr/>
          </p:nvSpPr>
          <p:spPr>
            <a:xfrm>
              <a:off x="600837" y="1566386"/>
              <a:ext cx="980523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String</a:t>
              </a:r>
              <a:r>
                <a:rPr lang="en-US" sz="1720" dirty="0">
                  <a:solidFill>
                    <a:schemeClr val="dk1"/>
                  </a:solidFill>
                  <a:latin typeface="+mn-lt"/>
                  <a:ea typeface="+mn-ea"/>
                  <a:cs typeface="+mn-cs"/>
                </a:rPr>
                <a:t xml:space="preserve"> = text inside quotation marks. </a:t>
              </a:r>
              <a:r>
                <a:rPr lang="en-US" sz="1720" b="1" dirty="0">
                  <a:solidFill>
                    <a:schemeClr val="accent1"/>
                  </a:solidFill>
                  <a:latin typeface="+mn-lt"/>
                  <a:ea typeface="+mn-ea"/>
                  <a:cs typeface="+mn-cs"/>
                </a:rPr>
                <a:t>Function</a:t>
              </a:r>
              <a:r>
                <a:rPr lang="en-US" sz="1720" dirty="0">
                  <a:solidFill>
                    <a:schemeClr val="dk1"/>
                  </a:solidFill>
                  <a:latin typeface="+mn-lt"/>
                  <a:ea typeface="+mn-ea"/>
                  <a:cs typeface="+mn-cs"/>
                </a:rPr>
                <a:t xml:space="preserve"> = reusable code that performs a task.</a:t>
              </a:r>
            </a:p>
          </p:txBody>
        </p:sp>
        <p:sp>
          <p:nvSpPr>
            <p:cNvPr id="7" name="TextBox 7"/>
            <p:cNvSpPr txBox="1"/>
            <p:nvPr/>
          </p:nvSpPr>
          <p:spPr>
            <a:xfrm>
              <a:off x="600837" y="1871186"/>
              <a:ext cx="8537627"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 xml:space="preserve">We call a function by writing its name followed by parentheses: </a:t>
              </a:r>
              <a:r>
                <a:rPr lang="en-US" sz="1720" b="1" dirty="0">
                  <a:solidFill>
                    <a:schemeClr val="dk1"/>
                  </a:solidFill>
                  <a:latin typeface="Consolas"/>
                  <a:ea typeface="Consolas"/>
                  <a:cs typeface="Consolas"/>
                </a:rPr>
                <a:t>print(...)</a:t>
              </a:r>
            </a:p>
          </p:txBody>
        </p:sp>
      </p:grpSp>
      <p:grpSp>
        <p:nvGrpSpPr>
          <p:cNvPr id="14" name="Group 14"/>
          <p:cNvGrpSpPr/>
          <p:nvPr/>
        </p:nvGrpSpPr>
        <p:grpSpPr>
          <a:xfrm>
            <a:off x="609600" y="2381250"/>
            <a:ext cx="10972800" cy="1581150"/>
            <a:chOff x="609600" y="2381250"/>
            <a:chExt cx="10972800" cy="1581150"/>
          </a:xfrm>
        </p:grpSpPr>
        <p:sp>
          <p:nvSpPr>
            <p:cNvPr id="9" name="Rectangle 9"/>
            <p:cNvSpPr/>
            <p:nvPr/>
          </p:nvSpPr>
          <p:spPr>
            <a:xfrm>
              <a:off x="609600" y="2381250"/>
              <a:ext cx="10972800" cy="1581150"/>
            </a:xfrm>
            <a:prstGeom prst="roundRect">
              <a:avLst>
                <a:gd name="adj" fmla="val 9639"/>
              </a:avLst>
            </a:prstGeom>
            <a:solidFill>
              <a:schemeClr val="dk1"/>
            </a:solidFill>
            <a:ln>
              <a:noFill/>
            </a:ln>
          </p:spPr>
        </p:sp>
        <p:sp>
          <p:nvSpPr>
            <p:cNvPr id="10" name="TextBox 10"/>
            <p:cNvSpPr txBox="1"/>
            <p:nvPr/>
          </p:nvSpPr>
          <p:spPr>
            <a:xfrm>
              <a:off x="867537" y="2576036"/>
              <a:ext cx="4531300"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shape = "Rectangle" length = 5 width = 3</a:t>
              </a:r>
            </a:p>
          </p:txBody>
        </p:sp>
        <p:sp>
          <p:nvSpPr>
            <p:cNvPr id="11" name="TextBox 11"/>
            <p:cNvSpPr txBox="1"/>
            <p:nvPr/>
          </p:nvSpPr>
          <p:spPr>
            <a:xfrm>
              <a:off x="867537" y="3004661"/>
              <a:ext cx="2390877"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Consolas"/>
                  <a:ea typeface="Consolas"/>
                  <a:cs typeface="Consolas"/>
                </a:rPr>
                <a:t>area = length * width</a:t>
              </a:r>
            </a:p>
          </p:txBody>
        </p:sp>
        <p:sp>
          <p:nvSpPr>
            <p:cNvPr id="12" name="Rectangle 12"/>
            <p:cNvSpPr/>
            <p:nvPr/>
          </p:nvSpPr>
          <p:spPr>
            <a:xfrm>
              <a:off x="838200" y="3371850"/>
              <a:ext cx="10515600" cy="419100"/>
            </a:xfrm>
            <a:prstGeom prst="roundRect">
              <a:avLst>
                <a:gd name="adj" fmla="val 22727"/>
              </a:avLst>
            </a:prstGeom>
            <a:solidFill>
              <a:srgbClr val="27413F"/>
            </a:solidFill>
            <a:ln>
              <a:noFill/>
            </a:ln>
          </p:spPr>
        </p:sp>
        <p:sp>
          <p:nvSpPr>
            <p:cNvPr id="13" name="TextBox 13"/>
            <p:cNvSpPr txBox="1"/>
            <p:nvPr/>
          </p:nvSpPr>
          <p:spPr>
            <a:xfrm>
              <a:off x="982599" y="3487579"/>
              <a:ext cx="6375720" cy="308039"/>
            </a:xfrm>
            <a:prstGeom prst="rect">
              <a:avLst/>
            </a:prstGeom>
            <a:noFill/>
            <a:ln>
              <a:noFill/>
            </a:ln>
          </p:spPr>
          <p:txBody>
            <a:bodyPr wrap="none" lIns="0" tIns="0" rIns="0" bIns="0" anchor="t" anchorCtr="0">
              <a:spAutoFit/>
            </a:bodyPr>
            <a:lstStyle/>
            <a:p>
              <a:pPr algn="l"/>
              <a:r>
                <a:rPr lang="en-US" sz="1580" dirty="0">
                  <a:solidFill>
                    <a:schemeClr val="accent3"/>
                  </a:solidFill>
                  <a:latin typeface="Consolas"/>
                  <a:ea typeface="Consolas"/>
                  <a:cs typeface="Consolas"/>
                </a:rPr>
                <a:t>print(f"{shape}: {length} x {width} = {area} square units")</a:t>
              </a:r>
            </a:p>
          </p:txBody>
        </p:sp>
      </p:grpSp>
      <p:grpSp>
        <p:nvGrpSpPr>
          <p:cNvPr id="23" name="Group 23"/>
          <p:cNvGrpSpPr/>
          <p:nvPr/>
        </p:nvGrpSpPr>
        <p:grpSpPr>
          <a:xfrm>
            <a:off x="715137" y="4442936"/>
            <a:ext cx="7906434" cy="675989"/>
            <a:chOff x="715137" y="4442936"/>
            <a:chExt cx="7906434" cy="675989"/>
          </a:xfrm>
        </p:grpSpPr>
        <p:sp>
          <p:nvSpPr>
            <p:cNvPr id="15" name="TextBox 15"/>
            <p:cNvSpPr txBox="1"/>
            <p:nvPr/>
          </p:nvSpPr>
          <p:spPr>
            <a:xfrm>
              <a:off x="715137" y="4442936"/>
              <a:ext cx="953552"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Consolas"/>
                  <a:ea typeface="Consolas"/>
                  <a:cs typeface="Consolas"/>
                </a:rPr>
                <a:t>{shape}</a:t>
              </a:r>
            </a:p>
          </p:txBody>
        </p:sp>
        <p:sp>
          <p:nvSpPr>
            <p:cNvPr id="16" name="TextBox 16"/>
            <p:cNvSpPr txBox="1"/>
            <p:nvPr/>
          </p:nvSpPr>
          <p:spPr>
            <a:xfrm>
              <a:off x="3134487" y="4442936"/>
              <a:ext cx="1026489"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Consolas"/>
                  <a:ea typeface="Consolas"/>
                  <a:cs typeface="Consolas"/>
                </a:rPr>
                <a:t>{length}</a:t>
              </a:r>
            </a:p>
          </p:txBody>
        </p:sp>
        <p:sp>
          <p:nvSpPr>
            <p:cNvPr id="17" name="TextBox 17"/>
            <p:cNvSpPr txBox="1"/>
            <p:nvPr/>
          </p:nvSpPr>
          <p:spPr>
            <a:xfrm>
              <a:off x="5468112" y="4442936"/>
              <a:ext cx="941396"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Consolas"/>
                  <a:ea typeface="Consolas"/>
                  <a:cs typeface="Consolas"/>
                </a:rPr>
                <a:t>{width}</a:t>
              </a:r>
            </a:p>
          </p:txBody>
        </p:sp>
        <p:sp>
          <p:nvSpPr>
            <p:cNvPr id="18" name="TextBox 18"/>
            <p:cNvSpPr txBox="1"/>
            <p:nvPr/>
          </p:nvSpPr>
          <p:spPr>
            <a:xfrm>
              <a:off x="7801737" y="4442936"/>
              <a:ext cx="819834"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Consolas"/>
                  <a:ea typeface="Consolas"/>
                  <a:cs typeface="Consolas"/>
                </a:rPr>
                <a:t>{area}</a:t>
              </a:r>
            </a:p>
          </p:txBody>
        </p:sp>
        <p:sp>
          <p:nvSpPr>
            <p:cNvPr id="19" name="TextBox 19"/>
            <p:cNvSpPr txBox="1"/>
            <p:nvPr/>
          </p:nvSpPr>
          <p:spPr>
            <a:xfrm>
              <a:off x="717042" y="4854892"/>
              <a:ext cx="873252"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Rectangle</a:t>
              </a:r>
            </a:p>
          </p:txBody>
        </p:sp>
        <p:sp>
          <p:nvSpPr>
            <p:cNvPr id="20" name="TextBox 20"/>
            <p:cNvSpPr txBox="1"/>
            <p:nvPr/>
          </p:nvSpPr>
          <p:spPr>
            <a:xfrm>
              <a:off x="3136392" y="4854892"/>
              <a:ext cx="113671"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5</a:t>
              </a:r>
            </a:p>
          </p:txBody>
        </p:sp>
        <p:sp>
          <p:nvSpPr>
            <p:cNvPr id="21" name="TextBox 21"/>
            <p:cNvSpPr txBox="1"/>
            <p:nvPr/>
          </p:nvSpPr>
          <p:spPr>
            <a:xfrm>
              <a:off x="5470017" y="4854892"/>
              <a:ext cx="113671"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3</a:t>
              </a:r>
            </a:p>
          </p:txBody>
        </p:sp>
        <p:sp>
          <p:nvSpPr>
            <p:cNvPr id="22" name="TextBox 22"/>
            <p:cNvSpPr txBox="1"/>
            <p:nvPr/>
          </p:nvSpPr>
          <p:spPr>
            <a:xfrm>
              <a:off x="7803642" y="4854892"/>
              <a:ext cx="213627"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15</a:t>
              </a:r>
            </a:p>
          </p:txBody>
        </p:sp>
      </p:grpSp>
      <p:grpSp>
        <p:nvGrpSpPr>
          <p:cNvPr id="26" name="Group 26"/>
          <p:cNvGrpSpPr/>
          <p:nvPr/>
        </p:nvGrpSpPr>
        <p:grpSpPr>
          <a:xfrm>
            <a:off x="609600" y="5238750"/>
            <a:ext cx="10972800" cy="647700"/>
            <a:chOff x="609600" y="5238750"/>
            <a:chExt cx="10972800" cy="647700"/>
          </a:xfrm>
        </p:grpSpPr>
        <p:sp>
          <p:nvSpPr>
            <p:cNvPr id="24" name="Rectangle 24"/>
            <p:cNvSpPr/>
            <p:nvPr/>
          </p:nvSpPr>
          <p:spPr>
            <a:xfrm>
              <a:off x="609600" y="5238750"/>
              <a:ext cx="10972800" cy="647700"/>
            </a:xfrm>
            <a:prstGeom prst="roundRect">
              <a:avLst>
                <a:gd name="adj" fmla="val 23529"/>
              </a:avLst>
            </a:prstGeom>
            <a:solidFill>
              <a:schemeClr val="accent2"/>
            </a:solidFill>
            <a:ln>
              <a:noFill/>
            </a:ln>
          </p:spPr>
        </p:sp>
        <p:sp>
          <p:nvSpPr>
            <p:cNvPr id="25" name="TextBox 25"/>
            <p:cNvSpPr txBox="1"/>
            <p:nvPr/>
          </p:nvSpPr>
          <p:spPr>
            <a:xfrm>
              <a:off x="866775" y="5445919"/>
              <a:ext cx="4402254"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n-lt"/>
                  <a:ea typeface="+mn-ea"/>
                  <a:cs typeface="+mn-cs"/>
                </a:rPr>
                <a:t>Rectangle: 5 x 3 = 15 square units</a:t>
              </a:r>
            </a:p>
          </p:txBody>
        </p:sp>
      </p:grpSp>
      <p:grpSp>
        <p:nvGrpSpPr>
          <p:cNvPr id="29" name="Group 29"/>
          <p:cNvGrpSpPr/>
          <p:nvPr/>
        </p:nvGrpSpPr>
        <p:grpSpPr>
          <a:xfrm>
            <a:off x="602742" y="6274118"/>
            <a:ext cx="10710291" cy="264033"/>
            <a:chOff x="602742" y="6274118"/>
            <a:chExt cx="10710291" cy="264033"/>
          </a:xfrm>
        </p:grpSpPr>
        <p:sp>
          <p:nvSpPr>
            <p:cNvPr id="27" name="TextBox 27"/>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28" name="TextBox 28"/>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6019556" cy="911161"/>
            <a:chOff x="592836" y="597218"/>
            <a:chExt cx="6019556" cy="911161"/>
          </a:xfrm>
        </p:grpSpPr>
        <p:sp>
          <p:nvSpPr>
            <p:cNvPr id="3" name="TextBox 3"/>
            <p:cNvSpPr txBox="1"/>
            <p:nvPr/>
          </p:nvSpPr>
          <p:spPr>
            <a:xfrm>
              <a:off x="602742" y="597218"/>
              <a:ext cx="147549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09 / USER INPUT</a:t>
              </a:r>
            </a:p>
          </p:txBody>
        </p:sp>
        <p:sp>
          <p:nvSpPr>
            <p:cNvPr id="4" name="TextBox 4"/>
            <p:cNvSpPr txBox="1"/>
            <p:nvPr/>
          </p:nvSpPr>
          <p:spPr>
            <a:xfrm>
              <a:off x="592836" y="862965"/>
              <a:ext cx="6019556"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User input arrives as text</a:t>
              </a:r>
            </a:p>
          </p:txBody>
        </p:sp>
      </p:grpSp>
      <p:grpSp>
        <p:nvGrpSpPr>
          <p:cNvPr id="7" name="Group 7"/>
          <p:cNvGrpSpPr/>
          <p:nvPr/>
        </p:nvGrpSpPr>
        <p:grpSpPr>
          <a:xfrm>
            <a:off x="600075" y="1521619"/>
            <a:ext cx="8264579" cy="366712"/>
            <a:chOff x="600075" y="1521619"/>
            <a:chExt cx="8264579" cy="366712"/>
          </a:xfrm>
        </p:grpSpPr>
        <p:sp>
          <p:nvSpPr>
            <p:cNvPr id="6" name="TextBox 6"/>
            <p:cNvSpPr txBox="1"/>
            <p:nvPr/>
          </p:nvSpPr>
          <p:spPr>
            <a:xfrm>
              <a:off x="600075" y="1521619"/>
              <a:ext cx="8264579"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Consolas"/>
                  <a:ea typeface="Consolas"/>
                  <a:cs typeface="Consolas"/>
                </a:rPr>
                <a:t>input()</a:t>
              </a:r>
              <a:r>
                <a:rPr lang="en-US" sz="1880" dirty="0">
                  <a:solidFill>
                    <a:schemeClr val="dk1"/>
                  </a:solidFill>
                  <a:latin typeface="+mn-lt"/>
                  <a:ea typeface="+mn-ea"/>
                  <a:cs typeface="+mn-cs"/>
                </a:rPr>
                <a:t xml:space="preserve"> always returns a string, even when the user types digits.</a:t>
              </a:r>
            </a:p>
          </p:txBody>
        </p:sp>
      </p:grpSp>
      <p:grpSp>
        <p:nvGrpSpPr>
          <p:cNvPr id="12" name="Group 12"/>
          <p:cNvGrpSpPr/>
          <p:nvPr/>
        </p:nvGrpSpPr>
        <p:grpSpPr>
          <a:xfrm>
            <a:off x="609600" y="2209800"/>
            <a:ext cx="2895600" cy="1504950"/>
            <a:chOff x="609600" y="2209800"/>
            <a:chExt cx="2895600" cy="1504950"/>
          </a:xfrm>
        </p:grpSpPr>
        <p:sp>
          <p:nvSpPr>
            <p:cNvPr id="8" name="Rectangle 8"/>
            <p:cNvSpPr/>
            <p:nvPr/>
          </p:nvSpPr>
          <p:spPr>
            <a:xfrm>
              <a:off x="609600" y="2209800"/>
              <a:ext cx="2895600" cy="1504950"/>
            </a:xfrm>
            <a:prstGeom prst="roundRect">
              <a:avLst>
                <a:gd name="adj" fmla="val 10127"/>
              </a:avLst>
            </a:prstGeom>
            <a:solidFill>
              <a:srgbClr val="FDE9E5"/>
            </a:solidFill>
            <a:ln>
              <a:noFill/>
            </a:ln>
          </p:spPr>
        </p:sp>
        <p:sp>
          <p:nvSpPr>
            <p:cNvPr id="9" name="TextBox 9"/>
            <p:cNvSpPr txBox="1"/>
            <p:nvPr/>
          </p:nvSpPr>
          <p:spPr>
            <a:xfrm>
              <a:off x="831342" y="2454592"/>
              <a:ext cx="1677124" cy="264033"/>
            </a:xfrm>
            <a:prstGeom prst="rect">
              <a:avLst/>
            </a:prstGeom>
            <a:noFill/>
            <a:ln>
              <a:noFill/>
            </a:ln>
          </p:spPr>
          <p:txBody>
            <a:bodyPr wrap="none" lIns="0" tIns="0" rIns="0" bIns="0" anchor="t" anchorCtr="0">
              <a:spAutoFit/>
            </a:bodyPr>
            <a:lstStyle/>
            <a:p>
              <a:pPr algn="l"/>
              <a:r>
                <a:rPr lang="en-US" sz="1350" b="1" dirty="0">
                  <a:solidFill>
                    <a:srgbClr val="C3402D"/>
                  </a:solidFill>
                  <a:latin typeface="+mn-lt"/>
                  <a:ea typeface="+mn-ea"/>
                  <a:cs typeface="+mn-cs"/>
                </a:rPr>
                <a:t>1 KEYBOARD INPUT</a:t>
              </a:r>
            </a:p>
          </p:txBody>
        </p:sp>
        <p:sp>
          <p:nvSpPr>
            <p:cNvPr id="10" name="TextBox 10"/>
            <p:cNvSpPr txBox="1"/>
            <p:nvPr/>
          </p:nvSpPr>
          <p:spPr>
            <a:xfrm>
              <a:off x="826770" y="2919412"/>
              <a:ext cx="116780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"5" "3"</a:t>
              </a:r>
            </a:p>
          </p:txBody>
        </p:sp>
        <p:sp>
          <p:nvSpPr>
            <p:cNvPr id="11" name="TextBox 11"/>
            <p:cNvSpPr txBox="1"/>
            <p:nvPr/>
          </p:nvSpPr>
          <p:spPr>
            <a:xfrm>
              <a:off x="829437" y="3338036"/>
              <a:ext cx="851093"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strings</a:t>
              </a:r>
            </a:p>
          </p:txBody>
        </p:sp>
      </p:grpSp>
      <p:grpSp>
        <p:nvGrpSpPr>
          <p:cNvPr id="17" name="Group 17"/>
          <p:cNvGrpSpPr/>
          <p:nvPr/>
        </p:nvGrpSpPr>
        <p:grpSpPr>
          <a:xfrm>
            <a:off x="4648200" y="2209800"/>
            <a:ext cx="2895600" cy="1504950"/>
            <a:chOff x="4648200" y="2209800"/>
            <a:chExt cx="2895600" cy="1504950"/>
          </a:xfrm>
        </p:grpSpPr>
        <p:sp>
          <p:nvSpPr>
            <p:cNvPr id="13" name="Rectangle 13"/>
            <p:cNvSpPr/>
            <p:nvPr/>
          </p:nvSpPr>
          <p:spPr>
            <a:xfrm>
              <a:off x="4648200" y="2209800"/>
              <a:ext cx="2895600" cy="1504950"/>
            </a:xfrm>
            <a:prstGeom prst="roundRect">
              <a:avLst>
                <a:gd name="adj" fmla="val 10127"/>
              </a:avLst>
            </a:prstGeom>
            <a:solidFill>
              <a:srgbClr val="FFF3E2"/>
            </a:solidFill>
            <a:ln>
              <a:noFill/>
            </a:ln>
          </p:spPr>
        </p:sp>
        <p:sp>
          <p:nvSpPr>
            <p:cNvPr id="14" name="TextBox 14"/>
            <p:cNvSpPr txBox="1"/>
            <p:nvPr/>
          </p:nvSpPr>
          <p:spPr>
            <a:xfrm>
              <a:off x="4869942" y="2454592"/>
              <a:ext cx="1828343" cy="264033"/>
            </a:xfrm>
            <a:prstGeom prst="rect">
              <a:avLst/>
            </a:prstGeom>
            <a:noFill/>
            <a:ln>
              <a:noFill/>
            </a:ln>
          </p:spPr>
          <p:txBody>
            <a:bodyPr wrap="none" lIns="0" tIns="0" rIns="0" bIns="0" anchor="t" anchorCtr="0">
              <a:spAutoFit/>
            </a:bodyPr>
            <a:lstStyle/>
            <a:p>
              <a:pPr algn="l"/>
              <a:r>
                <a:rPr lang="en-US" sz="1350" b="1" dirty="0">
                  <a:solidFill>
                    <a:srgbClr val="A26D00"/>
                  </a:solidFill>
                  <a:latin typeface="+mn-lt"/>
                  <a:ea typeface="+mn-ea"/>
                  <a:cs typeface="+mn-cs"/>
                </a:rPr>
                <a:t>2 TYPE CONVERSION</a:t>
              </a:r>
            </a:p>
          </p:txBody>
        </p:sp>
        <p:sp>
          <p:nvSpPr>
            <p:cNvPr id="15" name="TextBox 15"/>
            <p:cNvSpPr txBox="1"/>
            <p:nvPr/>
          </p:nvSpPr>
          <p:spPr>
            <a:xfrm>
              <a:off x="4865370" y="2919412"/>
              <a:ext cx="169256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float(...)</a:t>
              </a:r>
            </a:p>
          </p:txBody>
        </p:sp>
        <p:sp>
          <p:nvSpPr>
            <p:cNvPr id="16" name="TextBox 16"/>
            <p:cNvSpPr txBox="1"/>
            <p:nvPr/>
          </p:nvSpPr>
          <p:spPr>
            <a:xfrm>
              <a:off x="4868037" y="3338036"/>
              <a:ext cx="254138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text becomes numbers</a:t>
              </a:r>
            </a:p>
          </p:txBody>
        </p:sp>
      </p:grpSp>
      <p:grpSp>
        <p:nvGrpSpPr>
          <p:cNvPr id="22" name="Group 22"/>
          <p:cNvGrpSpPr/>
          <p:nvPr/>
        </p:nvGrpSpPr>
        <p:grpSpPr>
          <a:xfrm>
            <a:off x="8686800" y="2209800"/>
            <a:ext cx="2895600" cy="1504950"/>
            <a:chOff x="8686800" y="2209800"/>
            <a:chExt cx="2895600" cy="1504950"/>
          </a:xfrm>
        </p:grpSpPr>
        <p:sp>
          <p:nvSpPr>
            <p:cNvPr id="18" name="Rectangle 18"/>
            <p:cNvSpPr/>
            <p:nvPr/>
          </p:nvSpPr>
          <p:spPr>
            <a:xfrm>
              <a:off x="8686800" y="2209800"/>
              <a:ext cx="2895600" cy="1504950"/>
            </a:xfrm>
            <a:prstGeom prst="roundRect">
              <a:avLst>
                <a:gd name="adj" fmla="val 10127"/>
              </a:avLst>
            </a:prstGeom>
            <a:solidFill>
              <a:schemeClr val="accent5"/>
            </a:solidFill>
            <a:ln>
              <a:noFill/>
            </a:ln>
          </p:spPr>
        </p:sp>
        <p:sp>
          <p:nvSpPr>
            <p:cNvPr id="19" name="TextBox 19"/>
            <p:cNvSpPr txBox="1"/>
            <p:nvPr/>
          </p:nvSpPr>
          <p:spPr>
            <a:xfrm>
              <a:off x="8908542" y="2454592"/>
              <a:ext cx="139484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3 CALCULATION</a:t>
              </a:r>
            </a:p>
          </p:txBody>
        </p:sp>
        <p:sp>
          <p:nvSpPr>
            <p:cNvPr id="20" name="TextBox 20"/>
            <p:cNvSpPr txBox="1"/>
            <p:nvPr/>
          </p:nvSpPr>
          <p:spPr>
            <a:xfrm>
              <a:off x="8903970" y="2919412"/>
              <a:ext cx="143813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Consolas"/>
                  <a:ea typeface="Consolas"/>
                  <a:cs typeface="Consolas"/>
                </a:rPr>
                <a:t>5.0 * 3.0</a:t>
              </a:r>
            </a:p>
          </p:txBody>
        </p:sp>
        <p:sp>
          <p:nvSpPr>
            <p:cNvPr id="21" name="TextBox 21"/>
            <p:cNvSpPr txBox="1"/>
            <p:nvPr/>
          </p:nvSpPr>
          <p:spPr>
            <a:xfrm>
              <a:off x="8906637" y="3338036"/>
              <a:ext cx="1366863" cy="337376"/>
            </a:xfrm>
            <a:prstGeom prst="rect">
              <a:avLst/>
            </a:prstGeom>
            <a:noFill/>
            <a:ln>
              <a:noFill/>
            </a:ln>
          </p:spPr>
          <p:txBody>
            <a:bodyPr wrap="none" lIns="0" tIns="0" rIns="0" bIns="0" anchor="t" anchorCtr="0">
              <a:spAutoFit/>
            </a:bodyPr>
            <a:lstStyle/>
            <a:p>
              <a:pPr algn="l"/>
              <a:r>
                <a:rPr lang="en-US" sz="1720" b="1" dirty="0">
                  <a:solidFill>
                    <a:schemeClr val="accent1"/>
                  </a:solidFill>
                  <a:latin typeface="+mn-lt"/>
                  <a:ea typeface="+mn-ea"/>
                  <a:cs typeface="+mn-cs"/>
                </a:rPr>
                <a:t>area = 15.0</a:t>
              </a:r>
            </a:p>
          </p:txBody>
        </p:sp>
      </p:grpSp>
      <p:grpSp>
        <p:nvGrpSpPr>
          <p:cNvPr id="27" name="Group 27"/>
          <p:cNvGrpSpPr/>
          <p:nvPr/>
        </p:nvGrpSpPr>
        <p:grpSpPr>
          <a:xfrm>
            <a:off x="3638550" y="2876550"/>
            <a:ext cx="4953000" cy="190500"/>
            <a:chOff x="3638550" y="2876550"/>
            <a:chExt cx="4953000" cy="190500"/>
          </a:xfrm>
        </p:grpSpPr>
        <p:sp>
          <p:nvSpPr>
            <p:cNvPr id="23" name="Freeform 23"/>
            <p:cNvSpPr/>
            <p:nvPr/>
          </p:nvSpPr>
          <p:spPr>
            <a:xfrm>
              <a:off x="3638550" y="2971800"/>
              <a:ext cx="857250" cy="9525"/>
            </a:xfrm>
            <a:custGeom>
              <a:avLst/>
              <a:gdLst/>
              <a:ahLst/>
              <a:cxnLst/>
              <a:rect l="l" t="t" r="r" b="b"/>
              <a:pathLst>
                <a:path w="857250" h="9525">
                  <a:moveTo>
                    <a:pt x="0" y="0"/>
                  </a:moveTo>
                  <a:lnTo>
                    <a:pt x="857250" y="0"/>
                  </a:lnTo>
                </a:path>
              </a:pathLst>
            </a:custGeom>
            <a:solidFill>
              <a:srgbClr val="000000"/>
            </a:solidFill>
            <a:ln w="38100">
              <a:solidFill>
                <a:schemeClr val="accent1"/>
              </a:solidFill>
            </a:ln>
          </p:spPr>
        </p:sp>
        <p:sp>
          <p:nvSpPr>
            <p:cNvPr id="24" name="Freeform 24"/>
            <p:cNvSpPr/>
            <p:nvPr/>
          </p:nvSpPr>
          <p:spPr>
            <a:xfrm>
              <a:off x="4400550" y="2876550"/>
              <a:ext cx="152400" cy="190500"/>
            </a:xfrm>
            <a:custGeom>
              <a:avLst/>
              <a:gdLst/>
              <a:ahLst/>
              <a:cxnLst/>
              <a:rect l="l" t="t" r="r" b="b"/>
              <a:pathLst>
                <a:path w="152400" h="190500">
                  <a:moveTo>
                    <a:pt x="0" y="0"/>
                  </a:moveTo>
                  <a:lnTo>
                    <a:pt x="152400" y="95250"/>
                  </a:lnTo>
                  <a:lnTo>
                    <a:pt x="0" y="190500"/>
                  </a:lnTo>
                  <a:close/>
                </a:path>
              </a:pathLst>
            </a:custGeom>
            <a:solidFill>
              <a:schemeClr val="accent1"/>
            </a:solidFill>
            <a:ln>
              <a:noFill/>
            </a:ln>
          </p:spPr>
        </p:sp>
        <p:sp>
          <p:nvSpPr>
            <p:cNvPr id="25" name="Freeform 25"/>
            <p:cNvSpPr/>
            <p:nvPr/>
          </p:nvSpPr>
          <p:spPr>
            <a:xfrm>
              <a:off x="7677150" y="2971800"/>
              <a:ext cx="857250" cy="9525"/>
            </a:xfrm>
            <a:custGeom>
              <a:avLst/>
              <a:gdLst/>
              <a:ahLst/>
              <a:cxnLst/>
              <a:rect l="l" t="t" r="r" b="b"/>
              <a:pathLst>
                <a:path w="857250" h="9525">
                  <a:moveTo>
                    <a:pt x="0" y="0"/>
                  </a:moveTo>
                  <a:lnTo>
                    <a:pt x="857250" y="0"/>
                  </a:lnTo>
                </a:path>
              </a:pathLst>
            </a:custGeom>
            <a:solidFill>
              <a:srgbClr val="000000"/>
            </a:solidFill>
            <a:ln w="38100">
              <a:solidFill>
                <a:schemeClr val="accent1"/>
              </a:solidFill>
            </a:ln>
          </p:spPr>
        </p:sp>
        <p:sp>
          <p:nvSpPr>
            <p:cNvPr id="26" name="Freeform 26"/>
            <p:cNvSpPr/>
            <p:nvPr/>
          </p:nvSpPr>
          <p:spPr>
            <a:xfrm>
              <a:off x="8439150" y="2876550"/>
              <a:ext cx="152400" cy="190500"/>
            </a:xfrm>
            <a:custGeom>
              <a:avLst/>
              <a:gdLst/>
              <a:ahLst/>
              <a:cxnLst/>
              <a:rect l="l" t="t" r="r" b="b"/>
              <a:pathLst>
                <a:path w="152400" h="190500">
                  <a:moveTo>
                    <a:pt x="0" y="0"/>
                  </a:moveTo>
                  <a:lnTo>
                    <a:pt x="152400" y="95250"/>
                  </a:lnTo>
                  <a:lnTo>
                    <a:pt x="0" y="190500"/>
                  </a:lnTo>
                  <a:close/>
                </a:path>
              </a:pathLst>
            </a:custGeom>
            <a:solidFill>
              <a:schemeClr val="accent1"/>
            </a:solidFill>
            <a:ln>
              <a:noFill/>
            </a:ln>
          </p:spPr>
        </p:sp>
      </p:grpSp>
      <p:grpSp>
        <p:nvGrpSpPr>
          <p:cNvPr id="32" name="Group 32"/>
          <p:cNvGrpSpPr/>
          <p:nvPr/>
        </p:nvGrpSpPr>
        <p:grpSpPr>
          <a:xfrm>
            <a:off x="609600" y="4171950"/>
            <a:ext cx="10972800" cy="1466850"/>
            <a:chOff x="609600" y="4171950"/>
            <a:chExt cx="10972800" cy="1466850"/>
          </a:xfrm>
        </p:grpSpPr>
        <p:sp>
          <p:nvSpPr>
            <p:cNvPr id="28" name="Rectangle 28"/>
            <p:cNvSpPr/>
            <p:nvPr/>
          </p:nvSpPr>
          <p:spPr>
            <a:xfrm>
              <a:off x="609600" y="4171950"/>
              <a:ext cx="10972800" cy="1466850"/>
            </a:xfrm>
            <a:prstGeom prst="roundRect">
              <a:avLst>
                <a:gd name="adj" fmla="val 10390"/>
              </a:avLst>
            </a:prstGeom>
            <a:solidFill>
              <a:schemeClr val="dk1"/>
            </a:solidFill>
            <a:ln>
              <a:noFill/>
            </a:ln>
          </p:spPr>
        </p:sp>
        <p:sp>
          <p:nvSpPr>
            <p:cNvPr id="29" name="TextBox 29"/>
            <p:cNvSpPr txBox="1"/>
            <p:nvPr/>
          </p:nvSpPr>
          <p:spPr>
            <a:xfrm>
              <a:off x="868299" y="4363879"/>
              <a:ext cx="6617686"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length_text = input("Length: ") width_text = input("Width: ")</a:t>
              </a:r>
            </a:p>
          </p:txBody>
        </p:sp>
        <p:sp>
          <p:nvSpPr>
            <p:cNvPr id="30" name="TextBox 30"/>
            <p:cNvSpPr txBox="1"/>
            <p:nvPr/>
          </p:nvSpPr>
          <p:spPr>
            <a:xfrm>
              <a:off x="868299" y="4744879"/>
              <a:ext cx="5716351"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length = float(length_text) width = float(width_text)</a:t>
              </a:r>
            </a:p>
          </p:txBody>
        </p:sp>
        <p:sp>
          <p:nvSpPr>
            <p:cNvPr id="31" name="TextBox 31"/>
            <p:cNvSpPr txBox="1"/>
            <p:nvPr/>
          </p:nvSpPr>
          <p:spPr>
            <a:xfrm>
              <a:off x="868299" y="5125879"/>
              <a:ext cx="609716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area = length * width print(f"Area: {area} square units")</a:t>
              </a:r>
            </a:p>
          </p:txBody>
        </p:sp>
      </p:grpSp>
      <p:grpSp>
        <p:nvGrpSpPr>
          <p:cNvPr id="35" name="Group 35"/>
          <p:cNvGrpSpPr/>
          <p:nvPr/>
        </p:nvGrpSpPr>
        <p:grpSpPr>
          <a:xfrm>
            <a:off x="602742" y="6274118"/>
            <a:ext cx="10710291" cy="264033"/>
            <a:chOff x="602742" y="6274118"/>
            <a:chExt cx="10710291" cy="264033"/>
          </a:xfrm>
        </p:grpSpPr>
        <p:sp>
          <p:nvSpPr>
            <p:cNvPr id="33" name="TextBox 33"/>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4" name="TextBox 34"/>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6648857" cy="911161"/>
            <a:chOff x="592836" y="597218"/>
            <a:chExt cx="6648857" cy="911161"/>
          </a:xfrm>
        </p:grpSpPr>
        <p:sp>
          <p:nvSpPr>
            <p:cNvPr id="3" name="TextBox 3"/>
            <p:cNvSpPr txBox="1"/>
            <p:nvPr/>
          </p:nvSpPr>
          <p:spPr>
            <a:xfrm>
              <a:off x="602742" y="597218"/>
              <a:ext cx="14150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10 / DEBUGGING</a:t>
              </a:r>
            </a:p>
          </p:txBody>
        </p:sp>
        <p:sp>
          <p:nvSpPr>
            <p:cNvPr id="4" name="TextBox 4"/>
            <p:cNvSpPr txBox="1"/>
            <p:nvPr/>
          </p:nvSpPr>
          <p:spPr>
            <a:xfrm>
              <a:off x="592836" y="862965"/>
              <a:ext cx="6648857"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Errors fail in different ways</a:t>
              </a:r>
            </a:p>
          </p:txBody>
        </p:sp>
      </p:grpSp>
      <p:grpSp>
        <p:nvGrpSpPr>
          <p:cNvPr id="13" name="Group 13"/>
          <p:cNvGrpSpPr/>
          <p:nvPr/>
        </p:nvGrpSpPr>
        <p:grpSpPr>
          <a:xfrm>
            <a:off x="609600" y="1619250"/>
            <a:ext cx="3352800" cy="3105150"/>
            <a:chOff x="609600" y="1619250"/>
            <a:chExt cx="3352800" cy="3105150"/>
          </a:xfrm>
        </p:grpSpPr>
        <p:sp>
          <p:nvSpPr>
            <p:cNvPr id="6" name="Rectangle 6"/>
            <p:cNvSpPr/>
            <p:nvPr/>
          </p:nvSpPr>
          <p:spPr>
            <a:xfrm>
              <a:off x="609600" y="1619250"/>
              <a:ext cx="3352800" cy="3105150"/>
            </a:xfrm>
            <a:prstGeom prst="roundRect">
              <a:avLst>
                <a:gd name="adj" fmla="val 4908"/>
              </a:avLst>
            </a:prstGeom>
            <a:solidFill>
              <a:srgbClr val="FDE9E5"/>
            </a:solidFill>
            <a:ln>
              <a:noFill/>
            </a:ln>
          </p:spPr>
        </p:sp>
        <p:sp>
          <p:nvSpPr>
            <p:cNvPr id="7" name="TextBox 7"/>
            <p:cNvSpPr txBox="1"/>
            <p:nvPr/>
          </p:nvSpPr>
          <p:spPr>
            <a:xfrm>
              <a:off x="828675" y="1826419"/>
              <a:ext cx="1715182" cy="366712"/>
            </a:xfrm>
            <a:prstGeom prst="rect">
              <a:avLst/>
            </a:prstGeom>
            <a:noFill/>
            <a:ln>
              <a:noFill/>
            </a:ln>
          </p:spPr>
          <p:txBody>
            <a:bodyPr wrap="none" lIns="0" tIns="0" rIns="0" bIns="0" anchor="t" anchorCtr="0">
              <a:spAutoFit/>
            </a:bodyPr>
            <a:lstStyle/>
            <a:p>
              <a:pPr algn="l"/>
              <a:r>
                <a:rPr lang="en-US" sz="1880" b="1" dirty="0">
                  <a:solidFill>
                    <a:srgbClr val="C3402D"/>
                  </a:solidFill>
                  <a:latin typeface="+mn-lt"/>
                  <a:ea typeface="+mn-ea"/>
                  <a:cs typeface="+mn-cs"/>
                </a:rPr>
                <a:t>Syntax error</a:t>
              </a:r>
            </a:p>
          </p:txBody>
        </p:sp>
        <p:sp>
          <p:nvSpPr>
            <p:cNvPr id="8" name="TextBox 8"/>
            <p:cNvSpPr txBox="1"/>
            <p:nvPr/>
          </p:nvSpPr>
          <p:spPr>
            <a:xfrm>
              <a:off x="830199" y="2192179"/>
              <a:ext cx="2256784"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Python cannot start.</a:t>
              </a:r>
            </a:p>
          </p:txBody>
        </p:sp>
        <p:sp>
          <p:nvSpPr>
            <p:cNvPr id="9" name="Rectangle 9"/>
            <p:cNvSpPr/>
            <p:nvPr/>
          </p:nvSpPr>
          <p:spPr>
            <a:xfrm>
              <a:off x="838200" y="2619375"/>
              <a:ext cx="2895600" cy="628650"/>
            </a:xfrm>
            <a:prstGeom prst="roundRect">
              <a:avLst>
                <a:gd name="adj" fmla="val 15152"/>
              </a:avLst>
            </a:prstGeom>
            <a:solidFill>
              <a:schemeClr val="dk1"/>
            </a:solidFill>
            <a:ln>
              <a:noFill/>
            </a:ln>
          </p:spPr>
        </p:sp>
        <p:sp>
          <p:nvSpPr>
            <p:cNvPr id="10" name="TextBox 10"/>
            <p:cNvSpPr txBox="1"/>
            <p:nvPr/>
          </p:nvSpPr>
          <p:spPr>
            <a:xfrm>
              <a:off x="982599" y="2849404"/>
              <a:ext cx="1970072"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shape = "Rectangle</a:t>
              </a:r>
            </a:p>
          </p:txBody>
        </p:sp>
        <p:sp>
          <p:nvSpPr>
            <p:cNvPr id="11" name="TextBox 11"/>
            <p:cNvSpPr txBox="1"/>
            <p:nvPr/>
          </p:nvSpPr>
          <p:spPr>
            <a:xfrm>
              <a:off x="829437" y="3452336"/>
              <a:ext cx="2397947"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Missing closing quote</a:t>
              </a:r>
            </a:p>
          </p:txBody>
        </p:sp>
        <p:sp>
          <p:nvSpPr>
            <p:cNvPr id="12" name="TextBox 12"/>
            <p:cNvSpPr txBox="1"/>
            <p:nvPr/>
          </p:nvSpPr>
          <p:spPr>
            <a:xfrm>
              <a:off x="831342" y="4083368"/>
              <a:ext cx="2362650" cy="264033"/>
            </a:xfrm>
            <a:prstGeom prst="rect">
              <a:avLst/>
            </a:prstGeom>
            <a:noFill/>
            <a:ln>
              <a:noFill/>
            </a:ln>
          </p:spPr>
          <p:txBody>
            <a:bodyPr wrap="none" lIns="0" tIns="0" rIns="0" bIns="0" anchor="t" anchorCtr="0">
              <a:spAutoFit/>
            </a:bodyPr>
            <a:lstStyle/>
            <a:p>
              <a:pPr algn="l"/>
              <a:r>
                <a:rPr lang="en-US" sz="1350" b="1" dirty="0">
                  <a:solidFill>
                    <a:srgbClr val="C3402D"/>
                  </a:solidFill>
                  <a:latin typeface="+mn-lt"/>
                  <a:ea typeface="+mn-ea"/>
                  <a:cs typeface="+mn-cs"/>
                </a:rPr>
                <a:t>CHECK: PYTHON GRAMMAR</a:t>
              </a:r>
            </a:p>
          </p:txBody>
        </p:sp>
      </p:grpSp>
      <p:grpSp>
        <p:nvGrpSpPr>
          <p:cNvPr id="21" name="Group 21"/>
          <p:cNvGrpSpPr/>
          <p:nvPr/>
        </p:nvGrpSpPr>
        <p:grpSpPr>
          <a:xfrm>
            <a:off x="4419600" y="1619250"/>
            <a:ext cx="3352800" cy="3105150"/>
            <a:chOff x="4419600" y="1619250"/>
            <a:chExt cx="3352800" cy="3105150"/>
          </a:xfrm>
        </p:grpSpPr>
        <p:sp>
          <p:nvSpPr>
            <p:cNvPr id="14" name="Rectangle 14"/>
            <p:cNvSpPr/>
            <p:nvPr/>
          </p:nvSpPr>
          <p:spPr>
            <a:xfrm>
              <a:off x="4419600" y="1619250"/>
              <a:ext cx="3352800" cy="3105150"/>
            </a:xfrm>
            <a:prstGeom prst="roundRect">
              <a:avLst>
                <a:gd name="adj" fmla="val 4908"/>
              </a:avLst>
            </a:prstGeom>
            <a:solidFill>
              <a:srgbClr val="FFF3E2"/>
            </a:solidFill>
            <a:ln>
              <a:noFill/>
            </a:ln>
          </p:spPr>
        </p:sp>
        <p:sp>
          <p:nvSpPr>
            <p:cNvPr id="15" name="TextBox 15"/>
            <p:cNvSpPr txBox="1"/>
            <p:nvPr/>
          </p:nvSpPr>
          <p:spPr>
            <a:xfrm>
              <a:off x="4638675" y="1826419"/>
              <a:ext cx="1847955" cy="366712"/>
            </a:xfrm>
            <a:prstGeom prst="rect">
              <a:avLst/>
            </a:prstGeom>
            <a:noFill/>
            <a:ln>
              <a:noFill/>
            </a:ln>
          </p:spPr>
          <p:txBody>
            <a:bodyPr wrap="none" lIns="0" tIns="0" rIns="0" bIns="0" anchor="t" anchorCtr="0">
              <a:spAutoFit/>
            </a:bodyPr>
            <a:lstStyle/>
            <a:p>
              <a:pPr algn="l"/>
              <a:r>
                <a:rPr lang="en-US" sz="1880" b="1" dirty="0">
                  <a:solidFill>
                    <a:srgbClr val="A26D00"/>
                  </a:solidFill>
                  <a:latin typeface="+mn-lt"/>
                  <a:ea typeface="+mn-ea"/>
                  <a:cs typeface="+mn-cs"/>
                </a:rPr>
                <a:t>Runtime error</a:t>
              </a:r>
            </a:p>
          </p:txBody>
        </p:sp>
        <p:sp>
          <p:nvSpPr>
            <p:cNvPr id="16" name="TextBox 16"/>
            <p:cNvSpPr txBox="1"/>
            <p:nvPr/>
          </p:nvSpPr>
          <p:spPr>
            <a:xfrm>
              <a:off x="4640199" y="2154079"/>
              <a:ext cx="2052701" cy="574738"/>
            </a:xfrm>
            <a:prstGeom prst="rect">
              <a:avLst/>
            </a:prstGeom>
            <a:noFill/>
            <a:ln>
              <a:noFill/>
            </a:ln>
          </p:spPr>
          <p:txBody>
            <a:bodyPr wrap="square" lIns="0" tIns="0" rIns="0" bIns="0" anchor="t" anchorCtr="0"/>
            <a:lstStyle/>
            <a:p>
              <a:pPr algn="l">
                <a:lnSpc>
                  <a:spcPts val="2100"/>
                </a:lnSpc>
              </a:pPr>
              <a:r>
                <a:rPr lang="en-US" sz="1580" dirty="0">
                  <a:solidFill>
                    <a:schemeClr val="dk1"/>
                  </a:solidFill>
                  <a:latin typeface="+mn-lt"/>
                  <a:ea typeface="+mn-ea"/>
                  <a:cs typeface="+mn-cs"/>
                </a:rPr>
                <a:t>The program starts, then fails.</a:t>
              </a:r>
            </a:p>
          </p:txBody>
        </p:sp>
        <p:sp>
          <p:nvSpPr>
            <p:cNvPr id="17" name="Rectangle 17"/>
            <p:cNvSpPr/>
            <p:nvPr/>
          </p:nvSpPr>
          <p:spPr>
            <a:xfrm>
              <a:off x="4648200" y="2619375"/>
              <a:ext cx="2895600" cy="628650"/>
            </a:xfrm>
            <a:prstGeom prst="roundRect">
              <a:avLst>
                <a:gd name="adj" fmla="val 15152"/>
              </a:avLst>
            </a:prstGeom>
            <a:solidFill>
              <a:schemeClr val="dk1"/>
            </a:solidFill>
            <a:ln>
              <a:noFill/>
            </a:ln>
          </p:spPr>
        </p:sp>
        <p:sp>
          <p:nvSpPr>
            <p:cNvPr id="18" name="TextBox 18"/>
            <p:cNvSpPr txBox="1"/>
            <p:nvPr/>
          </p:nvSpPr>
          <p:spPr>
            <a:xfrm>
              <a:off x="4792599" y="2849404"/>
              <a:ext cx="1472994"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float("wide")</a:t>
              </a:r>
            </a:p>
          </p:txBody>
        </p:sp>
        <p:sp>
          <p:nvSpPr>
            <p:cNvPr id="19" name="TextBox 19"/>
            <p:cNvSpPr txBox="1"/>
            <p:nvPr/>
          </p:nvSpPr>
          <p:spPr>
            <a:xfrm>
              <a:off x="4639437" y="3452336"/>
              <a:ext cx="2329563"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Text is not a number</a:t>
              </a:r>
            </a:p>
          </p:txBody>
        </p:sp>
        <p:sp>
          <p:nvSpPr>
            <p:cNvPr id="20" name="TextBox 20"/>
            <p:cNvSpPr txBox="1"/>
            <p:nvPr/>
          </p:nvSpPr>
          <p:spPr>
            <a:xfrm>
              <a:off x="4641342" y="4083368"/>
              <a:ext cx="2140862" cy="264033"/>
            </a:xfrm>
            <a:prstGeom prst="rect">
              <a:avLst/>
            </a:prstGeom>
            <a:noFill/>
            <a:ln>
              <a:noFill/>
            </a:ln>
          </p:spPr>
          <p:txBody>
            <a:bodyPr wrap="none" lIns="0" tIns="0" rIns="0" bIns="0" anchor="t" anchorCtr="0">
              <a:spAutoFit/>
            </a:bodyPr>
            <a:lstStyle/>
            <a:p>
              <a:pPr algn="l"/>
              <a:r>
                <a:rPr lang="en-US" sz="1350" b="1" dirty="0">
                  <a:solidFill>
                    <a:srgbClr val="A26D00"/>
                  </a:solidFill>
                  <a:latin typeface="+mn-lt"/>
                  <a:ea typeface="+mn-ea"/>
                  <a:cs typeface="+mn-cs"/>
                </a:rPr>
                <a:t>CHECK: INPUT AND DATA</a:t>
              </a:r>
            </a:p>
          </p:txBody>
        </p:sp>
      </p:grpSp>
      <p:grpSp>
        <p:nvGrpSpPr>
          <p:cNvPr id="29" name="Group 29"/>
          <p:cNvGrpSpPr/>
          <p:nvPr/>
        </p:nvGrpSpPr>
        <p:grpSpPr>
          <a:xfrm>
            <a:off x="8229600" y="1619250"/>
            <a:ext cx="3352800" cy="3105150"/>
            <a:chOff x="8229600" y="1619250"/>
            <a:chExt cx="3352800" cy="3105150"/>
          </a:xfrm>
        </p:grpSpPr>
        <p:sp>
          <p:nvSpPr>
            <p:cNvPr id="22" name="Rectangle 22"/>
            <p:cNvSpPr/>
            <p:nvPr/>
          </p:nvSpPr>
          <p:spPr>
            <a:xfrm>
              <a:off x="8229600" y="1619250"/>
              <a:ext cx="3352800" cy="3105150"/>
            </a:xfrm>
            <a:prstGeom prst="roundRect">
              <a:avLst>
                <a:gd name="adj" fmla="val 4908"/>
              </a:avLst>
            </a:prstGeom>
            <a:solidFill>
              <a:schemeClr val="accent5"/>
            </a:solidFill>
            <a:ln>
              <a:noFill/>
            </a:ln>
          </p:spPr>
        </p:sp>
        <p:sp>
          <p:nvSpPr>
            <p:cNvPr id="23" name="TextBox 23"/>
            <p:cNvSpPr txBox="1"/>
            <p:nvPr/>
          </p:nvSpPr>
          <p:spPr>
            <a:xfrm>
              <a:off x="8448675" y="1826419"/>
              <a:ext cx="1502255"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n-lt"/>
                  <a:ea typeface="+mn-ea"/>
                  <a:cs typeface="+mn-cs"/>
                </a:rPr>
                <a:t>Logic error</a:t>
              </a:r>
            </a:p>
          </p:txBody>
        </p:sp>
        <p:sp>
          <p:nvSpPr>
            <p:cNvPr id="24" name="TextBox 24"/>
            <p:cNvSpPr txBox="1"/>
            <p:nvPr/>
          </p:nvSpPr>
          <p:spPr>
            <a:xfrm>
              <a:off x="8450199" y="2154079"/>
              <a:ext cx="2403856" cy="574738"/>
            </a:xfrm>
            <a:prstGeom prst="rect">
              <a:avLst/>
            </a:prstGeom>
            <a:noFill/>
            <a:ln>
              <a:noFill/>
            </a:ln>
          </p:spPr>
          <p:txBody>
            <a:bodyPr wrap="square" lIns="0" tIns="0" rIns="0" bIns="0" anchor="t" anchorCtr="0"/>
            <a:lstStyle/>
            <a:p>
              <a:pPr algn="l">
                <a:lnSpc>
                  <a:spcPts val="2100"/>
                </a:lnSpc>
              </a:pPr>
              <a:r>
                <a:rPr lang="en-US" sz="1580" dirty="0">
                  <a:solidFill>
                    <a:schemeClr val="dk1"/>
                  </a:solidFill>
                  <a:latin typeface="+mn-lt"/>
                  <a:ea typeface="+mn-ea"/>
                  <a:cs typeface="+mn-cs"/>
                </a:rPr>
                <a:t>The program runs, but the result is wrong.</a:t>
              </a:r>
            </a:p>
          </p:txBody>
        </p:sp>
        <p:sp>
          <p:nvSpPr>
            <p:cNvPr id="25" name="Rectangle 25"/>
            <p:cNvSpPr/>
            <p:nvPr/>
          </p:nvSpPr>
          <p:spPr>
            <a:xfrm>
              <a:off x="8458200" y="2619375"/>
              <a:ext cx="2895600" cy="628650"/>
            </a:xfrm>
            <a:prstGeom prst="roundRect">
              <a:avLst>
                <a:gd name="adj" fmla="val 15152"/>
              </a:avLst>
            </a:prstGeom>
            <a:solidFill>
              <a:schemeClr val="dk1"/>
            </a:solidFill>
            <a:ln>
              <a:noFill/>
            </a:ln>
          </p:spPr>
        </p:sp>
        <p:sp>
          <p:nvSpPr>
            <p:cNvPr id="26" name="TextBox 26"/>
            <p:cNvSpPr txBox="1"/>
            <p:nvPr/>
          </p:nvSpPr>
          <p:spPr>
            <a:xfrm>
              <a:off x="8602599" y="2849404"/>
              <a:ext cx="2196173"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Consolas"/>
                  <a:ea typeface="Consolas"/>
                  <a:cs typeface="Consolas"/>
                </a:rPr>
                <a:t>area = length + width</a:t>
              </a:r>
            </a:p>
          </p:txBody>
        </p:sp>
        <p:sp>
          <p:nvSpPr>
            <p:cNvPr id="27" name="TextBox 27"/>
            <p:cNvSpPr txBox="1"/>
            <p:nvPr/>
          </p:nvSpPr>
          <p:spPr>
            <a:xfrm>
              <a:off x="8449437" y="3452336"/>
              <a:ext cx="186576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Wrong operation</a:t>
              </a:r>
            </a:p>
          </p:txBody>
        </p:sp>
        <p:sp>
          <p:nvSpPr>
            <p:cNvPr id="28" name="TextBox 28"/>
            <p:cNvSpPr txBox="1"/>
            <p:nvPr/>
          </p:nvSpPr>
          <p:spPr>
            <a:xfrm>
              <a:off x="8451342" y="4083368"/>
              <a:ext cx="172753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CHECK: REASONING</a:t>
              </a:r>
            </a:p>
          </p:txBody>
        </p:sp>
      </p:grpSp>
      <p:grpSp>
        <p:nvGrpSpPr>
          <p:cNvPr id="36" name="Group 36"/>
          <p:cNvGrpSpPr/>
          <p:nvPr/>
        </p:nvGrpSpPr>
        <p:grpSpPr>
          <a:xfrm>
            <a:off x="609600" y="5048250"/>
            <a:ext cx="10972800" cy="647700"/>
            <a:chOff x="609600" y="5048250"/>
            <a:chExt cx="10972800" cy="647700"/>
          </a:xfrm>
        </p:grpSpPr>
        <p:sp>
          <p:nvSpPr>
            <p:cNvPr id="30" name="Rectangle 30"/>
            <p:cNvSpPr/>
            <p:nvPr/>
          </p:nvSpPr>
          <p:spPr>
            <a:xfrm>
              <a:off x="609600" y="5048250"/>
              <a:ext cx="10972800" cy="647700"/>
            </a:xfrm>
            <a:prstGeom prst="roundRect">
              <a:avLst>
                <a:gd name="adj" fmla="val 23529"/>
              </a:avLst>
            </a:prstGeom>
            <a:solidFill>
              <a:schemeClr val="dk1"/>
            </a:solidFill>
            <a:ln>
              <a:noFill/>
            </a:ln>
          </p:spPr>
        </p:sp>
        <p:sp>
          <p:nvSpPr>
            <p:cNvPr id="31" name="TextBox 31"/>
            <p:cNvSpPr txBox="1"/>
            <p:nvPr/>
          </p:nvSpPr>
          <p:spPr>
            <a:xfrm>
              <a:off x="867537" y="5271611"/>
              <a:ext cx="1095921"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Correct:</a:t>
              </a:r>
            </a:p>
          </p:txBody>
        </p:sp>
        <p:sp>
          <p:nvSpPr>
            <p:cNvPr id="32" name="TextBox 32"/>
            <p:cNvSpPr txBox="1"/>
            <p:nvPr/>
          </p:nvSpPr>
          <p:spPr>
            <a:xfrm>
              <a:off x="1915287" y="5271611"/>
              <a:ext cx="2390877" cy="337376"/>
            </a:xfrm>
            <a:prstGeom prst="rect">
              <a:avLst/>
            </a:prstGeom>
            <a:noFill/>
            <a:ln>
              <a:noFill/>
            </a:ln>
          </p:spPr>
          <p:txBody>
            <a:bodyPr wrap="none" lIns="0" tIns="0" rIns="0" bIns="0" anchor="t" anchorCtr="0">
              <a:spAutoFit/>
            </a:bodyPr>
            <a:lstStyle/>
            <a:p>
              <a:pPr algn="l"/>
              <a:r>
                <a:rPr lang="en-US" sz="1720" dirty="0">
                  <a:solidFill>
                    <a:srgbClr val="9FD8D2"/>
                  </a:solidFill>
                  <a:latin typeface="Consolas"/>
                  <a:ea typeface="Consolas"/>
                  <a:cs typeface="Consolas"/>
                </a:rPr>
                <a:t>area = length * width</a:t>
              </a:r>
            </a:p>
          </p:txBody>
        </p:sp>
        <p:sp>
          <p:nvSpPr>
            <p:cNvPr id="33" name="TextBox 33"/>
            <p:cNvSpPr txBox="1"/>
            <p:nvPr/>
          </p:nvSpPr>
          <p:spPr>
            <a:xfrm>
              <a:off x="5896737" y="5271611"/>
              <a:ext cx="964136" cy="337376"/>
            </a:xfrm>
            <a:prstGeom prst="rect">
              <a:avLst/>
            </a:prstGeom>
            <a:noFill/>
            <a:ln>
              <a:noFill/>
            </a:ln>
          </p:spPr>
          <p:txBody>
            <a:bodyPr wrap="none" lIns="0" tIns="0" rIns="0" bIns="0" anchor="t" anchorCtr="0">
              <a:spAutoFit/>
            </a:bodyPr>
            <a:lstStyle/>
            <a:p>
              <a:pPr algn="l"/>
              <a:r>
                <a:rPr lang="en-US" sz="1720" dirty="0">
                  <a:solidFill>
                    <a:srgbClr val="FFFFFF"/>
                  </a:solidFill>
                  <a:latin typeface="+mn-lt"/>
                  <a:ea typeface="+mn-ea"/>
                  <a:cs typeface="+mn-cs"/>
                </a:rPr>
                <a:t>Output:</a:t>
              </a:r>
            </a:p>
          </p:txBody>
        </p:sp>
        <p:sp>
          <p:nvSpPr>
            <p:cNvPr id="34" name="TextBox 34"/>
            <p:cNvSpPr txBox="1"/>
            <p:nvPr/>
          </p:nvSpPr>
          <p:spPr>
            <a:xfrm>
              <a:off x="6830187" y="5271611"/>
              <a:ext cx="284962" cy="337376"/>
            </a:xfrm>
            <a:prstGeom prst="rect">
              <a:avLst/>
            </a:prstGeom>
            <a:noFill/>
            <a:ln>
              <a:noFill/>
            </a:ln>
          </p:spPr>
          <p:txBody>
            <a:bodyPr wrap="none" lIns="0" tIns="0" rIns="0" bIns="0" anchor="t" anchorCtr="0">
              <a:spAutoFit/>
            </a:bodyPr>
            <a:lstStyle/>
            <a:p>
              <a:pPr algn="l"/>
              <a:r>
                <a:rPr lang="en-US" sz="1720" b="1" dirty="0">
                  <a:solidFill>
                    <a:schemeClr val="accent3"/>
                  </a:solidFill>
                  <a:latin typeface="Consolas"/>
                  <a:ea typeface="Consolas"/>
                  <a:cs typeface="Consolas"/>
                </a:rPr>
                <a:t>15</a:t>
              </a:r>
            </a:p>
          </p:txBody>
        </p:sp>
        <p:sp>
          <p:nvSpPr>
            <p:cNvPr id="35" name="TextBox 35"/>
            <p:cNvSpPr txBox="1"/>
            <p:nvPr/>
          </p:nvSpPr>
          <p:spPr>
            <a:xfrm>
              <a:off x="7841742" y="5312092"/>
              <a:ext cx="2763919" cy="264033"/>
            </a:xfrm>
            <a:prstGeom prst="rect">
              <a:avLst/>
            </a:prstGeom>
            <a:noFill/>
            <a:ln>
              <a:noFill/>
            </a:ln>
          </p:spPr>
          <p:txBody>
            <a:bodyPr wrap="none" lIns="0" tIns="0" rIns="0" bIns="0" anchor="t" anchorCtr="0">
              <a:spAutoFit/>
            </a:bodyPr>
            <a:lstStyle/>
            <a:p>
              <a:pPr algn="l"/>
              <a:r>
                <a:rPr lang="en-US" sz="1350" dirty="0">
                  <a:solidFill>
                    <a:srgbClr val="C9D2D1"/>
                  </a:solidFill>
                  <a:latin typeface="+mn-lt"/>
                  <a:ea typeface="+mn-ea"/>
                  <a:cs typeface="+mn-cs"/>
                </a:rPr>
                <a:t>Read the final error line first.</a:t>
              </a:r>
            </a:p>
          </p:txBody>
        </p:sp>
      </p:grpSp>
      <p:grpSp>
        <p:nvGrpSpPr>
          <p:cNvPr id="39" name="Group 39"/>
          <p:cNvGrpSpPr/>
          <p:nvPr/>
        </p:nvGrpSpPr>
        <p:grpSpPr>
          <a:xfrm>
            <a:off x="602742" y="6274118"/>
            <a:ext cx="10710291" cy="264033"/>
            <a:chOff x="602742" y="6274118"/>
            <a:chExt cx="10710291" cy="264033"/>
          </a:xfrm>
        </p:grpSpPr>
        <p:sp>
          <p:nvSpPr>
            <p:cNvPr id="37" name="TextBox 37"/>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8" name="TextBox 38"/>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14300"/>
          </a:xfrm>
          <a:custGeom>
            <a:avLst/>
            <a:gdLst/>
            <a:ahLst/>
            <a:cxnLst/>
            <a:rect l="l" t="t" r="r" b="b"/>
            <a:pathLst>
              <a:path w="12192000" h="114300">
                <a:moveTo>
                  <a:pt x="0" y="0"/>
                </a:moveTo>
                <a:lnTo>
                  <a:pt x="12192000" y="0"/>
                </a:lnTo>
                <a:lnTo>
                  <a:pt x="12192000" y="114300"/>
                </a:lnTo>
                <a:lnTo>
                  <a:pt x="0" y="114300"/>
                </a:lnTo>
                <a:close/>
              </a:path>
            </a:pathLst>
          </a:custGeom>
          <a:solidFill>
            <a:schemeClr val="accent1"/>
          </a:solidFill>
          <a:ln>
            <a:noFill/>
          </a:ln>
        </p:spPr>
      </p:sp>
      <p:grpSp>
        <p:nvGrpSpPr>
          <p:cNvPr id="5" name="Group 5"/>
          <p:cNvGrpSpPr/>
          <p:nvPr/>
        </p:nvGrpSpPr>
        <p:grpSpPr>
          <a:xfrm>
            <a:off x="592836" y="597218"/>
            <a:ext cx="9051615" cy="911161"/>
            <a:chOff x="592836" y="597218"/>
            <a:chExt cx="9051615" cy="911161"/>
          </a:xfrm>
        </p:grpSpPr>
        <p:sp>
          <p:nvSpPr>
            <p:cNvPr id="3" name="TextBox 3"/>
            <p:cNvSpPr txBox="1"/>
            <p:nvPr/>
          </p:nvSpPr>
          <p:spPr>
            <a:xfrm>
              <a:off x="602742" y="597218"/>
              <a:ext cx="213078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11 / WORKED PROGRAM</a:t>
              </a:r>
            </a:p>
          </p:txBody>
        </p:sp>
        <p:sp>
          <p:nvSpPr>
            <p:cNvPr id="4" name="TextBox 4"/>
            <p:cNvSpPr txBox="1"/>
            <p:nvPr/>
          </p:nvSpPr>
          <p:spPr>
            <a:xfrm>
              <a:off x="592836" y="862965"/>
              <a:ext cx="9051615"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Convert minutes into hours and minutes</a:t>
              </a:r>
            </a:p>
          </p:txBody>
        </p:sp>
      </p:grpSp>
      <p:grpSp>
        <p:nvGrpSpPr>
          <p:cNvPr id="7" name="Group 7"/>
          <p:cNvGrpSpPr/>
          <p:nvPr/>
        </p:nvGrpSpPr>
        <p:grpSpPr>
          <a:xfrm>
            <a:off x="600837" y="1585436"/>
            <a:ext cx="6044515" cy="337376"/>
            <a:chOff x="600837" y="1585436"/>
            <a:chExt cx="6044515" cy="337376"/>
          </a:xfrm>
        </p:grpSpPr>
        <p:sp>
          <p:nvSpPr>
            <p:cNvPr id="6" name="TextBox 6"/>
            <p:cNvSpPr txBox="1"/>
            <p:nvPr/>
          </p:nvSpPr>
          <p:spPr>
            <a:xfrm>
              <a:off x="600837" y="1585436"/>
              <a:ext cx="6044515"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 xml:space="preserve">Use </a:t>
              </a:r>
              <a:r>
                <a:rPr lang="en-US" sz="1720" b="1" dirty="0">
                  <a:solidFill>
                    <a:schemeClr val="dk1"/>
                  </a:solidFill>
                  <a:latin typeface="Consolas"/>
                  <a:ea typeface="Consolas"/>
                  <a:cs typeface="Consolas"/>
                </a:rPr>
                <a:t>//</a:t>
              </a:r>
              <a:r>
                <a:rPr lang="en-US" sz="1720" dirty="0">
                  <a:solidFill>
                    <a:schemeClr val="dk1"/>
                  </a:solidFill>
                  <a:latin typeface="+mn-lt"/>
                  <a:ea typeface="+mn-ea"/>
                  <a:cs typeface="+mn-cs"/>
                </a:rPr>
                <a:t xml:space="preserve"> for complete groups and </a:t>
              </a:r>
              <a:r>
                <a:rPr lang="en-US" sz="1720" b="1" dirty="0">
                  <a:solidFill>
                    <a:schemeClr val="dk1"/>
                  </a:solidFill>
                  <a:latin typeface="Consolas"/>
                  <a:ea typeface="Consolas"/>
                  <a:cs typeface="Consolas"/>
                </a:rPr>
                <a:t>%</a:t>
              </a:r>
              <a:r>
                <a:rPr lang="en-US" sz="1720" dirty="0">
                  <a:solidFill>
                    <a:schemeClr val="dk1"/>
                  </a:solidFill>
                  <a:latin typeface="+mn-lt"/>
                  <a:ea typeface="+mn-ea"/>
                  <a:cs typeface="+mn-cs"/>
                </a:rPr>
                <a:t xml:space="preserve"> for the remainder.</a:t>
              </a:r>
            </a:p>
          </p:txBody>
        </p:sp>
      </p:grpSp>
      <p:grpSp>
        <p:nvGrpSpPr>
          <p:cNvPr id="18" name="Group 18"/>
          <p:cNvGrpSpPr/>
          <p:nvPr/>
        </p:nvGrpSpPr>
        <p:grpSpPr>
          <a:xfrm>
            <a:off x="598170" y="2207419"/>
            <a:ext cx="4411980" cy="2161698"/>
            <a:chOff x="598170" y="2207419"/>
            <a:chExt cx="4411980" cy="2161698"/>
          </a:xfrm>
        </p:grpSpPr>
        <p:sp>
          <p:nvSpPr>
            <p:cNvPr id="8" name="TextBox 8"/>
            <p:cNvSpPr txBox="1"/>
            <p:nvPr/>
          </p:nvSpPr>
          <p:spPr>
            <a:xfrm>
              <a:off x="600075" y="2207419"/>
              <a:ext cx="1547054"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135 minutes</a:t>
              </a:r>
            </a:p>
          </p:txBody>
        </p:sp>
        <p:sp>
          <p:nvSpPr>
            <p:cNvPr id="9" name="Rectangle 9"/>
            <p:cNvSpPr/>
            <p:nvPr/>
          </p:nvSpPr>
          <p:spPr>
            <a:xfrm>
              <a:off x="609600" y="2647950"/>
              <a:ext cx="1809750" cy="666750"/>
            </a:xfrm>
            <a:prstGeom prst="roundRect">
              <a:avLst>
                <a:gd name="adj" fmla="val 20000"/>
              </a:avLst>
            </a:prstGeom>
            <a:solidFill>
              <a:schemeClr val="accent1"/>
            </a:solidFill>
            <a:ln>
              <a:noFill/>
            </a:ln>
          </p:spPr>
        </p:sp>
        <p:sp>
          <p:nvSpPr>
            <p:cNvPr id="10" name="Rectangle 10"/>
            <p:cNvSpPr/>
            <p:nvPr/>
          </p:nvSpPr>
          <p:spPr>
            <a:xfrm>
              <a:off x="2476500" y="2647950"/>
              <a:ext cx="1809750" cy="666750"/>
            </a:xfrm>
            <a:prstGeom prst="roundRect">
              <a:avLst>
                <a:gd name="adj" fmla="val 20000"/>
              </a:avLst>
            </a:prstGeom>
            <a:solidFill>
              <a:schemeClr val="accent1"/>
            </a:solidFill>
            <a:ln>
              <a:noFill/>
            </a:ln>
          </p:spPr>
        </p:sp>
        <p:sp>
          <p:nvSpPr>
            <p:cNvPr id="11" name="Rectangle 11"/>
            <p:cNvSpPr/>
            <p:nvPr/>
          </p:nvSpPr>
          <p:spPr>
            <a:xfrm>
              <a:off x="4343400" y="2647950"/>
              <a:ext cx="666750" cy="666750"/>
            </a:xfrm>
            <a:prstGeom prst="roundRect">
              <a:avLst>
                <a:gd name="adj" fmla="val 20000"/>
              </a:avLst>
            </a:prstGeom>
            <a:solidFill>
              <a:schemeClr val="accent2"/>
            </a:solidFill>
            <a:ln>
              <a:noFill/>
            </a:ln>
          </p:spPr>
        </p:sp>
        <p:sp>
          <p:nvSpPr>
            <p:cNvPr id="12" name="TextBox 12"/>
            <p:cNvSpPr txBox="1"/>
            <p:nvPr/>
          </p:nvSpPr>
          <p:spPr>
            <a:xfrm>
              <a:off x="1371994" y="2880836"/>
              <a:ext cx="284962" cy="337376"/>
            </a:xfrm>
            <a:prstGeom prst="rect">
              <a:avLst/>
            </a:prstGeom>
            <a:noFill/>
            <a:ln>
              <a:noFill/>
            </a:ln>
          </p:spPr>
          <p:txBody>
            <a:bodyPr wrap="none" lIns="0" tIns="0" rIns="0" bIns="0" anchor="t" anchorCtr="0">
              <a:spAutoFit/>
            </a:bodyPr>
            <a:lstStyle/>
            <a:p>
              <a:pPr algn="ctr"/>
              <a:r>
                <a:rPr lang="en-US" sz="1720" b="1" dirty="0">
                  <a:solidFill>
                    <a:srgbClr val="FFFFFF"/>
                  </a:solidFill>
                  <a:latin typeface="+mn-lt"/>
                  <a:ea typeface="+mn-ea"/>
                  <a:cs typeface="+mn-cs"/>
                </a:rPr>
                <a:t>60</a:t>
              </a:r>
            </a:p>
          </p:txBody>
        </p:sp>
        <p:sp>
          <p:nvSpPr>
            <p:cNvPr id="13" name="TextBox 13"/>
            <p:cNvSpPr txBox="1"/>
            <p:nvPr/>
          </p:nvSpPr>
          <p:spPr>
            <a:xfrm>
              <a:off x="3238894" y="2880836"/>
              <a:ext cx="284962" cy="337376"/>
            </a:xfrm>
            <a:prstGeom prst="rect">
              <a:avLst/>
            </a:prstGeom>
            <a:noFill/>
            <a:ln>
              <a:noFill/>
            </a:ln>
          </p:spPr>
          <p:txBody>
            <a:bodyPr wrap="none" lIns="0" tIns="0" rIns="0" bIns="0" anchor="t" anchorCtr="0">
              <a:spAutoFit/>
            </a:bodyPr>
            <a:lstStyle/>
            <a:p>
              <a:pPr algn="ctr"/>
              <a:r>
                <a:rPr lang="en-US" sz="1720" b="1" dirty="0">
                  <a:solidFill>
                    <a:srgbClr val="FFFFFF"/>
                  </a:solidFill>
                  <a:latin typeface="+mn-lt"/>
                  <a:ea typeface="+mn-ea"/>
                  <a:cs typeface="+mn-cs"/>
                </a:rPr>
                <a:t>60</a:t>
              </a:r>
            </a:p>
          </p:txBody>
        </p:sp>
        <p:sp>
          <p:nvSpPr>
            <p:cNvPr id="14" name="TextBox 14"/>
            <p:cNvSpPr txBox="1"/>
            <p:nvPr/>
          </p:nvSpPr>
          <p:spPr>
            <a:xfrm>
              <a:off x="4534294" y="2880836"/>
              <a:ext cx="284962" cy="337376"/>
            </a:xfrm>
            <a:prstGeom prst="rect">
              <a:avLst/>
            </a:prstGeom>
            <a:noFill/>
            <a:ln>
              <a:noFill/>
            </a:ln>
          </p:spPr>
          <p:txBody>
            <a:bodyPr wrap="none" lIns="0" tIns="0" rIns="0" bIns="0" anchor="t" anchorCtr="0">
              <a:spAutoFit/>
            </a:bodyPr>
            <a:lstStyle/>
            <a:p>
              <a:pPr algn="ctr"/>
              <a:r>
                <a:rPr lang="en-US" sz="1720" b="1" dirty="0">
                  <a:solidFill>
                    <a:srgbClr val="FFFFFF"/>
                  </a:solidFill>
                  <a:latin typeface="+mn-lt"/>
                  <a:ea typeface="+mn-ea"/>
                  <a:cs typeface="+mn-cs"/>
                </a:rPr>
                <a:t>15</a:t>
              </a:r>
            </a:p>
          </p:txBody>
        </p:sp>
        <p:sp>
          <p:nvSpPr>
            <p:cNvPr id="15" name="TextBox 15"/>
            <p:cNvSpPr txBox="1"/>
            <p:nvPr/>
          </p:nvSpPr>
          <p:spPr>
            <a:xfrm>
              <a:off x="600837" y="3557111"/>
              <a:ext cx="1441536"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135 // 60 = 2</a:t>
              </a:r>
            </a:p>
          </p:txBody>
        </p:sp>
        <p:sp>
          <p:nvSpPr>
            <p:cNvPr id="16" name="TextBox 16"/>
            <p:cNvSpPr txBox="1"/>
            <p:nvPr/>
          </p:nvSpPr>
          <p:spPr>
            <a:xfrm>
              <a:off x="2848737" y="3557111"/>
              <a:ext cx="1487846" cy="337376"/>
            </a:xfrm>
            <a:prstGeom prst="rect">
              <a:avLst/>
            </a:prstGeom>
            <a:noFill/>
            <a:ln>
              <a:noFill/>
            </a:ln>
          </p:spPr>
          <p:txBody>
            <a:bodyPr wrap="none" lIns="0" tIns="0" rIns="0" bIns="0" anchor="t" anchorCtr="0">
              <a:spAutoFit/>
            </a:bodyPr>
            <a:lstStyle/>
            <a:p>
              <a:pPr algn="l"/>
              <a:r>
                <a:rPr lang="en-US" sz="1720" dirty="0">
                  <a:solidFill>
                    <a:schemeClr val="dk1"/>
                  </a:solidFill>
                  <a:latin typeface="Consolas"/>
                  <a:ea typeface="Consolas"/>
                  <a:cs typeface="Consolas"/>
                </a:rPr>
                <a:t>135 % 60 = 15</a:t>
              </a:r>
            </a:p>
          </p:txBody>
        </p:sp>
        <p:sp>
          <p:nvSpPr>
            <p:cNvPr id="17" name="TextBox 17"/>
            <p:cNvSpPr txBox="1"/>
            <p:nvPr/>
          </p:nvSpPr>
          <p:spPr>
            <a:xfrm>
              <a:off x="598170" y="3929062"/>
              <a:ext cx="151764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 h 15 min</a:t>
              </a:r>
            </a:p>
          </p:txBody>
        </p:sp>
      </p:grpSp>
      <p:grpSp>
        <p:nvGrpSpPr>
          <p:cNvPr id="25" name="Group 25"/>
          <p:cNvGrpSpPr/>
          <p:nvPr/>
        </p:nvGrpSpPr>
        <p:grpSpPr>
          <a:xfrm>
            <a:off x="5772150" y="2095500"/>
            <a:ext cx="5810250" cy="2495550"/>
            <a:chOff x="5772150" y="2095500"/>
            <a:chExt cx="5810250" cy="2495550"/>
          </a:xfrm>
        </p:grpSpPr>
        <p:sp>
          <p:nvSpPr>
            <p:cNvPr id="19" name="Rectangle 19"/>
            <p:cNvSpPr/>
            <p:nvPr/>
          </p:nvSpPr>
          <p:spPr>
            <a:xfrm>
              <a:off x="5772150" y="2095500"/>
              <a:ext cx="5810250" cy="2495550"/>
            </a:xfrm>
            <a:prstGeom prst="roundRect">
              <a:avLst>
                <a:gd name="adj" fmla="val 6107"/>
              </a:avLst>
            </a:prstGeom>
            <a:solidFill>
              <a:schemeClr val="dk1"/>
            </a:solidFill>
            <a:ln>
              <a:noFill/>
            </a:ln>
          </p:spPr>
        </p:sp>
        <p:sp>
          <p:nvSpPr>
            <p:cNvPr id="20" name="TextBox 20"/>
            <p:cNvSpPr txBox="1"/>
            <p:nvPr/>
          </p:nvSpPr>
          <p:spPr>
            <a:xfrm>
              <a:off x="6031230" y="2314575"/>
              <a:ext cx="4031654"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minutes_text = input("Total minutes: ")</a:t>
              </a:r>
            </a:p>
          </p:txBody>
        </p:sp>
        <p:sp>
          <p:nvSpPr>
            <p:cNvPr id="21" name="TextBox 21"/>
            <p:cNvSpPr txBox="1"/>
            <p:nvPr/>
          </p:nvSpPr>
          <p:spPr>
            <a:xfrm>
              <a:off x="6031230" y="2714625"/>
              <a:ext cx="3458147"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total_minutes = int(minutes_text)</a:t>
              </a:r>
            </a:p>
          </p:txBody>
        </p:sp>
        <p:sp>
          <p:nvSpPr>
            <p:cNvPr id="22" name="TextBox 22"/>
            <p:cNvSpPr txBox="1"/>
            <p:nvPr/>
          </p:nvSpPr>
          <p:spPr>
            <a:xfrm>
              <a:off x="6031230" y="3228975"/>
              <a:ext cx="2751392" cy="293370"/>
            </a:xfrm>
            <a:prstGeom prst="rect">
              <a:avLst/>
            </a:prstGeom>
            <a:noFill/>
            <a:ln>
              <a:noFill/>
            </a:ln>
          </p:spPr>
          <p:txBody>
            <a:bodyPr wrap="none" lIns="0" tIns="0" rIns="0" bIns="0" anchor="t" anchorCtr="0">
              <a:spAutoFit/>
            </a:bodyPr>
            <a:lstStyle/>
            <a:p>
              <a:pPr algn="l"/>
              <a:r>
                <a:rPr lang="en-US" sz="1500" dirty="0">
                  <a:solidFill>
                    <a:srgbClr val="9FD8D2"/>
                  </a:solidFill>
                  <a:latin typeface="Consolas"/>
                  <a:ea typeface="Consolas"/>
                  <a:cs typeface="Consolas"/>
                </a:rPr>
                <a:t>hours = total_minutes // 60</a:t>
              </a:r>
            </a:p>
          </p:txBody>
        </p:sp>
        <p:sp>
          <p:nvSpPr>
            <p:cNvPr id="23" name="TextBox 23"/>
            <p:cNvSpPr txBox="1"/>
            <p:nvPr/>
          </p:nvSpPr>
          <p:spPr>
            <a:xfrm>
              <a:off x="6031230" y="3629025"/>
              <a:ext cx="2892743" cy="293370"/>
            </a:xfrm>
            <a:prstGeom prst="rect">
              <a:avLst/>
            </a:prstGeom>
            <a:noFill/>
            <a:ln>
              <a:noFill/>
            </a:ln>
          </p:spPr>
          <p:txBody>
            <a:bodyPr wrap="none" lIns="0" tIns="0" rIns="0" bIns="0" anchor="t" anchorCtr="0">
              <a:spAutoFit/>
            </a:bodyPr>
            <a:lstStyle/>
            <a:p>
              <a:pPr algn="l"/>
              <a:r>
                <a:rPr lang="en-US" sz="1500" dirty="0">
                  <a:solidFill>
                    <a:srgbClr val="9FD8D2"/>
                  </a:solidFill>
                  <a:latin typeface="Consolas"/>
                  <a:ea typeface="Consolas"/>
                  <a:cs typeface="Consolas"/>
                </a:rPr>
                <a:t>minutes = total_minutes % 60</a:t>
              </a:r>
            </a:p>
          </p:txBody>
        </p:sp>
        <p:sp>
          <p:nvSpPr>
            <p:cNvPr id="24" name="TextBox 24"/>
            <p:cNvSpPr txBox="1"/>
            <p:nvPr/>
          </p:nvSpPr>
          <p:spPr>
            <a:xfrm>
              <a:off x="6031230" y="4143375"/>
              <a:ext cx="3458147" cy="293370"/>
            </a:xfrm>
            <a:prstGeom prst="rect">
              <a:avLst/>
            </a:prstGeom>
            <a:noFill/>
            <a:ln>
              <a:noFill/>
            </a:ln>
          </p:spPr>
          <p:txBody>
            <a:bodyPr wrap="none" lIns="0" tIns="0" rIns="0" bIns="0" anchor="t" anchorCtr="0">
              <a:spAutoFit/>
            </a:bodyPr>
            <a:lstStyle/>
            <a:p>
              <a:pPr algn="l"/>
              <a:r>
                <a:rPr lang="en-US" sz="1500" dirty="0">
                  <a:solidFill>
                    <a:schemeClr val="accent3"/>
                  </a:solidFill>
                  <a:latin typeface="Consolas"/>
                  <a:ea typeface="Consolas"/>
                  <a:cs typeface="Consolas"/>
                </a:rPr>
                <a:t>print(f"{hours} h {minutes} min")</a:t>
              </a:r>
            </a:p>
          </p:txBody>
        </p:sp>
      </p:grpSp>
      <p:grpSp>
        <p:nvGrpSpPr>
          <p:cNvPr id="37" name="Group 37"/>
          <p:cNvGrpSpPr/>
          <p:nvPr/>
        </p:nvGrpSpPr>
        <p:grpSpPr>
          <a:xfrm>
            <a:off x="602742" y="5016818"/>
            <a:ext cx="10979658" cy="850582"/>
            <a:chOff x="602742" y="5016818"/>
            <a:chExt cx="10979658" cy="850582"/>
          </a:xfrm>
        </p:grpSpPr>
        <p:sp>
          <p:nvSpPr>
            <p:cNvPr id="26" name="TextBox 26"/>
            <p:cNvSpPr txBox="1"/>
            <p:nvPr/>
          </p:nvSpPr>
          <p:spPr>
            <a:xfrm>
              <a:off x="602742" y="5016818"/>
              <a:ext cx="397565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TEST BOUNDARIES, NOT JUST ONE EXAMPLE</a:t>
              </a:r>
            </a:p>
          </p:txBody>
        </p:sp>
        <p:sp>
          <p:nvSpPr>
            <p:cNvPr id="27" name="Rectangle 27"/>
            <p:cNvSpPr/>
            <p:nvPr/>
          </p:nvSpPr>
          <p:spPr>
            <a:xfrm>
              <a:off x="609600" y="5314950"/>
              <a:ext cx="2000250" cy="552450"/>
            </a:xfrm>
            <a:prstGeom prst="roundRect">
              <a:avLst>
                <a:gd name="adj" fmla="val 20690"/>
              </a:avLst>
            </a:prstGeom>
            <a:solidFill>
              <a:schemeClr val="accent5"/>
            </a:solidFill>
            <a:ln>
              <a:noFill/>
            </a:ln>
          </p:spPr>
        </p:sp>
        <p:sp>
          <p:nvSpPr>
            <p:cNvPr id="28" name="Rectangle 28"/>
            <p:cNvSpPr/>
            <p:nvPr/>
          </p:nvSpPr>
          <p:spPr>
            <a:xfrm>
              <a:off x="2800350" y="5314950"/>
              <a:ext cx="2000250" cy="552450"/>
            </a:xfrm>
            <a:prstGeom prst="roundRect">
              <a:avLst>
                <a:gd name="adj" fmla="val 20690"/>
              </a:avLst>
            </a:prstGeom>
            <a:solidFill>
              <a:schemeClr val="accent5"/>
            </a:solidFill>
            <a:ln>
              <a:noFill/>
            </a:ln>
          </p:spPr>
        </p:sp>
        <p:sp>
          <p:nvSpPr>
            <p:cNvPr id="29" name="Rectangle 29"/>
            <p:cNvSpPr/>
            <p:nvPr/>
          </p:nvSpPr>
          <p:spPr>
            <a:xfrm>
              <a:off x="4991100" y="5314950"/>
              <a:ext cx="2000250" cy="552450"/>
            </a:xfrm>
            <a:prstGeom prst="roundRect">
              <a:avLst>
                <a:gd name="adj" fmla="val 20690"/>
              </a:avLst>
            </a:prstGeom>
            <a:solidFill>
              <a:schemeClr val="accent5"/>
            </a:solidFill>
            <a:ln>
              <a:noFill/>
            </a:ln>
          </p:spPr>
        </p:sp>
        <p:sp>
          <p:nvSpPr>
            <p:cNvPr id="30" name="Rectangle 30"/>
            <p:cNvSpPr/>
            <p:nvPr/>
          </p:nvSpPr>
          <p:spPr>
            <a:xfrm>
              <a:off x="7181850" y="5314950"/>
              <a:ext cx="2000250" cy="552450"/>
            </a:xfrm>
            <a:prstGeom prst="roundRect">
              <a:avLst>
                <a:gd name="adj" fmla="val 20690"/>
              </a:avLst>
            </a:prstGeom>
            <a:solidFill>
              <a:schemeClr val="accent5"/>
            </a:solidFill>
            <a:ln>
              <a:noFill/>
            </a:ln>
          </p:spPr>
        </p:sp>
        <p:sp>
          <p:nvSpPr>
            <p:cNvPr id="31" name="Rectangle 31"/>
            <p:cNvSpPr/>
            <p:nvPr/>
          </p:nvSpPr>
          <p:spPr>
            <a:xfrm>
              <a:off x="9372600" y="5314950"/>
              <a:ext cx="2209800" cy="552450"/>
            </a:xfrm>
            <a:prstGeom prst="roundRect">
              <a:avLst>
                <a:gd name="adj" fmla="val 20690"/>
              </a:avLst>
            </a:prstGeom>
            <a:solidFill>
              <a:srgbClr val="FDE9E5"/>
            </a:solidFill>
            <a:ln>
              <a:noFill/>
            </a:ln>
          </p:spPr>
        </p:sp>
        <p:sp>
          <p:nvSpPr>
            <p:cNvPr id="32" name="TextBox 32"/>
            <p:cNvSpPr txBox="1"/>
            <p:nvPr/>
          </p:nvSpPr>
          <p:spPr>
            <a:xfrm>
              <a:off x="774192" y="5512118"/>
              <a:ext cx="117683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0 -&gt; 0 h 0 min</a:t>
              </a:r>
            </a:p>
          </p:txBody>
        </p:sp>
        <p:sp>
          <p:nvSpPr>
            <p:cNvPr id="33" name="TextBox 33"/>
            <p:cNvSpPr txBox="1"/>
            <p:nvPr/>
          </p:nvSpPr>
          <p:spPr>
            <a:xfrm>
              <a:off x="2964942" y="5512118"/>
              <a:ext cx="13767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59 -&gt; 0 h 59 min</a:t>
              </a:r>
            </a:p>
          </p:txBody>
        </p:sp>
        <p:sp>
          <p:nvSpPr>
            <p:cNvPr id="34" name="TextBox 34"/>
            <p:cNvSpPr txBox="1"/>
            <p:nvPr/>
          </p:nvSpPr>
          <p:spPr>
            <a:xfrm>
              <a:off x="5155692" y="5512118"/>
              <a:ext cx="127678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60 -&gt; 1 h 0 min</a:t>
              </a:r>
            </a:p>
          </p:txBody>
        </p:sp>
        <p:sp>
          <p:nvSpPr>
            <p:cNvPr id="35" name="TextBox 35"/>
            <p:cNvSpPr txBox="1"/>
            <p:nvPr/>
          </p:nvSpPr>
          <p:spPr>
            <a:xfrm>
              <a:off x="7346442" y="5512118"/>
              <a:ext cx="127678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61 -&gt; 1 h 1 min</a:t>
              </a:r>
            </a:p>
          </p:txBody>
        </p:sp>
        <p:sp>
          <p:nvSpPr>
            <p:cNvPr id="36" name="TextBox 36"/>
            <p:cNvSpPr txBox="1"/>
            <p:nvPr/>
          </p:nvSpPr>
          <p:spPr>
            <a:xfrm>
              <a:off x="9537192" y="5512118"/>
              <a:ext cx="147669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135 -&gt; 2 h 15 min</a:t>
              </a:r>
            </a:p>
          </p:txBody>
        </p:sp>
      </p:grpSp>
      <p:grpSp>
        <p:nvGrpSpPr>
          <p:cNvPr id="40" name="Group 40"/>
          <p:cNvGrpSpPr/>
          <p:nvPr/>
        </p:nvGrpSpPr>
        <p:grpSpPr>
          <a:xfrm>
            <a:off x="602742" y="6274118"/>
            <a:ext cx="10710291" cy="264033"/>
            <a:chOff x="602742" y="6274118"/>
            <a:chExt cx="10710291" cy="264033"/>
          </a:xfrm>
        </p:grpSpPr>
        <p:sp>
          <p:nvSpPr>
            <p:cNvPr id="38" name="TextBox 38"/>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9" name="TextBox 39"/>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190500"/>
          </a:xfrm>
          <a:custGeom>
            <a:avLst/>
            <a:gdLst/>
            <a:ahLst/>
            <a:cxnLst/>
            <a:rect l="l" t="t" r="r" b="b"/>
            <a:pathLst>
              <a:path w="12192000" h="190500">
                <a:moveTo>
                  <a:pt x="0" y="0"/>
                </a:moveTo>
                <a:lnTo>
                  <a:pt x="12192000" y="0"/>
                </a:lnTo>
                <a:lnTo>
                  <a:pt x="12192000" y="190500"/>
                </a:lnTo>
                <a:lnTo>
                  <a:pt x="0" y="190500"/>
                </a:lnTo>
                <a:close/>
              </a:path>
            </a:pathLst>
          </a:custGeom>
          <a:solidFill>
            <a:schemeClr val="accent1"/>
          </a:solidFill>
          <a:ln>
            <a:noFill/>
          </a:ln>
        </p:spPr>
      </p:sp>
      <p:grpSp>
        <p:nvGrpSpPr>
          <p:cNvPr id="5" name="Group 5"/>
          <p:cNvGrpSpPr/>
          <p:nvPr/>
        </p:nvGrpSpPr>
        <p:grpSpPr>
          <a:xfrm>
            <a:off x="592836" y="654368"/>
            <a:ext cx="8305955" cy="930211"/>
            <a:chOff x="592836" y="654368"/>
            <a:chExt cx="8305955" cy="930211"/>
          </a:xfrm>
        </p:grpSpPr>
        <p:sp>
          <p:nvSpPr>
            <p:cNvPr id="3" name="TextBox 3"/>
            <p:cNvSpPr txBox="1"/>
            <p:nvPr/>
          </p:nvSpPr>
          <p:spPr>
            <a:xfrm>
              <a:off x="602742" y="654368"/>
              <a:ext cx="202996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12 / TRACE AND CHECK</a:t>
              </a:r>
            </a:p>
          </p:txBody>
        </p:sp>
        <p:sp>
          <p:nvSpPr>
            <p:cNvPr id="4" name="TextBox 4"/>
            <p:cNvSpPr txBox="1"/>
            <p:nvPr/>
          </p:nvSpPr>
          <p:spPr>
            <a:xfrm>
              <a:off x="592836" y="939165"/>
              <a:ext cx="8305955"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Trace the program before you run it</a:t>
              </a:r>
            </a:p>
          </p:txBody>
        </p:sp>
      </p:grpSp>
      <p:grpSp>
        <p:nvGrpSpPr>
          <p:cNvPr id="14" name="Group 14"/>
          <p:cNvGrpSpPr/>
          <p:nvPr/>
        </p:nvGrpSpPr>
        <p:grpSpPr>
          <a:xfrm>
            <a:off x="609600" y="1714500"/>
            <a:ext cx="5238750" cy="3181350"/>
            <a:chOff x="609600" y="1714500"/>
            <a:chExt cx="5238750" cy="3181350"/>
          </a:xfrm>
        </p:grpSpPr>
        <p:sp>
          <p:nvSpPr>
            <p:cNvPr id="6" name="Rectangle 6"/>
            <p:cNvSpPr/>
            <p:nvPr/>
          </p:nvSpPr>
          <p:spPr>
            <a:xfrm>
              <a:off x="609600" y="1714500"/>
              <a:ext cx="5238750" cy="3181350"/>
            </a:xfrm>
            <a:prstGeom prst="roundRect">
              <a:avLst>
                <a:gd name="adj" fmla="val 4790"/>
              </a:avLst>
            </a:prstGeom>
            <a:solidFill>
              <a:schemeClr val="dk1"/>
            </a:solidFill>
            <a:ln>
              <a:noFill/>
            </a:ln>
          </p:spPr>
        </p:sp>
        <p:sp>
          <p:nvSpPr>
            <p:cNvPr id="7" name="TextBox 7"/>
            <p:cNvSpPr txBox="1"/>
            <p:nvPr/>
          </p:nvSpPr>
          <p:spPr>
            <a:xfrm>
              <a:off x="869442" y="1968818"/>
              <a:ext cx="2535725" cy="264033"/>
            </a:xfrm>
            <a:prstGeom prst="rect">
              <a:avLst/>
            </a:prstGeom>
            <a:noFill/>
            <a:ln>
              <a:noFill/>
            </a:ln>
          </p:spPr>
          <p:txBody>
            <a:bodyPr wrap="none" lIns="0" tIns="0" rIns="0" bIns="0" anchor="t" anchorCtr="0">
              <a:spAutoFit/>
            </a:bodyPr>
            <a:lstStyle/>
            <a:p>
              <a:pPr algn="l"/>
              <a:r>
                <a:rPr lang="en-US" sz="1350" b="1" dirty="0">
                  <a:solidFill>
                    <a:srgbClr val="9FD8D2"/>
                  </a:solidFill>
                  <a:latin typeface="+mn-lt"/>
                  <a:ea typeface="+mn-ea"/>
                  <a:cs typeface="+mn-cs"/>
                </a:rPr>
                <a:t>INPUT: total_minutes = 150</a:t>
              </a:r>
            </a:p>
          </p:txBody>
        </p:sp>
        <p:sp>
          <p:nvSpPr>
            <p:cNvPr id="8" name="TextBox 8"/>
            <p:cNvSpPr txBox="1"/>
            <p:nvPr/>
          </p:nvSpPr>
          <p:spPr>
            <a:xfrm>
              <a:off x="868680" y="2447925"/>
              <a:ext cx="2751392"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hours = total_minutes // 60</a:t>
              </a:r>
            </a:p>
          </p:txBody>
        </p:sp>
        <p:sp>
          <p:nvSpPr>
            <p:cNvPr id="9" name="TextBox 9"/>
            <p:cNvSpPr txBox="1"/>
            <p:nvPr/>
          </p:nvSpPr>
          <p:spPr>
            <a:xfrm>
              <a:off x="868680" y="2847975"/>
              <a:ext cx="2892743"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minutes = total_minutes % 60</a:t>
              </a:r>
            </a:p>
          </p:txBody>
        </p:sp>
        <p:sp>
          <p:nvSpPr>
            <p:cNvPr id="10" name="TextBox 10"/>
            <p:cNvSpPr txBox="1"/>
            <p:nvPr/>
          </p:nvSpPr>
          <p:spPr>
            <a:xfrm>
              <a:off x="868680" y="3248025"/>
              <a:ext cx="2983611"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is_long = total_minutes &gt;= 120</a:t>
              </a:r>
            </a:p>
          </p:txBody>
        </p:sp>
        <p:sp>
          <p:nvSpPr>
            <p:cNvPr id="11" name="TextBox 11"/>
            <p:cNvSpPr txBox="1"/>
            <p:nvPr/>
          </p:nvSpPr>
          <p:spPr>
            <a:xfrm>
              <a:off x="868680" y="3648075"/>
              <a:ext cx="3084576"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Consolas"/>
                  <a:ea typeface="Consolas"/>
                  <a:cs typeface="Consolas"/>
                </a:rPr>
                <a:t>print(hours, minutes, is_long)</a:t>
              </a:r>
            </a:p>
          </p:txBody>
        </p:sp>
        <p:sp>
          <p:nvSpPr>
            <p:cNvPr id="12" name="Freeform 12"/>
            <p:cNvSpPr/>
            <p:nvPr/>
          </p:nvSpPr>
          <p:spPr>
            <a:xfrm>
              <a:off x="876300" y="4076700"/>
              <a:ext cx="4705350" cy="9525"/>
            </a:xfrm>
            <a:custGeom>
              <a:avLst/>
              <a:gdLst/>
              <a:ahLst/>
              <a:cxnLst/>
              <a:rect l="l" t="t" r="r" b="b"/>
              <a:pathLst>
                <a:path w="4705350" h="9525">
                  <a:moveTo>
                    <a:pt x="0" y="0"/>
                  </a:moveTo>
                  <a:lnTo>
                    <a:pt x="4705350" y="0"/>
                  </a:lnTo>
                </a:path>
              </a:pathLst>
            </a:custGeom>
            <a:solidFill>
              <a:srgbClr val="000000"/>
            </a:solidFill>
            <a:ln w="19050">
              <a:solidFill>
                <a:srgbClr val="516563"/>
              </a:solidFill>
            </a:ln>
          </p:spPr>
        </p:sp>
        <p:sp>
          <p:nvSpPr>
            <p:cNvPr id="13" name="TextBox 13"/>
            <p:cNvSpPr txBox="1"/>
            <p:nvPr/>
          </p:nvSpPr>
          <p:spPr>
            <a:xfrm>
              <a:off x="864870" y="4291012"/>
              <a:ext cx="145816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Consolas"/>
                  <a:ea typeface="Consolas"/>
                  <a:cs typeface="Consolas"/>
                </a:rPr>
                <a:t>2 30 True</a:t>
              </a:r>
            </a:p>
          </p:txBody>
        </p:sp>
      </p:grpSp>
      <p:grpSp>
        <p:nvGrpSpPr>
          <p:cNvPr id="26" name="Group 26"/>
          <p:cNvGrpSpPr/>
          <p:nvPr/>
        </p:nvGrpSpPr>
        <p:grpSpPr>
          <a:xfrm>
            <a:off x="6370320" y="1852612"/>
            <a:ext cx="4695327" cy="3080100"/>
            <a:chOff x="6370320" y="1852612"/>
            <a:chExt cx="4695327" cy="3080100"/>
          </a:xfrm>
        </p:grpSpPr>
        <p:sp>
          <p:nvSpPr>
            <p:cNvPr id="15" name="TextBox 15"/>
            <p:cNvSpPr txBox="1"/>
            <p:nvPr/>
          </p:nvSpPr>
          <p:spPr>
            <a:xfrm>
              <a:off x="6370320" y="1852612"/>
              <a:ext cx="442363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You are ready when you can:</a:t>
              </a:r>
            </a:p>
          </p:txBody>
        </p:sp>
        <p:sp>
          <p:nvSpPr>
            <p:cNvPr id="16" name="Freeform 16"/>
            <p:cNvSpPr/>
            <p:nvPr/>
          </p:nvSpPr>
          <p:spPr>
            <a:xfrm>
              <a:off x="6419850" y="2305050"/>
              <a:ext cx="476250" cy="314325"/>
            </a:xfrm>
            <a:custGeom>
              <a:avLst/>
              <a:gdLst/>
              <a:ahLst/>
              <a:cxnLst/>
              <a:rect l="l" t="t" r="r" b="b"/>
              <a:pathLst>
                <a:path w="476250" h="314325">
                  <a:moveTo>
                    <a:pt x="0" y="180975"/>
                  </a:moveTo>
                  <a:lnTo>
                    <a:pt x="152400" y="180975"/>
                  </a:lnTo>
                  <a:lnTo>
                    <a:pt x="247650" y="314325"/>
                  </a:lnTo>
                  <a:lnTo>
                    <a:pt x="476250" y="0"/>
                  </a:lnTo>
                </a:path>
              </a:pathLst>
            </a:custGeom>
            <a:noFill/>
            <a:ln w="57150" cap="rnd">
              <a:solidFill>
                <a:schemeClr val="accent1"/>
              </a:solidFill>
              <a:round/>
            </a:ln>
          </p:spPr>
        </p:sp>
        <p:sp>
          <p:nvSpPr>
            <p:cNvPr id="17" name="TextBox 17"/>
            <p:cNvSpPr txBox="1"/>
            <p:nvPr/>
          </p:nvSpPr>
          <p:spPr>
            <a:xfrm>
              <a:off x="7134987" y="2385536"/>
              <a:ext cx="3039207"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recognize four basic types</a:t>
              </a:r>
            </a:p>
          </p:txBody>
        </p:sp>
        <p:sp>
          <p:nvSpPr>
            <p:cNvPr id="18" name="Freeform 18"/>
            <p:cNvSpPr/>
            <p:nvPr/>
          </p:nvSpPr>
          <p:spPr>
            <a:xfrm>
              <a:off x="6419850" y="2857500"/>
              <a:ext cx="476250" cy="314325"/>
            </a:xfrm>
            <a:custGeom>
              <a:avLst/>
              <a:gdLst/>
              <a:ahLst/>
              <a:cxnLst/>
              <a:rect l="l" t="t" r="r" b="b"/>
              <a:pathLst>
                <a:path w="476250" h="314325">
                  <a:moveTo>
                    <a:pt x="0" y="180975"/>
                  </a:moveTo>
                  <a:lnTo>
                    <a:pt x="152400" y="180975"/>
                  </a:lnTo>
                  <a:lnTo>
                    <a:pt x="247650" y="314325"/>
                  </a:lnTo>
                  <a:lnTo>
                    <a:pt x="476250" y="0"/>
                  </a:lnTo>
                </a:path>
              </a:pathLst>
            </a:custGeom>
            <a:noFill/>
            <a:ln w="57150" cap="rnd">
              <a:solidFill>
                <a:schemeClr val="accent1"/>
              </a:solidFill>
              <a:round/>
            </a:ln>
          </p:spPr>
        </p:sp>
        <p:sp>
          <p:nvSpPr>
            <p:cNvPr id="19" name="TextBox 19"/>
            <p:cNvSpPr txBox="1"/>
            <p:nvPr/>
          </p:nvSpPr>
          <p:spPr>
            <a:xfrm>
              <a:off x="7134987" y="2937986"/>
              <a:ext cx="3757000"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explain variables and expressions</a:t>
              </a:r>
            </a:p>
          </p:txBody>
        </p:sp>
        <p:sp>
          <p:nvSpPr>
            <p:cNvPr id="20" name="Freeform 20"/>
            <p:cNvSpPr/>
            <p:nvPr/>
          </p:nvSpPr>
          <p:spPr>
            <a:xfrm>
              <a:off x="6419850" y="3409950"/>
              <a:ext cx="476250" cy="314325"/>
            </a:xfrm>
            <a:custGeom>
              <a:avLst/>
              <a:gdLst/>
              <a:ahLst/>
              <a:cxnLst/>
              <a:rect l="l" t="t" r="r" b="b"/>
              <a:pathLst>
                <a:path w="476250" h="314325">
                  <a:moveTo>
                    <a:pt x="0" y="180975"/>
                  </a:moveTo>
                  <a:lnTo>
                    <a:pt x="152400" y="180975"/>
                  </a:lnTo>
                  <a:lnTo>
                    <a:pt x="247650" y="314325"/>
                  </a:lnTo>
                  <a:lnTo>
                    <a:pt x="476250" y="0"/>
                  </a:lnTo>
                </a:path>
              </a:pathLst>
            </a:custGeom>
            <a:noFill/>
            <a:ln w="57150" cap="rnd">
              <a:solidFill>
                <a:schemeClr val="accent1"/>
              </a:solidFill>
              <a:round/>
            </a:ln>
          </p:spPr>
        </p:sp>
        <p:sp>
          <p:nvSpPr>
            <p:cNvPr id="21" name="TextBox 21"/>
            <p:cNvSpPr txBox="1"/>
            <p:nvPr/>
          </p:nvSpPr>
          <p:spPr>
            <a:xfrm>
              <a:off x="7134987" y="3490436"/>
              <a:ext cx="3363371"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trace code in execution order</a:t>
              </a:r>
            </a:p>
          </p:txBody>
        </p:sp>
        <p:sp>
          <p:nvSpPr>
            <p:cNvPr id="22" name="Freeform 22"/>
            <p:cNvSpPr/>
            <p:nvPr/>
          </p:nvSpPr>
          <p:spPr>
            <a:xfrm>
              <a:off x="6419850" y="3962400"/>
              <a:ext cx="476250" cy="314325"/>
            </a:xfrm>
            <a:custGeom>
              <a:avLst/>
              <a:gdLst/>
              <a:ahLst/>
              <a:cxnLst/>
              <a:rect l="l" t="t" r="r" b="b"/>
              <a:pathLst>
                <a:path w="476250" h="314325">
                  <a:moveTo>
                    <a:pt x="0" y="180975"/>
                  </a:moveTo>
                  <a:lnTo>
                    <a:pt x="152400" y="180975"/>
                  </a:lnTo>
                  <a:lnTo>
                    <a:pt x="247650" y="314325"/>
                  </a:lnTo>
                  <a:lnTo>
                    <a:pt x="476250" y="0"/>
                  </a:lnTo>
                </a:path>
              </a:pathLst>
            </a:custGeom>
            <a:noFill/>
            <a:ln w="57150" cap="rnd">
              <a:solidFill>
                <a:schemeClr val="accent1"/>
              </a:solidFill>
              <a:round/>
            </a:ln>
          </p:spPr>
        </p:sp>
        <p:sp>
          <p:nvSpPr>
            <p:cNvPr id="23" name="TextBox 23"/>
            <p:cNvSpPr txBox="1"/>
            <p:nvPr/>
          </p:nvSpPr>
          <p:spPr>
            <a:xfrm>
              <a:off x="7134987" y="4042886"/>
              <a:ext cx="3930660"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separate input, state, and output</a:t>
              </a:r>
            </a:p>
          </p:txBody>
        </p:sp>
        <p:sp>
          <p:nvSpPr>
            <p:cNvPr id="24" name="Freeform 24"/>
            <p:cNvSpPr/>
            <p:nvPr/>
          </p:nvSpPr>
          <p:spPr>
            <a:xfrm>
              <a:off x="6419850" y="4514850"/>
              <a:ext cx="476250" cy="314325"/>
            </a:xfrm>
            <a:custGeom>
              <a:avLst/>
              <a:gdLst/>
              <a:ahLst/>
              <a:cxnLst/>
              <a:rect l="l" t="t" r="r" b="b"/>
              <a:pathLst>
                <a:path w="476250" h="314325">
                  <a:moveTo>
                    <a:pt x="0" y="180975"/>
                  </a:moveTo>
                  <a:lnTo>
                    <a:pt x="152400" y="180975"/>
                  </a:lnTo>
                  <a:lnTo>
                    <a:pt x="247650" y="314325"/>
                  </a:lnTo>
                  <a:lnTo>
                    <a:pt x="476250" y="0"/>
                  </a:lnTo>
                </a:path>
              </a:pathLst>
            </a:custGeom>
            <a:noFill/>
            <a:ln w="57150" cap="rnd">
              <a:solidFill>
                <a:schemeClr val="accent1"/>
              </a:solidFill>
              <a:round/>
            </a:ln>
          </p:spPr>
        </p:sp>
        <p:sp>
          <p:nvSpPr>
            <p:cNvPr id="25" name="TextBox 25"/>
            <p:cNvSpPr txBox="1"/>
            <p:nvPr/>
          </p:nvSpPr>
          <p:spPr>
            <a:xfrm>
              <a:off x="7134987" y="4595336"/>
              <a:ext cx="3618073"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identify three error categories</a:t>
              </a:r>
            </a:p>
          </p:txBody>
        </p:sp>
      </p:grpSp>
      <p:grpSp>
        <p:nvGrpSpPr>
          <p:cNvPr id="31" name="Group 31"/>
          <p:cNvGrpSpPr/>
          <p:nvPr/>
        </p:nvGrpSpPr>
        <p:grpSpPr>
          <a:xfrm>
            <a:off x="609600" y="5295900"/>
            <a:ext cx="10972800" cy="647700"/>
            <a:chOff x="609600" y="5295900"/>
            <a:chExt cx="10972800" cy="647700"/>
          </a:xfrm>
        </p:grpSpPr>
        <p:sp>
          <p:nvSpPr>
            <p:cNvPr id="27" name="Rectangle 27"/>
            <p:cNvSpPr/>
            <p:nvPr/>
          </p:nvSpPr>
          <p:spPr>
            <a:xfrm>
              <a:off x="609600" y="5295900"/>
              <a:ext cx="10972800" cy="647700"/>
            </a:xfrm>
            <a:prstGeom prst="roundRect">
              <a:avLst>
                <a:gd name="adj" fmla="val 23529"/>
              </a:avLst>
            </a:prstGeom>
            <a:solidFill>
              <a:schemeClr val="accent2"/>
            </a:solidFill>
            <a:ln>
              <a:noFill/>
            </a:ln>
          </p:spPr>
        </p:sp>
        <p:sp>
          <p:nvSpPr>
            <p:cNvPr id="28" name="TextBox 28"/>
            <p:cNvSpPr txBox="1"/>
            <p:nvPr/>
          </p:nvSpPr>
          <p:spPr>
            <a:xfrm>
              <a:off x="866775" y="5503069"/>
              <a:ext cx="7654778"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n-lt"/>
                  <a:ea typeface="+mn-ea"/>
                  <a:cs typeface="+mn-cs"/>
                </a:rPr>
                <a:t>Next: conditions, loops, functions, lists, and dictionaries</a:t>
              </a:r>
            </a:p>
          </p:txBody>
        </p:sp>
        <p:sp>
          <p:nvSpPr>
            <p:cNvPr id="29" name="Freeform 29"/>
            <p:cNvSpPr/>
            <p:nvPr/>
          </p:nvSpPr>
          <p:spPr>
            <a:xfrm>
              <a:off x="10858500" y="5619750"/>
              <a:ext cx="352425" cy="9525"/>
            </a:xfrm>
            <a:custGeom>
              <a:avLst/>
              <a:gdLst/>
              <a:ahLst/>
              <a:cxnLst/>
              <a:rect l="l" t="t" r="r" b="b"/>
              <a:pathLst>
                <a:path w="352425" h="9525">
                  <a:moveTo>
                    <a:pt x="0" y="0"/>
                  </a:moveTo>
                  <a:lnTo>
                    <a:pt x="352425" y="0"/>
                  </a:lnTo>
                </a:path>
              </a:pathLst>
            </a:custGeom>
            <a:solidFill>
              <a:srgbClr val="000000"/>
            </a:solidFill>
            <a:ln w="38100">
              <a:solidFill>
                <a:srgbClr val="FFFFFF"/>
              </a:solidFill>
            </a:ln>
          </p:spPr>
        </p:sp>
        <p:sp>
          <p:nvSpPr>
            <p:cNvPr id="30" name="Freeform 30"/>
            <p:cNvSpPr/>
            <p:nvPr/>
          </p:nvSpPr>
          <p:spPr>
            <a:xfrm>
              <a:off x="11125200" y="5524500"/>
              <a:ext cx="152400" cy="190500"/>
            </a:xfrm>
            <a:custGeom>
              <a:avLst/>
              <a:gdLst/>
              <a:ahLst/>
              <a:cxnLst/>
              <a:rect l="l" t="t" r="r" b="b"/>
              <a:pathLst>
                <a:path w="152400" h="190500">
                  <a:moveTo>
                    <a:pt x="0" y="0"/>
                  </a:moveTo>
                  <a:lnTo>
                    <a:pt x="152400" y="95250"/>
                  </a:lnTo>
                  <a:lnTo>
                    <a:pt x="0" y="190500"/>
                  </a:lnTo>
                  <a:close/>
                </a:path>
              </a:pathLst>
            </a:custGeom>
            <a:solidFill>
              <a:srgbClr val="FFFFFF"/>
            </a:solidFill>
            <a:ln>
              <a:noFill/>
            </a:ln>
          </p:spPr>
        </p:sp>
      </p:grpSp>
      <p:grpSp>
        <p:nvGrpSpPr>
          <p:cNvPr id="34" name="Group 34"/>
          <p:cNvGrpSpPr/>
          <p:nvPr/>
        </p:nvGrpSpPr>
        <p:grpSpPr>
          <a:xfrm>
            <a:off x="602742" y="6274118"/>
            <a:ext cx="10710291" cy="264033"/>
            <a:chOff x="602742" y="6274118"/>
            <a:chExt cx="10710291" cy="264033"/>
          </a:xfrm>
        </p:grpSpPr>
        <p:sp>
          <p:nvSpPr>
            <p:cNvPr id="32" name="TextBox 32"/>
            <p:cNvSpPr txBox="1"/>
            <p:nvPr/>
          </p:nvSpPr>
          <p:spPr>
            <a:xfrm>
              <a:off x="602742" y="6274118"/>
              <a:ext cx="2454184" cy="264033"/>
            </a:xfrm>
            <a:prstGeom prst="rect">
              <a:avLst/>
            </a:prstGeom>
            <a:noFill/>
            <a:ln>
              <a:noFill/>
            </a:ln>
          </p:spPr>
          <p:txBody>
            <a:bodyPr wrap="none" lIns="0" tIns="0" rIns="0" bIns="0" anchor="t" anchorCtr="0">
              <a:spAutoFit/>
            </a:bodyPr>
            <a:lstStyle/>
            <a:p>
              <a:pPr algn="l"/>
              <a:r>
                <a:rPr lang="en-US" sz="1350" dirty="0">
                  <a:solidFill>
                    <a:srgbClr val="5F6B6A"/>
                  </a:solidFill>
                  <a:latin typeface="+mn-lt"/>
                  <a:ea typeface="+mn-ea"/>
                  <a:cs typeface="+mn-cs"/>
                </a:rPr>
                <a:t>DS Academy / Python Basics</a:t>
              </a:r>
            </a:p>
          </p:txBody>
        </p:sp>
        <p:sp>
          <p:nvSpPr>
            <p:cNvPr id="33" name="TextBox 33"/>
            <p:cNvSpPr txBox="1"/>
            <p:nvPr/>
          </p:nvSpPr>
          <p:spPr>
            <a:xfrm>
              <a:off x="11099406" y="6274118"/>
              <a:ext cx="213627" cy="264033"/>
            </a:xfrm>
            <a:prstGeom prst="rect">
              <a:avLst/>
            </a:prstGeom>
            <a:noFill/>
            <a:ln>
              <a:noFill/>
            </a:ln>
          </p:spPr>
          <p:txBody>
            <a:bodyPr wrap="none" lIns="0" tIns="0" rIns="0" bIns="0" anchor="t" anchorCtr="0">
              <a:spAutoFit/>
            </a:bodyPr>
            <a:lstStyle/>
            <a:p>
              <a:pPr algn="r"/>
              <a:r>
                <a:rPr lang="en-US" sz="1350" dirty="0">
                  <a:solidFill>
                    <a:srgbClr val="5F6B6A"/>
                  </a:solidFill>
                  <a:latin typeface="+mn-lt"/>
                  <a:ea typeface="+mn-ea"/>
                  <a:cs typeface="+mn-cs"/>
                </a:rPr>
                <a:t>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week-01-python-basics">
  <a:themeElements>
    <a:clrScheme name="week-01-python-basics">
      <a:dk1>
        <a:srgbClr val="172026"/>
      </a:dk1>
      <a:lt1>
        <a:srgbClr val="F7F8F5"/>
      </a:lt1>
      <a:dk2>
        <a:srgbClr val="1F497D"/>
      </a:dk2>
      <a:lt2>
        <a:srgbClr val="F7F8F5"/>
      </a:lt2>
      <a:accent1>
        <a:srgbClr val="0B6E69"/>
      </a:accent1>
      <a:accent2>
        <a:srgbClr val="E75B45"/>
      </a:accent2>
      <a:accent3>
        <a:srgbClr val="D8A21B"/>
      </a:accent3>
      <a:accent4>
        <a:srgbClr val="0B6E69"/>
      </a:accent4>
      <a:accent5>
        <a:srgbClr val="E7EFED"/>
      </a:accent5>
      <a:accent6>
        <a:srgbClr val="F79646"/>
      </a:accent6>
      <a:hlink>
        <a:srgbClr val="E75B45"/>
      </a:hlink>
      <a:folHlink>
        <a:srgbClr val="D8A21B"/>
      </a:folHlink>
    </a:clrScheme>
    <a:fontScheme name="week-01-python-basic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ek-01-python-bas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eek-01-python-basics">
  <a:themeElements>
    <a:clrScheme name="week-01-python-basics">
      <a:dk1>
        <a:srgbClr val="172026"/>
      </a:dk1>
      <a:lt1>
        <a:srgbClr val="F7F8F5"/>
      </a:lt1>
      <a:dk2>
        <a:srgbClr val="1F497D"/>
      </a:dk2>
      <a:lt2>
        <a:srgbClr val="F7F8F5"/>
      </a:lt2>
      <a:accent1>
        <a:srgbClr val="0B6E69"/>
      </a:accent1>
      <a:accent2>
        <a:srgbClr val="E75B45"/>
      </a:accent2>
      <a:accent3>
        <a:srgbClr val="D8A21B"/>
      </a:accent3>
      <a:accent4>
        <a:srgbClr val="0B6E69"/>
      </a:accent4>
      <a:accent5>
        <a:srgbClr val="E7EFED"/>
      </a:accent5>
      <a:accent6>
        <a:srgbClr val="F79646"/>
      </a:accent6>
      <a:hlink>
        <a:srgbClr val="E75B45"/>
      </a:hlink>
      <a:folHlink>
        <a:srgbClr val="D8A21B"/>
      </a:folHlink>
    </a:clrScheme>
    <a:fontScheme name="week-01-python-basic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ek-01-python-bas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2026-07-28T18:11:18Z</dcterms:created>
  <dcterms:modified xsi:type="dcterms:W3CDTF">2026-07-28T18:11:18Z</dcterms:modified>
  <cp:category/>
  <cp:contentStatus/>
</cp:coreProperties>
</file>