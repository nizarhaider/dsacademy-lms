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9b1afa558840dd" /><Relationship Type="http://schemas.openxmlformats.org/officeDocument/2006/relationships/extended-properties" Target="/docProps/app.xml" Id="Rad3c9d2f95bd40cf" /><Relationship Type="http://schemas.openxmlformats.org/officeDocument/2006/relationships/officeDocument" Target="/ppt/presentation.xml" Id="R16cd8dc43aa843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d61eb1987c454b"/>
  </p:sldMasterIdLst>
  <p:notesMasterIdLst>
    <p:notesMasterId xmlns:r="http://schemas.openxmlformats.org/officeDocument/2006/relationships" r:id="R7764b47b15754777"/>
  </p:notesMasterIdLst>
  <p:sldIdLst>
    <p:sldId xmlns:r="http://schemas.openxmlformats.org/officeDocument/2006/relationships" id="256" r:id="Rddfbf06a3cf44a98"/>
    <p:sldId xmlns:r="http://schemas.openxmlformats.org/officeDocument/2006/relationships" id="257" r:id="Rda34475521424228"/>
    <p:sldId xmlns:r="http://schemas.openxmlformats.org/officeDocument/2006/relationships" id="258" r:id="Re1871e1c835a4196"/>
    <p:sldId xmlns:r="http://schemas.openxmlformats.org/officeDocument/2006/relationships" id="259" r:id="R70af3a421b8c4281"/>
    <p:sldId xmlns:r="http://schemas.openxmlformats.org/officeDocument/2006/relationships" id="260" r:id="R48344664aaf946a9"/>
    <p:sldId xmlns:r="http://schemas.openxmlformats.org/officeDocument/2006/relationships" id="261" r:id="Rae9106a490184e1d"/>
    <p:sldId xmlns:r="http://schemas.openxmlformats.org/officeDocument/2006/relationships" id="262" r:id="R536f73f70d6b4240"/>
    <p:sldId xmlns:r="http://schemas.openxmlformats.org/officeDocument/2006/relationships" id="263" r:id="R38a381fa1ed84641"/>
    <p:sldId xmlns:r="http://schemas.openxmlformats.org/officeDocument/2006/relationships" id="264" r:id="R7cf29ccb0c4f49d9"/>
    <p:sldId xmlns:r="http://schemas.openxmlformats.org/officeDocument/2006/relationships" id="265" r:id="R6ab369cd39154fb1"/>
    <p:sldId xmlns:r="http://schemas.openxmlformats.org/officeDocument/2006/relationships" id="266" r:id="Rf8095c620ac94c51"/>
    <p:sldId xmlns:r="http://schemas.openxmlformats.org/officeDocument/2006/relationships" id="267" r:id="R7b1478e00f0840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88b3c9243c4cd9" /><Relationship Type="http://schemas.openxmlformats.org/officeDocument/2006/relationships/slideMaster" Target="/ppt/slideMasters/slideMaster1.xml" Id="R76d61eb1987c454b" /><Relationship Type="http://schemas.openxmlformats.org/officeDocument/2006/relationships/notesMaster" Target="/ppt/notesMasters/notesMaster1.xml" Id="R7764b47b15754777" /><Relationship Type="http://schemas.openxmlformats.org/officeDocument/2006/relationships/presProps" Target="/ppt/presProps.xml" Id="R3ede7e60cf354c06" /><Relationship Type="http://schemas.openxmlformats.org/officeDocument/2006/relationships/tableStyles" Target="/ppt/tableStyles.xml" Id="Rbd0788126cad4297" /><Relationship Type="http://schemas.openxmlformats.org/officeDocument/2006/relationships/slide" Target="/ppt/slides/slide1.xml" Id="Rddfbf06a3cf44a98" /><Relationship Type="http://schemas.openxmlformats.org/officeDocument/2006/relationships/slide" Target="/ppt/slides/slide2.xml" Id="Rda34475521424228" /><Relationship Type="http://schemas.openxmlformats.org/officeDocument/2006/relationships/slide" Target="/ppt/slides/slide3.xml" Id="Re1871e1c835a4196" /><Relationship Type="http://schemas.openxmlformats.org/officeDocument/2006/relationships/slide" Target="/ppt/slides/slide4.xml" Id="R70af3a421b8c4281" /><Relationship Type="http://schemas.openxmlformats.org/officeDocument/2006/relationships/slide" Target="/ppt/slides/slide5.xml" Id="R48344664aaf946a9" /><Relationship Type="http://schemas.openxmlformats.org/officeDocument/2006/relationships/slide" Target="/ppt/slides/slide6.xml" Id="Rae9106a490184e1d" /><Relationship Type="http://schemas.openxmlformats.org/officeDocument/2006/relationships/slide" Target="/ppt/slides/slide7.xml" Id="R536f73f70d6b4240" /><Relationship Type="http://schemas.openxmlformats.org/officeDocument/2006/relationships/slide" Target="/ppt/slides/slide8.xml" Id="R38a381fa1ed84641" /><Relationship Type="http://schemas.openxmlformats.org/officeDocument/2006/relationships/slide" Target="/ppt/slides/slide9.xml" Id="R7cf29ccb0c4f49d9" /><Relationship Type="http://schemas.openxmlformats.org/officeDocument/2006/relationships/slide" Target="/ppt/slides/slide10.xml" Id="R6ab369cd39154fb1" /><Relationship Type="http://schemas.openxmlformats.org/officeDocument/2006/relationships/slide" Target="/ppt/slides/slide11.xml" Id="Rf8095c620ac94c51" /><Relationship Type="http://schemas.openxmlformats.org/officeDocument/2006/relationships/slide" Target="/ppt/slides/slide12.xml" Id="R7b1478e00f0840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65db9b331b4d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e6cc78cdef48c8" /><Relationship Type="http://schemas.openxmlformats.org/officeDocument/2006/relationships/notesMaster" Target="/ppt/notesMasters/notesMaster1.xml" Id="R750cb7d8743841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7a0dba200c4d08" /><Relationship Type="http://schemas.openxmlformats.org/officeDocument/2006/relationships/notesMaster" Target="/ppt/notesMasters/notesMaster1.xml" Id="R11f59cccb51e4d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3bdee442f04943" /><Relationship Type="http://schemas.openxmlformats.org/officeDocument/2006/relationships/notesMaster" Target="/ppt/notesMasters/notesMaster1.xml" Id="R280d188c9c9041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7d45d738f04f3d" /><Relationship Type="http://schemas.openxmlformats.org/officeDocument/2006/relationships/notesMaster" Target="/ppt/notesMasters/notesMaster1.xml" Id="R1eced2b750754f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7a5730554c41f8" /><Relationship Type="http://schemas.openxmlformats.org/officeDocument/2006/relationships/notesMaster" Target="/ppt/notesMasters/notesMaster1.xml" Id="R01e81977abf547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309d7febb14334" /><Relationship Type="http://schemas.openxmlformats.org/officeDocument/2006/relationships/notesMaster" Target="/ppt/notesMasters/notesMaster1.xml" Id="R4b1ea4f485f544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ac81c5961d4c96" /><Relationship Type="http://schemas.openxmlformats.org/officeDocument/2006/relationships/notesMaster" Target="/ppt/notesMasters/notesMaster1.xml" Id="Rdc7cad29ac524d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4685c2ece5436d" /><Relationship Type="http://schemas.openxmlformats.org/officeDocument/2006/relationships/notesMaster" Target="/ppt/notesMasters/notesMaster1.xml" Id="R03720759b49045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50491c11ce4b79" /><Relationship Type="http://schemas.openxmlformats.org/officeDocument/2006/relationships/notesMaster" Target="/ppt/notesMasters/notesMaster1.xml" Id="R578b4a963e8d44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a89ac7c55240fb" /><Relationship Type="http://schemas.openxmlformats.org/officeDocument/2006/relationships/notesMaster" Target="/ppt/notesMasters/notesMaster1.xml" Id="Rba9ed2bbfd914e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b9bdbbfbbc4e03" /><Relationship Type="http://schemas.openxmlformats.org/officeDocument/2006/relationships/notesMaster" Target="/ppt/notesMasters/notesMaster1.xml" Id="Raad5688fa9e94c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dbc7f81e134f3c" /><Relationship Type="http://schemas.openxmlformats.org/officeDocument/2006/relationships/notesMaster" Target="/ppt/notesMasters/notesMaster1.xml" Id="R8ccabd3bea3f49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**Exploratory data analysis (EDA)** is the process of examining a dataset to understand its structure, quality, distributions, and relationships.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EDA helps answer: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What does one row represent?</a:t>
            </a:r>
          </a:p>
          <a:p xmlns:a="http://schemas.openxmlformats.org/drawingml/2006/main">
            <a:r>
              <a:t>- Which values are missing, invalid, or unusual?</a:t>
            </a:r>
          </a:p>
          <a:p xmlns:a="http://schemas.openxmlformats.org/drawingml/2006/main">
            <a:r>
              <a:t>- What values are typical?</a:t>
            </a:r>
          </a:p>
          <a:p xmlns:a="http://schemas.openxmlformats.org/drawingml/2006/main">
            <a:r>
              <a:t>- How spread out are the values?</a:t>
            </a:r>
          </a:p>
          <a:p xmlns:a="http://schemas.openxmlformats.org/drawingml/2006/main">
            <a:r>
              <a:t>- Which groups differ?</a:t>
            </a:r>
          </a:p>
          <a:p xmlns:a="http://schemas.openxmlformats.org/drawingml/2006/main">
            <a:r>
              <a:t>- Which relationships deserve further investigation?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EDA produces evidence and new questions. It does not automatically prove why a pattern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Question: “Do customers who subscribed differ in age from those who did not?”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comparing ages, check the row grain, missing values, valid age range, and the number of customers in each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question sits at the center of a loop: structure, quality, distribution, relationship,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a question before a chart. Explain that “plot every column” is not a useful analytical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EDA notebook begins with data loading and an initial assessment before feature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https://www.itl.nist.gov/div898/handbook/eda/eda.htm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**schema** describes column names, data types, and expected meanings. A **quality rule** states what a valid value or row must satisfy.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age must be between `18` and `100`;</a:t>
            </a:r>
          </a:p>
          <a:p xmlns:a="http://schemas.openxmlformats.org/drawingml/2006/main">
            <a:r>
              <a:t>- customer ID must be unique;</a:t>
            </a:r>
          </a:p>
          <a:p xmlns:a="http://schemas.openxmlformats.org/drawingml/2006/main">
            <a:r>
              <a:t>- balance may be negative, so “negative” is not automatically invalid;</a:t>
            </a:r>
          </a:p>
          <a:p xmlns:a="http://schemas.openxmlformats.org/drawingml/2006/main">
            <a:r>
              <a:t>- `"unknown"` may be a missing-value marker rather than a real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types describe storage. They do not guarantee meaning. A numeric age column can still contain impossible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If a table has `4,521` rows but only `4,510` unique customer IDs, at least `11` rows repeat an ID. The duplicates must be investigated before treating rows as independent customers.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schema panel sits beside three rule checks: uniqueness, valid range, and declared missing markers.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whether a value is impossible, unusual, or merely unexpected. These require different responses.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prepares learners for the notebook's initial assessment and data-quality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https://pandas.pydata.org/docs/reference/api/pandas.DataFrame.dtypes.html</a:t>
            </a:r>
          </a:p>
          <a:p xmlns:a="http://schemas.openxmlformats.org/drawingml/2006/main">
            <a:r>
              <a:t>- https://pandas.pydata.org/docs/reference/api/pandas.DataFrame.nunique.html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**mean** is the sum divided by the number of values: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`mean = (x1 + x2 + ... + xn) / n`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**median** is the middle value after sorting.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mean uses every value and is pulled toward extremes. The median depends on order and is more resistant to extreme values. Neither is always “better”; choose the statistic that answers the question and describe the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Values: `[20, 22, 24, 26, 200]`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`(20 + 22 + 24 + 26 + 200) / 5 = 292 / 5 = 58.4`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Median: the ordered middle value is `24`.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value `200` pulls the mean far above most observations.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number line shows four values clustered near 20–26 and one at 200. Mean and median markers appear at different locations.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Calculate both statistics by hand. Avoid describing the median as an average without naming which average.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will compare descriptive statistics and explain why one summary can hide skew.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https://www.itl.nist.gov/div898/handbook/eda/section3/eda351.htm</a:t>
            </a:r>
          </a:p>
          <a:p xmlns:a="http://schemas.openxmlformats.org/drawingml/2006/main">
            <a:r>
              <a:t>- https://pandas.pydata.org/docs/reference/api/pandas.Series.describe.html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**Spread** describes how far values vary.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**Range:** maximum minus minimum</a:t>
            </a:r>
          </a:p>
          <a:p xmlns:a="http://schemas.openxmlformats.org/drawingml/2006/main">
            <a:r>
              <a:t>- **Variance:** average squared distance from the mean</a:t>
            </a:r>
          </a:p>
          <a:p xmlns:a="http://schemas.openxmlformats.org/drawingml/2006/main">
            <a:r>
              <a:t>- **Standard deviation:** square root of variance</a:t>
            </a:r>
          </a:p>
          <a:p xmlns:a="http://schemas.openxmlformats.org/drawingml/2006/main">
            <a:r>
              <a:t>- **Interquartile range (IQR):** third quartile minus first quartile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 deviation uses every value and has the same units as the data. IQR describes the middle half of ordered values and is less affected by extremes.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For `[2, 4, 6]`, mean is `4`.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Squared distances: `(2-4)^2 = 4`, `(4-4)^2 = 0`, `(6-4)^2 = 4`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Population variance: `(4 + 0 + 4) / 3 = 2.67`  </a:t>
            </a:r>
          </a:p>
          <a:p xmlns:a="http://schemas.openxmlformats.org/drawingml/2006/main">
            <a:r>
              <a:t>Population standard deviation: `sqrt(2.67) ≈ 1.63`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Three points on a number line have arrows to the mean. A second strip labels Q1, median, Q3, and IQR.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State whether population or sample variance is used. The worked example uses division by `n` through `ddof=0`.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Spread helps learners compare variables and detect distributions that need closer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https://www.itl.nist.gov/div898/handbook/eda/section3/eda356.htm</a:t>
            </a:r>
          </a:p>
          <a:p xmlns:a="http://schemas.openxmlformats.org/drawingml/2006/main">
            <a:r>
              <a:t>- https://pandas.pydata.org/docs/reference/api/pandas.Series.var.html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**distribution** describes which values occur and how often.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**histogram** divides a numerical range into intervals called bins. Bar height shows how many observations fall inside each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shapes include: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roughly symmetric;</a:t>
            </a:r>
          </a:p>
          <a:p xmlns:a="http://schemas.openxmlformats.org/drawingml/2006/main">
            <a:r>
              <a:t>- right-skewed with a long high-value tail;</a:t>
            </a:r>
          </a:p>
          <a:p xmlns:a="http://schemas.openxmlformats.org/drawingml/2006/main">
            <a:r>
              <a:t>- left-skewed with a long low-value tail;</a:t>
            </a:r>
          </a:p>
          <a:p xmlns:a="http://schemas.openxmlformats.org/drawingml/2006/main">
            <a:r>
              <a:t>- multimodal with more than one peak.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Changing bin width can reveal or hide structure, so inspect more than one reasonable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Scores `[42, 48, 51, 55, 56, 82, 88]` have a cluster around 42–56 and a smaller cluster around 82–88. The mean alone would not show both groups.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Three miniature histograms show symmetric, right-skewed, and two-peaked shapes with axes labelled.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what each axis means. Do not call a histogram a bar chart: histogram bars represent continuous intervals.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notebook's visualizations should be interpreted in words, not included as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https://www.itl.nist.gov/div898/handbook/eda/section3/histogra.htm</a:t>
            </a:r>
          </a:p>
          <a:p xmlns:a="http://schemas.openxmlformats.org/drawingml/2006/main">
            <a:r>
              <a:t>- https://pandas.pydata.org/docs/user_guide/visualization.html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**outlier** is an observation unusually far from most values under a stated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 common flag uses the IQR: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lower fence: `Q1 - 1.5 x IQR`</a:t>
            </a:r>
          </a:p>
          <a:p xmlns:a="http://schemas.openxmlformats.org/drawingml/2006/main">
            <a:r>
              <a:t>- upper fence: `Q3 + 1.5 x IQR`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value beyond a fence is a candidate for investigation. It may be a data error, a rare valid case, or evidence of a separate group. Removing it without checking can erase important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If `Q1 = 20` and `Q3 = 40`: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`IQR = 40 - 20 = 20`  </a:t>
            </a:r>
          </a:p>
          <a:p xmlns:a="http://schemas.openxmlformats.org/drawingml/2006/main">
            <a:r>
              <a:t>Lower fence: `20 - 1.5 x 20 = -10`  </a:t>
            </a:r>
          </a:p>
          <a:p xmlns:a="http://schemas.openxmlformats.org/drawingml/2006/main">
            <a:r>
              <a:t>Upper fence: `40 + 1.5 x 20 = 70`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value of `95` is flagged because `95 &gt; 70`.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box plot labels Q1, median, Q3, whiskers, and one flagged point. Three investigation paths appear beside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Use the phrase “flagged by this rule,” not “wrong.” Ask what source evidence would justify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should record how unusual values are detected and what decision follows.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https://www.itl.nist.gov/div898/handbook/eda/section3/boxplot.htm</a:t>
            </a:r>
          </a:p>
          <a:p xmlns:a="http://schemas.openxmlformats.org/drawingml/2006/main">
            <a:r>
              <a:t>- https://pandas.pydata.org/docs/reference/api/pandas.DataFrame.quantile.html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Missing information may appear as `NaN`, an empty string, `-1`, `"unknown"`, or `"not applicable"`. These are **sentinel values** when they stand in for another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categorical columns: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count each category;</a:t>
            </a:r>
          </a:p>
          <a:p xmlns:a="http://schemas.openxmlformats.org/drawingml/2006/main">
            <a:r>
              <a:t>- include missing values;</a:t>
            </a:r>
          </a:p>
          <a:p xmlns:a="http://schemas.openxmlformats.org/drawingml/2006/main">
            <a:r>
              <a:t>- inspect spelling and capitalization;</a:t>
            </a:r>
          </a:p>
          <a:p xmlns:a="http://schemas.openxmlformats.org/drawingml/2006/main">
            <a:r>
              <a:t>- confirm whether sentinel values are real categories;</a:t>
            </a:r>
          </a:p>
          <a:p xmlns:a="http://schemas.openxmlformats.org/drawingml/2006/main">
            <a:r>
              <a:t>- report both counts and percentages.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rare category may be valid and important. Combining categories requires a stated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Job values: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teacher, teacher, unknown, Teacher, missing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Without cleaning, `teacher` and `Teacher` are counted separately. `"unknown"` and missing may represent two different data-collection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raw category list flows into a frequency table. Potential spelling variants and sentinel markers are highlighted, not silently merged.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learners to distinguish normalization of spelling from changing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prepares the notebook's quality checks and categorical visualizations.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https://pandas.pydata.org/docs/reference/api/pandas.Series.value_counts.html</a:t>
            </a:r>
          </a:p>
          <a:p xmlns:a="http://schemas.openxmlformats.org/drawingml/2006/main">
            <a:r>
              <a:t>- https://pandas.pydata.org/docs/user_guide/missing_data.html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**target** is the outcome a supervised model will learn to predict. For a categorical target, each possible value is a **class**.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**Class imbalance** occurs when one class is much more common than another.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`90` of `100` customers did not subscribe, a rule that always predicts “no” is `90%` accurate. It still identifies none of the `10` subscribers.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why EDA must count target classes before modelling. The appropriate evaluation measure depends on which mistakes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Actual counts: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No: `90`</a:t>
            </a:r>
          </a:p>
          <a:p xmlns:a="http://schemas.openxmlformats.org/drawingml/2006/main">
            <a:r>
              <a:t>- Yes: `10`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Always predict No: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`accuracy = 90 correct / 100 total = 0.90`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Subscribers found: `0 / 10 = 0`.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100-cell grid contains 90 neutral cells and 10 accent cells. A large “90% accuracy” label is paired with “0 subscribers found.”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teach precision and recall formulas yet. Use this example to motivate why accuracy alone can mislead.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notebook's target distribution should be described before feature importance or modelling.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https://scikit-learn.org/stable/modules/model_evaluation.html#classification-metrics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**association** means two variables vary together in the observed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**Correlation** summarizes the direction and strength of a linear relationship between two numerical variables. Pearson correlation ranges from `-1` to `1`.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near `1`: strong positive linear relationship;</a:t>
            </a:r>
          </a:p>
          <a:p xmlns:a="http://schemas.openxmlformats.org/drawingml/2006/main">
            <a:r>
              <a:t>- near `-1`: strong negative linear relationship;</a:t>
            </a:r>
          </a:p>
          <a:p xmlns:a="http://schemas.openxmlformats.org/drawingml/2006/main">
            <a:r>
              <a:t>- near `0`: weak linear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**Causation** means changing one factor produces a change in another. Correlation alone does not establish causation because confounding factors, selection, timing, or chance may explain the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Suppose study hours and scores have correlation `0.70`. This supports a positive association in this dataset. It does not prove that adding one study hour causes a fixed score increase.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scatter plot slopes upward. A separate causal arrow is crossed out and labelled “requires stronger evidence.”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for possible confounders such as prior knowledge, course difficulty, or access to tutoring.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should use cautious language when interpreting correlations and feature importance.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https://www.itl.nist.gov/div898/handbook/eda/section3/scatterp.htm</a:t>
            </a:r>
          </a:p>
          <a:p xmlns:a="http://schemas.openxmlformats.org/drawingml/2006/main">
            <a:r>
              <a:t>- https://pandas.pydata.org/docs/reference/api/pandas.DataFrame.corr.html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**feature** is an input variable available when a prediction must be made. **Feature engineering** creates a feature from existing data using a stated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`contact_duration_minutes = seconds / 60`</a:t>
            </a:r>
          </a:p>
          <a:p xmlns:a="http://schemas.openxmlformats.org/drawingml/2006/main">
            <a:r>
              <a:t>- `has_previous_contact = previous_contacts &gt; 0`</a:t>
            </a:r>
          </a:p>
          <a:p xmlns:a="http://schemas.openxmlformats.org/drawingml/2006/main">
            <a:r>
              <a:t>- extract month from a valid contact 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useful feature has: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 clear meaning;</a:t>
            </a:r>
          </a:p>
          <a:p xmlns:a="http://schemas.openxmlformats.org/drawingml/2006/main">
            <a:r>
              <a:t>- a reproducible formula;</a:t>
            </a:r>
          </a:p>
          <a:p xmlns:a="http://schemas.openxmlformats.org/drawingml/2006/main">
            <a:r>
              <a:t>- valid source columns;</a:t>
            </a:r>
          </a:p>
          <a:p xmlns:a="http://schemas.openxmlformats.org/drawingml/2006/main">
            <a:r>
              <a:t>- no future information;</a:t>
            </a:r>
          </a:p>
          <a:p xmlns:a="http://schemas.openxmlformats.org/drawingml/2006/main">
            <a:r>
              <a:t>- checks for missing or impossible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If contact duration is `150` seconds: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`150 / 60 = 2.5`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duration is missing, the engineered value is also missing unless a documented policy says otherwise.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Two source columns flow through labelled formulas into two engineered feature columns. A red boundary marks unavailable future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whether each source value would exist at prediction time. This previews leakage in Week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creates features after initial assessment; learners must explain each transformation.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https://scikit-learn.org/stable/common_pitfalls.html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each EDA question: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state the question;</a:t>
            </a:r>
          </a:p>
          <a:p xmlns:a="http://schemas.openxmlformats.org/drawingml/2006/main">
            <a:r>
              <a:t>2. identify required columns and row grain;</a:t>
            </a:r>
          </a:p>
          <a:p xmlns:a="http://schemas.openxmlformats.org/drawingml/2006/main">
            <a:r>
              <a:t>3. check missing, invalid, and duplicate values;</a:t>
            </a:r>
          </a:p>
          <a:p xmlns:a="http://schemas.openxmlformats.org/drawingml/2006/main">
            <a:r>
              <a:t>4. calculate a relevant statistic;</a:t>
            </a:r>
          </a:p>
          <a:p xmlns:a="http://schemas.openxmlformats.org/drawingml/2006/main">
            <a:r>
              <a:t>5. create a chart that answers the question;</a:t>
            </a:r>
          </a:p>
          <a:p xmlns:a="http://schemas.openxmlformats.org/drawingml/2006/main">
            <a:r>
              <a:t>6. interpret the pattern in plain language;</a:t>
            </a:r>
          </a:p>
          <a:p xmlns:a="http://schemas.openxmlformats.org/drawingml/2006/main">
            <a:r>
              <a:t>7. record limitations and the next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chart needs a title, labelled axes, units, and a written interpretation. Every transformation needs an inspectable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Question: “How does account balance differ by subscription outcome?”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group counts;</a:t>
            </a:r>
          </a:p>
          <a:p xmlns:a="http://schemas.openxmlformats.org/drawingml/2006/main">
            <a:r>
              <a:t>- median and IQR of balance per class;</a:t>
            </a:r>
          </a:p>
          <a:p xmlns:a="http://schemas.openxmlformats.org/drawingml/2006/main">
            <a:r>
              <a:t>- side-by-side box plots;</a:t>
            </a:r>
          </a:p>
          <a:p xmlns:a="http://schemas.openxmlformats.org/drawingml/2006/main">
            <a:r>
              <a:t>- note that the comparison is observational and may be affected by other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seven-step EDA loop ends in an evidence panel containing a statistic, chart, interpretation, and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Reject interpretations that merely repeat axis labels. Ask what the pattern means and what it does not 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This workflow maps directly to the notebook's assessment, statistics, visualization, and feature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https://www.itl.nist.gov/div898/handbook/eda/section1/eda11.htm</a:t>
            </a:r>
          </a:p>
          <a:p xmlns:a="http://schemas.openxmlformats.org/drawingml/2006/main">
            <a:r>
              <a:t>- https://pandas.pydata.org/docs/user_guide/visualization.html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Bank Marketing dataset to produce three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Your report must include: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row grain and target definition;</a:t>
            </a:r>
          </a:p>
          <a:p xmlns:a="http://schemas.openxmlformats.org/drawingml/2006/main">
            <a:r>
              <a:t>2. shape, types, missing markers, and duplicate checks;</a:t>
            </a:r>
          </a:p>
          <a:p xmlns:a="http://schemas.openxmlformats.org/drawingml/2006/main">
            <a:r>
              <a:t>3. target class counts and percentages;</a:t>
            </a:r>
          </a:p>
          <a:p xmlns:a="http://schemas.openxmlformats.org/drawingml/2006/main">
            <a:r>
              <a:t>4. one numerical distribution with center and spread;</a:t>
            </a:r>
          </a:p>
          <a:p xmlns:a="http://schemas.openxmlformats.org/drawingml/2006/main">
            <a:r>
              <a:t>5. one group comparison;</a:t>
            </a:r>
          </a:p>
          <a:p xmlns:a="http://schemas.openxmlformats.org/drawingml/2006/main">
            <a:r>
              <a:t>6. one relationship between numerical variables;</a:t>
            </a:r>
          </a:p>
          <a:p xmlns:a="http://schemas.openxmlformats.org/drawingml/2006/main">
            <a:r>
              <a:t>7. one documented feature idea;</a:t>
            </a:r>
          </a:p>
          <a:p xmlns:a="http://schemas.openxmlformats.org/drawingml/2006/main">
            <a:r>
              <a:t>8. limitations and an unanswered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make causal claims from correlation or feature importance.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Finding format: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“The median balance was higher in group A than group B. Group sizes were `nA` and `nB`. This is an observed association; the data does not establish that balance caused the outcome.”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report page contains three evidence rows: question, statistic or chart, interpretation, and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learners to verify at least one statistic by hand and explain why each chart was chosen.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Continue into `02.exploratory-data-analysis.ipynb`, treating notebook cells as the lab rather than the lesson outline.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https://github.com/curiousily/AI-Bootcamp/blob/master/02.exploratory-data-analysis.ipynb</a:t>
            </a:r>
          </a:p>
          <a:p xmlns:a="http://schemas.openxmlformats.org/drawingml/2006/main">
            <a:r>
              <a:t>- https://archive.ics.uci.edu/dataset/222/bank+marketing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ad99de5f041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475f88f85c4f3c" /><Relationship Type="http://schemas.openxmlformats.org/officeDocument/2006/relationships/slideLayout" Target="/ppt/slideLayouts/slideLayout1.xml" Id="Re5dd73b54bfc4b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dd73b54bfc4b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bfd5fbea0477a" /><Relationship Type="http://schemas.openxmlformats.org/officeDocument/2006/relationships/image" Target="/ppt/media/image.png" Id="R24cd55b74f3d49fb" /><Relationship Type="http://schemas.openxmlformats.org/officeDocument/2006/relationships/image" Target="/ppt/media/image2.png" Id="R78e13d14d12d4d4a" /><Relationship Type="http://schemas.openxmlformats.org/officeDocument/2006/relationships/notesSlide" Target="/ppt/notesSlides/notesSlide1.xml" Id="R5997028d04ea46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f52cbadd243cf" /><Relationship Type="http://schemas.openxmlformats.org/officeDocument/2006/relationships/notesSlide" Target="/ppt/notesSlides/notesSlide2.xml" Id="Raeb570968f714b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c401b3e3d432a" /><Relationship Type="http://schemas.openxmlformats.org/officeDocument/2006/relationships/notesSlide" Target="/ppt/notesSlides/notesSlide3.xml" Id="R52001b9ea5aa4e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68fdbca194803" /><Relationship Type="http://schemas.openxmlformats.org/officeDocument/2006/relationships/notesSlide" Target="/ppt/notesSlides/notesSlide4.xml" Id="R9471330836c14a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fef87466e4b58" /><Relationship Type="http://schemas.openxmlformats.org/officeDocument/2006/relationships/notesSlide" Target="/ppt/notesSlides/notesSlide5.xml" Id="Ref217d47dd1244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d0f91988e4b53" /><Relationship Type="http://schemas.openxmlformats.org/officeDocument/2006/relationships/notesSlide" Target="/ppt/notesSlides/notesSlide6.xml" Id="R0f128e215ea043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55d3f3f6c4aad" /><Relationship Type="http://schemas.openxmlformats.org/officeDocument/2006/relationships/notesSlide" Target="/ppt/notesSlides/notesSlide7.xml" Id="Rd9ab4aba895e40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ab25482844bd7" /><Relationship Type="http://schemas.openxmlformats.org/officeDocument/2006/relationships/notesSlide" Target="/ppt/notesSlides/notesSlide8.xml" Id="Rc2f5bfa2247647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f2d8ad61944ea" /><Relationship Type="http://schemas.openxmlformats.org/officeDocument/2006/relationships/notesSlide" Target="/ppt/notesSlides/notesSlide9.xml" Id="Rb0206ff687c343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ee02716f4420f" /><Relationship Type="http://schemas.openxmlformats.org/officeDocument/2006/relationships/notesSlide" Target="/ppt/notesSlides/notesSlide10.xml" Id="Rd2b2b0171a3047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891a43b0442eb" /><Relationship Type="http://schemas.openxmlformats.org/officeDocument/2006/relationships/notesSlide" Target="/ppt/notesSlides/notesSlide11.xml" Id="Rb27c7d0370b644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420dccbeb4619" /><Relationship Type="http://schemas.openxmlformats.org/officeDocument/2006/relationships/notesSlide" Target="/ppt/notesSlides/notesSlide12.xml" Id="R7872b58390dd4e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D57ED-C969-41A3-9C24-6D936682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d55b74f3d49fb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C6FF7-53E6-4448-9C1B-34F9A91E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0BDA0-FE89-434B-9EF3-3FA5E67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04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016D5-CDC0-42C8-9A40-C27E258A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EDA Asks What the Data Can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F220C-C2AD-4010-ACAC-0F11D50A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24B20-4FE5-4892-8662-FAC356ED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Exploratory data analysis (EDA) is the process of examining a dataset to understand its structure, quality, distributions, and relationships.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13d14d12d4d4a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76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66862-7403-4227-ADCA-1E39959F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63891-6AF7-4231-940A-B07D875B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EDA Asks What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B2D40-94ED-4B0D-BC99-CAE119C4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56428-AD9D-41A4-B4E7-69DD1251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5D6CD-E0E4-424C-A960-46E7F15A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with Schema, Grain, and Quality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4A40A-1ABE-4B35-9212-DBF30FE3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286E4-FB24-46C7-A07D-C37BF13D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3244"/>
                </a:solidFill>
              </a:defRPr>
            </a:pPr>
            <a:r>
              <a:rPr sz="1275">
                <a:solidFill>
                  <a:srgbClr val="243244"/>
                </a:solidFill>
              </a:rPr>
              <a:t>A schema describes column names, data types, and expected meanings. A quality rule states what a valid value or row must satisfy. Examples: Data types describe storage. They do not guarantee meaning. A numeric age column can still contain impossible 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C5498-AA52-4129-96BE-AA9D7863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771C0-B7AD-42AB-AC98-02282979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age must be between 18 and 100;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CCFB0-489E-4D73-9E07-1A0E1714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880F2-4412-41E2-B4D9-73EAE7DE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customer ID must be unique;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D0227-B14A-4578-A0ED-88E94854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56767-F4A2-470A-BD1B-93FB67F0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balance may be negative, so “negative” is not automatically invalid;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E0E1D-8D81-4E6E-B817-2D509155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95392-C34B-4BA1-9131-B496DDB2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"unknown" may be a missing-value marker rather than a real category.</a:t>
            </a:r>
          </a:p>
        </p:txBody>
      </p:sp>
    </p:spTree>
    <p:extLst>
      <p:ext uri="{BB962C8B-B14F-4D97-AF65-F5344CB8AC3E}">
        <p14:creationId xmlns:p14="http://schemas.microsoft.com/office/powerpoint/2010/main" val="1448021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0E8A8-54C4-4741-A5AE-EB724B44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CE598-D62D-4733-BA15-9E1D0597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EDA Asks What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4B8B8-5A3A-404F-833E-FBD9CC3A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D4D67-9A9F-4930-8B08-A2E316EB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39784-A1B3-48FA-91D1-E14C95E4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Center Describes a Typical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77688-A47D-4F76-B14E-4120BC63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56C55-8E1B-445A-99FD-9B433599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7AFAA-9F2B-40B3-B511-45F0E65A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CFFAB-CBFC-41FE-B36D-3522F617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8F288-5242-4259-99FB-E4AA923D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F7901-7CD5-44F8-B17A-886F24D5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values = pd.Series([20, 22, 24, 26, 200])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print(values.mean(), values.median())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B93B3-81C4-48C8-93FB-D18E91E9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FF8E5-0193-4436-8BF8-739CFD3F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A1F51-1D39-4744-AA39-FD66C328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58.4 24.0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BC2CB-84DB-4F89-9698-0861B499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F8706-02B7-432D-8C9D-48F76266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The value 200 pulls the mean far above most observations.</a:t>
            </a:r>
          </a:p>
        </p:txBody>
      </p:sp>
    </p:spTree>
    <p:extLst>
      <p:ext uri="{BB962C8B-B14F-4D97-AF65-F5344CB8AC3E}">
        <p14:creationId xmlns:p14="http://schemas.microsoft.com/office/powerpoint/2010/main" val="2126028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7DA0BE-A479-459D-8C18-0F82D982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D25DB-5161-4968-B06F-5914326B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EDA Asks What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D3D22-DA51-47DD-9EAC-FF5A2E1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4056D-C24B-41E1-A112-4CF893F2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7AF98-8B54-4829-9C80-ACA10A98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Spread Describes How Values Vary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7AEFC-E0DA-48AA-BB85-283E35A1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9B830-128C-4163-BB60-5EF773E0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Range: maximum minus minimum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485C6-DBFA-45EE-8964-592DC6DA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F4D6A-4E52-49CC-8DE7-C76666AB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3AAFE-E562-4259-B7A4-8C46A108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112E2-4C5C-4DB7-87B1-D48EC810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Variance: average squared distance from the mean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25251-82C6-41B6-AB9F-8C901AEB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FBCD6-42FE-4A45-B5EE-D20DFE4A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F3376-16A7-4D31-A2C9-614A469E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6F46D-ADFC-4F33-8D69-D609EB3A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Standard deviation: square root of variance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5D576-8A27-4D27-8193-6880B89C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DE355-FD9C-4312-B3F5-8A93AC32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17412-EE08-4E7E-A924-C88C1766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B5959-EC35-417F-ADF9-F3D30035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Interquartile range (IQR): third quartile minus first quartile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7638F-DE88-4964-AEBA-36A49CB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04D14-121A-4462-8FCA-9A46B58D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4F0C4-5C57-43CC-BFB0-C0C097A5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EE8"/>
                </a:solidFill>
              </a:defRPr>
            </a:pPr>
            <a:r>
              <a:rPr sz="1350">
                <a:solidFill>
                  <a:srgbClr val="D1DEE8"/>
                </a:solidFill>
              </a:rPr>
              <a:t>For [2, 4, 6], mean is 4. Squared distances: (2-4)^2 = 4, (4-4)^2 = 0, (6-4)^2 = 4 Population variance: (4 + 0 + 4) / 3 = 2.67 Population standard deviation: sqrt(2.67) ≈ 1.63</a:t>
            </a:r>
          </a:p>
        </p:txBody>
      </p:sp>
    </p:spTree>
    <p:extLst>
      <p:ext uri="{BB962C8B-B14F-4D97-AF65-F5344CB8AC3E}">
        <p14:creationId xmlns:p14="http://schemas.microsoft.com/office/powerpoint/2010/main" val="1468886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FD30F-5805-4C1B-A4BA-84EC975B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B1D8D-A298-4C25-9048-9456BB90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EDA Asks What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2326D-FEDD-43CE-A545-EB42A291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EA245-D753-4EA1-8CCE-407553D5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29C38-FC92-44E1-8028-802696F0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Distribution Shows Frequency and Shape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4A70E-F57C-42CF-B372-529057A8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A906A-4BB0-4F3A-BD2D-6D23A319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E2EB"/>
                </a:solidFill>
              </a:defRPr>
            </a:pPr>
            <a:r>
              <a:rPr sz="1425">
                <a:solidFill>
                  <a:srgbClr val="D6E2EB"/>
                </a:solidFill>
              </a:rPr>
              <a:t>A distribution describes which values occur and how often. A histogram divides a numerical range into intervals called bins. Bar height shows how many observations fall inside each interval. Common shapes include: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58991-373A-4E4B-8CA9-4720A42A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8FBE2-A8BA-4F47-AEA9-FBD4D93F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roughly symmetric;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FB0EA-4C8B-45CA-A5B5-74E00E7D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D3CC1-1006-413C-A6C2-7FBB22BE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right-skewed with a long high-value tail;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1DF71-288C-4E3F-B4EB-F3F8CFF2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9C8D7-7563-4737-AD00-D10424F3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left-skewed with a long low-value tail;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756A4-01C0-4CC3-B852-B39E66FC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77D6A-10CA-447F-BFD3-D495251E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multimodal with more than one peak.</a:t>
            </a:r>
          </a:p>
        </p:txBody>
      </p:sp>
    </p:spTree>
    <p:extLst>
      <p:ext uri="{BB962C8B-B14F-4D97-AF65-F5344CB8AC3E}">
        <p14:creationId xmlns:p14="http://schemas.microsoft.com/office/powerpoint/2010/main" val="10433069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39377-C994-4A5E-BFDA-24BD6EB4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32F5F-4892-49DB-9391-DB48D275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EDA Asks What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EFC1C-3AFB-46B7-B2DF-25D6383B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A389B-73D2-41CE-8738-2565CFBE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06973-2ACC-4F2D-9EF7-04C0EEBC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Outliers Are Signals to Investigate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AA80C-FEE5-4C8A-BF28-5519BEBE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E86A7-0B46-42A3-8E39-3DA9D7A9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2CDED-EF26-49B3-9BDD-3ECF03A3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9FB3F-8482-4E5D-A6F5-DFD0EE82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CC305-AAF5-4584-BAB8-3AB46E13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B8F0C-D030-493F-A825-6D6F7E5C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q1 = df["value"].quantile(0.25)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q3 = df["value"].quantile(0.75)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iqr = q3 - q1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outliers = df[~df["value"].between(q1 - 1.5*iqr, q3 + 1.5*iqr)]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AEEC9-B9AF-4213-B4CA-160ADCA9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B50CF-DDD8-487F-BC5B-F82DEE46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AB8A3-DA64-4216-96E0-CE58C2E1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 DataFrame containing values outside the stated fences.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F2669-4D22-4BF0-9143-0432FDE8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5DB8B-1565-4570-9F8A-11BDF34F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 value of 95 is flagged because 95 &gt; 70.</a:t>
            </a:r>
          </a:p>
        </p:txBody>
      </p:sp>
    </p:spTree>
    <p:extLst>
      <p:ext uri="{BB962C8B-B14F-4D97-AF65-F5344CB8AC3E}">
        <p14:creationId xmlns:p14="http://schemas.microsoft.com/office/powerpoint/2010/main" val="250276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0AC7F-22CF-478E-8300-201AC066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C7B60-C050-43E9-8C74-1265143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EDA Asks What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53797-F673-4106-A7AF-2CDCF4EC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2EEAF-C52B-46F1-B4EA-EB2D55D7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552FE-5412-4A5D-878F-1D848644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Missing Markers and Categories Need Counting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C70FB-9F57-452A-AA0D-4F593233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2E073-F3A3-453C-AC24-F7BB0D87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6E2EB"/>
                </a:solidFill>
              </a:defRPr>
            </a:pPr>
            <a:r>
              <a:rPr sz="1275">
                <a:solidFill>
                  <a:srgbClr val="D6E2EB"/>
                </a:solidFill>
              </a:rPr>
              <a:t>Missing information may appear as NaN, an empty string, -1, "unknown", or "not applicable". These are sentinel values when they stand in for another meaning. For categorical columns: A rare category may be valid and important. Combining categories requires a stated reason.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5E73B-0E4E-46E1-B77F-5C8EB45E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96C4F-E249-4389-B40C-9EBBC052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count each category;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D24CC-02AE-496F-BA3F-5D662C5F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E238C-6C70-4968-A138-EB51BD57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include missing values;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83E6D-AF59-4956-8D35-6A0C7C06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1A044-FA35-433C-886F-2D8E0ECE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inspect spelling and capitalization;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24556-59B4-4868-A789-499FAE67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78551-3537-45FA-B610-D14582FB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confirm whether sentinel values are real categories;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8AC5B-DD15-44C5-B8BF-AE3AAA65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1296B-4165-426E-ACB8-8D35C87A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report both counts and percentages.</a:t>
            </a:r>
          </a:p>
        </p:txBody>
      </p:sp>
    </p:spTree>
    <p:extLst>
      <p:ext uri="{BB962C8B-B14F-4D97-AF65-F5344CB8AC3E}">
        <p14:creationId xmlns:p14="http://schemas.microsoft.com/office/powerpoint/2010/main" val="1719594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E9253-1ACB-434C-92BD-1E9FFF68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C3547-7B47-47A8-8464-39248DD8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EDA Asks What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3A0E2-BB13-47B7-B8E1-95DA075B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CDB7F-5931-428B-9636-E02B2AF0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1EC90-5504-444D-82F6-AB794C37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Class Imbalance Changes How Accuracy Feels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E30BA-D6FE-4D39-950B-40AEE2AB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90A31-95DE-4CDF-982C-A504CD80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 target is the outcome a supervised model will learn to predict.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90475-C330-4594-94CB-BF85947F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482DF-F3C6-4E41-8321-7E5CAB8B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233AD-3981-493B-A9AC-973C2CCE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8CEDA-30AE-4F81-AB99-0789AC2A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For a categorical target, each possible value is a class.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D0FC8-CFAD-40BE-BC6D-71622F53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031E2-1FF1-4189-B902-0450D1CF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4B6AF-B6D2-415F-A3FB-E9EFBDCE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5F08C-423B-4565-B248-D932333F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Class imbalance occurs when one class is much more common than another.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8ABFD-21B8-46AC-970B-7BDE2C7E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33EE2-F098-415E-B0F0-E8CE5954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5D60D-FC92-4572-A45E-1E902629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577EF-9A51-4744-8056-C2286B4D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If 90 of 100 customers did not subscribe, a rule that always predicts “no” is 90% accurate.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37611-8997-4A03-82EB-12385CDB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BE2C3-C2EB-456D-ABFA-CD51D4E7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665F4-A827-46E9-98BB-D9566C2D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1DEE8"/>
                </a:solidFill>
              </a:defRPr>
            </a:pPr>
            <a:r>
              <a:rPr sz="1500">
                <a:solidFill>
                  <a:srgbClr val="D1DEE8"/>
                </a:solidFill>
              </a:rPr>
              <a:t>Actual counts: Always predict No: accuracy = 90 correct / 100 total = 0.90 Subscribers found: 0 / 10 = 0.</a:t>
            </a:r>
          </a:p>
        </p:txBody>
      </p:sp>
    </p:spTree>
    <p:extLst>
      <p:ext uri="{BB962C8B-B14F-4D97-AF65-F5344CB8AC3E}">
        <p14:creationId xmlns:p14="http://schemas.microsoft.com/office/powerpoint/2010/main" val="991032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CBF18-E0A1-4B31-AE09-E35C4A8C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E4237-3BAE-481A-9386-CCFB8541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EDA Asks What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CD95F-2B7C-4716-B51B-BE13E8C0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185DD-FB9C-4E19-9A94-953EE9EF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91AD0-3C84-4D35-A4C9-B219C037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Relationships Do Not Automatically Mean Causation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770F9-FA18-4076-BB8D-B4A065E8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EDE42-AEA3-44E8-9361-48512586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F1021-9670-4771-94FB-2335B46B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B9ED1-24E1-444E-8473-5EFA13B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28C3F-CB87-4909-974E-E286DC8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5A7FD-6998-488C-AF49-43C2D69A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print(df[["study_hours", "score"]].corr())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A244C-C0E1-44B9-BA28-12D514A0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A755F-4D68-47F2-848F-0919A583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5AF87-B690-463A-8D0D-83C0AA8E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 2-by-2 correlation matrix with 1.0 on the diagonal.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6B3AF-F3E4-4DA2-8AD6-0F8D8ED5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6C10F-8573-457C-B91F-0283EB24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Suppose study hours and scores have correlation 0.70. This supports a positive association in this dataset. It does not prove that adding one study hour causes a fixed score increase.</a:t>
            </a:r>
          </a:p>
        </p:txBody>
      </p:sp>
    </p:spTree>
    <p:extLst>
      <p:ext uri="{BB962C8B-B14F-4D97-AF65-F5344CB8AC3E}">
        <p14:creationId xmlns:p14="http://schemas.microsoft.com/office/powerpoint/2010/main" val="2034502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FFA3A-4F70-4591-ACDA-880A6137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CDFBA-F6EB-4C76-91CC-F60F8A9C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EDA Asks What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26AD2-2C9D-4646-8343-7341AF22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69B26-F9E0-4503-B036-157C34E5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7F84F-B478-4BDF-9B07-6510939A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Feature Engineering Creates Measurable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F7AB1-19C2-4801-A710-3454B76F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CD6D0-BA34-44BC-9F0E-224AA6D5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CB551-C7E5-45DD-A61C-BCABEB19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contactdurationminutes = seconds / 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7016A-D144-4BF6-B657-15246C7C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92E21-2F0C-4032-80F8-0800B641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AEB3A-52D3-4918-BBE3-C0119EF7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9F3EA-EFFC-42B5-A7B8-C3275279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haspreviouscontact = previouscontacts &gt;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64015-35AE-4640-8FA7-54D3D8DE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3863E-16EF-49F2-A03E-3777697A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2B2AC-EFCA-471C-A109-5287ED54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AD5EA-D28A-4D23-B318-D8AFB041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extract month from a valid contact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FB6AD-09C1-4B1B-8F18-E672E1BE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4C467-56D7-4220-8CA4-594ABBE2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76507-6932-4B93-8574-CD93DEAA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3993C-B277-4D60-827A-ECB581EF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 clear meaning;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92483-AFD1-453E-A97C-8B4B0A4B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82541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7DC53-2D07-4C67-B5CD-E2F1804A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71293-A5E4-414B-BE9E-A17CF677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EDA Asks What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60BEA-8B75-4C2E-95FB-442A1C15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32DEC-0D0A-48E4-83B7-1C83599E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76BA5-45F4-436E-901E-6F676D6D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A Reproducible EDA Has a Question and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C8827-98A6-478F-8E86-AC2992F9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D16A9-B507-4860-AB4B-39D43218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EF5A6-DD13-4D68-931F-5E75D5A7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state the question;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86A52-65C9-4244-B122-50CF4584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4E51C-8445-4BA4-AB95-827C0AEF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5C762-ACF5-4DDD-A666-42D52759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1525C-6B8E-4F49-A30E-120682FC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identify required columns and row grain;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08D49-9251-46AA-ABC7-5461B0FE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542BF-EB96-45C5-9C6E-129F837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3F6F1-F653-4D69-BDE7-2816AD6F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B0C47-AF99-4B59-B685-A300A2D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check missing, invalid, and duplicate values;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9DAD5-5123-4829-9C2B-1B48D2B5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5F3AA-8F20-4621-ABE5-95B2B35F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1DF65-C9B5-4A02-86FC-E5250431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57FA9-F391-4EC2-9D7F-A597DE93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calculate a relevant statistic;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50F97-97F7-46ED-8434-DC61A156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91725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A48D8-3AA4-459B-AF6A-CBDF7080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EABFD-5FA0-40D2-8FE9-317A6529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EDA Asks What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756FC-2A5F-493D-9974-5A4D967B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6E6B4-DECA-4BEF-B351-0FE60DAE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7CF2A-C759-4457-84D7-10FCC45D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Guided Lab: Produce Three Defensible 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04F36-F563-4ED8-A992-DC9DB2B3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807AE-E514-4492-A545-F0B2B29F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B2317-301E-463B-8774-C76BCB4B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row grain and target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88F77-D813-4763-80A4-42651A2C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3B0F6-8C07-497F-97C2-B4E0B0D0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405B7-43FF-4578-83B8-C24FFCC6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shape, types, missing markers, and duplicate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B624E-A852-4B71-98CB-BEE89D16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CF687-F606-4D5E-B606-75D9C661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283BF-F115-48E3-A52F-81BED13F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target class counts and percentages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375C6-5725-4C1B-9B4E-57D61298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1823B-76D1-4550-AAE5-75F84B4E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79A5A-5039-47D1-96F2-B5ABA884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one numerical distribution with center and spread</a:t>
            </a:r>
          </a:p>
        </p:txBody>
      </p:sp>
    </p:spTree>
    <p:extLst>
      <p:ext uri="{BB962C8B-B14F-4D97-AF65-F5344CB8AC3E}">
        <p14:creationId xmlns:p14="http://schemas.microsoft.com/office/powerpoint/2010/main" val="591824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2026-07-28T19:26:58.0800000Z</dcterms:created>
  <dcterms:modified xsi:type="dcterms:W3CDTF">2026-07-28T19:26:58.0800000Z</dcterms:modified>
</coreProperties>
</file>