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d278640b4941d8" /><Relationship Type="http://schemas.openxmlformats.org/officeDocument/2006/relationships/extended-properties" Target="/docProps/app.xml" Id="Rf52500fa6b0a48f6" /><Relationship Type="http://schemas.openxmlformats.org/officeDocument/2006/relationships/officeDocument" Target="/ppt/presentation.xml" Id="R321d18e31c214d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46d753a26a412d"/>
  </p:sldMasterIdLst>
  <p:notesMasterIdLst>
    <p:notesMasterId xmlns:r="http://schemas.openxmlformats.org/officeDocument/2006/relationships" r:id="Rd57c73480cdc44e7"/>
  </p:notesMasterIdLst>
  <p:sldIdLst>
    <p:sldId xmlns:r="http://schemas.openxmlformats.org/officeDocument/2006/relationships" id="256" r:id="R64de4ffcfc184c34"/>
    <p:sldId xmlns:r="http://schemas.openxmlformats.org/officeDocument/2006/relationships" id="257" r:id="Re2aa44506eeb4e35"/>
    <p:sldId xmlns:r="http://schemas.openxmlformats.org/officeDocument/2006/relationships" id="258" r:id="R95d40fd4c6e74e36"/>
    <p:sldId xmlns:r="http://schemas.openxmlformats.org/officeDocument/2006/relationships" id="259" r:id="Rbd0682bb15d34f4b"/>
    <p:sldId xmlns:r="http://schemas.openxmlformats.org/officeDocument/2006/relationships" id="260" r:id="Rbe7a62d4bdc740e5"/>
    <p:sldId xmlns:r="http://schemas.openxmlformats.org/officeDocument/2006/relationships" id="261" r:id="Rb0cd15f284c7429f"/>
    <p:sldId xmlns:r="http://schemas.openxmlformats.org/officeDocument/2006/relationships" id="262" r:id="R559d99c2ed454e2d"/>
    <p:sldId xmlns:r="http://schemas.openxmlformats.org/officeDocument/2006/relationships" id="263" r:id="R4f68e383bbea43bc"/>
    <p:sldId xmlns:r="http://schemas.openxmlformats.org/officeDocument/2006/relationships" id="264" r:id="Rcf7ce4c7580d454c"/>
    <p:sldId xmlns:r="http://schemas.openxmlformats.org/officeDocument/2006/relationships" id="265" r:id="R02baa55ea9364221"/>
    <p:sldId xmlns:r="http://schemas.openxmlformats.org/officeDocument/2006/relationships" id="266" r:id="Rd89233eca100408b"/>
    <p:sldId xmlns:r="http://schemas.openxmlformats.org/officeDocument/2006/relationships" id="267" r:id="Rbc1ce5ce8cd341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ba59584034f6c" /><Relationship Type="http://schemas.openxmlformats.org/officeDocument/2006/relationships/slideMaster" Target="/ppt/slideMasters/slideMaster1.xml" Id="Rb146d753a26a412d" /><Relationship Type="http://schemas.openxmlformats.org/officeDocument/2006/relationships/notesMaster" Target="/ppt/notesMasters/notesMaster1.xml" Id="Rd57c73480cdc44e7" /><Relationship Type="http://schemas.openxmlformats.org/officeDocument/2006/relationships/presProps" Target="/ppt/presProps.xml" Id="Rbd4b7fda547a49d0" /><Relationship Type="http://schemas.openxmlformats.org/officeDocument/2006/relationships/tableStyles" Target="/ppt/tableStyles.xml" Id="R2bea5b8bb40f4630" /><Relationship Type="http://schemas.openxmlformats.org/officeDocument/2006/relationships/slide" Target="/ppt/slides/slide1.xml" Id="R64de4ffcfc184c34" /><Relationship Type="http://schemas.openxmlformats.org/officeDocument/2006/relationships/slide" Target="/ppt/slides/slide2.xml" Id="Re2aa44506eeb4e35" /><Relationship Type="http://schemas.openxmlformats.org/officeDocument/2006/relationships/slide" Target="/ppt/slides/slide3.xml" Id="R95d40fd4c6e74e36" /><Relationship Type="http://schemas.openxmlformats.org/officeDocument/2006/relationships/slide" Target="/ppt/slides/slide4.xml" Id="Rbd0682bb15d34f4b" /><Relationship Type="http://schemas.openxmlformats.org/officeDocument/2006/relationships/slide" Target="/ppt/slides/slide5.xml" Id="Rbe7a62d4bdc740e5" /><Relationship Type="http://schemas.openxmlformats.org/officeDocument/2006/relationships/slide" Target="/ppt/slides/slide6.xml" Id="Rb0cd15f284c7429f" /><Relationship Type="http://schemas.openxmlformats.org/officeDocument/2006/relationships/slide" Target="/ppt/slides/slide7.xml" Id="R559d99c2ed454e2d" /><Relationship Type="http://schemas.openxmlformats.org/officeDocument/2006/relationships/slide" Target="/ppt/slides/slide8.xml" Id="R4f68e383bbea43bc" /><Relationship Type="http://schemas.openxmlformats.org/officeDocument/2006/relationships/slide" Target="/ppt/slides/slide9.xml" Id="Rcf7ce4c7580d454c" /><Relationship Type="http://schemas.openxmlformats.org/officeDocument/2006/relationships/slide" Target="/ppt/slides/slide10.xml" Id="R02baa55ea9364221" /><Relationship Type="http://schemas.openxmlformats.org/officeDocument/2006/relationships/slide" Target="/ppt/slides/slide11.xml" Id="Rd89233eca100408b" /><Relationship Type="http://schemas.openxmlformats.org/officeDocument/2006/relationships/slide" Target="/ppt/slides/slide12.xml" Id="Rbc1ce5ce8cd341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26c2674ba4f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f01052e5614181" /><Relationship Type="http://schemas.openxmlformats.org/officeDocument/2006/relationships/notesMaster" Target="/ppt/notesMasters/notesMaster1.xml" Id="Re8a9f43463dc4f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468aa6ed5c4bdd" /><Relationship Type="http://schemas.openxmlformats.org/officeDocument/2006/relationships/notesMaster" Target="/ppt/notesMasters/notesMaster1.xml" Id="Re969bb3fc41141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7976ae47ea4bd7" /><Relationship Type="http://schemas.openxmlformats.org/officeDocument/2006/relationships/notesMaster" Target="/ppt/notesMasters/notesMaster1.xml" Id="R7175471edea041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ac4e2a94c474d" /><Relationship Type="http://schemas.openxmlformats.org/officeDocument/2006/relationships/notesMaster" Target="/ppt/notesMasters/notesMaster1.xml" Id="Re65092acb48544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9628c8c1214658" /><Relationship Type="http://schemas.openxmlformats.org/officeDocument/2006/relationships/notesMaster" Target="/ppt/notesMasters/notesMaster1.xml" Id="R79916a19615c43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6c4c3678184deb" /><Relationship Type="http://schemas.openxmlformats.org/officeDocument/2006/relationships/notesMaster" Target="/ppt/notesMasters/notesMaster1.xml" Id="Rf763bc16b2ef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0a974d61334314" /><Relationship Type="http://schemas.openxmlformats.org/officeDocument/2006/relationships/notesMaster" Target="/ppt/notesMasters/notesMaster1.xml" Id="Ra1cf1013cf314b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f88a2c22ab484f" /><Relationship Type="http://schemas.openxmlformats.org/officeDocument/2006/relationships/notesMaster" Target="/ppt/notesMasters/notesMaster1.xml" Id="R285c6f572faf4c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8682a41f66486a" /><Relationship Type="http://schemas.openxmlformats.org/officeDocument/2006/relationships/notesMaster" Target="/ppt/notesMasters/notesMaster1.xml" Id="Ra38446ba33ea44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c29f486d5e4d9d" /><Relationship Type="http://schemas.openxmlformats.org/officeDocument/2006/relationships/notesMaster" Target="/ppt/notesMasters/notesMaster1.xml" Id="Rbbfad50f13c54b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68bb99cd9941d9" /><Relationship Type="http://schemas.openxmlformats.org/officeDocument/2006/relationships/notesMaster" Target="/ppt/notesMasters/notesMaster1.xml" Id="R7662093b46f44d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5713d627af4501" /><Relationship Type="http://schemas.openxmlformats.org/officeDocument/2006/relationships/notesMaster" Target="/ppt/notesMasters/notesMaster1.xml" Id="Ra0794c9e39e44d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PyTorch **tensor** is a shaped numerical data structure used for inputs, targets, model parameters, and intermediate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 a NumPy array, a tensor has: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`shape`: length of each axis;</a:t>
            </a:r>
          </a:p>
          <a:p xmlns:a="http://schemas.openxmlformats.org/drawingml/2006/main">
            <a:r>
              <a:t>- `dtype`: stored numerical type;</a:t>
            </a:r>
          </a:p>
          <a:p xmlns:a="http://schemas.openxmlformats.org/drawingml/2006/main">
            <a:r>
              <a:t>- `device`: CPU, GPU, or another accelerator;</a:t>
            </a:r>
          </a:p>
          <a:p xmlns:a="http://schemas.openxmlformats.org/drawingml/2006/main">
            <a:r>
              <a:t>- values selected by indexing.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PyTorch tensors can record operations for automatic gradient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 batch contains `4` students and `3` features per student.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Input shape: `(4, 3)`  </a:t>
            </a:r>
          </a:p>
          <a:p xmlns:a="http://schemas.openxmlformats.org/drawingml/2006/main">
            <a:r>
              <a:t>If the model predicts one value per student, output shape: `(4, 1)`.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NumPy-style grid gains shape, dtype, device, and gradient-history labels to become a tensor.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Have learners predict every shape. Explain that exact device output depends on where the tensor was created.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PyTorch notebook starts with tensor creation, operations, and device movement.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https://docs.pytorch.org/tutorials/beginner/basics/tensorqs_tutorial.html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**neuron** calculates: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`z = w1x1 + w2x2 + ... + wnxn + b`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applies an **activation function**: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 = g(z)`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`xi`: input feature</a:t>
            </a:r>
          </a:p>
          <a:p xmlns:a="http://schemas.openxmlformats.org/drawingml/2006/main">
            <a:r>
              <a:t>- `wi`: learned weight</a:t>
            </a:r>
          </a:p>
          <a:p xmlns:a="http://schemas.openxmlformats.org/drawingml/2006/main">
            <a:r>
              <a:t>- `b`: learned bias</a:t>
            </a:r>
          </a:p>
          <a:p xmlns:a="http://schemas.openxmlformats.org/drawingml/2006/main">
            <a:r>
              <a:t>- `z`: pre-activation weighted sum</a:t>
            </a:r>
          </a:p>
          <a:p xmlns:a="http://schemas.openxmlformats.org/drawingml/2006/main">
            <a:r>
              <a:t>- `g`: activation function</a:t>
            </a:r>
          </a:p>
          <a:p xmlns:a="http://schemas.openxmlformats.org/drawingml/2006/main">
            <a:r>
              <a:t>- `a`: neuron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bias has the same role as a regression intercept.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`x=[2,3]`, `w=[0.4,-0.1]`, `b=0.2`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`z = 2(0.4) + 3(-0.1) + 0.2`  </a:t>
            </a:r>
          </a:p>
          <a:p xmlns:a="http://schemas.openxmlformats.org/drawingml/2006/main">
            <a:r>
              <a:t>`= 0.8 - 0.3 + 0.2 = 0.7`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`g` is ReLU, output remains `0.7`.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Two feature-weight pairs merge into a sum with bias, then pass through an activation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Connect each term to Week 5's dot product and Week 7's linear equation.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PyTorch `nn.Linear` performs the weighted sum and bias for a complete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https://docs.pytorch.org/tutorials/beginner/basics/buildmodel_tutorial.html</a:t>
            </a:r>
          </a:p>
          <a:p xmlns:a="http://schemas.openxmlformats.org/drawingml/2006/main">
            <a:r>
              <a:t>- https://d2l.ai/chapter_multilayer-perceptrons/mlp.html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**layer** contains several neurons that receive the same input vector.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batch: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`Z = XWᵀ + b`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`X` shape is `(batch, input_features)`;</a:t>
            </a:r>
          </a:p>
          <a:p xmlns:a="http://schemas.openxmlformats.org/drawingml/2006/main">
            <a:r>
              <a:t>- `W` shape is `(output_features, input_features)`;</a:t>
            </a:r>
          </a:p>
          <a:p xmlns:a="http://schemas.openxmlformats.org/drawingml/2006/main">
            <a:r>
              <a:t>- then `Z` shape is `(batch, output_features)`.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output column comes from one neuron's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Batch `X`: `(4, 3)`  </a:t>
            </a:r>
          </a:p>
          <a:p xmlns:a="http://schemas.openxmlformats.org/drawingml/2006/main">
            <a:r>
              <a:t>Layer: `3` inputs to `5` outputs  </a:t>
            </a:r>
          </a:p>
          <a:p xmlns:a="http://schemas.openxmlformats.org/drawingml/2006/main">
            <a:r>
              <a:t>Weight `W`: `(5, 3)`  </a:t>
            </a:r>
          </a:p>
          <a:p xmlns:a="http://schemas.openxmlformats.org/drawingml/2006/main">
            <a:r>
              <a:t>Output `Z`: `(4, 5)`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Four observations each receive five transformed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`(4,3)` batch matrix connects to a 3-to-5 layer and becomes a `(4,5)` output matrix.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every dimension means. Explain that `nn.Linear(3,5)` refers to features, not batch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model section constructs layers whose dimensions must match dataset tensors.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https://docs.pytorch.org/docs/stable/generated/torch.nn.Linear.html</a:t>
            </a:r>
          </a:p>
          <a:p xmlns:a="http://schemas.openxmlformats.org/drawingml/2006/main">
            <a:r>
              <a:t>- https://docs.pytorch.org/tutorials/beginner/basics/buildmodel_tutorial.html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**activation function** transforms each pre-activation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ReLU: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`ReLU(z) = max(0, z)`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Without nonlinear activations, several linear layers collapse into one linear transformation. Nonlinearity lets the network represent curved and piecewise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output activations depend on the task. PyTorch loss functions often expect raw logits, so do not add sigmoid or softmax blindly.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Input values `[-2, 0.5, 3]`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ReLU: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`max(0,-2)=0`  </a:t>
            </a:r>
          </a:p>
          <a:p xmlns:a="http://schemas.openxmlformats.org/drawingml/2006/main">
            <a:r>
              <a:t>`max(0,0.5)=0.5`  </a:t>
            </a:r>
          </a:p>
          <a:p xmlns:a="http://schemas.openxmlformats.org/drawingml/2006/main">
            <a:r>
              <a:t>`max(0,3)=3`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Output `[0, 0.5, 3]`.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ReLU graph is paired with three input arrows and their transformed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Avoid surveying many activations. Focus on the role of nonlinearity and the loss-output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identify every activation and the shape it preserves.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https://docs.pytorch.org/docs/stable/generated/torch.nn.ReLU.html</a:t>
            </a:r>
          </a:p>
          <a:p xmlns:a="http://schemas.openxmlformats.org/drawingml/2006/main">
            <a:r>
              <a:t>- https://d2l.ai/chapter_multilayer-perceptrons/mlp.html#activation-functions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**forward pass** sends input tensors through layers and activations to produce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 network: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`X -&gt; Linear(3,5) -&gt; ReLU -&gt; Linear(5,1) -&gt; output`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output of one stage becomes the input to the next. Shapes must align at every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final output may be a regression prediction, a binary logit, or one logit per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Batch shape `(4,3)`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After first linear layer: `(4,5)`  </a:t>
            </a:r>
          </a:p>
          <a:p xmlns:a="http://schemas.openxmlformats.org/drawingml/2006/main">
            <a:r>
              <a:t>After ReLU: `(4,5)`  </a:t>
            </a:r>
          </a:p>
          <a:p xmlns:a="http://schemas.openxmlformats.org/drawingml/2006/main">
            <a:r>
              <a:t>After output layer: `(4,1)`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one raw output per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left-to-right network pipeline labels each layer and tensor shape.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Trace shape changes before discussing learning. The forward pass alone does not update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notebook's model call executes `forward()` and returns a tensor for the loss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https://docs.pytorch.org/docs/stable/generated/torch.nn.Sequential.html</a:t>
            </a:r>
          </a:p>
          <a:p xmlns:a="http://schemas.openxmlformats.org/drawingml/2006/main">
            <a:r>
              <a:t>- https://docs.pytorch.org/tutorials/beginner/basics/buildmodel_tutorial.html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**loss function** compares model outputs with targets and returns a value training will reduce.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Regression: mean squared error can compare numerical predictions and targets.</a:t>
            </a:r>
          </a:p>
          <a:p xmlns:a="http://schemas.openxmlformats.org/drawingml/2006/main">
            <a:r>
              <a:t>- Binary classification: `BCEWithLogitsLoss` combines sigmoid and binary cross-entropy safely.</a:t>
            </a:r>
          </a:p>
          <a:p xmlns:a="http://schemas.openxmlformats.org/drawingml/2006/main">
            <a:r>
              <a:t>- Multiclass classification: `CrossEntropyLoss` expects one raw logit per class and integer class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Using the wrong target shape, target type, or extra activation can produce errors or incorrect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Regression predictions `[2,4]`, targets `[3,5]`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Residuals `[1,1]`  </a:t>
            </a:r>
          </a:p>
          <a:p xmlns:a="http://schemas.openxmlformats.org/drawingml/2006/main">
            <a:r>
              <a:t>Squared residuals `[1,1]`  </a:t>
            </a:r>
          </a:p>
          <a:p xmlns:a="http://schemas.openxmlformats.org/drawingml/2006/main">
            <a:r>
              <a:t>MSE `(1+1)/2 = 1`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task lanes map model output, target format, and matching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logits as raw scores. Keep probability conversion for evaluation separate from loss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must explain why the notebook's chosen loss matches its prediction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https://docs.pytorch.org/docs/stable/nn.html#loss-functions</a:t>
            </a:r>
          </a:p>
          <a:p xmlns:a="http://schemas.openxmlformats.org/drawingml/2006/main">
            <a:r>
              <a:t>- https://docs.pytorch.org/docs/stable/generated/torch.nn.BCEWithLogitsLoss.html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PyTorch **autograd** records tensor operations in a computational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During **backpropagation**, the chain rule moves backward from loss and calculates: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`∂loss / ∂parameter`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every trainable 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Calling `loss.backward()` computes gradients. It does not update the weights. Gradients are stored in each parameter's `.grad`.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`prediction = wx`, target `y`, squared loss `(y - wx)^2`.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`x=2`, `w=1`, `y=5`: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Prediction `2`; residual `3`; loss `9`.  </a:t>
            </a:r>
          </a:p>
          <a:p xmlns:a="http://schemas.openxmlformats.org/drawingml/2006/main">
            <a:r>
              <a:t>Derivative with respect to `w`: `-2x(y-wx) = -12`.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Increasing `w` should reduce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forward graph calculates prediction and loss; a backward arrow carries gradients to `w`.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Separate gradient computation from parameter update. Explain that gradients accumulate unless cleared.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training loop calls `backward()` after calculating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https://docs.pytorch.org/tutorials/beginner/basics/autogradqs_tutorial.html</a:t>
            </a:r>
          </a:p>
          <a:p xmlns:a="http://schemas.openxmlformats.org/drawingml/2006/main">
            <a:r>
              <a:t>- https://docs.pytorch.org/tutorials/beginner/introyt/autogradyt_tutorial.html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each training batch: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`optimizer.zero_grad()` clears old gradients;</a:t>
            </a:r>
          </a:p>
          <a:p xmlns:a="http://schemas.openxmlformats.org/drawingml/2006/main">
            <a:r>
              <a:t>2. `prediction = model(x)` runs the forward pass;</a:t>
            </a:r>
          </a:p>
          <a:p xmlns:a="http://schemas.openxmlformats.org/drawingml/2006/main">
            <a:r>
              <a:t>3. `loss.backward()` computes new gradients;</a:t>
            </a:r>
          </a:p>
          <a:p xmlns:a="http://schemas.openxmlformats.org/drawingml/2006/main">
            <a:r>
              <a:t>4. `optimizer.step()` updates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**optimizer** implements the update rule. Stochastic gradient descent and Adam are common choices. The **learning rate** controls update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Current weight `1.0`, gradient `-12`, learning rate `0.1`: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`w_new = 1.0 - 0.1(-12)`  </a:t>
            </a:r>
          </a:p>
          <a:p xmlns:a="http://schemas.openxmlformats.org/drawingml/2006/main">
            <a:r>
              <a:t>`= 2.2`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the example on Slide 7, this moves the prediction from `2` toward target `5`.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four-step loop labels clear, forward, backward, and update, with parameter state before and after.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breaks if `zero_grad()` is omitted. Do not teach Adam internals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sequence is the core of the notebook training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https://docs.pytorch.org/tutorials/beginner/basics/optimization_tutorial.html</a:t>
            </a:r>
          </a:p>
          <a:p xmlns:a="http://schemas.openxmlformats.org/drawingml/2006/main">
            <a:r>
              <a:t>- https://docs.pytorch.org/docs/stable/optim.html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**batch** is a subset of training observations used for one gradient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**epoch** is one complete pass through the training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there are `1,000` rows and batch size is `100`, one epoch contains `10` batches and usually `10` optimizer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Smaller batches use less memory and produce noisier gradient estimates. Larger batches use more memory. More epochs do not guarantee better generalization.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Dataset size `240`, batch size `32`.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Seven full batches contain `224` rows, plus one final batch of `16`.  </a:t>
            </a:r>
          </a:p>
          <a:p xmlns:a="http://schemas.openxmlformats.org/drawingml/2006/main">
            <a:r>
              <a:t>Updates per epoch: `ceil(240/32) = 8`.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`5` epochs: `8 x 5 = 40`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dataset bar splits into batches, which group into one epoch; several epochs appear on a training timeline.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Distinguish an epoch from an update. Connect learning rate to update size, not number of passes.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calculate expected batches and explain logged loss frequency.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https://docs.pytorch.org/tutorials/beginner/basics/data_tutorial.html</a:t>
            </a:r>
          </a:p>
          <a:p xmlns:a="http://schemas.openxmlformats.org/drawingml/2006/main">
            <a:r>
              <a:t>- https://docs.pytorch.org/tutorials/beginner/basics/optimization_tutorial.html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`model.train()` enables training-time behaviour.  </a:t>
            </a:r>
          </a:p>
          <a:p xmlns:a="http://schemas.openxmlformats.org/drawingml/2006/main">
            <a:r>
              <a:t>`model.eval()` enables evaluation-time behaviour for layers such as dropout and batch normalization.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During evaluation, use `torch.inference_mode()` or `torch.no_grad()` to avoid storing gradients.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and all input tensors must be on compatible devices. Moving only the model or only the data causes a device mismatch.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Correct evaluation sequence: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`model.eval()`</a:t>
            </a:r>
          </a:p>
          <a:p xmlns:a="http://schemas.openxmlformats.org/drawingml/2006/main">
            <a:r>
              <a:t>2. enter `torch.inference_mode()`</a:t>
            </a:r>
          </a:p>
          <a:p xmlns:a="http://schemas.openxmlformats.org/drawingml/2006/main">
            <a:r>
              <a:t>3. move batch to the model device</a:t>
            </a:r>
          </a:p>
          <a:p xmlns:a="http://schemas.openxmlformats.org/drawingml/2006/main">
            <a:r>
              <a:t>4. calculate predictions and metrics</a:t>
            </a:r>
          </a:p>
          <a:p xmlns:a="http://schemas.openxmlformats.org/drawingml/2006/main">
            <a:r>
              <a:t>5. do not call optimizer methods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Training and evaluation lanes show mode, gradient tracking, parameter update, and data-device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`eval()` does not disable gradients by itself and inference mode does not set evaluation behaviour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evaluation section must use both correct model mode and no-gradient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https://docs.pytorch.org/docs/stable/generated/torch.nn.Module.html#torch.nn.Module.eval</a:t>
            </a:r>
          </a:p>
          <a:p xmlns:a="http://schemas.openxmlformats.org/drawingml/2006/main">
            <a:r>
              <a:t>- https://docs.pytorch.org/docs/stable/generated/torch.autograd.grad_mode.inference_mode.html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training loop should expose: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input and target shapes;</a:t>
            </a:r>
          </a:p>
          <a:p xmlns:a="http://schemas.openxmlformats.org/drawingml/2006/main">
            <a:r>
              <a:t>- forward output shape;</a:t>
            </a:r>
          </a:p>
          <a:p xmlns:a="http://schemas.openxmlformats.org/drawingml/2006/main">
            <a:r>
              <a:t>- loss value;</a:t>
            </a:r>
          </a:p>
          <a:p xmlns:a="http://schemas.openxmlformats.org/drawingml/2006/main">
            <a:r>
              <a:t>- gradient calculation;</a:t>
            </a:r>
          </a:p>
          <a:p xmlns:a="http://schemas.openxmlformats.org/drawingml/2006/main">
            <a:r>
              <a:t>- parameter update;</a:t>
            </a:r>
          </a:p>
          <a:p xmlns:a="http://schemas.openxmlformats.org/drawingml/2006/main">
            <a:r>
              <a:t>- training and validation metrics by epoch;</a:t>
            </a:r>
          </a:p>
          <a:p xmlns:a="http://schemas.openxmlformats.org/drawingml/2006/main">
            <a:r>
              <a:t>- random seed and device;</a:t>
            </a:r>
          </a:p>
          <a:p xmlns:a="http://schemas.openxmlformats.org/drawingml/2006/main">
            <a:r>
              <a:t>- saved best model based on validation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loss alone does not establish generalization. Validation must run without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training loss falls from `1.2` to `0.1` while validation loss falls to `0.4` then rises to `0.9`, later epochs may be overfitting.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preferred checkpoint is near the lowest validation loss, not automatically the final epoch.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An epoch chart shows training and validation loss diverging after the best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Trace one batch line by line before showing the full loop. Require validation outside the update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maps directly to the real-world PyTorch notebook's model, training, and evaluation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https://docs.pytorch.org/tutorials/beginner/basics/optimization_tutorial.html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a small network and document: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input and target tensor shapes;</a:t>
            </a:r>
          </a:p>
          <a:p xmlns:a="http://schemas.openxmlformats.org/drawingml/2006/main">
            <a:r>
              <a:t>2. device and dtype;</a:t>
            </a:r>
          </a:p>
          <a:p xmlns:a="http://schemas.openxmlformats.org/drawingml/2006/main">
            <a:r>
              <a:t>3. every layer's input and output shape;</a:t>
            </a:r>
          </a:p>
          <a:p xmlns:a="http://schemas.openxmlformats.org/drawingml/2006/main">
            <a:r>
              <a:t>4. weighted sum and activation for one simple neuron;</a:t>
            </a:r>
          </a:p>
          <a:p xmlns:a="http://schemas.openxmlformats.org/drawingml/2006/main">
            <a:r>
              <a:t>5. matching task and loss;</a:t>
            </a:r>
          </a:p>
          <a:p xmlns:a="http://schemas.openxmlformats.org/drawingml/2006/main">
            <a:r>
              <a:t>6. one forward loss value;</a:t>
            </a:r>
          </a:p>
          <a:p xmlns:a="http://schemas.openxmlformats.org/drawingml/2006/main">
            <a:r>
              <a:t>7. one parameter gradient after `backward()`;</a:t>
            </a:r>
          </a:p>
          <a:p xmlns:a="http://schemas.openxmlformats.org/drawingml/2006/main">
            <a:r>
              <a:t>8. one parameter value before and after `step()`;</a:t>
            </a:r>
          </a:p>
          <a:p xmlns:a="http://schemas.openxmlformats.org/drawingml/2006/main">
            <a:r>
              <a:t>9. batch count and epoch count;</a:t>
            </a:r>
          </a:p>
          <a:p xmlns:a="http://schemas.openxmlformats.org/drawingml/2006/main">
            <a:r>
              <a:t>10. validation in evaluation and inference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`240` rows, batch `32`, and `5` epochs: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`8` batches per epoch and `40` updates. A validation pass performs `0`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trace sheet follows one batch from data loader through forward pass, loss, gradients, update, and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learners to inspect one parameter rather than claiming “the model learned” from loss output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Complete `02.real-world-pytorch.ipynb`, predicting shapes and state changes before each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https://docs.pytorch.org/tutorials/beginner/basics/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1f906033b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ea9e8c120448f3" /><Relationship Type="http://schemas.openxmlformats.org/officeDocument/2006/relationships/slideLayout" Target="/ppt/slideLayouts/slideLayout1.xml" Id="Ra760feaca2264d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0feaca2264d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2f6afaef94819" /><Relationship Type="http://schemas.openxmlformats.org/officeDocument/2006/relationships/image" Target="/ppt/media/image.png" Id="R3a9e3451a3254393" /><Relationship Type="http://schemas.openxmlformats.org/officeDocument/2006/relationships/image" Target="/ppt/media/image2.png" Id="Rb29ca72750ec466e" /><Relationship Type="http://schemas.openxmlformats.org/officeDocument/2006/relationships/notesSlide" Target="/ppt/notesSlides/notesSlide1.xml" Id="R3796271818f448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32371acac468f" /><Relationship Type="http://schemas.openxmlformats.org/officeDocument/2006/relationships/notesSlide" Target="/ppt/notesSlides/notesSlide2.xml" Id="Rc36cd988ad334f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588339954039" /><Relationship Type="http://schemas.openxmlformats.org/officeDocument/2006/relationships/notesSlide" Target="/ppt/notesSlides/notesSlide3.xml" Id="R58f6317e75214a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5db6893444392" /><Relationship Type="http://schemas.openxmlformats.org/officeDocument/2006/relationships/notesSlide" Target="/ppt/notesSlides/notesSlide4.xml" Id="R428b28f0a21740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9e9a57a7b43b4" /><Relationship Type="http://schemas.openxmlformats.org/officeDocument/2006/relationships/notesSlide" Target="/ppt/notesSlides/notesSlide5.xml" Id="Reb9f035e5a2e47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10d3015e4ac0" /><Relationship Type="http://schemas.openxmlformats.org/officeDocument/2006/relationships/notesSlide" Target="/ppt/notesSlides/notesSlide6.xml" Id="Re76b85a083f24d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f8cd868a2491a" /><Relationship Type="http://schemas.openxmlformats.org/officeDocument/2006/relationships/notesSlide" Target="/ppt/notesSlides/notesSlide7.xml" Id="R4e4226b822934f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d1aa53e864416" /><Relationship Type="http://schemas.openxmlformats.org/officeDocument/2006/relationships/notesSlide" Target="/ppt/notesSlides/notesSlide8.xml" Id="Rb8cdacc24f1343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a3c55013f44e5" /><Relationship Type="http://schemas.openxmlformats.org/officeDocument/2006/relationships/notesSlide" Target="/ppt/notesSlides/notesSlide9.xml" Id="R38b16d95c18b43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8f337b2e64fc6" /><Relationship Type="http://schemas.openxmlformats.org/officeDocument/2006/relationships/notesSlide" Target="/ppt/notesSlides/notesSlide10.xml" Id="Rd0b43dc021c042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081d483e94920" /><Relationship Type="http://schemas.openxmlformats.org/officeDocument/2006/relationships/notesSlide" Target="/ppt/notesSlides/notesSlide11.xml" Id="R3b15ca402e9949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c0bc764c74477" /><Relationship Type="http://schemas.openxmlformats.org/officeDocument/2006/relationships/notesSlide" Target="/ppt/notesSlides/notesSlide12.xml" Id="Rda0bf1eb015f4d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A3B65-DEFA-465B-BE9A-6EA0FCE3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e3451a3254393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30045-FC8C-4478-B0E0-C0058EA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68216-D148-4DAA-A7E0-2CD4149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09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C1BB5-DCD0-4E90-A5B2-133AB468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Tensors Store Model Data and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D7CFB-0BBC-4D6B-BDE4-6107B1C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E48DC-E977-4F4A-A1AA-B0F43CDF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A PyTorch tensor is a shaped numerical data structure used for inputs, targets, model parameters, and intermediate results.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ca72750ec466e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60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060F1-4B4E-4DEB-A1B9-75E52E4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49E80-48C6-44AD-910D-4A2BB84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3EA3-AB27-49B8-A4AD-19A37BA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E08C8-1661-4F7C-B429-CDF42E9D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A0158-A7D7-4F8A-ACD8-14421846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One Neuron Is a Weighted Sum and Activation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7BE00-2A83-4DD0-BA56-D628E155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2E1CD-3FCD-4AB3-A15D-CB0C8BC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A neuron calculates: z = w1x1 + w2x2 + ... + wnxn + b then applies an activation function: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237A8-A208-4044-9FBF-E26C5685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C9444-4BC6-44C0-A78D-1204D99E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xi: input 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33CA9-88A6-48FE-B767-1B83CC46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7D4A6-6C0D-40B8-8662-3E377808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wi: learned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8B7E9-40A1-4EA1-8D07-9181282E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3F68F-7C94-445A-8601-C983DF79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b: learned bias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A4375-F17B-404B-8F57-808EA24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AE0C4-6F23-4824-9863-3CDD20FA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z: pre-activation weighted sum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4BF58-818B-4D7C-A3BF-61C3396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C4ACB-DAD3-4F50-8DC8-B0F7F88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g: activation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0A908-BBA1-4DAF-B6E8-243C1BFD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E46BE-B28C-4216-AECA-1F57ED9A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a: neuron output</a:t>
            </a:r>
          </a:p>
        </p:txBody>
      </p:sp>
    </p:spTree>
    <p:extLst>
      <p:ext uri="{BB962C8B-B14F-4D97-AF65-F5344CB8AC3E}">
        <p14:creationId xmlns:p14="http://schemas.microsoft.com/office/powerpoint/2010/main" val="1360447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8CCBB-E155-4A17-A2D5-F7B902B5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2B5B6-0E9B-46EC-A59C-1AA86DEC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F4135-476A-418A-8C9A-32B61C62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09BB5-7877-4BD8-B0B0-82782CAE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D767-166B-4282-B9FB-904D21F0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Layers Transform Batches with Matrix Multiplication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79B39-1D5F-4AD5-BD1F-9DB29C3B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F9CED-60AD-412C-A68C-4A63C3C3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81799-DB5B-4FD5-971E-7E72DBD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77F32-1349-41D6-9D3E-CA9EE791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DB0B7-B0AE-4C27-859E-940409AB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28610-41D2-4623-A9E1-32DF601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layer = torch.nn.Linear(3, 5)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x = torch.randn(4, 3)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z = layer(x)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print(z.shape)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C00A5-3E2A-46F6-A909-D9D640B5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40F7C-4B45-499F-892C-BCDB2D4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2E6E3-8E4B-471A-936F-F3995A8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torch.Size([4, 5])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223BB-8767-4042-B071-AB0E0AC1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1A611-2046-437B-AE89-3AE8D031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Four observations each receive five transformed features.</a:t>
            </a:r>
          </a:p>
        </p:txBody>
      </p:sp>
    </p:spTree>
    <p:extLst>
      <p:ext uri="{BB962C8B-B14F-4D97-AF65-F5344CB8AC3E}">
        <p14:creationId xmlns:p14="http://schemas.microsoft.com/office/powerpoint/2010/main" val="1258057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BDA6F-EA2E-410E-BCA9-31C9A50A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1089F-5D8F-465B-8D68-F0647090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E337A-58C8-4082-B9CF-767E944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76097-AB33-4BE0-A5FD-F17B02CB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1DCB5-C7B4-4ED1-B04C-F41E4856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Activations Let Networks Learn Nonlinear 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5E595-D539-4155-8746-95262B02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794AC-CD2F-4B94-B406-685CDBAF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 activation function transforms each pre-activation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470C8-B21F-40FD-8636-DEE8A75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86112-E4C7-4C8F-9819-9D657C66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C0B08-62BD-4616-AFED-1000D4F8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A5C55-5568-4EDE-83D6-96266C67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ReLU(z) = max(0, z)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F3938-F400-4823-85FD-3420A383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0E3CF-6F47-465B-9201-4C1E4A60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02822-1ADD-4BE0-BD30-94029EE4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E8857-0F0A-497E-9895-EF928A6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Without nonlinear activations, several linear layers collapse into one linear transformation.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9EDD5-F7AF-4EC9-978B-467D11E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97A78-9AAD-45F7-A58E-F6285092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A51F4-30A9-477F-B482-B42002C5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6E0B6-7965-44CA-8727-C5E257C1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Nonlinearity lets the network represent curved and piecewise relationships.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BA5EA-A9DC-4FE5-89F1-C2974240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9301C-61C8-4231-AABA-EFCAFAC1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D5564-5EA1-4ACA-821B-666BF8D5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Input values [-2, 0.5, 3] ReLU: max(0,-2)=0 max(0,0.5)=0.5 max(0,3)=3 Output [0, 0.5, 3].</a:t>
            </a:r>
          </a:p>
        </p:txBody>
      </p:sp>
    </p:spTree>
    <p:extLst>
      <p:ext uri="{BB962C8B-B14F-4D97-AF65-F5344CB8AC3E}">
        <p14:creationId xmlns:p14="http://schemas.microsoft.com/office/powerpoint/2010/main" val="1302905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889F9-8902-4A04-94A5-96110BCB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A0B58-E2B4-4DEF-A063-FC051DF2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B9009-9344-4957-B83F-C60A0F54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6A89E-59E1-4550-B617-5A2C08AE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EC4FD-52BB-4B7B-B7FC-931184C8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Forward Pass Produces Predictions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A5C44-0A67-420E-9310-16F6AE14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8E0E0-CF14-41A1-BD45-6D203DB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A forward pass sends input tensors through layers and activations to produce predictions. Example network: X -&gt; Linear(3,5) -&gt; ReLU -&gt; Linear(5,1) -&gt;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3B1FB-2557-45C8-8E0C-EB420BAE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39CB0-8791-49D7-94D8-B52B0F8D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forward pass sends input tensors through layers and activations to produce predictions.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2DCFA-C59C-45AE-BC14-DEDCFF4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E9B6D-1CCB-42DA-B89C-E5264B5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X -&gt; Linear(3,5) -&gt; ReLU -&gt; Linear(5,1) -&gt;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105D5-36FD-462B-8A13-63A89CDF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B9CF4-C478-4C86-A4E0-408490E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output of one stage becomes the input to the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40680-2C00-4326-8088-AD4AEEA9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EA3F8-83AB-4F62-855A-9366223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Shapes must align at every boundary.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C6DB7-BD70-4C52-A993-49725659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E3714-F64A-4BDA-9104-F69090D5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final output may be a regression prediction, a binary logit, or one logit per class.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9CF10-A8CE-44C0-B779-F0A6202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8EC4E-105A-409E-9117-7887C8C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After first linear layer: (4,5) After ReLU: (4,5) After output layer: (4,1)</a:t>
            </a:r>
          </a:p>
        </p:txBody>
      </p:sp>
    </p:spTree>
    <p:extLst>
      <p:ext uri="{BB962C8B-B14F-4D97-AF65-F5344CB8AC3E}">
        <p14:creationId xmlns:p14="http://schemas.microsoft.com/office/powerpoint/2010/main" val="1062808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DAA39-7498-49D6-8324-96BD8E99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8100D-4900-47A3-A570-97F4AABE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5675E-8D9B-41A3-AB9D-6660D689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B5A5D-6698-40CA-B1FF-59F9726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6A022-E0B6-431C-A589-29B05AA7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The Loss Must Match the Task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AE1C7-5EF3-4238-9A52-FB180B2A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A5422-5565-4869-A4A8-7B71F60B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7B8BE-C3EF-4F87-B040-C48301D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BFE58-FF3C-40E0-9CE1-D6D5ECB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56244-DDD1-434F-A8FE-A1A93BAC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9C0EC-3079-4060-8556-DC5BB40D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loss_fn = torch.nn.MSELoss()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prediction = torch.tensor([2.0, 4.0])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target = torch.tensor([3.0, 5.0])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print(loss_fn(prediction, target))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D3156-BAD5-4C34-97EF-1B6C1286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EC5DB-F6CC-4A60-92D9-66698A3E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8F760-A116-4A09-B075-85E51D45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tensor(1.)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E1802-BE25-4AAA-8DF2-68BE4148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68219-22DC-40EF-97B0-B7D41107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Residuals [1,1] Squared residuals [1,1] MSE (1+1)/2 = 1</a:t>
            </a:r>
          </a:p>
        </p:txBody>
      </p:sp>
    </p:spTree>
    <p:extLst>
      <p:ext uri="{BB962C8B-B14F-4D97-AF65-F5344CB8AC3E}">
        <p14:creationId xmlns:p14="http://schemas.microsoft.com/office/powerpoint/2010/main" val="6405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6C485-5DBC-4D98-902C-4FC8423F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72F74-C225-429E-B9A8-919882D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13B44-42BC-4D05-AEA0-0020515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9746C-FE9C-4B6B-9E42-06010B19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C7A4D-7CFD-4A45-A762-BA9F2CC9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Backpropagation Computes Gradients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3930D-F190-411B-B915-70D25F38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C7E0F-90BF-4EA8-9045-346DDB04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PyTorch autograd records tensor operations in a computational graph. During backpropagation, the chain rule moves backward from loss and calculates: ∂loss / ∂parameter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4B155-E273-4CB9-A579-7B97B8F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D47EE-ABF3-4ABD-B1D5-FD5F41A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PyTorch autograd records tensor operations in a computational graph.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C0343-4CC4-4572-8BF9-7CA6CE3C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30B4B-8AD0-445F-A71F-5B4AA58D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During backpropagation, the chain rule moves backward from loss and calculates: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9E3A0-BEC2-42DA-A60D-33FD620A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7D367-7D74-401A-8637-F041331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∂loss / ∂parameter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47168-FD9D-4C63-BFEE-090910E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D7BE9-1382-432E-A30D-128E3BD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for every trainable parameter.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03847-4609-4707-A268-D548E4C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5D5D8-39FC-4EA6-9183-08FC264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Calling loss.backward() computes gradients.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35E88-B018-48D4-ADF3-D756B514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3193B-A1AE-49F6-B11C-F8AA02B8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It does not update the weights.</a:t>
            </a:r>
          </a:p>
        </p:txBody>
      </p:sp>
    </p:spTree>
    <p:extLst>
      <p:ext uri="{BB962C8B-B14F-4D97-AF65-F5344CB8AC3E}">
        <p14:creationId xmlns:p14="http://schemas.microsoft.com/office/powerpoint/2010/main" val="786610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722C7-5334-4C79-93FC-9487F28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1FDAA-78EF-4787-8C27-08383E7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BE405-01C2-4F9D-A5A8-4B235F9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F8CC4-C666-431B-A970-882F483D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3DA6C-3DC3-47AE-BE9A-51ACF7B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Optimizer Applies the Gradients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27732-02AB-4E26-B8E5-430875D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5E883-E949-4EF0-B085-9CFCDDE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optimizer.zerograd() clears old gradients;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0420B-841C-429A-9160-8B9B0BFB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20014-2EDF-493D-A699-28B2DED1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C2A95-8120-4C42-A5E7-5A74CDDD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315BB-A462-4AF9-81D8-F63E70F4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prediction = model(x) runs the forward pass;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72B07-12E6-46CD-B0DF-B2D8EFBD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E6472-0873-4052-828A-25B59523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45671-F76A-4CEE-9C42-66A7D56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7C3E9-A342-45DC-A94C-987D2A0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loss.backward() computes new gradients;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644A5-14DF-4097-8D77-1276BCF2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0691E-971A-405D-A236-BB584447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E19D8-7C72-4117-8483-851D11C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093ED-E3EC-411B-A561-D4306BCF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optimizer.step() updates parameters.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A4F74-A634-4857-8FDC-C5CB46F4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49F5B-F3C2-4AFD-8636-6308533D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EF5E1-6990-49AC-A768-1999EF12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Current weight 1.0, gradient -12, learning rate 0.1: wnew = 1.0 - 0.1(-12) = 2.2 For the example on Slide 7, this moves the prediction from 2 toward target 5.</a:t>
            </a:r>
          </a:p>
        </p:txBody>
      </p:sp>
    </p:spTree>
    <p:extLst>
      <p:ext uri="{BB962C8B-B14F-4D97-AF65-F5344CB8AC3E}">
        <p14:creationId xmlns:p14="http://schemas.microsoft.com/office/powerpoint/2010/main" val="1921215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3ACFE-CED8-4AE7-B6A7-1D193F70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90248-6695-46F6-B960-FE9CF6FA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749ED-5640-4A0E-AA59-B25DEDF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E605D-61DA-4598-AF0F-24F3122D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C031F-7153-4FDC-95FD-A94AF026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Batches, Epochs, and Learning Rate Control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C0C38-0A74-4B6D-9552-4279EB9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E7801-D90A-4EDC-B878-A5A0C1E5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B19CE-17AC-4E77-B451-A2A324C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44AFA-09D3-41F6-A174-3F8B8A7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E77B6-2AB4-425C-9C83-798CF03B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D128F-A725-49ED-B17C-814B00D2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import math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updates = math.ceil(240 / 32) * 5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print(updates)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60F75-44AF-4D87-A821-DE7E08C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233EA-523B-476C-BB63-D54F1E00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A7312-ACFD-4049-AAE6-A6D1FF9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5A8C7-1807-4D97-BC23-D5883FAA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A0BDD-A505-46FC-8D85-DACD968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For 5 epochs: 8 x 5 = 40 updates.</a:t>
            </a:r>
          </a:p>
        </p:txBody>
      </p:sp>
    </p:spTree>
    <p:extLst>
      <p:ext uri="{BB962C8B-B14F-4D97-AF65-F5344CB8AC3E}">
        <p14:creationId xmlns:p14="http://schemas.microsoft.com/office/powerpoint/2010/main" val="254202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CDADD-0EC3-4173-B8DA-D5F16D57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8EC1C-0A2D-42CB-B8CB-08A95A47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27B2E-2761-4ADF-BE0D-D5C3CA47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7492B-E8CD-4118-A146-6AE15B1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C5095-6A6C-4301-8B0F-2038233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Training and Evaluation Modes Behave Differently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575F0-A9C8-4C10-BD75-D088B48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EC8D6-3DF2-4DB6-ACA4-6016F2D4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C34AA-D54B-4AE2-A337-F3A553C1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model.eval()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61A57-C74F-4918-A122-2BEE5C9F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B27CC-66C5-4414-9DC8-C3F1B931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C3925-8976-4573-ABB9-84874B45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E3C9F-9981-47C4-A892-635284E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enter torch.inferencemode()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8F078-8C64-4A8E-851A-24812D6C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370DF-9BCA-40B3-A909-3D354E1C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F194D-64E5-442A-AC36-2DD8CBB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B72EC-50A9-495B-89B5-FC609D29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move batch to the model 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5DEA3-AB9B-4329-98BA-D391DE8A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6A256-C211-48ED-8905-7C0B1D21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46AB3-E478-4518-B8A8-6EAFEF97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6A2B1-86D2-4BC4-A631-A8F4EF1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calculate predictions and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21F61-2A9D-4C60-910A-A9AA2AA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86428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FF2E5-2298-402A-82C7-0EDD757E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DB9F3-20A3-4A2F-90A5-08425113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0308E-91C6-4A21-A1BB-A1AB2F1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435E4-F5CB-4E5D-AEA1-B13ACF26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1D614-1767-40A1-8EA2-3CCBE581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 Complete Training Loop Produces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994BD-E9E7-4BE1-8EA6-7147BA57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E14A2-B746-4700-BC7F-ED003164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AA230-9649-408F-B863-3FC2C49E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input and target shapes;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C1B9B-FABD-4892-B59A-6456C1D6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DF3A7-9D3E-45FB-9756-EF1FE6A3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6E61C-1F5F-4CB0-8395-1F1181F6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10046-4905-4ED6-9599-C91F01D1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forward output shape;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0F7B9-B0C1-448F-91E2-AAE971F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A8349-7153-4777-9F33-BAAD281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943C0-C237-42A3-A92F-3136CA52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B64BB-735E-480B-9B6C-33BDB221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loss value;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00F92-C2E7-4174-AB3A-EB8E24C1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CAA94-05F9-4930-BF3E-20E42550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72DEE-96F0-4A3B-86B9-49F53BAE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72377-C475-4105-9B80-D5D5CCA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gradient calculation;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A64D8-A3EF-404D-92EA-2EB8867F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3883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34440-74A7-43CC-AAF8-A212F7FD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BFEB1-73E8-41D9-B115-9450A99C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Tensors Store Model Data and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1902F-0829-4676-AD7F-73B799C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1412F-64AE-4976-9D1C-4F1123BE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DA140-625C-40CB-82A2-BFF0AFCB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Guided Lab: Trace One Batch End to 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B6952-649C-48AE-B6AE-53464078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D38F4-1A3A-4DAC-89D7-85430CF0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23D79-9D9F-4B25-92E9-B451F898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input and target tensor shapes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48C3D-1E96-42CD-8018-6DC639A4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2E803-C15B-465E-93F7-D991AFB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3AF22-63FE-4903-A6B2-0900B83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device and dtype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3572C-5ADC-40D1-8DE2-AA1142A6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A088B-C935-4F42-A45C-622182D3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38AA4-224E-4955-9E3B-25E30936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every layer's input and output shape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3389F-CAD5-4BB8-965A-96BC1233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E512F-AE8A-4CC2-8971-57612894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33039-3493-4121-B634-1DAA0A6E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weighted sum and activation for one simple neuron</a:t>
            </a:r>
          </a:p>
        </p:txBody>
      </p:sp>
    </p:spTree>
    <p:extLst>
      <p:ext uri="{BB962C8B-B14F-4D97-AF65-F5344CB8AC3E}">
        <p14:creationId xmlns:p14="http://schemas.microsoft.com/office/powerpoint/2010/main" val="649501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2026-07-28T19:28:04.8710000Z</dcterms:created>
  <dcterms:modified xsi:type="dcterms:W3CDTF">2026-07-28T19:28:04.8710000Z</dcterms:modified>
</coreProperties>
</file>