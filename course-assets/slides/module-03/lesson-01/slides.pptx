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313ba7157419e" /><Relationship Type="http://schemas.openxmlformats.org/officeDocument/2006/relationships/extended-properties" Target="/docProps/app.xml" Id="R57b5102b76424ecb" /><Relationship Type="http://schemas.openxmlformats.org/officeDocument/2006/relationships/officeDocument" Target="/ppt/presentation.xml" Id="Rd337920eceb5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3b02ee03094ada"/>
  </p:sldMasterIdLst>
  <p:notesMasterIdLst>
    <p:notesMasterId xmlns:r="http://schemas.openxmlformats.org/officeDocument/2006/relationships" r:id="R3124230e65fe4c11"/>
  </p:notesMasterIdLst>
  <p:sldIdLst>
    <p:sldId xmlns:r="http://schemas.openxmlformats.org/officeDocument/2006/relationships" id="256" r:id="R53017503a6634c5f"/>
    <p:sldId xmlns:r="http://schemas.openxmlformats.org/officeDocument/2006/relationships" id="257" r:id="R2285daab9f9f4d11"/>
    <p:sldId xmlns:r="http://schemas.openxmlformats.org/officeDocument/2006/relationships" id="258" r:id="R76850bc29d084032"/>
    <p:sldId xmlns:r="http://schemas.openxmlformats.org/officeDocument/2006/relationships" id="259" r:id="R9ac425205a634941"/>
    <p:sldId xmlns:r="http://schemas.openxmlformats.org/officeDocument/2006/relationships" id="260" r:id="Re4152938729a4299"/>
    <p:sldId xmlns:r="http://schemas.openxmlformats.org/officeDocument/2006/relationships" id="261" r:id="R5a8305a19e1a44ea"/>
    <p:sldId xmlns:r="http://schemas.openxmlformats.org/officeDocument/2006/relationships" id="262" r:id="R16b0fccfeb6a409f"/>
    <p:sldId xmlns:r="http://schemas.openxmlformats.org/officeDocument/2006/relationships" id="263" r:id="R334eefdad7544bea"/>
    <p:sldId xmlns:r="http://schemas.openxmlformats.org/officeDocument/2006/relationships" id="264" r:id="Rf62cd25ef1f645d5"/>
    <p:sldId xmlns:r="http://schemas.openxmlformats.org/officeDocument/2006/relationships" id="265" r:id="R3e07f802badf4a74"/>
    <p:sldId xmlns:r="http://schemas.openxmlformats.org/officeDocument/2006/relationships" id="266" r:id="R151e7a3f4b05487e"/>
    <p:sldId xmlns:r="http://schemas.openxmlformats.org/officeDocument/2006/relationships" id="267" r:id="R9b7d14d2bd644d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60e86780774dff" /><Relationship Type="http://schemas.openxmlformats.org/officeDocument/2006/relationships/slideMaster" Target="/ppt/slideMasters/slideMaster1.xml" Id="R433b02ee03094ada" /><Relationship Type="http://schemas.openxmlformats.org/officeDocument/2006/relationships/notesMaster" Target="/ppt/notesMasters/notesMaster1.xml" Id="R3124230e65fe4c11" /><Relationship Type="http://schemas.openxmlformats.org/officeDocument/2006/relationships/presProps" Target="/ppt/presProps.xml" Id="Rc27a2dd3d3a04fef" /><Relationship Type="http://schemas.openxmlformats.org/officeDocument/2006/relationships/tableStyles" Target="/ppt/tableStyles.xml" Id="Rd1aae3141bae4306" /><Relationship Type="http://schemas.openxmlformats.org/officeDocument/2006/relationships/slide" Target="/ppt/slides/slide1.xml" Id="R53017503a6634c5f" /><Relationship Type="http://schemas.openxmlformats.org/officeDocument/2006/relationships/slide" Target="/ppt/slides/slide2.xml" Id="R2285daab9f9f4d11" /><Relationship Type="http://schemas.openxmlformats.org/officeDocument/2006/relationships/slide" Target="/ppt/slides/slide3.xml" Id="R76850bc29d084032" /><Relationship Type="http://schemas.openxmlformats.org/officeDocument/2006/relationships/slide" Target="/ppt/slides/slide4.xml" Id="R9ac425205a634941" /><Relationship Type="http://schemas.openxmlformats.org/officeDocument/2006/relationships/slide" Target="/ppt/slides/slide5.xml" Id="Re4152938729a4299" /><Relationship Type="http://schemas.openxmlformats.org/officeDocument/2006/relationships/slide" Target="/ppt/slides/slide6.xml" Id="R5a8305a19e1a44ea" /><Relationship Type="http://schemas.openxmlformats.org/officeDocument/2006/relationships/slide" Target="/ppt/slides/slide7.xml" Id="R16b0fccfeb6a409f" /><Relationship Type="http://schemas.openxmlformats.org/officeDocument/2006/relationships/slide" Target="/ppt/slides/slide8.xml" Id="R334eefdad7544bea" /><Relationship Type="http://schemas.openxmlformats.org/officeDocument/2006/relationships/slide" Target="/ppt/slides/slide9.xml" Id="Rf62cd25ef1f645d5" /><Relationship Type="http://schemas.openxmlformats.org/officeDocument/2006/relationships/slide" Target="/ppt/slides/slide10.xml" Id="R3e07f802badf4a74" /><Relationship Type="http://schemas.openxmlformats.org/officeDocument/2006/relationships/slide" Target="/ppt/slides/slide11.xml" Id="R151e7a3f4b05487e" /><Relationship Type="http://schemas.openxmlformats.org/officeDocument/2006/relationships/slide" Target="/ppt/slides/slide12.xml" Id="R9b7d14d2bd644d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d65726d9664d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297da5685447c6" /><Relationship Type="http://schemas.openxmlformats.org/officeDocument/2006/relationships/notesMaster" Target="/ppt/notesMasters/notesMaster1.xml" Id="R7eda41d8359945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131805a5f84f77" /><Relationship Type="http://schemas.openxmlformats.org/officeDocument/2006/relationships/notesMaster" Target="/ppt/notesMasters/notesMaster1.xml" Id="R197e53c6186b4e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bea94b7c9b4111" /><Relationship Type="http://schemas.openxmlformats.org/officeDocument/2006/relationships/notesMaster" Target="/ppt/notesMasters/notesMaster1.xml" Id="R5c0b8cf16a1741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43fcc2daab4455" /><Relationship Type="http://schemas.openxmlformats.org/officeDocument/2006/relationships/notesMaster" Target="/ppt/notesMasters/notesMaster1.xml" Id="R4e89cf6db95748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ef221510d34e71" /><Relationship Type="http://schemas.openxmlformats.org/officeDocument/2006/relationships/notesMaster" Target="/ppt/notesMasters/notesMaster1.xml" Id="Rd3bd9df12b104e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b39571eaab4c2d" /><Relationship Type="http://schemas.openxmlformats.org/officeDocument/2006/relationships/notesMaster" Target="/ppt/notesMasters/notesMaster1.xml" Id="R586bf7e3a0a540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7f2a10223f4887" /><Relationship Type="http://schemas.openxmlformats.org/officeDocument/2006/relationships/notesMaster" Target="/ppt/notesMasters/notesMaster1.xml" Id="R248bb86ad97442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81e2581ee24aeb" /><Relationship Type="http://schemas.openxmlformats.org/officeDocument/2006/relationships/notesMaster" Target="/ppt/notesMasters/notesMaster1.xml" Id="R067e1a029cc748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7bdc9481424e43" /><Relationship Type="http://schemas.openxmlformats.org/officeDocument/2006/relationships/notesMaster" Target="/ppt/notesMasters/notesMaster1.xml" Id="Rf72d500c90674c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55e9894d1b494a" /><Relationship Type="http://schemas.openxmlformats.org/officeDocument/2006/relationships/notesMaster" Target="/ppt/notesMasters/notesMaster1.xml" Id="Ra29c78f204f946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6b1029de864c23" /><Relationship Type="http://schemas.openxmlformats.org/officeDocument/2006/relationships/notesMaster" Target="/ppt/notesMasters/notesMaster1.xml" Id="Rba0ecf384a8c44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fc5ef1a74b4861" /><Relationship Type="http://schemas.openxmlformats.org/officeDocument/2006/relationships/notesMaster" Target="/ppt/notesMasters/notesMaster1.xml" Id="R5f580b8773b749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**dataset** is an organized collection of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 **row** represents one observation.</a:t>
            </a:r>
          </a:p>
          <a:p xmlns:a="http://schemas.openxmlformats.org/drawingml/2006/main">
            <a:r>
              <a:t>- A **column** represents one measured property.</a:t>
            </a:r>
          </a:p>
          <a:p xmlns:a="http://schemas.openxmlformats.org/drawingml/2006/main">
            <a:r>
              <a:t>- The **row grain** states exactly what one row represents.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Example: in a class-results dataset, one row could represent one student. Columns could contain the student's name, course, score, and attendance.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row grain must remain consistent. If some rows represent students and others represent entire classes, calculations such as averages no longer have a clear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| student | course | score |</a:t>
            </a:r>
          </a:p>
          <a:p xmlns:a="http://schemas.openxmlformats.org/drawingml/2006/main">
            <a:r>
              <a:t>|---|---|---:|</a:t>
            </a:r>
          </a:p>
          <a:p xmlns:a="http://schemas.openxmlformats.org/drawingml/2006/main">
            <a:r>
              <a:t>| Asha | Python | 72 |</a:t>
            </a:r>
          </a:p>
          <a:p xmlns:a="http://schemas.openxmlformats.org/drawingml/2006/main">
            <a:r>
              <a:t>| Ben | Python | 84 |</a:t>
            </a:r>
          </a:p>
          <a:p xmlns:a="http://schemas.openxmlformats.org/drawingml/2006/main">
            <a:r>
              <a:t>| Chen | AI | 91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are `3` observations and `3` variables. The row grain is **one student's result in one course**.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small table with one row highlighted as an observation and one column highlighted as a variable. A label below states the row grain.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what one row represents before discussing Pandas. Show how an unclear grain produces misleading totals.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creates arrays and DataFrames. Learners must identify observations and variables before using those objects.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https://pandas.pydata.org/docs/reference/api/pandas.DataFrame.html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NumPy **array** is a collection of values arranged along one or more axes. Array values normally share one **data type**.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`ndim`: number of axes</a:t>
            </a:r>
          </a:p>
          <a:p xmlns:a="http://schemas.openxmlformats.org/drawingml/2006/main">
            <a:r>
              <a:t>- `shape`: length of each axis</a:t>
            </a:r>
          </a:p>
          <a:p xmlns:a="http://schemas.openxmlformats.org/drawingml/2006/main">
            <a:r>
              <a:t>- `size`: total number of values</a:t>
            </a:r>
          </a:p>
          <a:p xmlns:a="http://schemas.openxmlformats.org/drawingml/2006/main">
            <a:r>
              <a:t>- `dtype`: type used to store the values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two-dimensional array, shape `(2, 3)` means `2` rows and `3` columns. Its size is `2 x 3 = 6`.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[[72, 80, 75],</a:t>
            </a:r>
          </a:p>
          <a:p xmlns:a="http://schemas.openxmlformats.org/drawingml/2006/main">
            <a:r>
              <a:t> [84, 79, 88]]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Axes: `2`</a:t>
            </a:r>
          </a:p>
          <a:p xmlns:a="http://schemas.openxmlformats.org/drawingml/2006/main">
            <a:r>
              <a:t>2. Shape: `(2, 3)`</a:t>
            </a:r>
          </a:p>
          <a:p xmlns:a="http://schemas.openxmlformats.org/drawingml/2006/main">
            <a:r>
              <a:t>3. Size: `6`</a:t>
            </a:r>
          </a:p>
          <a:p xmlns:a="http://schemas.openxmlformats.org/drawingml/2006/main">
            <a:r>
              <a:t>4. If all values are whole numbers, the data type is an integer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2-by-3 number grid with braces marking axis 0 as rows and axis 1 as columns. The shape `(2, 3)` appears beside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Have learners count rows and columns before revealing the shape. Explain that shape errors are often more important than syntax errors in numerical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prepares learners to inspect tensor and array shapes instead of treating them as unexplained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- https://numpy.org/doc/stable/user/absolute_beginners.html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**index** identifies a position. NumPy starts counting at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two-dimensional array, use `[row, column]`: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scores[1, 2]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means row index `1` and column index `2`. A colon means “take all positions along this axis.”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`scores[0, :]`: every column from the first row</a:t>
            </a:r>
          </a:p>
          <a:p xmlns:a="http://schemas.openxmlformats.org/drawingml/2006/main">
            <a:r>
              <a:t>- `scores[:, 1]`: every row from the second column</a:t>
            </a:r>
          </a:p>
          <a:p xmlns:a="http://schemas.openxmlformats.org/drawingml/2006/main">
            <a:r>
              <a:t>- `scores[0:2, 1:3]`: a rectangular slice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[[72, 80, 75],</a:t>
            </a:r>
          </a:p>
          <a:p xmlns:a="http://schemas.openxmlformats.org/drawingml/2006/main">
            <a:r>
              <a:t> [84, 79, 88]]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`scores[1, 2]` gives `88`.  </a:t>
            </a:r>
          </a:p>
          <a:p xmlns:a="http://schemas.openxmlformats.org/drawingml/2006/main">
            <a:r>
              <a:t>`scores[:, 1]` gives `[80, 79]`.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grid from Slide 2 appears with row and column indexes. One cell and then one complete column are highlighted.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Read every selection aloud as “row, column.” Ask learners to predict the shape of a selection before running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Notebook operations select feature columns and individual values using the same positional idea.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https://numpy.org/doc/stable/user/basics.indexing.html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**vectorized operation** applies one operation to an entire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scores + 5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adds `5` to every score. NumPy performs the repeated numerical work in optimized array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**Broadcasting** is NumPy's rule for combining arrays with compatible shapes. A single number can be expanded conceptually to match every element. Compatible dimensions are equal, or one of them is `1`.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Vectorization makes the intended calculation visible and reduces manual loop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Original: `[72, 84, 91]`  </a:t>
            </a:r>
          </a:p>
          <a:p xmlns:a="http://schemas.openxmlformats.org/drawingml/2006/main">
            <a:r>
              <a:t>Adjustment: `+ 5`  </a:t>
            </a:r>
          </a:p>
          <a:p xmlns:a="http://schemas.openxmlformats.org/drawingml/2006/main">
            <a:r>
              <a:t>Result: `[77, 89, 96]`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addition is applied to all three 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values flow through one `+ 5` operation into three adjusted values. A smaller warning shows incompatible shapes `(2, 3)` and `(2,)`.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Contrast this with a `for` loop from Week 2. Keep broadcasting to scalar and row-vector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uses array arithmetic and aggregations that operate over complete collections.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https://numpy.org/doc/stable/user/basics.broadcasting.html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Pandas **Series** is a one-dimensional labelled collection. A **DataFrame** is a two-dimensional labelled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Labels make data easier to interpret: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row labels form the **index**;</a:t>
            </a:r>
          </a:p>
          <a:p xmlns:a="http://schemas.openxmlformats.org/drawingml/2006/main">
            <a:r>
              <a:t>- column labels identify variables;</a:t>
            </a:r>
          </a:p>
          <a:p xmlns:a="http://schemas.openxmlformats.org/drawingml/2006/main">
            <a:r>
              <a:t>- each column has a data type;</a:t>
            </a:r>
          </a:p>
          <a:p xmlns:a="http://schemas.openxmlformats.org/drawingml/2006/main">
            <a:r>
              <a:t>- different columns may use different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is strongest for shaped numerical arrays. Pandas is designed for labelled tabular data that may contain numbers, text, dates, booleans, and missing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The dictionary: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{"student": ["Asha", "Ben"], "score": [72, 84]}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becomes a DataFrame with two rows and two named columns. Its shape is `(2, 2)`.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NumPy grid receives row and column labels and becomes a DataFrame. Column type badges show text and integer.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Emphasize that a DataFrame is not a spreadsheet file; it is a Python object in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can now read DataFrame construction and understand why named columns are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https://pandas.pydata.org/docs/user_guide/dsintro.html</a:t>
            </a:r>
          </a:p>
          <a:p xmlns:a="http://schemas.openxmlformats.org/drawingml/2006/main">
            <a:r>
              <a:t>- https://pandas.pydata.org/docs/reference/api/pandas.DataFrame.html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**CSV** file stores table rows as comma-separated text. **JSON** represents nested objects, arrays, strings, numbers, booleans, and null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Loading creates a DataFrame: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df = pd.read_csv("results.csv")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changing the data, inspect: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`df.shape` for row and column counts;</a:t>
            </a:r>
          </a:p>
          <a:p xmlns:a="http://schemas.openxmlformats.org/drawingml/2006/main">
            <a:r>
              <a:t>2. `df.head()` for example rows;</a:t>
            </a:r>
          </a:p>
          <a:p xmlns:a="http://schemas.openxmlformats.org/drawingml/2006/main">
            <a:r>
              <a:t>3. `df.columns` for variable names;</a:t>
            </a:r>
          </a:p>
          <a:p xmlns:a="http://schemas.openxmlformats.org/drawingml/2006/main">
            <a:r>
              <a:t>4. `df.dtypes` for stored types;</a:t>
            </a:r>
          </a:p>
          <a:p xmlns:a="http://schemas.openxmlformats.org/drawingml/2006/main">
            <a:r>
              <a:t>5. `df.isna().sum()` for missing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`df.shape` is `(120, 4)`, the table has `120` rows and `4` columns. This does not prove that all rows are valid; it only states the current shape.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file icon flows into a DataFrame, followed by five inspection checkpoints.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`object` commonly stores text. Do not promise exact output for an unknown file; the example output describes one sample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inspection routine should be used before every notebook transformation.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https://pandas.pydata.org/docs/user_guide/io.html</a:t>
            </a:r>
          </a:p>
          <a:p xmlns:a="http://schemas.openxmlformats.org/drawingml/2006/main">
            <a:r>
              <a:t>- https://pandas.pydata.org/docs/user_guide/basics.html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**Selection** chooses columns or rows. **Filtering** keeps rows that satisfy a condition. **Sorting** changes row order without changing the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passed = df[df["score"] &gt;= 50]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comparison creates a **boolean mask**: one `True` or `False` value per row. Pandas keeps rows where the mask is `True`.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`.loc[rows, columns]` when selecting by labels: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passed = df.loc[df["score"] &gt;= 50, ["student", "score"]]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Scores `[42, 68, 91]` produce mask `[False, True, True]`. Filtering keeps `[68, 91]`. Sorting descending produces `[91, 68]`.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table rows align with a three-value boolean mask; false rows fade while true rows move into the filtered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Trace the mask before showing the filtered result. Distinguish row selection from changing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uses masks to isolate relevant observations before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https://pandas.pydata.org/docs/user_guide/indexing.html</a:t>
            </a:r>
          </a:p>
          <a:p xmlns:a="http://schemas.openxmlformats.org/drawingml/2006/main">
            <a:r>
              <a:t>- https://pandas.pydata.org/docs/reference/api/pandas.DataFrame.sort_values.html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**missing value** records that an observation is absent or unknown. Pandas commonly displays it as `NaN` or `NA`.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does not automatically mean zero. A missing score could mean: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the student did not take the test;</a:t>
            </a:r>
          </a:p>
          <a:p xmlns:a="http://schemas.openxmlformats.org/drawingml/2006/main">
            <a:r>
              <a:t>- the score was not recorded;</a:t>
            </a:r>
          </a:p>
          <a:p xmlns:a="http://schemas.openxmlformats.org/drawingml/2006/main">
            <a:r>
              <a:t>- the file was parsed incorrectly; or</a:t>
            </a:r>
          </a:p>
          <a:p xmlns:a="http://schemas.openxmlformats.org/drawingml/2006/main">
            <a:r>
              <a:t>- the value was removed by a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actions are to retain, collect again, exclude, or **impute** a replacement. The correct choice depends on why the value is missing and how the result will be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Scores: `[72, missing, 84]`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Filling with `0` gives mean `(72 + 0 + 84) / 3 = 52`.</a:t>
            </a:r>
          </a:p>
          <a:p xmlns:a="http://schemas.openxmlformats.org/drawingml/2006/main">
            <a:r>
              <a:t>- Ignoring the missing value gives mean `(72 + 84) / 2 = 78`.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policy changes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One missing cell branches into retain, investigate, impute, and exclude paths. Each path includes a “document why”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why the value is missing before discussing methods such as `fillna()` or `dropna()`.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must inspect and explain missing-value handling before producing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https://pandas.pydata.org/docs/user_guide/missing_data.html</a:t>
            </a:r>
          </a:p>
          <a:p xmlns:a="http://schemas.openxmlformats.org/drawingml/2006/main">
            <a:r>
              <a:t>- https://pandas.pydata.org/docs/reference/api/pandas.DataFrame.isna.html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**Grouping** divides rows into categories. An **aggregation** reduces each group to a summary such as count, sum, mean, minimum, or maximum.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GroupBy process is: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**Split** rows by a key such as `course`.</a:t>
            </a:r>
          </a:p>
          <a:p xmlns:a="http://schemas.openxmlformats.org/drawingml/2006/main">
            <a:r>
              <a:t>2. **Apply** a calculation such as mean score.</a:t>
            </a:r>
          </a:p>
          <a:p xmlns:a="http://schemas.openxmlformats.org/drawingml/2006/main">
            <a:r>
              <a:t>3. **Combine** one result for each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| course | score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Python | 72 |</a:t>
            </a:r>
          </a:p>
          <a:p xmlns:a="http://schemas.openxmlformats.org/drawingml/2006/main">
            <a:r>
              <a:t>| Python | 84 |</a:t>
            </a:r>
          </a:p>
          <a:p xmlns:a="http://schemas.openxmlformats.org/drawingml/2006/main">
            <a:r>
              <a:t>| AI | 91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mean: `(72 + 84) / 2 = 78`  </a:t>
            </a:r>
          </a:p>
          <a:p xmlns:a="http://schemas.openxmlformats.org/drawingml/2006/main">
            <a:r>
              <a:t>AI mean: `91 / 1 = 91`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Rows split into two coloured course groups, each passes through a mean calculation, and two results are recombined.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Calculate both means by hand. Point out that group size should be reported because a mean from one row is less stable than a mean from many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uses grouping to turn detailed rows into interpretable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https://pandas.pydata.org/docs/user_guide/groupby.html</a:t>
            </a:r>
          </a:p>
          <a:p xmlns:a="http://schemas.openxmlformats.org/drawingml/2006/main">
            <a:r>
              <a:t>- https://pandas.pydata.org/docs/reference/groupby.html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reliable analysis should make each transformation inspectable: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load the source;</a:t>
            </a:r>
          </a:p>
          <a:p xmlns:a="http://schemas.openxmlformats.org/drawingml/2006/main">
            <a:r>
              <a:t>2. inspect shape, columns, types, and missingness;</a:t>
            </a:r>
          </a:p>
          <a:p xmlns:a="http://schemas.openxmlformats.org/drawingml/2006/main">
            <a:r>
              <a:t>3. state the row filter;</a:t>
            </a:r>
          </a:p>
          <a:p xmlns:a="http://schemas.openxmlformats.org/drawingml/2006/main">
            <a:r>
              <a:t>4. group at the intended level;</a:t>
            </a:r>
          </a:p>
          <a:p xmlns:a="http://schemas.openxmlformats.org/drawingml/2006/main">
            <a:r>
              <a:t>5. calculate a named summary;</a:t>
            </a:r>
          </a:p>
          <a:p xmlns:a="http://schemas.openxmlformats.org/drawingml/2006/main">
            <a:r>
              <a:t>6. verify at least one result by hand.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chains are useful only when learners can explain what each method receives and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Question: “What is the average valid score per course?”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Valid means score is present and between `0` and `100`.</a:t>
            </a:r>
          </a:p>
          <a:p xmlns:a="http://schemas.openxmlformats.org/drawingml/2006/main">
            <a:r>
              <a:t>- Group key is `course`.</a:t>
            </a:r>
          </a:p>
          <a:p xmlns:a="http://schemas.openxmlformats.org/drawingml/2006/main">
            <a:r>
              <a:t>- Summary is mean score plus number of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six-stage pipeline with a small table snapshot after the filter and after the aggregation.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learners to label every line as input, selection, grouping, or aggregation.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is the reasoning pattern learners should apply to the Pandas section of the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reading shape `(3, 4)` as four rows and three columns;</a:t>
            </a:r>
          </a:p>
          <a:p xmlns:a="http://schemas.openxmlformats.org/drawingml/2006/main">
            <a:r>
              <a:t>- confusing a column label with a row position;</a:t>
            </a:r>
          </a:p>
          <a:p xmlns:a="http://schemas.openxmlformats.org/drawingml/2006/main">
            <a:r>
              <a:t>- filtering with a mask of the wrong length;</a:t>
            </a:r>
          </a:p>
          <a:p xmlns:a="http://schemas.openxmlformats.org/drawingml/2006/main">
            <a:r>
              <a:t>- calculating along the wrong axis;</a:t>
            </a:r>
          </a:p>
          <a:p xmlns:a="http://schemas.openxmlformats.org/drawingml/2006/main">
            <a:r>
              <a:t>- treating missing values as zero without justification;</a:t>
            </a:r>
          </a:p>
          <a:p xmlns:a="http://schemas.openxmlformats.org/drawingml/2006/main">
            <a:r>
              <a:t>- grouping before checking the row grain;</a:t>
            </a:r>
          </a:p>
          <a:p xmlns:a="http://schemas.openxmlformats.org/drawingml/2006/main">
            <a:r>
              <a:t>- reporting a mean without reporting the group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code can run successfully and still answer the wrong question. Verification requires checking shapes, sample rows, counts, and one result by hand.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a `(2, 3)` array, `scores.mean(axis=0)` produces one mean for each of `3` columns. `scores.mean(axis=1)` produces one mean for each of `2`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Two arrows traverse the same matrix: axis 0 moves down rows and axis 1 moves across columns, producing outputs of different lengths.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Use prediction before execution. The goal is to reason from shapes rather than memorize axis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notebook-readiness check is to predict output shapes and row counts before running each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- https://pandas.pydata.org/docs/user_guide/indexing.html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small CSV containing students, courses, scores, and attendance.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 these steps: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State what one row represents.</a:t>
            </a:r>
          </a:p>
          <a:p xmlns:a="http://schemas.openxmlformats.org/drawingml/2006/main">
            <a:r>
              <a:t>2. Report shape, columns, and data types.</a:t>
            </a:r>
          </a:p>
          <a:p xmlns:a="http://schemas.openxmlformats.org/drawingml/2006/main">
            <a:r>
              <a:t>3. Count missing values.</a:t>
            </a:r>
          </a:p>
          <a:p xmlns:a="http://schemas.openxmlformats.org/drawingml/2006/main">
            <a:r>
              <a:t>4. Keep scores from `0` to `100`.</a:t>
            </a:r>
          </a:p>
          <a:p xmlns:a="http://schemas.openxmlformats.org/drawingml/2006/main">
            <a:r>
              <a:t>5. Calculate count and mean score per course.</a:t>
            </a:r>
          </a:p>
          <a:p xmlns:a="http://schemas.openxmlformats.org/drawingml/2006/main">
            <a:r>
              <a:t>6. Verify one group mean by hand.</a:t>
            </a:r>
          </a:p>
          <a:p xmlns:a="http://schemas.openxmlformats.org/drawingml/2006/main">
            <a:r>
              <a:t>7. Explain one limitation of the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 are ready for Week 4 when you can explain every row-selection and aggregation step without relying only on the final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Python scores `72` and `84`, the independent check is: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`(72 + 84) / 2 = 78`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DataFrame result should also be `78.0`.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checklist connects “row grain” to “inspect,” “filter,” “group,” “verify,” and “explain.”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predictions before execution and short explanations after each output. Do not accept a notebook containing only code and final 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Continue into the NumPy and Pandas sections of `01.python-essentials-for-ai.ipynb`.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https://pandas.pydata.org/docs/getting_started/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5858afff64f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098a748aa04c68" /><Relationship Type="http://schemas.openxmlformats.org/officeDocument/2006/relationships/slideLayout" Target="/ppt/slideLayouts/slideLayout1.xml" Id="R37e7c4e6f43246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7c4e6f43246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c00c81e0e498e" /><Relationship Type="http://schemas.openxmlformats.org/officeDocument/2006/relationships/image" Target="/ppt/media/image.png" Id="Rab4725837d1c4239" /><Relationship Type="http://schemas.openxmlformats.org/officeDocument/2006/relationships/image" Target="/ppt/media/image2.png" Id="R56b9b3ad52f24c2d" /><Relationship Type="http://schemas.openxmlformats.org/officeDocument/2006/relationships/notesSlide" Target="/ppt/notesSlides/notesSlide1.xml" Id="Rd547c59e082f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4647fdeff4966" /><Relationship Type="http://schemas.openxmlformats.org/officeDocument/2006/relationships/notesSlide" Target="/ppt/notesSlides/notesSlide2.xml" Id="R418b9253b41c4e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18bfdbbcb46c8" /><Relationship Type="http://schemas.openxmlformats.org/officeDocument/2006/relationships/notesSlide" Target="/ppt/notesSlides/notesSlide3.xml" Id="R7fd43414bdae49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9f046a4a54a0c" /><Relationship Type="http://schemas.openxmlformats.org/officeDocument/2006/relationships/notesSlide" Target="/ppt/notesSlides/notesSlide4.xml" Id="Rb25e23fc5a2b40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abfb8b7f44095" /><Relationship Type="http://schemas.openxmlformats.org/officeDocument/2006/relationships/notesSlide" Target="/ppt/notesSlides/notesSlide5.xml" Id="R7ecfc47d130942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6b59afd43413d" /><Relationship Type="http://schemas.openxmlformats.org/officeDocument/2006/relationships/notesSlide" Target="/ppt/notesSlides/notesSlide6.xml" Id="Rb670fc1f1aaf45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d1335582a48e5" /><Relationship Type="http://schemas.openxmlformats.org/officeDocument/2006/relationships/notesSlide" Target="/ppt/notesSlides/notesSlide7.xml" Id="R489843364b994b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50d07c284bc8" /><Relationship Type="http://schemas.openxmlformats.org/officeDocument/2006/relationships/notesSlide" Target="/ppt/notesSlides/notesSlide8.xml" Id="R204c3c4d43be45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7359b40eb41be" /><Relationship Type="http://schemas.openxmlformats.org/officeDocument/2006/relationships/notesSlide" Target="/ppt/notesSlides/notesSlide9.xml" Id="R038a082ea04c43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b2d38e5754827" /><Relationship Type="http://schemas.openxmlformats.org/officeDocument/2006/relationships/notesSlide" Target="/ppt/notesSlides/notesSlide10.xml" Id="Rd659ba8bef3e45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de1368dc74bb2" /><Relationship Type="http://schemas.openxmlformats.org/officeDocument/2006/relationships/notesSlide" Target="/ppt/notesSlides/notesSlide11.xml" Id="Rd2d0e48ec8d740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5036fdabb4d3f" /><Relationship Type="http://schemas.openxmlformats.org/officeDocument/2006/relationships/notesSlide" Target="/ppt/notesSlides/notesSlide12.xml" Id="R2d51c1ce7aae4c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8F975-45C6-4056-8944-5849FE3B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725837d1c4239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1C175-A933-4464-B1CC-3F540703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DB9BA-8103-45CA-8979-46284A65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03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C2E96-4A74-4FA3-9D8C-9A4C9735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Dataset Is a Collection of 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F41BD-D6C3-42EB-8C04-CCA367B1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7910B-FBAF-4C42-9B42-05C9DD56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A dataset is an organized collection of observations.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9b3ad52f24c2d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06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36D54-7BF6-44A2-981E-041AC28A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6559D-9198-4DB9-87AE-8FF44EB3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67F1B-4742-4EC4-A3F7-1A8D7965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B51C-1560-4F0C-8062-7A511D57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3D2B8-D02E-49C3-A8C6-2A177582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NumPy Arrays Store Shaped Numerical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82F83-16EC-47B8-8CBC-989241DC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DDEE1-1658-46F0-866F-361D7955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244"/>
                </a:solidFill>
              </a:defRPr>
            </a:pPr>
            <a:r>
              <a:rPr sz="1425">
                <a:solidFill>
                  <a:srgbClr val="243244"/>
                </a:solidFill>
              </a:rPr>
              <a:t>A NumPy array is a collection of values arranged along one or more axes. Array values normally share one data type. For a two-dimensional array, shape (2, 3) means 2 rows and 3 columns. Its size is 2 x 3 = 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85A08-3E6A-4647-8FA0-0838EBB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09AC4-CD7E-4B6F-B0C1-CB67539B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ndim: number of axes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26479-C702-4CF2-A255-C843EAAD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DED4C-7AD8-4EAE-BF56-88ABA07B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shape: length of each axis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1BEE7-97C4-48EF-A0BE-075B0A96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92997-2161-42B4-B4DC-4E960993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size: total number of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FEF0C-FF2D-48F4-A514-BEBB0D4A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841BB-508F-442C-84F1-5318D84E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dtype: type used to store the values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3CE60-2B41-4843-99C2-B1421DD8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9E647-1714-4CF8-80D8-81B7071A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Axes: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9B946-4284-4474-AD71-65287B3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1B617-D9D1-46B8-ABFA-1F95F88A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Shape: (2, 3)</a:t>
            </a:r>
          </a:p>
        </p:txBody>
      </p:sp>
    </p:spTree>
    <p:extLst>
      <p:ext uri="{BB962C8B-B14F-4D97-AF65-F5344CB8AC3E}">
        <p14:creationId xmlns:p14="http://schemas.microsoft.com/office/powerpoint/2010/main" val="512757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8428F-02EC-4212-8109-CA0FB555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66304-22E8-4517-AAEA-390025C8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F73B2-B8C1-4108-A38E-78ECAD0A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7FE7B-AF70-4771-A055-AB01C4D3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97FFD-5528-4E14-A77E-DE1EDA21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Indexing Selects Values from an Array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0C4B3-4206-4C49-AACF-0B9E3823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0AFE6-484C-461E-A51A-321254C3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36692-BC73-428D-A0F1-AEDF6415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E739F-CAD0-4479-89ED-0D15C53E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D7343-0775-4F28-BCDF-2AD99AA8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C630E-8746-4152-8C96-94D56F17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print(scores[1, 2])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print(scores[:, 1])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A891C-A958-4ACE-B6D8-44A9A7C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7DCAC-35EF-45C5-93A3-AA5AD8BB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902A1-ACD8-438F-958B-DCC9519D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88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[80 79]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1D8D8-1015-44BC-B7F5-C3D68C13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62A22-9A42-4A0E-8A67-632FAF02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scores[1, 2] gives 88. scores[:, 1] gives [80, 79].</a:t>
            </a:r>
          </a:p>
        </p:txBody>
      </p:sp>
    </p:spTree>
    <p:extLst>
      <p:ext uri="{BB962C8B-B14F-4D97-AF65-F5344CB8AC3E}">
        <p14:creationId xmlns:p14="http://schemas.microsoft.com/office/powerpoint/2010/main" val="942557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33841-2BD0-46E5-8BC4-7574E1A0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FA1A7-3F1A-4FD9-BA68-8EAC727C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8861E-E650-41F4-9B50-C5198307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88910-84AC-4795-939F-E7D7C21D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81DE9-A7AF-467E-9888-05E9242A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Vectorized Operations Work on Whole Arrays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24943-FFFD-4541-8CA4-82CCE535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D4274-77DE-45CC-8223-8A6FF7E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 vectorized operation applies one operation to an entire array.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A8FE7-B0ED-4E93-A603-1807328B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D481B-EAD7-4179-821E-82FF323A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CF4F7-EBCE-47F0-805B-6D14376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4C610-8050-4920-91B7-96B12D6E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adds 5 to every score.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3A8FC-BBEB-44F0-AF40-CA1751F1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B257E-9EA0-4064-B0F9-E38E38E7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C003D-F7C9-4B9B-9092-A5A81FA1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2B877-B76F-47BD-8173-611F3B41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NumPy performs the repeated numerical work in optimized array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7B00E-5BE1-48BC-BC94-D66B30C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12ECA-7079-4203-B81D-B9210969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03EA6-A801-4841-A058-808C6F40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63B3A-5624-4D2A-9D2F-70D82D2B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Broadcasting is NumPy's rule for combining arrays with compatible shapes.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A99CD-2B12-4647-B64D-2970B61D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FC621-1946-483E-8CA1-A6FC57E6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C9FEC-B3CA-4614-B7FF-1602BCD8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Original: [72, 84, 91] Adjustment: + 5 Result: [77, 89, 96] The same addition is applied to all three positions.</a:t>
            </a:r>
          </a:p>
        </p:txBody>
      </p:sp>
    </p:spTree>
    <p:extLst>
      <p:ext uri="{BB962C8B-B14F-4D97-AF65-F5344CB8AC3E}">
        <p14:creationId xmlns:p14="http://schemas.microsoft.com/office/powerpoint/2010/main" val="483226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B436E-D63D-4D63-8F29-D55B44D1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07ADE-BE58-4D4C-B375-0D10CE25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74B91-FAA2-48A6-A65E-1392DF4E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2C30D-8E9C-46BB-9989-C1250CE6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8C507-FB72-4EFF-8C74-F9D852A5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Series and DataFrames Add Labels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E7D61-5521-4A6B-8F6C-53A13B11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3172A-398B-44B6-B722-3A7F0B8E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2EB"/>
                </a:solidFill>
              </a:defRPr>
            </a:pPr>
            <a:r>
              <a:rPr sz="1575">
                <a:solidFill>
                  <a:srgbClr val="D6E2EB"/>
                </a:solidFill>
              </a:rPr>
              <a:t>A Pandas Series is a one-dimensional labelled collection. A DataFrame is a two-dimensional labelled table. Labels make data easier to interpret: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C1859-19DA-4DAA-8C4A-A5AD1A28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85D7C-1EAC-488F-96F6-07268091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row labels form the index;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C0DB4-7E89-4E08-BC68-806752ED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6E2DC-F48C-46AB-A45F-A4A2AA7A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column labels identify variables;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7A1D1-1939-40DE-BC0C-93375351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75020-130C-4D3C-8E9A-15A23643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each column has a data type;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C5D5B-7460-4568-824B-EDF0D641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D33CC-58A5-46C0-B2DA-329B578F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different columns may use different types.</a:t>
            </a:r>
          </a:p>
        </p:txBody>
      </p:sp>
    </p:spTree>
    <p:extLst>
      <p:ext uri="{BB962C8B-B14F-4D97-AF65-F5344CB8AC3E}">
        <p14:creationId xmlns:p14="http://schemas.microsoft.com/office/powerpoint/2010/main" val="1438053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E5B7F-BAE7-486C-9A64-0B4FE8A4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00229-3883-4FB7-B60B-ACCF16C9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6963B-E73A-4D82-8698-B8A88FD5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218F4-5759-4DE0-B55C-17A03B5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2D8DC-FD21-4AFF-B04C-F9A95DAD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Load Data, Then Inspect Before Transforming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F22C6-1DBB-4B89-8CAB-8BA78C36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0EAAD-6591-48EC-8C6D-DCDC16F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F6D00-6B03-46B2-BAB5-1B3F574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CCECC-1117-4020-ABBC-8CBC6AB1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D57F5-3CD9-46A0-B70D-A3111444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544CD-138E-4AFA-87F4-2F26BF19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df = pd.read_csv("results.csv")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print(df.shape)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print(df.dtypes)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print(df.isna().sum())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0456D-345F-443D-9CD0-F8E69D8F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7EDBE-8BB5-4810-A6FB-D67900F4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F7F89-ABAC-4AAE-A88A-6FC6A68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(120, 4)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student       object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course        object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score        float64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attendance     int64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08418-0958-4A9D-9AB4-AF518AF0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11AE9-6E16-4FA0-8BED-1AF59151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If df.shape is (120, 4), the table has 120 rows and 4 columns. This does not prove that all rows are valid; it only states the current shape.</a:t>
            </a:r>
          </a:p>
        </p:txBody>
      </p:sp>
    </p:spTree>
    <p:extLst>
      <p:ext uri="{BB962C8B-B14F-4D97-AF65-F5344CB8AC3E}">
        <p14:creationId xmlns:p14="http://schemas.microsoft.com/office/powerpoint/2010/main" val="2028877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1A45B-CD5C-4909-9B1D-0DE94B67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23832-DE78-4279-A82A-72CF602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B41DB-853F-4ADD-A20C-4E18AD41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B3E56-2531-43CC-96B4-482CCF08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B90F2-D567-4ED7-8892-8146C94F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Select, Filter, and Sort Rows Deliberately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C97D5-50F4-4956-B816-BA9B1BCE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0FE74-91F8-49B0-809C-19059EBB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2EB"/>
                </a:solidFill>
              </a:defRPr>
            </a:pPr>
            <a:r>
              <a:rPr sz="1275">
                <a:solidFill>
                  <a:srgbClr val="D6E2EB"/>
                </a:solidFill>
              </a:rPr>
              <a:t>Selection chooses columns or rows. Filtering keeps rows that satisfy a condition. Sorting changes row order without changing the values. The comparison creates a boolean mask: one True or False value per row. Pandas keeps rows where the mask is True. Use .loc[rows, columns] when selecting by labels: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8D873-DF67-406E-AA78-F194487D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E6050-95B4-44DE-B7CF-26EEEB0C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Selection chooses columns or rows.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BBD4E-A399-4B40-9B61-5D3D9869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2AAA2-2599-4189-AC8D-05271D2E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Filtering keeps rows that satisfy a condition.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28AC8-A716-4F59-8C38-C87C4AC4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4B695-47A0-479C-B60A-40F89FE0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Sorting changes row order without changing the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96C94-D9E8-4B21-A5D8-4744B584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E5CB2-FE05-4711-B025-BC5E3838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comparison creates a boolean mask: one True or False value per row.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0F22C-85EB-4890-AB28-4263FDA4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C1556-BA75-49A7-8310-A0E92EE1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Pandas keeps rows where the mask is True.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69C8A-B92D-48E7-9116-626A14E3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A047D-5BF7-48C0-BF2E-64268670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Use .loc[rows, columns] when selecting by labels:</a:t>
            </a:r>
          </a:p>
        </p:txBody>
      </p:sp>
    </p:spTree>
    <p:extLst>
      <p:ext uri="{BB962C8B-B14F-4D97-AF65-F5344CB8AC3E}">
        <p14:creationId xmlns:p14="http://schemas.microsoft.com/office/powerpoint/2010/main" val="1505550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95994-3420-4B0F-BBFD-046F476B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31AD4-743E-4427-BBE8-2222E7EF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9E145-6893-4FEE-890F-1F7D8200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1C09D-040D-4054-B16E-A8E89F49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D1384-78F2-4E25-AA5F-C21F101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Missing Values Need an Explicit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D2D0D-969C-4630-951F-2476C54C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8A882-FF0B-4FE3-AB13-63A88B94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student did not take the test;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3C84F-0966-48C0-95C3-5346F0A7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08862-E849-4A30-AAF1-EF2A1994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86937-805D-46B2-90DD-8432C22F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DDC46-DA3F-447D-ACBD-0106192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score was not recorded;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25F8E-BF7E-43FC-BCB7-4F39BA0B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9A782-0155-41B8-8ED7-777AC121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3F974-DFDA-49C1-AFBB-112D640C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9E99D-5DD9-4622-B09F-83DAEF1B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file was parsed incorrectly; 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D2E84-28E0-46D5-9388-30809EDF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86CB9-AEEA-47BE-8C40-1C99AA35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F285D-3B99-4093-BFCA-53D9CC7E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8F0D5-B15D-4A12-AB32-99A8AB8A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value was removed by a rule.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8BA48-AEB5-4F11-8776-C8628569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F7B53-7FAD-4D50-A7BC-F14191B7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FACDB-3005-4575-9A02-0B309320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Scores: [72, missing, 84] The policy changes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10833998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A0FD9-E899-4862-8021-62501A71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EF103-2CF8-4059-B443-86918F32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F080-0D68-42F9-8AB6-FD839974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B369D-0C6C-4A75-A207-3BA58691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C5F36-A1CA-423D-A481-1F6342C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Grouping Answers Questions About Categories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50AC4-35CD-46BA-B07A-BDB4DEEE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E0D3F-CEE1-4154-9D97-F0243196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FCC13-F8DD-48E6-B92B-F753E701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7EBCB-A3E8-4384-967E-0E799BD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91D35-58D3-465A-B3B1-F423D527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0CA5E-7A3B-44CC-B449-BB471153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means = df.groupby("course")["score"].mean()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print(means)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BF315-FD6D-452F-843B-9B828ED9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9B8AF-4707-48D0-8763-189F8027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4DDFB-F24A-4688-A87D-A31AE6E1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course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AI        91.0</a:t>
            </a:r>
          </a:p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Python    78.0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9FE18-21AE-47BA-BE77-AED48CAF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81348-1476-4C48-8F78-E6348A06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Python mean: (72 + 84) / 2 = 78 AI mean: 91 / 1 = 91</a:t>
            </a:r>
          </a:p>
        </p:txBody>
      </p:sp>
    </p:spTree>
    <p:extLst>
      <p:ext uri="{BB962C8B-B14F-4D97-AF65-F5344CB8AC3E}">
        <p14:creationId xmlns:p14="http://schemas.microsoft.com/office/powerpoint/2010/main" val="1704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8CE36-B377-43C2-985C-F7BB5CE4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D80D2-8D0E-4CC9-96E4-E48128CB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9AF50-52A6-4CC6-A215-7F7B63ED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C82F1-E92D-4E91-807B-2A47EBF2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FECB6-BE8A-4A5B-8C0F-AB9559C2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 Complete Table Analysis Has Visible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6FE15-3B6D-4CFA-9873-13FF6DDD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54987-ABE8-4928-9D59-EFB7397C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2681E-9D9F-4559-A0BD-3FF3F61E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load the source;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AE059-E6D2-49A9-BA7A-766D7BEF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AC453-89D5-4A91-B0B8-F035167C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AFA97-2886-4007-98D1-B00E42B9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DC130-036C-4FD3-AAD6-5E9AC45A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inspect shape, columns, types, and missingness;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BA063-E421-4A76-AD8F-ED06924E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8D503-40B0-4559-A7AE-E1E84896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1B69F-F4BC-4986-9696-DFEA9135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4F8F0-CF7A-46E8-8C1E-B740BC7E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state the row filter;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C1ABA-59E0-40CB-84C8-4B57FA08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778A6-5C65-43EC-ABBF-A73E72C6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3AA90-D2BA-46E7-BCF4-C4FDB5DB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2C5B0-76C0-4508-BB17-7D6D7F0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group at the intended level;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EBCF8-D617-40A5-88DF-5FEBC645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0572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33FCD-B7C5-4C85-A7AE-55143412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B30BE-3F9E-452C-AE43-EC64F4BE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488DD-3DF8-43EC-ADB3-66CEBEC4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1A9CD-0F2A-48A2-A4B4-62E46410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EC643-FCD8-4673-A80E-3613F108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Mistakes Change the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A8E4B-E5DC-4F21-A67F-7A9AB628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2954F-DF60-49BE-98E4-823D40C7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A044E-030D-4AC2-A2AB-29087961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reading shape (3, 4) as four rows and three columns;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D7624-7B4F-4DE4-9105-13B5E1F2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FEEEC-4E2F-40CC-A2EA-38D8DE47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201BD-62ED-4FAE-87BE-A34CD1BF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confusing a column label with a row position;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296B9-E39F-4336-85B9-4969DBD4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C23A8-E65E-4B6C-8693-DC24541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1C01D-93F0-45CC-A5CD-775F5270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01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filtering with a mask of the wrong length;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60470-9027-40F6-A8F8-ADD6E4BB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53302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74824-A4E8-4EFF-B251-B583254B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F8F24-FEA0-42D7-B33A-EC3EEBC4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 Dataset Is a Collection of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5D7AF-3DBE-4631-8620-79293053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E0359-FD65-4099-A024-111DF22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1D08D-6B6C-445F-A49A-C85F1C68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Guided Lab: Explain a Small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CE7E4-948C-4111-8C89-6678FC5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6FD14-94F4-453F-8ED5-1D98BC77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8F3A1-4E1E-4973-90D2-01E1639F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State what one row represents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A705E-A0D9-44D5-A7CB-7E038458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E88C7-482A-42AC-A374-98776310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7E97B-1618-4E7F-8999-6CFE7431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Report shape, columns, and data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E65F3-07AA-41B4-A0CD-998ECF52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0382E-0264-4D82-B251-715FB012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7008B-2B72-4141-9E2F-67D02F3E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Count missing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FAB6F-E1DF-46E8-9D57-8AC1EC14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6904B-AAE7-46A4-8166-BE0F4C2E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7EF59-A6E8-48D6-B5EB-879B36A9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Keep scores from 0 to 100</a:t>
            </a:r>
          </a:p>
        </p:txBody>
      </p:sp>
    </p:spTree>
    <p:extLst>
      <p:ext uri="{BB962C8B-B14F-4D97-AF65-F5344CB8AC3E}">
        <p14:creationId xmlns:p14="http://schemas.microsoft.com/office/powerpoint/2010/main" val="1362105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2026-07-28T19:26:44.7810000Z</dcterms:created>
  <dcterms:modified xsi:type="dcterms:W3CDTF">2026-07-28T19:26:44.7810000Z</dcterms:modified>
</coreProperties>
</file>