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1de3160f5af45d8" /><Relationship Type="http://schemas.openxmlformats.org/officeDocument/2006/relationships/extended-properties" Target="/docProps/app.xml" Id="Ra8c9468ec2cf4a9b" /><Relationship Type="http://schemas.openxmlformats.org/officeDocument/2006/relationships/officeDocument" Target="/ppt/presentation.xml" Id="R0c12b9639f194a0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b1968781a6546ae"/>
  </p:sldMasterIdLst>
  <p:notesMasterIdLst>
    <p:notesMasterId xmlns:r="http://schemas.openxmlformats.org/officeDocument/2006/relationships" r:id="Re2c22ca444104456"/>
  </p:notesMasterIdLst>
  <p:sldIdLst>
    <p:sldId xmlns:r="http://schemas.openxmlformats.org/officeDocument/2006/relationships" id="256" r:id="R36c3b232f70940ea"/>
    <p:sldId xmlns:r="http://schemas.openxmlformats.org/officeDocument/2006/relationships" id="257" r:id="R8cfd9e0c1633429e"/>
    <p:sldId xmlns:r="http://schemas.openxmlformats.org/officeDocument/2006/relationships" id="258" r:id="R1d5b1fb8db134c24"/>
    <p:sldId xmlns:r="http://schemas.openxmlformats.org/officeDocument/2006/relationships" id="259" r:id="R51577c2a15e64ae2"/>
    <p:sldId xmlns:r="http://schemas.openxmlformats.org/officeDocument/2006/relationships" id="260" r:id="R4d6f9a66df0c41f7"/>
    <p:sldId xmlns:r="http://schemas.openxmlformats.org/officeDocument/2006/relationships" id="261" r:id="R1be8a7c7702e4245"/>
    <p:sldId xmlns:r="http://schemas.openxmlformats.org/officeDocument/2006/relationships" id="262" r:id="Re17b7e86b2384e5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d61fbe1582b4e0c" /><Relationship Type="http://schemas.openxmlformats.org/officeDocument/2006/relationships/slideMaster" Target="/ppt/slideMasters/slideMaster1.xml" Id="Rbb1968781a6546ae" /><Relationship Type="http://schemas.openxmlformats.org/officeDocument/2006/relationships/notesMaster" Target="/ppt/notesMasters/notesMaster1.xml" Id="Re2c22ca444104456" /><Relationship Type="http://schemas.openxmlformats.org/officeDocument/2006/relationships/presProps" Target="/ppt/presProps.xml" Id="Rb6da1982e5284b1b" /><Relationship Type="http://schemas.openxmlformats.org/officeDocument/2006/relationships/tableStyles" Target="/ppt/tableStyles.xml" Id="R30811ed8b4d04507" /><Relationship Type="http://schemas.openxmlformats.org/officeDocument/2006/relationships/slide" Target="/ppt/slides/slide1.xml" Id="R36c3b232f70940ea" /><Relationship Type="http://schemas.openxmlformats.org/officeDocument/2006/relationships/slide" Target="/ppt/slides/slide2.xml" Id="R8cfd9e0c1633429e" /><Relationship Type="http://schemas.openxmlformats.org/officeDocument/2006/relationships/slide" Target="/ppt/slides/slide3.xml" Id="R1d5b1fb8db134c24" /><Relationship Type="http://schemas.openxmlformats.org/officeDocument/2006/relationships/slide" Target="/ppt/slides/slide4.xml" Id="R51577c2a15e64ae2" /><Relationship Type="http://schemas.openxmlformats.org/officeDocument/2006/relationships/slide" Target="/ppt/slides/slide5.xml" Id="R4d6f9a66df0c41f7" /><Relationship Type="http://schemas.openxmlformats.org/officeDocument/2006/relationships/slide" Target="/ppt/slides/slide6.xml" Id="R1be8a7c7702e4245" /><Relationship Type="http://schemas.openxmlformats.org/officeDocument/2006/relationships/slide" Target="/ppt/slides/slide7.xml" Id="Re17b7e86b2384e5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03a4b09c348444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2bc518a5415401b" /><Relationship Type="http://schemas.openxmlformats.org/officeDocument/2006/relationships/notesMaster" Target="/ppt/notesMasters/notesMaster1.xml" Id="Ra5ea6c7b8cdb495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8b9e5b73f8d46c6" /><Relationship Type="http://schemas.openxmlformats.org/officeDocument/2006/relationships/notesMaster" Target="/ppt/notesMasters/notesMaster1.xml" Id="Ra82ef7a165ac4f4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737bea20a1d4816" /><Relationship Type="http://schemas.openxmlformats.org/officeDocument/2006/relationships/notesMaster" Target="/ppt/notesMasters/notesMaster1.xml" Id="R60065042010c46a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7a1c612bd594b4e" /><Relationship Type="http://schemas.openxmlformats.org/officeDocument/2006/relationships/notesMaster" Target="/ppt/notesMasters/notesMaster1.xml" Id="R193ffcea91c7498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d5181529676499d" /><Relationship Type="http://schemas.openxmlformats.org/officeDocument/2006/relationships/notesMaster" Target="/ppt/notesMasters/notesMaster1.xml" Id="R48d38a35b0904f4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ca0cc9546af44b5" /><Relationship Type="http://schemas.openxmlformats.org/officeDocument/2006/relationships/notesMaster" Target="/ppt/notesMasters/notesMaster1.xml" Id="R493161177835426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980ac5f87954304" /><Relationship Type="http://schemas.openxmlformats.org/officeDocument/2006/relationships/notesMaster" Target="/ppt/notesMasters/notesMaster1.xml" Id="R134158ed9f6b44b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pipeline makes training and inference execute the same transformations. Fitting stays inside training data, and the serialized artifact is tested with a realistic request.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 Academy curriculum manifest: Week 4, session 2: Reliable scikit-learn Pipelines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By the end of this session, learners should be able to Fit preprocessing only on training data. Compose column transforms and estimators. Persist and reload a complete inference artifact.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 Academy curriculum manifest: Learning outcomes for Reliable scikit-learn Pipelines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these four concepts as a system rather than isolated vocabulary: fit and transform, ColumnTransformer, Pipeline, serialization.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 Academy curriculum manifest: Core concepts for Reliable scikit-learn Pipelines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Apply the session content through a four-stage reasoning loop: define the question, transform deliberately, validate assumptions, and communicate the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 Academy curriculum manifest: DS Academy teaching framework applied to Reliable scikit-learn Pipelines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Guide learners through the lab without completing the reasoning for them. Ask for an explicit frame, a minimal implementation, boundary tests, and an evidence note.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 Academy curriculum manifest: Guided lab for Reliable scikit-learn Pipelines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deliverable is A fitted pipeline, inference test, and feature contract. Use the weekly assessment rubric as a quality gate, not as an after-the-fact scoring checklist.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 Academy curriculum manifest: Portfolio deliverable and assessment rubric for week 4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pipeline makes training and inference execute the same transformations. Fitting stays inside training data, and the serialized artifact is tested with a realistic request.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 Academy curriculum manifest: Session summary for Reliable scikit-learn Pipelines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e5edd61784480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a81ffaf32b240b4" /><Relationship Type="http://schemas.openxmlformats.org/officeDocument/2006/relationships/slideLayout" Target="/ppt/slideLayouts/slideLayout1.xml" Id="R591bf45113ba4c1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91bf45113ba4c1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1cd80c06dc43e3" /><Relationship Type="http://schemas.openxmlformats.org/officeDocument/2006/relationships/image" Target="/ppt/media/image.png" Id="R2944d3fdf4a64a14" /><Relationship Type="http://schemas.openxmlformats.org/officeDocument/2006/relationships/image" Target="/ppt/media/image2.png" Id="Rf75f0218137b4c06" /><Relationship Type="http://schemas.openxmlformats.org/officeDocument/2006/relationships/notesSlide" Target="/ppt/notesSlides/notesSlide1.xml" Id="R36c8b41fbd7b421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6217df1a8b43b9" /><Relationship Type="http://schemas.openxmlformats.org/officeDocument/2006/relationships/notesSlide" Target="/ppt/notesSlides/notesSlide2.xml" Id="R1d92c1bdf72946c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aaa22bc86f4b7e" /><Relationship Type="http://schemas.openxmlformats.org/officeDocument/2006/relationships/notesSlide" Target="/ppt/notesSlides/notesSlide3.xml" Id="R6feede9e289b4d9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c7e6917222416b" /><Relationship Type="http://schemas.openxmlformats.org/officeDocument/2006/relationships/notesSlide" Target="/ppt/notesSlides/notesSlide4.xml" Id="R213ab57e27c94ce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17c312cab54fda" /><Relationship Type="http://schemas.openxmlformats.org/officeDocument/2006/relationships/notesSlide" Target="/ppt/notesSlides/notesSlide5.xml" Id="Rd1c0a821b5aa4b6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452b71d3544e3b" /><Relationship Type="http://schemas.openxmlformats.org/officeDocument/2006/relationships/notesSlide" Target="/ppt/notesSlides/notesSlide6.xml" Id="R441ca8037f7144a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768bec799d4ca7" /><Relationship Type="http://schemas.openxmlformats.org/officeDocument/2006/relationships/notesSlide" Target="/ppt/notesSlides/notesSlide7.xml" Id="R85428ba5d57e482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E3FF6F-61C5-4AB2-8B39-405CCD2E4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ADC17C-1EC7-4867-9DAB-2FED02958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619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44d3fdf4a64a14"/>
          <a:srcRect xmlns:a="http://schemas.openxmlformats.org/drawingml/2006/main" l="23736" t="0" r="2373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91200" y="0"/>
            <a:ext cx="6400800" cy="68580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CC67D5-0831-413E-AFED-3E93EBC89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76BDB"/>
                </a:solidFill>
              </a:defRPr>
            </a:pPr>
            <a:r>
              <a:rPr sz="1050" b="1">
                <a:solidFill>
                  <a:srgbClr val="176BDB"/>
                </a:solidFill>
              </a:rPr>
              <a:t>WEEK 04  ·  SESSION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6424C2-58D5-45FE-AA03-DC739ADB7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85900"/>
            <a:ext cx="45148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172033"/>
                </a:solidFill>
              </a:defRPr>
            </a:pPr>
            <a:r>
              <a:rPr sz="3675" b="1">
                <a:solidFill>
                  <a:srgbClr val="172033"/>
                </a:solidFill>
              </a:rPr>
              <a:t>Reliable scikit-learn Pipelines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F52D51-B4CF-4BAA-9C49-50BD431FE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704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7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40C833-9B12-4F19-964F-66591DC7B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86200"/>
            <a:ext cx="44386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8657A"/>
                </a:solidFill>
              </a:defRPr>
            </a:pPr>
            <a:r>
              <a:rPr sz="1575">
                <a:solidFill>
                  <a:srgbClr val="58657A"/>
                </a:solidFill>
              </a:rPr>
              <a:t>Encode domain knowledge without leaking information across model boundaries.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5f0218137b4c06"/>
          <a:stretch xmlns:a="http://schemas.openxmlformats.org/drawingml/2006/main"/>
        </p:blipFill>
        <p:spPr>
          <a:xfrm xmlns:a="http://schemas.openxmlformats.org/drawingml/2006/main">
            <a:off x="666750" y="5810250"/>
            <a:ext cx="1714500" cy="571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39243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D169A4-3C10-417E-BCD7-E05A242DD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D08D12-9A3F-45DB-B703-5DEEB86B9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WEEK 04  /  SESSION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A22C99-6ECA-4288-BDA7-F610A3329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Learning outcomes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12C683-7B0F-41F2-8A66-C6BCA575F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2385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8657A"/>
                </a:solidFill>
              </a:defRPr>
            </a:pPr>
            <a:r>
              <a:rPr sz="900" b="1">
                <a:solidFill>
                  <a:srgbClr val="58657A"/>
                </a:solidFill>
              </a:rPr>
              <a:t>DS ACADEMY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0D6016-2874-454B-A184-985495541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81100"/>
            <a:ext cx="11220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96F6D4-F421-4246-BA36-CF6E6142C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800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6BDB"/>
                </a:solidFill>
              </a:defRPr>
            </a:pPr>
            <a:r>
              <a:rPr sz="2700" b="1">
                <a:solidFill>
                  <a:srgbClr val="176BDB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7618F7-8FA2-4A9C-BE40-50A2F8E91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180975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2A6D4F-8DAC-4862-93B1-AD32D5911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1533525"/>
            <a:ext cx="809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Fit preprocessing only on training data.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D011F0-048E-4134-9B0D-BDF5B29C8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90850"/>
            <a:ext cx="800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8A7C9"/>
                </a:solidFill>
              </a:defRPr>
            </a:pPr>
            <a:r>
              <a:rPr sz="2700" b="1">
                <a:solidFill>
                  <a:srgbClr val="08A7C9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5EB4BB-D9CF-4EA0-8759-D8F1D632D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323850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A440C1-B67B-420D-9D5E-B64BAF69F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962275"/>
            <a:ext cx="809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Compose column transforms and estimators.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36043B-E17C-4DE5-A342-9F3CAB4D1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19600"/>
            <a:ext cx="800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6BDB"/>
                </a:solidFill>
              </a:defRPr>
            </a:pPr>
            <a:r>
              <a:rPr sz="2700" b="1">
                <a:solidFill>
                  <a:srgbClr val="176BDB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F24F2F-7CB9-44FC-BC6E-48578EBEE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66725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7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09764A-DE24-4F46-A534-0C184D921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391025"/>
            <a:ext cx="809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Persist and reload a complete inference artifact.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0A072C-C0C6-4812-B45F-EEF5AF01F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8657A"/>
                </a:solidFill>
              </a:defRPr>
            </a:pPr>
            <a:r>
              <a:rPr sz="750">
                <a:solidFill>
                  <a:srgbClr val="58657A"/>
                </a:solidFill>
              </a:rPr>
              <a:t>End-to-End Data Science &amp; AI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839FA4-9E14-4C79-80EF-DAEFDA024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76BDB"/>
                </a:solidFill>
              </a:defRPr>
            </a:pPr>
            <a:r>
              <a:rPr sz="750" b="1">
                <a:solidFill>
                  <a:srgbClr val="176BDB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364835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3D8BCC-D0D4-46A8-BC30-DF0D8A7B5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C4DF16-3A1F-4391-908E-197F1A165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WEEK 04  /  SESSION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0925C0-032A-44FA-BDF8-53C55244C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The concept system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0A1F3D-D982-4916-B7F7-909A6280F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2385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8657A"/>
                </a:solidFill>
              </a:defRPr>
            </a:pPr>
            <a:r>
              <a:rPr sz="900" b="1">
                <a:solidFill>
                  <a:srgbClr val="58657A"/>
                </a:solidFill>
              </a:rPr>
              <a:t>DS ACADEMY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A48B10-000F-4ED6-88E7-3C0A16910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81100"/>
            <a:ext cx="11220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A7C30F-A882-4132-B4F6-326840ACF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33550"/>
            <a:ext cx="4762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7E7D00-362D-4670-830B-50DDADBAA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33550"/>
            <a:ext cx="95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B2A0E7-7339-4525-8928-81D7836C9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7167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8657A"/>
                </a:solidFill>
              </a:defRPr>
            </a:pPr>
            <a:r>
              <a:rPr sz="1050" b="1">
                <a:solidFill>
                  <a:srgbClr val="58657A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CC7B98-7438-4213-96A8-F75C75D70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9077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033"/>
                </a:solidFill>
              </a:defRPr>
            </a:pPr>
            <a:r>
              <a:rPr sz="2025" b="1">
                <a:solidFill>
                  <a:srgbClr val="172033"/>
                </a:solidFill>
              </a:rPr>
              <a:t>fit and transform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A53606-85F0-4EE4-80FB-EEF1F94C4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33550"/>
            <a:ext cx="4762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22E946-518B-470D-98D5-761B4351F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33550"/>
            <a:ext cx="95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38C2B8-A949-48C1-A015-64A86A002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97167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8657A"/>
                </a:solidFill>
              </a:defRPr>
            </a:pPr>
            <a:r>
              <a:rPr sz="1050" b="1">
                <a:solidFill>
                  <a:srgbClr val="58657A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9C7FB9-977A-41D3-9A3F-5EDD04762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9077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033"/>
                </a:solidFill>
              </a:defRPr>
            </a:pPr>
            <a:r>
              <a:rPr sz="2025" b="1">
                <a:solidFill>
                  <a:srgbClr val="172033"/>
                </a:solidFill>
              </a:rPr>
              <a:t>ColumnTransformer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9D547F-3EAB-4BFC-9046-C2D2ABA5E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4762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FF2169-B1DB-41D5-ADEF-D08CE35F4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95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7F7931-CB57-433A-BAF4-89759EA34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3862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8657A"/>
                </a:solidFill>
              </a:defRPr>
            </a:pPr>
            <a:r>
              <a:rPr sz="1050" b="1">
                <a:solidFill>
                  <a:srgbClr val="58657A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17CC8A-CBFE-4BF6-85FF-2987500DE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577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033"/>
                </a:solidFill>
              </a:defRPr>
            </a:pPr>
            <a:r>
              <a:rPr sz="2025" b="1">
                <a:solidFill>
                  <a:srgbClr val="172033"/>
                </a:solidFill>
              </a:rPr>
              <a:t>Pipeline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654036-AD05-4C51-A228-EB71987E7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000500"/>
            <a:ext cx="4762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653086-0A57-467F-924C-130153410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000500"/>
            <a:ext cx="95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7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5A50C7-DE34-4DD1-8271-E477BEF0D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23862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8657A"/>
                </a:solidFill>
              </a:defRPr>
            </a:pPr>
            <a:r>
              <a:rPr sz="1050" b="1">
                <a:solidFill>
                  <a:srgbClr val="58657A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98CF96-E0A1-40A4-B4C2-6AA4DFDB1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6577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033"/>
                </a:solidFill>
              </a:defRPr>
            </a:pPr>
            <a:r>
              <a:rPr sz="2025" b="1">
                <a:solidFill>
                  <a:srgbClr val="172033"/>
                </a:solidFill>
              </a:rPr>
              <a:t>serialization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3E2DA8-6895-4137-8729-17EFEC378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8657A"/>
                </a:solidFill>
              </a:defRPr>
            </a:pPr>
            <a:r>
              <a:rPr sz="750">
                <a:solidFill>
                  <a:srgbClr val="58657A"/>
                </a:solidFill>
              </a:rPr>
              <a:t>End-to-End Data Science &amp; AI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FB870A-263B-47CC-937F-113A5A6BC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76BDB"/>
                </a:solidFill>
              </a:defRPr>
            </a:pPr>
            <a:r>
              <a:rPr sz="750" b="1">
                <a:solidFill>
                  <a:srgbClr val="176BDB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92849707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2253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102398-3542-4CC5-884B-BFD3F2BF8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3905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8A7C9"/>
                </a:solidFill>
              </a:defRPr>
            </a:pPr>
            <a:r>
              <a:rPr sz="975" b="1">
                <a:solidFill>
                  <a:srgbClr val="08A7C9"/>
                </a:solidFill>
              </a:rPr>
              <a:t>FROM QUESTION TO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4836C2-CCA7-489D-A6D2-B735F9518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685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A repeatable reasoning loop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C15C4E-ED85-45F5-8FB9-C254ED2C9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22479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176B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8F29B6-22EB-4CA0-B54D-F48D7AF5C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86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8F4939-29F0-454A-B7CD-BBDFF461E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Define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167F34-F154-48C0-A9C6-23472AE4F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067050"/>
            <a:ext cx="400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EC7608-2C4E-4D72-AD20-7CCAF1824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476500"/>
            <a:ext cx="22479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5DF344-5B71-42D1-9A5E-94AB7DB83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686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98AD38-6BB1-4C83-884E-4C8239D08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2385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Transform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92061D-59D1-445D-B21A-F5A3C550A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067050"/>
            <a:ext cx="400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90291F-685B-4C46-8E61-3A6BB5B1A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76500"/>
            <a:ext cx="22479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3040E6-B5B3-4969-A73B-2EA7F4814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86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8657A"/>
                </a:solidFill>
              </a:defRPr>
            </a:pPr>
            <a:r>
              <a:rPr sz="975" b="1">
                <a:solidFill>
                  <a:srgbClr val="58657A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1780BB-22CB-466C-A0F2-5F7267BB7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385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Validate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4A42F6-FF77-4577-A277-1CC82C2B8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067050"/>
            <a:ext cx="400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21F2B9-B9FE-4101-802A-E1023C930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476500"/>
            <a:ext cx="22479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EF77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836BA8-2615-431D-801D-3ADF2C788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686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D7514E-3D19-438D-A383-BE48FA4CB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2385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Communicate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6B2A07-943F-4680-80AD-2EA2E14E0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FFFFF"/>
                </a:solidFill>
              </a:defRPr>
            </a:pPr>
            <a:r>
              <a:rPr sz="1650">
                <a:solidFill>
                  <a:srgbClr val="FFFFFF"/>
                </a:solidFill>
              </a:rPr>
              <a:t>Build a mixed-type preprocessing and model pipeline.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1D5C83-4072-40D7-B0FA-D41CE9722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AFC4D9"/>
                </a:solidFill>
              </a:defRPr>
            </a:pPr>
            <a:r>
              <a:rPr sz="750" b="1">
                <a:solidFill>
                  <a:srgbClr val="AFC4D9"/>
                </a:solidFill>
              </a:rPr>
              <a:t>DS ACADEMY  ·  PRACTICAL REASONING</a:t>
            </a:r>
          </a:p>
        </p:txBody>
      </p:sp>
    </p:spTree>
    <p:extLst>
      <p:ext uri="{BB962C8B-B14F-4D97-AF65-F5344CB8AC3E}">
        <p14:creationId xmlns:p14="http://schemas.microsoft.com/office/powerpoint/2010/main" val="7319613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DF6B6D-BD57-4C0D-9F07-509A8493C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0B35AE-AE6E-41B1-8D08-D517E2A42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WEEK 04  /  SESSION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EEA24A-901F-4865-B1D6-7E88084BE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Guided lab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0361F9-FBDE-4F8B-9FBE-111CB747E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2385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8657A"/>
                </a:solidFill>
              </a:defRPr>
            </a:pPr>
            <a:r>
              <a:rPr sz="900" b="1">
                <a:solidFill>
                  <a:srgbClr val="58657A"/>
                </a:solidFill>
              </a:rPr>
              <a:t>DS ACADEMY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92F8CC-BA95-4F26-83CD-FC6430691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81100"/>
            <a:ext cx="11220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649AC4-C8C5-41F5-BA9E-20F597C51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485775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1225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26FE14-3908-47BE-AB9A-3D39CB19A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621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8A7C9"/>
                </a:solidFill>
              </a:defRPr>
            </a:pPr>
            <a:r>
              <a:rPr sz="900" b="1">
                <a:solidFill>
                  <a:srgbClr val="08A7C9"/>
                </a:solidFill>
              </a:rPr>
              <a:t>LAB BRIEF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B343F8-4631-4E13-94CE-ACA6950B4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14600"/>
            <a:ext cx="39624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Build a mixed-type preprocessing and model pipeline.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CFB704-48BE-483C-AD4C-32A3956F0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7205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AFC4D9"/>
                </a:solidFill>
              </a:defRPr>
            </a:pPr>
            <a:r>
              <a:rPr sz="975">
                <a:solidFill>
                  <a:srgbClr val="AFC4D9"/>
                </a:solidFill>
              </a:rPr>
              <a:t>workbook  /  tests  /  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D21895-3513-4B0C-9F45-18E53EFD1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6573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DB"/>
                </a:solidFill>
              </a:defRPr>
            </a:pPr>
            <a:r>
              <a:rPr sz="975" b="1">
                <a:solidFill>
                  <a:srgbClr val="176BDB"/>
                </a:solidFill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C08837-927E-44CE-A709-8D7DB25CB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62877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033"/>
                </a:solidFill>
              </a:defRPr>
            </a:pPr>
            <a:r>
              <a:rPr sz="1575" b="1">
                <a:solidFill>
                  <a:srgbClr val="172033"/>
                </a:solidFill>
              </a:rPr>
              <a:t>Frame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11A4A4-10DD-4067-A3E4-09BC5891C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98120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8657A"/>
                </a:solidFill>
              </a:defRPr>
            </a:pPr>
            <a:r>
              <a:rPr sz="1200">
                <a:solidFill>
                  <a:srgbClr val="58657A"/>
                </a:solidFill>
              </a:rPr>
              <a:t>Define inputs, outputs, and success criteria.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C12844-9437-424B-A8DB-F4E844293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495550"/>
            <a:ext cx="4895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76D247-B5AA-4991-9364-0777F2E7F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6289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DB"/>
                </a:solidFill>
              </a:defRPr>
            </a:pPr>
            <a:r>
              <a:rPr sz="975" b="1">
                <a:solidFill>
                  <a:srgbClr val="176BDB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FF9069-5B00-4442-A5EE-4FE3A9EB9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0032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033"/>
                </a:solidFill>
              </a:defRPr>
            </a:pPr>
            <a:r>
              <a:rPr sz="1575" b="1">
                <a:solidFill>
                  <a:srgbClr val="172033"/>
                </a:solidFill>
              </a:rPr>
              <a:t>Build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91265E-F855-4AC8-9B00-55BCEB759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5275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8657A"/>
                </a:solidFill>
              </a:defRPr>
            </a:pPr>
            <a:r>
              <a:rPr sz="1200">
                <a:solidFill>
                  <a:srgbClr val="58657A"/>
                </a:solidFill>
              </a:rPr>
              <a:t>Implement the smallest correct workflow.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9D1D36-CB7F-4390-A274-E84824DB1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467100"/>
            <a:ext cx="4895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F1A90D-9686-47AD-B303-E7E418757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6004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DB"/>
                </a:solidFill>
              </a:defRPr>
            </a:pPr>
            <a:r>
              <a:rPr sz="975" b="1">
                <a:solidFill>
                  <a:srgbClr val="176BDB"/>
                </a:solidFill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086806-3EDA-40CD-B8F7-BE441372A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57187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033"/>
                </a:solidFill>
              </a:defRPr>
            </a:pPr>
            <a:r>
              <a:rPr sz="1575" b="1">
                <a:solidFill>
                  <a:srgbClr val="172033"/>
                </a:solidFill>
              </a:rPr>
              <a:t>Verify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EC5F5A-1FF7-4CDD-8812-D06A6668E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92430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8657A"/>
                </a:solidFill>
              </a:defRPr>
            </a:pPr>
            <a:r>
              <a:rPr sz="1200">
                <a:solidFill>
                  <a:srgbClr val="58657A"/>
                </a:solidFill>
              </a:rPr>
              <a:t>Test normal, boundary, and failure cases.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C8D823-C9AB-4CD0-BDDA-9B4965E30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438650"/>
            <a:ext cx="4895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2FCFDB-C276-4FBA-85C3-D8CC770CC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5720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F7768"/>
                </a:solidFill>
              </a:defRPr>
            </a:pPr>
            <a:r>
              <a:rPr sz="975" b="1">
                <a:solidFill>
                  <a:srgbClr val="EF7768"/>
                </a:solidFill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00278B-6D7C-4737-AAE9-6FABD7A13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4342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033"/>
                </a:solidFill>
              </a:defRPr>
            </a:pPr>
            <a:r>
              <a:rPr sz="1575" b="1">
                <a:solidFill>
                  <a:srgbClr val="172033"/>
                </a:solidFill>
              </a:rPr>
              <a:t>Explain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056FD1-A5F3-46DA-ACF5-F922E108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89585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8657A"/>
                </a:solidFill>
              </a:defRPr>
            </a:pPr>
            <a:r>
              <a:rPr sz="1200">
                <a:solidFill>
                  <a:srgbClr val="58657A"/>
                </a:solidFill>
              </a:rPr>
              <a:t>Record the evidence and remaining limits.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B95416-7CFE-4487-9C60-AD2C024E7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8657A"/>
                </a:solidFill>
              </a:defRPr>
            </a:pPr>
            <a:r>
              <a:rPr sz="750">
                <a:solidFill>
                  <a:srgbClr val="58657A"/>
                </a:solidFill>
              </a:rPr>
              <a:t>End-to-End Data Science &amp; AI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848782B-533A-41F1-A46B-0E7F92679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76BDB"/>
                </a:solidFill>
              </a:defRPr>
            </a:pPr>
            <a:r>
              <a:rPr sz="750" b="1">
                <a:solidFill>
                  <a:srgbClr val="176BDB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616318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D0D2F4-16D5-467B-9BE7-2E4ABF07C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5373A0-E66E-4CF9-B9C1-FCD5E5360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WEEK 04  /  SESSION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BC862E-ECEB-45FB-937B-17643FC09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Portfolio deliverable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F875B2-E35B-448E-BA34-2326930AD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2385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8657A"/>
                </a:solidFill>
              </a:defRPr>
            </a:pPr>
            <a:r>
              <a:rPr sz="900" b="1">
                <a:solidFill>
                  <a:srgbClr val="58657A"/>
                </a:solidFill>
              </a:rPr>
              <a:t>DS ACADEMY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D7538C-C7A8-406E-BE4D-BEAF02303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81100"/>
            <a:ext cx="11220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FA1ABB-6881-466B-A147-A89AF9AE5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7239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033"/>
                </a:solidFill>
              </a:defRPr>
            </a:pPr>
            <a:r>
              <a:rPr sz="2325" b="1">
                <a:solidFill>
                  <a:srgbClr val="172033"/>
                </a:solidFill>
              </a:rPr>
              <a:t>A fitted pipeline, inference test, and feature contract.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C0311C-FA20-4F1B-9967-5FBAF6755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813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QUALITY GATE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613FE8-FF76-49FE-A796-D9D09DEBC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76650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183F58-BA59-4F47-9A73-8FBCCB83C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004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Reproducible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A39B27-A870-4146-8027-752E090AA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95775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48F1B7-851D-4616-88F3-15F75CE7C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1957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Tested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C6B9F9-196C-422F-A697-539E7CFCB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14900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77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947028-B7EF-4B95-9E7F-F1DB0A2F3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387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Decision-relevant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4F639F-4C12-433A-A5D6-8758E6767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00200"/>
            <a:ext cx="3143250" cy="40576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3CBB1B-F2F6-42DE-897F-35A34B6D3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6215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WEEKLY ASSESSMENT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1CAC99-E32C-4583-857D-B91DF5105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76500"/>
            <a:ext cx="238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Leakage-Safe Feature Pipeline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E9E134-6D99-4843-A61D-1EFCC73EB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95700"/>
            <a:ext cx="2381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8657A"/>
                </a:solidFill>
              </a:defRPr>
            </a:pPr>
            <a:r>
              <a:rPr sz="1200">
                <a:solidFill>
                  <a:srgbClr val="58657A"/>
                </a:solidFill>
              </a:rPr>
              <a:t>Boundary correctness 35%, rationale 25%, reproducibility 20%, tests 10%, explanation 10%.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40EE03-142D-4462-96FD-62A3CB454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8657A"/>
                </a:solidFill>
              </a:defRPr>
            </a:pPr>
            <a:r>
              <a:rPr sz="750">
                <a:solidFill>
                  <a:srgbClr val="58657A"/>
                </a:solidFill>
              </a:rPr>
              <a:t>End-to-End Data Science &amp; AI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D1429A-4174-4930-80ED-0EFDAF0AF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76BDB"/>
                </a:solidFill>
              </a:defRPr>
            </a:pPr>
            <a:r>
              <a:rPr sz="750" b="1">
                <a:solidFill>
                  <a:srgbClr val="176BDB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5295838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958615-2B48-4013-B806-EE691D433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CF0AED-FBEF-408E-A89F-3400B98D3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DB"/>
                </a:solidFill>
              </a:defRPr>
            </a:pPr>
            <a:r>
              <a:rPr sz="975" b="1">
                <a:solidFill>
                  <a:srgbClr val="176BDB"/>
                </a:solidFill>
              </a:rPr>
              <a:t>SESSION CHECKPOINT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5C3D11-F718-405D-B342-EB43A2453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8763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2033"/>
                </a:solidFill>
              </a:defRPr>
            </a:pPr>
            <a:r>
              <a:rPr sz="2850" b="1">
                <a:solidFill>
                  <a:srgbClr val="172033"/>
                </a:solidFill>
              </a:rPr>
              <a:t>What should remain after the lesson?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ECC108-198B-4D8C-A7C0-A731AAA30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24100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8A7C9"/>
                </a:solidFill>
              </a:defRPr>
            </a:pPr>
            <a:r>
              <a:rPr sz="900" b="1">
                <a:solidFill>
                  <a:srgbClr val="08A7C9"/>
                </a:solidFill>
              </a:rPr>
              <a:t>CONCEPT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588D65-29D3-4611-A68E-1C9D4A9B4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257425"/>
            <a:ext cx="838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fit and transform + ColumnTransformer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C6CB9F-79C9-4CEA-B632-5FFAC1C45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24200"/>
            <a:ext cx="10172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404C7B-7E22-43AB-B90C-E315F8F43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67100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8A7C9"/>
                </a:solidFill>
              </a:defRPr>
            </a:pPr>
            <a:r>
              <a:rPr sz="900" b="1">
                <a:solidFill>
                  <a:srgbClr val="08A7C9"/>
                </a:solidFill>
              </a:rPr>
              <a:t>PRACTICE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59FC8E-A125-46F1-8526-E32C7B881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400425"/>
            <a:ext cx="838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Build a mixed-type preprocessing and model pipeline.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FAD55F-5E04-45E4-9C49-9D49941B2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67200"/>
            <a:ext cx="10172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795336-8A70-4F50-86B4-560D0BFC3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10100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EF7768"/>
                </a:solidFill>
              </a:defRPr>
            </a:pPr>
            <a:r>
              <a:rPr sz="900" b="1">
                <a:solidFill>
                  <a:srgbClr val="EF7768"/>
                </a:solidFill>
              </a:rPr>
              <a:t>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1011C5-C109-4E61-A988-928CDEEE1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543425"/>
            <a:ext cx="838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A fitted pipeline, inference test, and feature contract.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03EFB5-07BD-42A6-97C7-E7DBEF445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10200"/>
            <a:ext cx="10172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BA1B78-C9A9-47EC-9AEF-83E9C0446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81700"/>
            <a:ext cx="2905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6BDB"/>
                </a:solidFill>
              </a:defRPr>
            </a:pPr>
            <a:r>
              <a:rPr sz="1125" b="1">
                <a:solidFill>
                  <a:srgbClr val="176BDB"/>
                </a:solidFill>
              </a:rPr>
              <a:t>Narration available in English and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F5A2CC-2BB6-4E9C-ADE4-7513AC91F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953125"/>
            <a:ext cx="87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6BDB"/>
                </a:solidFill>
              </a:defRPr>
            </a:pPr>
            <a:r>
              <a:rPr sz="1200" b="1">
                <a:solidFill>
                  <a:srgbClr val="176BDB"/>
                </a:solidFill>
              </a:rPr>
              <a:t>සිංහල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7CC436-0D4B-4D21-911F-B89D40AB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9817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8657A"/>
                </a:solidFill>
              </a:defRPr>
            </a:pPr>
            <a:r>
              <a:rPr sz="900" b="1">
                <a:solidFill>
                  <a:srgbClr val="58657A"/>
                </a:solidFill>
              </a:rPr>
              <a:t>DS ACADEMY</a:t>
            </a:r>
          </a:p>
        </p:txBody>
      </p:sp>
    </p:spTree>
    <p:extLst>
      <p:ext uri="{BB962C8B-B14F-4D97-AF65-F5344CB8AC3E}">
        <p14:creationId xmlns:p14="http://schemas.microsoft.com/office/powerpoint/2010/main" val="9018747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2026-07-27T08:01:03.7550000Z</dcterms:created>
  <dcterms:modified xsi:type="dcterms:W3CDTF">2026-07-27T08:01:03.7550000Z</dcterms:modified>
</coreProperties>
</file>