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fc7857585a48de" /><Relationship Type="http://schemas.openxmlformats.org/officeDocument/2006/relationships/extended-properties" Target="/docProps/app.xml" Id="R090f43c4fa2040af" /><Relationship Type="http://schemas.openxmlformats.org/officeDocument/2006/relationships/officeDocument" Target="/ppt/presentation.xml" Id="R1ff328481f884aad" /></Relationships>
</file>

<file path=ppt/presentation.xml><?xml version="1.0" encoding="utf-8"?>
<p:presentation xmlns:p="http://schemas.openxmlformats.org/presentationml/2006/main">
  <p:sldMasterIdLst>
    <p:sldMasterId xmlns:r="http://schemas.openxmlformats.org/officeDocument/2006/relationships" id="2147483648" r:id="R3e9952e0a2e64c53"/>
  </p:sldMasterIdLst>
  <p:notesMasterIdLst>
    <p:notesMasterId xmlns:r="http://schemas.openxmlformats.org/officeDocument/2006/relationships" r:id="Rd0ffc53a5c2b439b"/>
  </p:notesMasterIdLst>
  <p:sldIdLst>
    <p:sldId xmlns:r="http://schemas.openxmlformats.org/officeDocument/2006/relationships" id="256" r:id="Rf21ed1bbe85048de"/>
    <p:sldId xmlns:r="http://schemas.openxmlformats.org/officeDocument/2006/relationships" id="257" r:id="R3298d7fbbdfb43bf"/>
    <p:sldId xmlns:r="http://schemas.openxmlformats.org/officeDocument/2006/relationships" id="258" r:id="Rf3c8e03483e940f2"/>
    <p:sldId xmlns:r="http://schemas.openxmlformats.org/officeDocument/2006/relationships" id="259" r:id="Reeacfc4911dc4098"/>
    <p:sldId xmlns:r="http://schemas.openxmlformats.org/officeDocument/2006/relationships" id="260" r:id="R0234723b5af741df"/>
    <p:sldId xmlns:r="http://schemas.openxmlformats.org/officeDocument/2006/relationships" id="261" r:id="R961e8b4999ed4ad3"/>
    <p:sldId xmlns:r="http://schemas.openxmlformats.org/officeDocument/2006/relationships" id="262" r:id="R199b0d52e6804773"/>
    <p:sldId xmlns:r="http://schemas.openxmlformats.org/officeDocument/2006/relationships" id="263" r:id="R84192c9528ab42c4"/>
    <p:sldId xmlns:r="http://schemas.openxmlformats.org/officeDocument/2006/relationships" id="264" r:id="R9a1ef337e5884a22"/>
    <p:sldId xmlns:r="http://schemas.openxmlformats.org/officeDocument/2006/relationships" id="265" r:id="Rb0fd35e272464830"/>
    <p:sldId xmlns:r="http://schemas.openxmlformats.org/officeDocument/2006/relationships" id="266" r:id="R059008f6a7204163"/>
    <p:sldId xmlns:r="http://schemas.openxmlformats.org/officeDocument/2006/relationships" id="267" r:id="Re88aaaeb739443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9ef600c1ed4b52" /><Relationship Type="http://schemas.openxmlformats.org/officeDocument/2006/relationships/slideMaster" Target="/ppt/slideMasters/slideMaster1.xml" Id="R3e9952e0a2e64c53" /><Relationship Type="http://schemas.openxmlformats.org/officeDocument/2006/relationships/notesMaster" Target="/ppt/notesMasters/notesMaster1.xml" Id="Rd0ffc53a5c2b439b" /><Relationship Type="http://schemas.openxmlformats.org/officeDocument/2006/relationships/presProps" Target="/ppt/presProps.xml" Id="R61ba6350301e46cd" /><Relationship Type="http://schemas.openxmlformats.org/officeDocument/2006/relationships/tableStyles" Target="/ppt/tableStyles.xml" Id="R7ac0e39a31034ecd" /><Relationship Type="http://schemas.openxmlformats.org/officeDocument/2006/relationships/slide" Target="/ppt/slides/slide1.xml" Id="Rf21ed1bbe85048de" /><Relationship Type="http://schemas.openxmlformats.org/officeDocument/2006/relationships/slide" Target="/ppt/slides/slide2.xml" Id="R3298d7fbbdfb43bf" /><Relationship Type="http://schemas.openxmlformats.org/officeDocument/2006/relationships/slide" Target="/ppt/slides/slide3.xml" Id="Rf3c8e03483e940f2" /><Relationship Type="http://schemas.openxmlformats.org/officeDocument/2006/relationships/slide" Target="/ppt/slides/slide4.xml" Id="Reeacfc4911dc4098" /><Relationship Type="http://schemas.openxmlformats.org/officeDocument/2006/relationships/slide" Target="/ppt/slides/slide5.xml" Id="R0234723b5af741df" /><Relationship Type="http://schemas.openxmlformats.org/officeDocument/2006/relationships/slide" Target="/ppt/slides/slide6.xml" Id="R961e8b4999ed4ad3" /><Relationship Type="http://schemas.openxmlformats.org/officeDocument/2006/relationships/slide" Target="/ppt/slides/slide7.xml" Id="R199b0d52e6804773" /><Relationship Type="http://schemas.openxmlformats.org/officeDocument/2006/relationships/slide" Target="/ppt/slides/slide8.xml" Id="R84192c9528ab42c4" /><Relationship Type="http://schemas.openxmlformats.org/officeDocument/2006/relationships/slide" Target="/ppt/slides/slide9.xml" Id="R9a1ef337e5884a22" /><Relationship Type="http://schemas.openxmlformats.org/officeDocument/2006/relationships/slide" Target="/ppt/slides/slide10.xml" Id="Rb0fd35e272464830" /><Relationship Type="http://schemas.openxmlformats.org/officeDocument/2006/relationships/slide" Target="/ppt/slides/slide11.xml" Id="R059008f6a7204163" /><Relationship Type="http://schemas.openxmlformats.org/officeDocument/2006/relationships/slide" Target="/ppt/slides/slide12.xml" Id="Re88aaaeb739443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65228d2cbb4d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3551291d594cd8" /><Relationship Type="http://schemas.openxmlformats.org/officeDocument/2006/relationships/notesMaster" Target="/ppt/notesMasters/notesMaster1.xml" Id="Rdc7ef06b4da749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a311b30cd84e88" /><Relationship Type="http://schemas.openxmlformats.org/officeDocument/2006/relationships/notesMaster" Target="/ppt/notesMasters/notesMaster1.xml" Id="Re84b1d4bdf9541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2bbf54e78146e2" /><Relationship Type="http://schemas.openxmlformats.org/officeDocument/2006/relationships/notesMaster" Target="/ppt/notesMasters/notesMaster1.xml" Id="R01937449f92140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feeaa58f6f4fa7" /><Relationship Type="http://schemas.openxmlformats.org/officeDocument/2006/relationships/notesMaster" Target="/ppt/notesMasters/notesMaster1.xml" Id="R83a70ec38b1c46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179391365441e7" /><Relationship Type="http://schemas.openxmlformats.org/officeDocument/2006/relationships/notesMaster" Target="/ppt/notesMasters/notesMaster1.xml" Id="R4236aa2ac5ba46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f9591c4cb5446e" /><Relationship Type="http://schemas.openxmlformats.org/officeDocument/2006/relationships/notesMaster" Target="/ppt/notesMasters/notesMaster1.xml" Id="R589eb3876f4843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e68fe326b644e0" /><Relationship Type="http://schemas.openxmlformats.org/officeDocument/2006/relationships/notesMaster" Target="/ppt/notesMasters/notesMaster1.xml" Id="R3b80db6b5e6a4e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9ce87a294d4d36" /><Relationship Type="http://schemas.openxmlformats.org/officeDocument/2006/relationships/notesMaster" Target="/ppt/notesMasters/notesMaster1.xml" Id="R6abd2d320ea64b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39c9db4dae4b11" /><Relationship Type="http://schemas.openxmlformats.org/officeDocument/2006/relationships/notesMaster" Target="/ppt/notesMasters/notesMaster1.xml" Id="Rc6110771ab1445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c1f9a3b1504c74" /><Relationship Type="http://schemas.openxmlformats.org/officeDocument/2006/relationships/notesMaster" Target="/ppt/notesMasters/notesMaster1.xml" Id="R9629d6f615694f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41737a9b47470e" /><Relationship Type="http://schemas.openxmlformats.org/officeDocument/2006/relationships/notesMaster" Target="/ppt/notesMasters/notesMaster1.xml" Id="R483c47ee079346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829581a6454a20" /><Relationship Type="http://schemas.openxmlformats.org/officeDocument/2006/relationships/notesMaster" Target="/ppt/notesMasters/notesMaster1.xml" Id="Rc33de6f2326641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Reliable Machine-Learning Pipelines. Bind validation, preprocessing, model selection, and serialization into a reproducible workflow.</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required starting point is data quality, training/test boundaries, regression, classification, and evaluation metrics. By the end, you will explain imputation and encoding in plain language.</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language before using it: imputation and encoding, ColumnTransformer and Pipeline, cross-validation, experiment artifacts.</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Fit learns preprocessing and model parameters from each training fold; transform and predict reuse those fitted values.</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symbol or component has a job. imputation: A declared replacement for missing values. pipeline: An ordered fitted workflow. fold: One cross-validation partition.</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through the values before running code. Show why scaling all rows before the split leaks the test mean, then place scaling inside a Pipeline.</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hand-worked mechanism to Python. The observed output is folds=5</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Fit imputation, scaling, and encoding inside each training fold to prevent leakage. Cross-validation reports variation across folds, not one deceptively precise score. Select hyperparameters using validation evidence and evaluate once on the untouched test set. Persist preprocessing, model, schema, versions, parameters, metrics, and data identity together.</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concepts from this lesson to read and complete https://github.com/curiousily/AI-Bootcamp/blob/master/03.model-development.ipynb. Predict what each section does before executing it.</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Fitting preprocessing before cross-validation. Selecting a model on the final test set.</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run, inspect, and explain. Build a mixed-column Pipeline, compare candidates with cross-validation, refit the selected model, and serialize it.</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the connection between imputation and encoding, ColumnTransformer and Pipeline, cross-validation, experiment artifacts. Verification evidence: Re-run from raw data and confirm the same split, features, model configuration, and evaluation result.</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a:t>
            </a:r>
          </a:p>
          <a:p xmlns:a="http://schemas.openxmlformats.org/drawingml/2006/main">
            <a:r>
              <a:t>- https://mlflow.org/docs/latest/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326474e5fa41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25493397a34e49" /><Relationship Type="http://schemas.openxmlformats.org/officeDocument/2006/relationships/slideLayout" Target="/ppt/slideLayouts/slideLayout1.xml" Id="Rd0d60140e8ee40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d60140e8ee40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d39e3572bd4a30" /><Relationship Type="http://schemas.openxmlformats.org/officeDocument/2006/relationships/image" Target="/ppt/media/image.png" Id="R69b6e912cd764039" /><Relationship Type="http://schemas.openxmlformats.org/officeDocument/2006/relationships/image" Target="/ppt/media/image2.png" Id="R137cd815027f41dd" /><Relationship Type="http://schemas.openxmlformats.org/officeDocument/2006/relationships/notesSlide" Target="/ppt/notesSlides/notesSlide1.xml" Id="R7a2c7e3ae06f42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426a9faa6e4611" /><Relationship Type="http://schemas.openxmlformats.org/officeDocument/2006/relationships/notesSlide" Target="/ppt/notesSlides/notesSlide2.xml" Id="R4883bea2b7014a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0cd6d104cb45bb" /><Relationship Type="http://schemas.openxmlformats.org/officeDocument/2006/relationships/notesSlide" Target="/ppt/notesSlides/notesSlide3.xml" Id="R13d1451f08ed4d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a73fe331ac41ef" /><Relationship Type="http://schemas.openxmlformats.org/officeDocument/2006/relationships/notesSlide" Target="/ppt/notesSlides/notesSlide4.xml" Id="Rb2d512aa1c1445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d526141b754f00" /><Relationship Type="http://schemas.openxmlformats.org/officeDocument/2006/relationships/notesSlide" Target="/ppt/notesSlides/notesSlide5.xml" Id="R26911e3f50b54a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9b49e9cbbd4304" /><Relationship Type="http://schemas.openxmlformats.org/officeDocument/2006/relationships/notesSlide" Target="/ppt/notesSlides/notesSlide6.xml" Id="R0b2a47ff0cf342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fa55b602534c43" /><Relationship Type="http://schemas.openxmlformats.org/officeDocument/2006/relationships/notesSlide" Target="/ppt/notesSlides/notesSlide7.xml" Id="R4bc8194ea36c40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93c415ab24455f" /><Relationship Type="http://schemas.openxmlformats.org/officeDocument/2006/relationships/notesSlide" Target="/ppt/notesSlides/notesSlide8.xml" Id="Racde50eb4d1d41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4e4b719a804bf9" /><Relationship Type="http://schemas.openxmlformats.org/officeDocument/2006/relationships/notesSlide" Target="/ppt/notesSlides/notesSlide9.xml" Id="R4ea3f1f531a345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f718c6b5264a2c" /><Relationship Type="http://schemas.openxmlformats.org/officeDocument/2006/relationships/notesSlide" Target="/ppt/notesSlides/notesSlide10.xml" Id="Rb2e42336f6834a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f6ea222ef664e4c" /><Relationship Type="http://schemas.openxmlformats.org/officeDocument/2006/relationships/notesSlide" Target="/ppt/notesSlides/notesSlide11.xml" Id="Rc863a34816c141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fb46878b41a4909" /><Relationship Type="http://schemas.openxmlformats.org/officeDocument/2006/relationships/image" Target="/ppt/media/image3.png" Id="R918958bf8e364415" /><Relationship Type="http://schemas.openxmlformats.org/officeDocument/2006/relationships/notesSlide" Target="/ppt/notesSlides/notesSlide12.xml" Id="Raff1af04560449ac"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060C1D-4946-44ED-AAF4-19B3E1D99FE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9b6e912cd764039"/>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12D3771-8E13-49AA-A5A3-94E82E216ADC}"/>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5B1AB21-3710-4407-9E5A-2CD78FED85F4}"/>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10  /  LESSON 01</a:t>
            </a:r>
          </a:p>
        </p:txBody>
      </p:sp>
      <p:sp>
        <p:nvSpPr>
          <p:cNvPr id="5" name="">
            <a:extLst xmlns:a="http://schemas.openxmlformats.org/drawingml/2006/main">
              <a:ext uri="{FF2B5EF4-FFF2-40B4-BE49-F238E27FC236}">
                <a16:creationId xmlns:a16="http://schemas.microsoft.com/office/drawing/2014/main" id="{8062BB89-02F8-4CD1-B77E-70765D3F7788}"/>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Reliable Machine-Learning Pipelines</a:t>
            </a:r>
          </a:p>
        </p:txBody>
      </p:sp>
      <p:sp>
        <p:nvSpPr>
          <p:cNvPr id="6" name="">
            <a:extLst xmlns:a="http://schemas.openxmlformats.org/drawingml/2006/main">
              <a:ext uri="{FF2B5EF4-FFF2-40B4-BE49-F238E27FC236}">
                <a16:creationId xmlns:a16="http://schemas.microsoft.com/office/drawing/2014/main" id="{156BE764-ECAB-4567-8198-C06977047E2A}"/>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CD19606-2D60-48A5-B6E2-B704BE6ED182}"/>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Bind validation, preprocessing, model selection, and serialization into a reproducible workflow.</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37cd815027f41dd"/>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20613337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1E046C7-7F1C-467D-BE4D-E24906C4A83D}"/>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M10 / L01</a:t>
            </a:r>
          </a:p>
        </p:txBody>
      </p:sp>
      <p:sp>
        <p:nvSpPr>
          <p:cNvPr id="2" name="">
            <a:extLst xmlns:a="http://schemas.openxmlformats.org/drawingml/2006/main">
              <a:ext uri="{FF2B5EF4-FFF2-40B4-BE49-F238E27FC236}">
                <a16:creationId xmlns:a16="http://schemas.microsoft.com/office/drawing/2014/main" id="{4265B1E9-18C0-46E8-9225-5542EAD4165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Reliable Machine-Learning Pipelines</a:t>
            </a:r>
          </a:p>
        </p:txBody>
      </p:sp>
      <p:sp>
        <p:nvSpPr>
          <p:cNvPr id="3" name="">
            <a:extLst xmlns:a="http://schemas.openxmlformats.org/drawingml/2006/main">
              <a:ext uri="{FF2B5EF4-FFF2-40B4-BE49-F238E27FC236}">
                <a16:creationId xmlns:a16="http://schemas.microsoft.com/office/drawing/2014/main" id="{6C1CBE21-D503-412C-A00E-FC70188DD64F}"/>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D64698FB-B1EE-463F-8EED-5AD11CB4C308}"/>
              </a:ext>
            </a:extLst>
          </p:cNvPr>
          <p:cNvSpPr>
            <a:spLocks xmlns:a="http://schemas.openxmlformats.org/drawingml/2006/main" noGrp="1"/>
          </p:cNvSpPr>
          <p:nvPr/>
        </p:nvSpPr>
        <p:spPr>
          <a:xfrm xmlns:a="http://schemas.openxmlformats.org/drawingml/2006/main">
            <a:off x="609600" y="8953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WHY THIS MATTERS</a:t>
            </a:r>
          </a:p>
        </p:txBody>
      </p:sp>
      <p:sp>
        <p:nvSpPr>
          <p:cNvPr id="5" name="">
            <a:extLst xmlns:a="http://schemas.openxmlformats.org/drawingml/2006/main">
              <a:ext uri="{FF2B5EF4-FFF2-40B4-BE49-F238E27FC236}">
                <a16:creationId xmlns:a16="http://schemas.microsoft.com/office/drawing/2014/main" id="{8FF1391E-DC9C-4E61-9ED2-235CA2D0E5CC}"/>
              </a:ext>
            </a:extLst>
          </p:cNvPr>
          <p:cNvSpPr>
            <a:spLocks xmlns:a="http://schemas.openxmlformats.org/drawingml/2006/main" noGrp="1"/>
          </p:cNvSpPr>
          <p:nvPr/>
        </p:nvSpPr>
        <p:spPr>
          <a:xfrm xmlns:a="http://schemas.openxmlformats.org/drawingml/2006/main">
            <a:off x="609600" y="1390650"/>
            <a:ext cx="104775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7C8203D-5F62-4AE4-882F-11E1772DDF18}"/>
              </a:ext>
            </a:extLst>
          </p:cNvPr>
          <p:cNvSpPr>
            <a:spLocks xmlns:a="http://schemas.openxmlformats.org/drawingml/2006/main" noGrp="1"/>
          </p:cNvSpPr>
          <p:nvPr/>
        </p:nvSpPr>
        <p:spPr>
          <a:xfrm xmlns:a="http://schemas.openxmlformats.org/drawingml/2006/main">
            <a:off x="609600" y="169545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Start from what you already know</a:t>
            </a:r>
          </a:p>
        </p:txBody>
      </p:sp>
      <p:sp>
        <p:nvSpPr>
          <p:cNvPr id="7" name="">
            <a:extLst xmlns:a="http://schemas.openxmlformats.org/drawingml/2006/main">
              <a:ext uri="{FF2B5EF4-FFF2-40B4-BE49-F238E27FC236}">
                <a16:creationId xmlns:a16="http://schemas.microsoft.com/office/drawing/2014/main" id="{45B8494E-A6FE-4FE8-8435-8854AC6B29AB}"/>
              </a:ext>
            </a:extLst>
          </p:cNvPr>
          <p:cNvSpPr>
            <a:spLocks xmlns:a="http://schemas.openxmlformats.org/drawingml/2006/main" noGrp="1"/>
          </p:cNvSpPr>
          <p:nvPr/>
        </p:nvSpPr>
        <p:spPr>
          <a:xfrm xmlns:a="http://schemas.openxmlformats.org/drawingml/2006/main">
            <a:off x="609600" y="2609850"/>
            <a:ext cx="971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6BDB"/>
                </a:solidFill>
              </a:defRPr>
            </a:pPr>
            <a:r>
              <a:rPr sz="2025" b="1">
                <a:solidFill>
                  <a:srgbClr val="176BDB"/>
                </a:solidFill>
              </a:rPr>
              <a:t>Data quality, training/test boundaries, regression, classification, and evaluation metrics</a:t>
            </a:r>
          </a:p>
        </p:txBody>
      </p:sp>
      <p:sp>
        <p:nvSpPr>
          <p:cNvPr id="8" name="">
            <a:extLst xmlns:a="http://schemas.openxmlformats.org/drawingml/2006/main">
              <a:ext uri="{FF2B5EF4-FFF2-40B4-BE49-F238E27FC236}">
                <a16:creationId xmlns:a16="http://schemas.microsoft.com/office/drawing/2014/main" id="{360F0ED0-97CC-480B-AFA2-386B2E05E3D0}"/>
              </a:ext>
            </a:extLst>
          </p:cNvPr>
          <p:cNvSpPr>
            <a:spLocks xmlns:a="http://schemas.openxmlformats.org/drawingml/2006/main" noGrp="1"/>
          </p:cNvSpPr>
          <p:nvPr/>
        </p:nvSpPr>
        <p:spPr>
          <a:xfrm xmlns:a="http://schemas.openxmlformats.org/drawingml/2006/main">
            <a:off x="628650" y="35623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9" name="">
            <a:extLst xmlns:a="http://schemas.openxmlformats.org/drawingml/2006/main">
              <a:ext uri="{FF2B5EF4-FFF2-40B4-BE49-F238E27FC236}">
                <a16:creationId xmlns:a16="http://schemas.microsoft.com/office/drawing/2014/main" id="{F592A867-B541-48EF-900E-D892E944BF97}"/>
              </a:ext>
            </a:extLst>
          </p:cNvPr>
          <p:cNvSpPr>
            <a:spLocks xmlns:a="http://schemas.openxmlformats.org/drawingml/2006/main" noGrp="1"/>
          </p:cNvSpPr>
          <p:nvPr/>
        </p:nvSpPr>
        <p:spPr>
          <a:xfrm xmlns:a="http://schemas.openxmlformats.org/drawingml/2006/main">
            <a:off x="1371600" y="35052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Explain imputation and encoding in plain language.</a:t>
            </a:r>
          </a:p>
        </p:txBody>
      </p:sp>
      <p:sp>
        <p:nvSpPr>
          <p:cNvPr id="10" name="">
            <a:extLst xmlns:a="http://schemas.openxmlformats.org/drawingml/2006/main">
              <a:ext uri="{FF2B5EF4-FFF2-40B4-BE49-F238E27FC236}">
                <a16:creationId xmlns:a16="http://schemas.microsoft.com/office/drawing/2014/main" id="{2111A426-0016-4848-A9A8-FBDAA58E8ED0}"/>
              </a:ext>
            </a:extLst>
          </p:cNvPr>
          <p:cNvSpPr>
            <a:spLocks xmlns:a="http://schemas.openxmlformats.org/drawingml/2006/main" noGrp="1"/>
          </p:cNvSpPr>
          <p:nvPr/>
        </p:nvSpPr>
        <p:spPr>
          <a:xfrm xmlns:a="http://schemas.openxmlformats.org/drawingml/2006/main">
            <a:off x="628650" y="42481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B7ACEFC1-FD7F-416C-99BC-672CA65D0AF8}"/>
              </a:ext>
            </a:extLst>
          </p:cNvPr>
          <p:cNvSpPr>
            <a:spLocks xmlns:a="http://schemas.openxmlformats.org/drawingml/2006/main" noGrp="1"/>
          </p:cNvSpPr>
          <p:nvPr/>
        </p:nvSpPr>
        <p:spPr>
          <a:xfrm xmlns:a="http://schemas.openxmlformats.org/drawingml/2006/main">
            <a:off x="1371600" y="41910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Use ColumnTransformer and Pipeline in a small worked example.</a:t>
            </a:r>
          </a:p>
        </p:txBody>
      </p:sp>
      <p:sp>
        <p:nvSpPr>
          <p:cNvPr id="12" name="">
            <a:extLst xmlns:a="http://schemas.openxmlformats.org/drawingml/2006/main">
              <a:ext uri="{FF2B5EF4-FFF2-40B4-BE49-F238E27FC236}">
                <a16:creationId xmlns:a16="http://schemas.microsoft.com/office/drawing/2014/main" id="{BDA8A99B-0351-4563-840B-84461017E8F2}"/>
              </a:ext>
            </a:extLst>
          </p:cNvPr>
          <p:cNvSpPr>
            <a:spLocks xmlns:a="http://schemas.openxmlformats.org/drawingml/2006/main" noGrp="1"/>
          </p:cNvSpPr>
          <p:nvPr/>
        </p:nvSpPr>
        <p:spPr>
          <a:xfrm xmlns:a="http://schemas.openxmlformats.org/drawingml/2006/main">
            <a:off x="628650" y="49339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03</a:t>
            </a:r>
          </a:p>
        </p:txBody>
      </p:sp>
      <p:sp>
        <p:nvSpPr>
          <p:cNvPr id="13" name="">
            <a:extLst xmlns:a="http://schemas.openxmlformats.org/drawingml/2006/main">
              <a:ext uri="{FF2B5EF4-FFF2-40B4-BE49-F238E27FC236}">
                <a16:creationId xmlns:a16="http://schemas.microsoft.com/office/drawing/2014/main" id="{67A608F4-18E5-4701-9A07-5FA6915C900A}"/>
              </a:ext>
            </a:extLst>
          </p:cNvPr>
          <p:cNvSpPr>
            <a:spLocks xmlns:a="http://schemas.openxmlformats.org/drawingml/2006/main" noGrp="1"/>
          </p:cNvSpPr>
          <p:nvPr/>
        </p:nvSpPr>
        <p:spPr>
          <a:xfrm xmlns:a="http://schemas.openxmlformats.org/drawingml/2006/main">
            <a:off x="1371600" y="48768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Complete the guided lab and verify experiment artifacts.</a:t>
            </a:r>
          </a:p>
        </p:txBody>
      </p:sp>
      <p:sp>
        <p:nvSpPr>
          <p:cNvPr id="14" name="">
            <a:extLst xmlns:a="http://schemas.openxmlformats.org/drawingml/2006/main">
              <a:ext uri="{FF2B5EF4-FFF2-40B4-BE49-F238E27FC236}">
                <a16:creationId xmlns:a16="http://schemas.microsoft.com/office/drawing/2014/main" id="{F467D373-472F-4293-9CB5-B6E19AE53C6A}"/>
              </a:ext>
            </a:extLst>
          </p:cNvPr>
          <p:cNvSpPr>
            <a:spLocks xmlns:a="http://schemas.openxmlformats.org/drawingml/2006/main" noGrp="1"/>
          </p:cNvSpPr>
          <p:nvPr/>
        </p:nvSpPr>
        <p:spPr>
          <a:xfrm xmlns:a="http://schemas.openxmlformats.org/drawingml/2006/main">
            <a:off x="10915650" y="1219200"/>
            <a:ext cx="609600" cy="453390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3B82C0B-69F9-451E-B6C3-DEBBDC7DFD2A}"/>
              </a:ext>
            </a:extLst>
          </p:cNvPr>
          <p:cNvSpPr>
            <a:spLocks xmlns:a="http://schemas.openxmlformats.org/drawingml/2006/main" noGrp="1"/>
          </p:cNvSpPr>
          <p:nvPr/>
        </p:nvSpPr>
        <p:spPr>
          <a:xfrm xmlns:a="http://schemas.openxmlformats.org/drawingml/2006/main">
            <a:off x="11106150" y="2095500"/>
            <a:ext cx="228600" cy="20002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Tree>
    <p:extLst>
      <p:ext uri="{BB962C8B-B14F-4D97-AF65-F5344CB8AC3E}">
        <p14:creationId xmlns:p14="http://schemas.microsoft.com/office/powerpoint/2010/main" val="968619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1ECCE36-C793-499D-80AD-2E8CFBBAE7C0}"/>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M10 / L01</a:t>
            </a:r>
          </a:p>
        </p:txBody>
      </p:sp>
      <p:sp>
        <p:nvSpPr>
          <p:cNvPr id="2" name="">
            <a:extLst xmlns:a="http://schemas.openxmlformats.org/drawingml/2006/main">
              <a:ext uri="{FF2B5EF4-FFF2-40B4-BE49-F238E27FC236}">
                <a16:creationId xmlns:a16="http://schemas.microsoft.com/office/drawing/2014/main" id="{AB86F267-9F85-4CBB-9CF3-36CCE412CA4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Reliable Machine-Learning Pipelines</a:t>
            </a:r>
          </a:p>
        </p:txBody>
      </p:sp>
      <p:sp>
        <p:nvSpPr>
          <p:cNvPr id="3" name="">
            <a:extLst xmlns:a="http://schemas.openxmlformats.org/drawingml/2006/main">
              <a:ext uri="{FF2B5EF4-FFF2-40B4-BE49-F238E27FC236}">
                <a16:creationId xmlns:a16="http://schemas.microsoft.com/office/drawing/2014/main" id="{BE1A136C-9E7F-49AF-A663-0F6C0C17B8B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62CB05F1-CC45-4983-9EB6-F5A39DBD65D6}"/>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8C8DBCD0-34E7-4561-ABF9-72E5C56B9119}"/>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The vocabulary of this topic</a:t>
            </a:r>
          </a:p>
        </p:txBody>
      </p:sp>
      <p:sp>
        <p:nvSpPr>
          <p:cNvPr id="6" name="">
            <a:extLst xmlns:a="http://schemas.openxmlformats.org/drawingml/2006/main">
              <a:ext uri="{FF2B5EF4-FFF2-40B4-BE49-F238E27FC236}">
                <a16:creationId xmlns:a16="http://schemas.microsoft.com/office/drawing/2014/main" id="{EA30261A-4AEC-4034-9187-D15FDA6DF9C1}"/>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7A2F06-790B-4C91-A946-BD6D2299B548}"/>
              </a:ext>
            </a:extLst>
          </p:cNvPr>
          <p:cNvSpPr>
            <a:spLocks xmlns:a="http://schemas.openxmlformats.org/drawingml/2006/main" noGrp="1"/>
          </p:cNvSpPr>
          <p:nvPr/>
        </p:nvSpPr>
        <p:spPr>
          <a:xfrm xmlns:a="http://schemas.openxmlformats.org/drawingml/2006/main">
            <a:off x="609600" y="2686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Bind validation, preprocessing, model selection, and serialization into a reproducible workflow.</a:t>
            </a:r>
          </a:p>
        </p:txBody>
      </p:sp>
      <p:sp>
        <p:nvSpPr>
          <p:cNvPr id="8" name="">
            <a:extLst xmlns:a="http://schemas.openxmlformats.org/drawingml/2006/main">
              <a:ext uri="{FF2B5EF4-FFF2-40B4-BE49-F238E27FC236}">
                <a16:creationId xmlns:a16="http://schemas.microsoft.com/office/drawing/2014/main" id="{BDC63BCB-EBE0-45E2-92CD-85607C16DA78}"/>
              </a:ext>
            </a:extLst>
          </p:cNvPr>
          <p:cNvSpPr>
            <a:spLocks xmlns:a="http://schemas.openxmlformats.org/drawingml/2006/main" noGrp="1"/>
          </p:cNvSpPr>
          <p:nvPr/>
        </p:nvSpPr>
        <p:spPr>
          <a:xfrm xmlns:a="http://schemas.openxmlformats.org/drawingml/2006/main">
            <a:off x="60960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C548779-AD1E-4121-8FC9-9BEB4512F50B}"/>
              </a:ext>
            </a:extLst>
          </p:cNvPr>
          <p:cNvSpPr>
            <a:spLocks xmlns:a="http://schemas.openxmlformats.org/drawingml/2006/main" noGrp="1"/>
          </p:cNvSpPr>
          <p:nvPr/>
        </p:nvSpPr>
        <p:spPr>
          <a:xfrm xmlns:a="http://schemas.openxmlformats.org/drawingml/2006/main">
            <a:off x="80010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imputation and encoding: Imputation replaces declared missing values; encoding converts categories into numerical model inputs.</a:t>
            </a:r>
          </a:p>
        </p:txBody>
      </p:sp>
      <p:sp>
        <p:nvSpPr>
          <p:cNvPr id="10" name="">
            <a:extLst xmlns:a="http://schemas.openxmlformats.org/drawingml/2006/main">
              <a:ext uri="{FF2B5EF4-FFF2-40B4-BE49-F238E27FC236}">
                <a16:creationId xmlns:a16="http://schemas.microsoft.com/office/drawing/2014/main" id="{3700900D-AD1A-4F2C-A7CA-06EAC76106C4}"/>
              </a:ext>
            </a:extLst>
          </p:cNvPr>
          <p:cNvSpPr>
            <a:spLocks xmlns:a="http://schemas.openxmlformats.org/drawingml/2006/main" noGrp="1"/>
          </p:cNvSpPr>
          <p:nvPr/>
        </p:nvSpPr>
        <p:spPr>
          <a:xfrm xmlns:a="http://schemas.openxmlformats.org/drawingml/2006/main">
            <a:off x="607695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B0C78E5-7B16-40DC-BD9E-E55CDBE53ABE}"/>
              </a:ext>
            </a:extLst>
          </p:cNvPr>
          <p:cNvSpPr>
            <a:spLocks xmlns:a="http://schemas.openxmlformats.org/drawingml/2006/main" noGrp="1"/>
          </p:cNvSpPr>
          <p:nvPr/>
        </p:nvSpPr>
        <p:spPr>
          <a:xfrm xmlns:a="http://schemas.openxmlformats.org/drawingml/2006/main">
            <a:off x="626745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ColumnTransformer and Pipeline: ColumnTransformer applies column-specific operations; Pipeline binds preprocessing and estimation in order.</a:t>
            </a:r>
          </a:p>
        </p:txBody>
      </p:sp>
      <p:sp>
        <p:nvSpPr>
          <p:cNvPr id="12" name="">
            <a:extLst xmlns:a="http://schemas.openxmlformats.org/drawingml/2006/main">
              <a:ext uri="{FF2B5EF4-FFF2-40B4-BE49-F238E27FC236}">
                <a16:creationId xmlns:a16="http://schemas.microsoft.com/office/drawing/2014/main" id="{F5B4476C-B19E-4374-AF5F-7256B42F1238}"/>
              </a:ext>
            </a:extLst>
          </p:cNvPr>
          <p:cNvSpPr>
            <a:spLocks xmlns:a="http://schemas.openxmlformats.org/drawingml/2006/main" noGrp="1"/>
          </p:cNvSpPr>
          <p:nvPr/>
        </p:nvSpPr>
        <p:spPr>
          <a:xfrm xmlns:a="http://schemas.openxmlformats.org/drawingml/2006/main">
            <a:off x="60960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21AA712-FDAC-44F6-91BD-FEDE28350B26}"/>
              </a:ext>
            </a:extLst>
          </p:cNvPr>
          <p:cNvSpPr>
            <a:spLocks xmlns:a="http://schemas.openxmlformats.org/drawingml/2006/main" noGrp="1"/>
          </p:cNvSpPr>
          <p:nvPr/>
        </p:nvSpPr>
        <p:spPr>
          <a:xfrm xmlns:a="http://schemas.openxmlformats.org/drawingml/2006/main">
            <a:off x="80010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cross-validation: Cross-validation repeats training and validation across folds to estimate variation in performance.</a:t>
            </a:r>
          </a:p>
        </p:txBody>
      </p:sp>
      <p:sp>
        <p:nvSpPr>
          <p:cNvPr id="14" name="">
            <a:extLst xmlns:a="http://schemas.openxmlformats.org/drawingml/2006/main">
              <a:ext uri="{FF2B5EF4-FFF2-40B4-BE49-F238E27FC236}">
                <a16:creationId xmlns:a16="http://schemas.microsoft.com/office/drawing/2014/main" id="{A034B8DE-4202-4891-8FD1-BEC8F5A2EBE3}"/>
              </a:ext>
            </a:extLst>
          </p:cNvPr>
          <p:cNvSpPr>
            <a:spLocks xmlns:a="http://schemas.openxmlformats.org/drawingml/2006/main" noGrp="1"/>
          </p:cNvSpPr>
          <p:nvPr/>
        </p:nvSpPr>
        <p:spPr>
          <a:xfrm xmlns:a="http://schemas.openxmlformats.org/drawingml/2006/main">
            <a:off x="607695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2B97493-3DE4-420F-B568-8B433383523F}"/>
              </a:ext>
            </a:extLst>
          </p:cNvPr>
          <p:cNvSpPr>
            <a:spLocks xmlns:a="http://schemas.openxmlformats.org/drawingml/2006/main" noGrp="1"/>
          </p:cNvSpPr>
          <p:nvPr/>
        </p:nvSpPr>
        <p:spPr>
          <a:xfrm xmlns:a="http://schemas.openxmlformats.org/drawingml/2006/main">
            <a:off x="626745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experiment artifacts: Experiment artifacts are versioned models, preprocessors, metrics, reports, and configurations produced by a run.</a:t>
            </a:r>
          </a:p>
        </p:txBody>
      </p:sp>
    </p:spTree>
    <p:extLst>
      <p:ext uri="{BB962C8B-B14F-4D97-AF65-F5344CB8AC3E}">
        <p14:creationId xmlns:p14="http://schemas.microsoft.com/office/powerpoint/2010/main" val="1157402483"/>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99333DD-A28F-449E-8683-286CCFF5BED3}"/>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M10 / L01</a:t>
            </a:r>
          </a:p>
        </p:txBody>
      </p:sp>
      <p:sp>
        <p:nvSpPr>
          <p:cNvPr id="2" name="">
            <a:extLst xmlns:a="http://schemas.openxmlformats.org/drawingml/2006/main">
              <a:ext uri="{FF2B5EF4-FFF2-40B4-BE49-F238E27FC236}">
                <a16:creationId xmlns:a16="http://schemas.microsoft.com/office/drawing/2014/main" id="{A80A9418-5DAE-4E25-B597-93BA17D2C382}"/>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Reliable Machine-Learning Pipelines</a:t>
            </a:r>
          </a:p>
        </p:txBody>
      </p:sp>
      <p:sp>
        <p:nvSpPr>
          <p:cNvPr id="3" name="">
            <a:extLst xmlns:a="http://schemas.openxmlformats.org/drawingml/2006/main">
              <a:ext uri="{FF2B5EF4-FFF2-40B4-BE49-F238E27FC236}">
                <a16:creationId xmlns:a16="http://schemas.microsoft.com/office/drawing/2014/main" id="{E7CF4B6C-AC65-4B82-B488-49F90E294BBF}"/>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CA8C0C34-8706-433C-96D8-B1C9BBC8E908}"/>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FOUR CONNECTED IDEAS</a:t>
            </a:r>
          </a:p>
        </p:txBody>
      </p:sp>
      <p:sp>
        <p:nvSpPr>
          <p:cNvPr id="5" name="">
            <a:extLst xmlns:a="http://schemas.openxmlformats.org/drawingml/2006/main">
              <a:ext uri="{FF2B5EF4-FFF2-40B4-BE49-F238E27FC236}">
                <a16:creationId xmlns:a16="http://schemas.microsoft.com/office/drawing/2014/main" id="{E8552E5E-E26F-4804-9C4A-160EF32A058D}"/>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How the concept works</a:t>
            </a:r>
          </a:p>
        </p:txBody>
      </p:sp>
      <p:sp>
        <p:nvSpPr>
          <p:cNvPr id="6" name="">
            <a:extLst xmlns:a="http://schemas.openxmlformats.org/drawingml/2006/main">
              <a:ext uri="{FF2B5EF4-FFF2-40B4-BE49-F238E27FC236}">
                <a16:creationId xmlns:a16="http://schemas.microsoft.com/office/drawing/2014/main" id="{A4BDD36B-12C8-4F31-9CE7-E246284D990B}"/>
              </a:ext>
            </a:extLst>
          </p:cNvPr>
          <p:cNvSpPr>
            <a:spLocks xmlns:a="http://schemas.openxmlformats.org/drawingml/2006/main" noGrp="1"/>
          </p:cNvSpPr>
          <p:nvPr/>
        </p:nvSpPr>
        <p:spPr>
          <a:xfrm xmlns:a="http://schemas.openxmlformats.org/drawingml/2006/main">
            <a:off x="6096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7" name="">
            <a:extLst xmlns:a="http://schemas.openxmlformats.org/drawingml/2006/main">
              <a:ext uri="{FF2B5EF4-FFF2-40B4-BE49-F238E27FC236}">
                <a16:creationId xmlns:a16="http://schemas.microsoft.com/office/drawing/2014/main" id="{C23AF108-9417-4A80-8A64-5C2462599CAD}"/>
              </a:ext>
            </a:extLst>
          </p:cNvPr>
          <p:cNvSpPr>
            <a:spLocks xmlns:a="http://schemas.openxmlformats.org/drawingml/2006/main" noGrp="1"/>
          </p:cNvSpPr>
          <p:nvPr/>
        </p:nvSpPr>
        <p:spPr>
          <a:xfrm xmlns:a="http://schemas.openxmlformats.org/drawingml/2006/main">
            <a:off x="609600" y="2686050"/>
            <a:ext cx="2095500" cy="47625"/>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2DB3B2-3EB5-4E3A-A568-E17173434448}"/>
              </a:ext>
            </a:extLst>
          </p:cNvPr>
          <p:cNvSpPr>
            <a:spLocks xmlns:a="http://schemas.openxmlformats.org/drawingml/2006/main" noGrp="1"/>
          </p:cNvSpPr>
          <p:nvPr/>
        </p:nvSpPr>
        <p:spPr>
          <a:xfrm xmlns:a="http://schemas.openxmlformats.org/drawingml/2006/main">
            <a:off x="6096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imputation and encoding</a:t>
            </a:r>
          </a:p>
        </p:txBody>
      </p:sp>
      <p:sp>
        <p:nvSpPr>
          <p:cNvPr id="9" name="">
            <a:extLst xmlns:a="http://schemas.openxmlformats.org/drawingml/2006/main">
              <a:ext uri="{FF2B5EF4-FFF2-40B4-BE49-F238E27FC236}">
                <a16:creationId xmlns:a16="http://schemas.microsoft.com/office/drawing/2014/main" id="{3D243BCB-6D5F-4F9D-8754-37DC2D3C4C28}"/>
              </a:ext>
            </a:extLst>
          </p:cNvPr>
          <p:cNvSpPr>
            <a:spLocks xmlns:a="http://schemas.openxmlformats.org/drawingml/2006/main" noGrp="1"/>
          </p:cNvSpPr>
          <p:nvPr/>
        </p:nvSpPr>
        <p:spPr>
          <a:xfrm xmlns:a="http://schemas.openxmlformats.org/drawingml/2006/main">
            <a:off x="28194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0" name="">
            <a:extLst xmlns:a="http://schemas.openxmlformats.org/drawingml/2006/main">
              <a:ext uri="{FF2B5EF4-FFF2-40B4-BE49-F238E27FC236}">
                <a16:creationId xmlns:a16="http://schemas.microsoft.com/office/drawing/2014/main" id="{CBF611BF-2F50-4528-A735-DE35B58CDEC5}"/>
              </a:ext>
            </a:extLst>
          </p:cNvPr>
          <p:cNvSpPr>
            <a:spLocks xmlns:a="http://schemas.openxmlformats.org/drawingml/2006/main" noGrp="1"/>
          </p:cNvSpPr>
          <p:nvPr/>
        </p:nvSpPr>
        <p:spPr>
          <a:xfrm xmlns:a="http://schemas.openxmlformats.org/drawingml/2006/main">
            <a:off x="34290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579B1CE4-344D-4DF7-8A69-6BD2714B9AFD}"/>
              </a:ext>
            </a:extLst>
          </p:cNvPr>
          <p:cNvSpPr>
            <a:spLocks xmlns:a="http://schemas.openxmlformats.org/drawingml/2006/main" noGrp="1"/>
          </p:cNvSpPr>
          <p:nvPr/>
        </p:nvSpPr>
        <p:spPr>
          <a:xfrm xmlns:a="http://schemas.openxmlformats.org/drawingml/2006/main">
            <a:off x="3429000" y="2686050"/>
            <a:ext cx="20955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FF24541-913F-4514-A01C-DEC2BC3042FD}"/>
              </a:ext>
            </a:extLst>
          </p:cNvPr>
          <p:cNvSpPr>
            <a:spLocks xmlns:a="http://schemas.openxmlformats.org/drawingml/2006/main" noGrp="1"/>
          </p:cNvSpPr>
          <p:nvPr/>
        </p:nvSpPr>
        <p:spPr>
          <a:xfrm xmlns:a="http://schemas.openxmlformats.org/drawingml/2006/main">
            <a:off x="34290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ColumnTransformer and Pipeline</a:t>
            </a:r>
          </a:p>
        </p:txBody>
      </p:sp>
      <p:sp>
        <p:nvSpPr>
          <p:cNvPr id="13" name="">
            <a:extLst xmlns:a="http://schemas.openxmlformats.org/drawingml/2006/main">
              <a:ext uri="{FF2B5EF4-FFF2-40B4-BE49-F238E27FC236}">
                <a16:creationId xmlns:a16="http://schemas.microsoft.com/office/drawing/2014/main" id="{8D53FC26-0F54-4A8A-8BC8-9E77590B9197}"/>
              </a:ext>
            </a:extLst>
          </p:cNvPr>
          <p:cNvSpPr>
            <a:spLocks xmlns:a="http://schemas.openxmlformats.org/drawingml/2006/main" noGrp="1"/>
          </p:cNvSpPr>
          <p:nvPr/>
        </p:nvSpPr>
        <p:spPr>
          <a:xfrm xmlns:a="http://schemas.openxmlformats.org/drawingml/2006/main">
            <a:off x="56388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4" name="">
            <a:extLst xmlns:a="http://schemas.openxmlformats.org/drawingml/2006/main">
              <a:ext uri="{FF2B5EF4-FFF2-40B4-BE49-F238E27FC236}">
                <a16:creationId xmlns:a16="http://schemas.microsoft.com/office/drawing/2014/main" id="{14FE7D2B-E94D-4C15-8338-19EB988E9F60}"/>
              </a:ext>
            </a:extLst>
          </p:cNvPr>
          <p:cNvSpPr>
            <a:spLocks xmlns:a="http://schemas.openxmlformats.org/drawingml/2006/main" noGrp="1"/>
          </p:cNvSpPr>
          <p:nvPr/>
        </p:nvSpPr>
        <p:spPr>
          <a:xfrm xmlns:a="http://schemas.openxmlformats.org/drawingml/2006/main">
            <a:off x="62484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03</a:t>
            </a:r>
          </a:p>
        </p:txBody>
      </p:sp>
      <p:sp>
        <p:nvSpPr>
          <p:cNvPr id="15" name="">
            <a:extLst xmlns:a="http://schemas.openxmlformats.org/drawingml/2006/main">
              <a:ext uri="{FF2B5EF4-FFF2-40B4-BE49-F238E27FC236}">
                <a16:creationId xmlns:a16="http://schemas.microsoft.com/office/drawing/2014/main" id="{DCF5F47B-FEAC-4806-90CB-A636D2DF322A}"/>
              </a:ext>
            </a:extLst>
          </p:cNvPr>
          <p:cNvSpPr>
            <a:spLocks xmlns:a="http://schemas.openxmlformats.org/drawingml/2006/main" noGrp="1"/>
          </p:cNvSpPr>
          <p:nvPr/>
        </p:nvSpPr>
        <p:spPr>
          <a:xfrm xmlns:a="http://schemas.openxmlformats.org/drawingml/2006/main">
            <a:off x="6248400" y="2686050"/>
            <a:ext cx="2095500" cy="47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0480059-CB78-465D-9303-590C8E7843E7}"/>
              </a:ext>
            </a:extLst>
          </p:cNvPr>
          <p:cNvSpPr>
            <a:spLocks xmlns:a="http://schemas.openxmlformats.org/drawingml/2006/main" noGrp="1"/>
          </p:cNvSpPr>
          <p:nvPr/>
        </p:nvSpPr>
        <p:spPr>
          <a:xfrm xmlns:a="http://schemas.openxmlformats.org/drawingml/2006/main">
            <a:off x="62484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cross-validation</a:t>
            </a:r>
          </a:p>
        </p:txBody>
      </p:sp>
      <p:sp>
        <p:nvSpPr>
          <p:cNvPr id="17" name="">
            <a:extLst xmlns:a="http://schemas.openxmlformats.org/drawingml/2006/main">
              <a:ext uri="{FF2B5EF4-FFF2-40B4-BE49-F238E27FC236}">
                <a16:creationId xmlns:a16="http://schemas.microsoft.com/office/drawing/2014/main" id="{421622B2-15FF-4B9A-B39C-6E103797477B}"/>
              </a:ext>
            </a:extLst>
          </p:cNvPr>
          <p:cNvSpPr>
            <a:spLocks xmlns:a="http://schemas.openxmlformats.org/drawingml/2006/main" noGrp="1"/>
          </p:cNvSpPr>
          <p:nvPr/>
        </p:nvSpPr>
        <p:spPr>
          <a:xfrm xmlns:a="http://schemas.openxmlformats.org/drawingml/2006/main">
            <a:off x="84582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8" name="">
            <a:extLst xmlns:a="http://schemas.openxmlformats.org/drawingml/2006/main">
              <a:ext uri="{FF2B5EF4-FFF2-40B4-BE49-F238E27FC236}">
                <a16:creationId xmlns:a16="http://schemas.microsoft.com/office/drawing/2014/main" id="{99C68772-F735-45A4-962F-765566C9FE1E}"/>
              </a:ext>
            </a:extLst>
          </p:cNvPr>
          <p:cNvSpPr>
            <a:spLocks xmlns:a="http://schemas.openxmlformats.org/drawingml/2006/main" noGrp="1"/>
          </p:cNvSpPr>
          <p:nvPr/>
        </p:nvSpPr>
        <p:spPr>
          <a:xfrm xmlns:a="http://schemas.openxmlformats.org/drawingml/2006/main">
            <a:off x="90678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9" name="">
            <a:extLst xmlns:a="http://schemas.openxmlformats.org/drawingml/2006/main">
              <a:ext uri="{FF2B5EF4-FFF2-40B4-BE49-F238E27FC236}">
                <a16:creationId xmlns:a16="http://schemas.microsoft.com/office/drawing/2014/main" id="{D4BBBFA0-C828-4A4D-BFF4-F39BF1D13118}"/>
              </a:ext>
            </a:extLst>
          </p:cNvPr>
          <p:cNvSpPr>
            <a:spLocks xmlns:a="http://schemas.openxmlformats.org/drawingml/2006/main" noGrp="1"/>
          </p:cNvSpPr>
          <p:nvPr/>
        </p:nvSpPr>
        <p:spPr>
          <a:xfrm xmlns:a="http://schemas.openxmlformats.org/drawingml/2006/main">
            <a:off x="9067800" y="2686050"/>
            <a:ext cx="20955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6BFEE29-CB35-4769-88A8-741200298DBE}"/>
              </a:ext>
            </a:extLst>
          </p:cNvPr>
          <p:cNvSpPr>
            <a:spLocks xmlns:a="http://schemas.openxmlformats.org/drawingml/2006/main" noGrp="1"/>
          </p:cNvSpPr>
          <p:nvPr/>
        </p:nvSpPr>
        <p:spPr>
          <a:xfrm xmlns:a="http://schemas.openxmlformats.org/drawingml/2006/main">
            <a:off x="90678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experiment artifacts</a:t>
            </a:r>
          </a:p>
        </p:txBody>
      </p:sp>
      <p:sp>
        <p:nvSpPr>
          <p:cNvPr id="21" name="">
            <a:extLst xmlns:a="http://schemas.openxmlformats.org/drawingml/2006/main">
              <a:ext uri="{FF2B5EF4-FFF2-40B4-BE49-F238E27FC236}">
                <a16:creationId xmlns:a16="http://schemas.microsoft.com/office/drawing/2014/main" id="{262E67E8-3F91-49C3-BE79-4BA5708F959B}"/>
              </a:ext>
            </a:extLst>
          </p:cNvPr>
          <p:cNvSpPr>
            <a:spLocks xmlns:a="http://schemas.openxmlformats.org/drawingml/2006/main" noGrp="1"/>
          </p:cNvSpPr>
          <p:nvPr/>
        </p:nvSpPr>
        <p:spPr>
          <a:xfrm xmlns:a="http://schemas.openxmlformats.org/drawingml/2006/main">
            <a:off x="60960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C9D8E4"/>
                </a:solidFill>
              </a:defRPr>
            </a:pPr>
            <a:r>
              <a:rPr sz="1575">
                <a:solidFill>
                  <a:srgbClr val="C9D8E4"/>
                </a:solidFill>
              </a:rPr>
              <a:t>Fit learns preprocessing and model parameters from each training fold; transform and predict reuse those fitted values.</a:t>
            </a:r>
          </a:p>
        </p:txBody>
      </p:sp>
    </p:spTree>
    <p:extLst>
      <p:ext uri="{BB962C8B-B14F-4D97-AF65-F5344CB8AC3E}">
        <p14:creationId xmlns:p14="http://schemas.microsoft.com/office/powerpoint/2010/main" val="6562493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B568D60-C9C6-424C-96EF-9E22D6D50A9A}"/>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M10 / L01</a:t>
            </a:r>
          </a:p>
        </p:txBody>
      </p:sp>
      <p:sp>
        <p:nvSpPr>
          <p:cNvPr id="2" name="">
            <a:extLst xmlns:a="http://schemas.openxmlformats.org/drawingml/2006/main">
              <a:ext uri="{FF2B5EF4-FFF2-40B4-BE49-F238E27FC236}">
                <a16:creationId xmlns:a16="http://schemas.microsoft.com/office/drawing/2014/main" id="{B856CFAD-974A-4D56-842A-6805452A2FC3}"/>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Reliable Machine-Learning Pipelines</a:t>
            </a:r>
          </a:p>
        </p:txBody>
      </p:sp>
      <p:sp>
        <p:nvSpPr>
          <p:cNvPr id="3" name="">
            <a:extLst xmlns:a="http://schemas.openxmlformats.org/drawingml/2006/main">
              <a:ext uri="{FF2B5EF4-FFF2-40B4-BE49-F238E27FC236}">
                <a16:creationId xmlns:a16="http://schemas.microsoft.com/office/drawing/2014/main" id="{C33EFBBB-1FF1-4F24-8129-B0AF88F1C1A8}"/>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05</a:t>
            </a:r>
          </a:p>
        </p:txBody>
      </p:sp>
      <p:sp>
        <p:nvSpPr>
          <p:cNvPr id="4" name="">
            <a:extLst xmlns:a="http://schemas.openxmlformats.org/drawingml/2006/main">
              <a:ext uri="{FF2B5EF4-FFF2-40B4-BE49-F238E27FC236}">
                <a16:creationId xmlns:a16="http://schemas.microsoft.com/office/drawing/2014/main" id="{A4AB3378-8089-4424-95B7-2F108443A988}"/>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54E2CECD-B467-4B97-83B1-9ADCE5F3644A}"/>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Read every part of the mechanism</a:t>
            </a:r>
          </a:p>
        </p:txBody>
      </p:sp>
      <p:sp>
        <p:nvSpPr>
          <p:cNvPr id="6" name="">
            <a:extLst xmlns:a="http://schemas.openxmlformats.org/drawingml/2006/main">
              <a:ext uri="{FF2B5EF4-FFF2-40B4-BE49-F238E27FC236}">
                <a16:creationId xmlns:a16="http://schemas.microsoft.com/office/drawing/2014/main" id="{AEC6CF8D-554A-441F-A20F-E4CA0C411090}"/>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05C20C5-993A-41CA-BA9C-BA9E61A9813C}"/>
              </a:ext>
            </a:extLst>
          </p:cNvPr>
          <p:cNvSpPr>
            <a:spLocks xmlns:a="http://schemas.openxmlformats.org/drawingml/2006/main" noGrp="1"/>
          </p:cNvSpPr>
          <p:nvPr/>
        </p:nvSpPr>
        <p:spPr>
          <a:xfrm xmlns:a="http://schemas.openxmlformats.org/drawingml/2006/main">
            <a:off x="609600" y="2686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Fit learns preprocessing and model parameters from each training fold; transform and predict reuse those fitted values.</a:t>
            </a:r>
          </a:p>
        </p:txBody>
      </p:sp>
      <p:sp>
        <p:nvSpPr>
          <p:cNvPr id="8" name="">
            <a:extLst xmlns:a="http://schemas.openxmlformats.org/drawingml/2006/main">
              <a:ext uri="{FF2B5EF4-FFF2-40B4-BE49-F238E27FC236}">
                <a16:creationId xmlns:a16="http://schemas.microsoft.com/office/drawing/2014/main" id="{C039A70B-8C92-4676-BD1F-A43E6D9EBF29}"/>
              </a:ext>
            </a:extLst>
          </p:cNvPr>
          <p:cNvSpPr>
            <a:spLocks xmlns:a="http://schemas.openxmlformats.org/drawingml/2006/main" noGrp="1"/>
          </p:cNvSpPr>
          <p:nvPr/>
        </p:nvSpPr>
        <p:spPr>
          <a:xfrm xmlns:a="http://schemas.openxmlformats.org/drawingml/2006/main">
            <a:off x="60960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67D78B-894B-44F7-8814-8C1632C81693}"/>
              </a:ext>
            </a:extLst>
          </p:cNvPr>
          <p:cNvSpPr>
            <a:spLocks xmlns:a="http://schemas.openxmlformats.org/drawingml/2006/main" noGrp="1"/>
          </p:cNvSpPr>
          <p:nvPr/>
        </p:nvSpPr>
        <p:spPr>
          <a:xfrm xmlns:a="http://schemas.openxmlformats.org/drawingml/2006/main">
            <a:off x="80010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imputation: A declared replacement for missing values.</a:t>
            </a:r>
          </a:p>
        </p:txBody>
      </p:sp>
      <p:sp>
        <p:nvSpPr>
          <p:cNvPr id="10" name="">
            <a:extLst xmlns:a="http://schemas.openxmlformats.org/drawingml/2006/main">
              <a:ext uri="{FF2B5EF4-FFF2-40B4-BE49-F238E27FC236}">
                <a16:creationId xmlns:a16="http://schemas.microsoft.com/office/drawing/2014/main" id="{0778B3AF-B631-4783-A535-8EB66C1E0332}"/>
              </a:ext>
            </a:extLst>
          </p:cNvPr>
          <p:cNvSpPr>
            <a:spLocks xmlns:a="http://schemas.openxmlformats.org/drawingml/2006/main" noGrp="1"/>
          </p:cNvSpPr>
          <p:nvPr/>
        </p:nvSpPr>
        <p:spPr>
          <a:xfrm xmlns:a="http://schemas.openxmlformats.org/drawingml/2006/main">
            <a:off x="607695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3BACBE-E5C9-4ECE-9873-516CF0DBECAA}"/>
              </a:ext>
            </a:extLst>
          </p:cNvPr>
          <p:cNvSpPr>
            <a:spLocks xmlns:a="http://schemas.openxmlformats.org/drawingml/2006/main" noGrp="1"/>
          </p:cNvSpPr>
          <p:nvPr/>
        </p:nvSpPr>
        <p:spPr>
          <a:xfrm xmlns:a="http://schemas.openxmlformats.org/drawingml/2006/main">
            <a:off x="626745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pipeline: An ordered fitted workflow.</a:t>
            </a:r>
          </a:p>
        </p:txBody>
      </p:sp>
      <p:sp>
        <p:nvSpPr>
          <p:cNvPr id="12" name="">
            <a:extLst xmlns:a="http://schemas.openxmlformats.org/drawingml/2006/main">
              <a:ext uri="{FF2B5EF4-FFF2-40B4-BE49-F238E27FC236}">
                <a16:creationId xmlns:a16="http://schemas.microsoft.com/office/drawing/2014/main" id="{555474C6-47CE-49C7-A0E0-D6B9DCA231DD}"/>
              </a:ext>
            </a:extLst>
          </p:cNvPr>
          <p:cNvSpPr>
            <a:spLocks xmlns:a="http://schemas.openxmlformats.org/drawingml/2006/main" noGrp="1"/>
          </p:cNvSpPr>
          <p:nvPr/>
        </p:nvSpPr>
        <p:spPr>
          <a:xfrm xmlns:a="http://schemas.openxmlformats.org/drawingml/2006/main">
            <a:off x="60960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CB3DC9-C5BC-4EE3-846A-C357A9E3448F}"/>
              </a:ext>
            </a:extLst>
          </p:cNvPr>
          <p:cNvSpPr>
            <a:spLocks xmlns:a="http://schemas.openxmlformats.org/drawingml/2006/main" noGrp="1"/>
          </p:cNvSpPr>
          <p:nvPr/>
        </p:nvSpPr>
        <p:spPr>
          <a:xfrm xmlns:a="http://schemas.openxmlformats.org/drawingml/2006/main">
            <a:off x="80010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fold: One cross-validation partition.</a:t>
            </a:r>
          </a:p>
        </p:txBody>
      </p:sp>
    </p:spTree>
    <p:extLst>
      <p:ext uri="{BB962C8B-B14F-4D97-AF65-F5344CB8AC3E}">
        <p14:creationId xmlns:p14="http://schemas.microsoft.com/office/powerpoint/2010/main" val="1406018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481C8CE-7F2C-4F54-9EB3-FFA79CF5D096}"/>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M10 / L01</a:t>
            </a:r>
          </a:p>
        </p:txBody>
      </p:sp>
      <p:sp>
        <p:nvSpPr>
          <p:cNvPr id="2" name="">
            <a:extLst xmlns:a="http://schemas.openxmlformats.org/drawingml/2006/main">
              <a:ext uri="{FF2B5EF4-FFF2-40B4-BE49-F238E27FC236}">
                <a16:creationId xmlns:a16="http://schemas.microsoft.com/office/drawing/2014/main" id="{B184D2A5-9A80-46F9-A77A-64D4D64C651D}"/>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Reliable Machine-Learning Pipelines</a:t>
            </a:r>
          </a:p>
        </p:txBody>
      </p:sp>
      <p:sp>
        <p:nvSpPr>
          <p:cNvPr id="3" name="">
            <a:extLst xmlns:a="http://schemas.openxmlformats.org/drawingml/2006/main">
              <a:ext uri="{FF2B5EF4-FFF2-40B4-BE49-F238E27FC236}">
                <a16:creationId xmlns:a16="http://schemas.microsoft.com/office/drawing/2014/main" id="{1F1CDCBC-D592-46B4-877A-9164D19FEFE3}"/>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5B7F0178-52F7-4B7C-AA4D-123A42439CA0}"/>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WORKED EXAMPLE</a:t>
            </a:r>
          </a:p>
        </p:txBody>
      </p:sp>
      <p:sp>
        <p:nvSpPr>
          <p:cNvPr id="5" name="">
            <a:extLst xmlns:a="http://schemas.openxmlformats.org/drawingml/2006/main">
              <a:ext uri="{FF2B5EF4-FFF2-40B4-BE49-F238E27FC236}">
                <a16:creationId xmlns:a16="http://schemas.microsoft.com/office/drawing/2014/main" id="{62190A61-98F0-4717-8883-CFA2FDA118BB}"/>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Worked example by hand</a:t>
            </a:r>
          </a:p>
        </p:txBody>
      </p:sp>
      <p:sp>
        <p:nvSpPr>
          <p:cNvPr id="6" name="">
            <a:extLst xmlns:a="http://schemas.openxmlformats.org/drawingml/2006/main">
              <a:ext uri="{FF2B5EF4-FFF2-40B4-BE49-F238E27FC236}">
                <a16:creationId xmlns:a16="http://schemas.microsoft.com/office/drawing/2014/main" id="{FF848488-CB4A-4765-A4BB-C4D3FC45184B}"/>
              </a:ext>
            </a:extLst>
          </p:cNvPr>
          <p:cNvSpPr>
            <a:spLocks xmlns:a="http://schemas.openxmlformats.org/drawingml/2006/main" noGrp="1"/>
          </p:cNvSpPr>
          <p:nvPr/>
        </p:nvSpPr>
        <p:spPr>
          <a:xfrm xmlns:a="http://schemas.openxmlformats.org/drawingml/2006/main">
            <a:off x="628650" y="1714500"/>
            <a:ext cx="10382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0B1220"/>
                </a:solidFill>
              </a:defRPr>
            </a:pPr>
            <a:r>
              <a:rPr sz="2325" b="1">
                <a:solidFill>
                  <a:srgbClr val="0B1220"/>
                </a:solidFill>
              </a:rPr>
              <a:t>Show why scaling all rows before the split leaks the test mean, then place scaling inside a Pipeline.</a:t>
            </a:r>
          </a:p>
        </p:txBody>
      </p:sp>
      <p:sp>
        <p:nvSpPr>
          <p:cNvPr id="7" name="">
            <a:extLst xmlns:a="http://schemas.openxmlformats.org/drawingml/2006/main">
              <a:ext uri="{FF2B5EF4-FFF2-40B4-BE49-F238E27FC236}">
                <a16:creationId xmlns:a16="http://schemas.microsoft.com/office/drawing/2014/main" id="{22242BEF-7B98-4272-AE4E-6EA8890337AE}"/>
              </a:ext>
            </a:extLst>
          </p:cNvPr>
          <p:cNvSpPr>
            <a:spLocks xmlns:a="http://schemas.openxmlformats.org/drawingml/2006/main" noGrp="1"/>
          </p:cNvSpPr>
          <p:nvPr/>
        </p:nvSpPr>
        <p:spPr>
          <a:xfrm xmlns:a="http://schemas.openxmlformats.org/drawingml/2006/main">
            <a:off x="6286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01</a:t>
            </a:r>
          </a:p>
        </p:txBody>
      </p:sp>
      <p:sp>
        <p:nvSpPr>
          <p:cNvPr id="8" name="">
            <a:extLst xmlns:a="http://schemas.openxmlformats.org/drawingml/2006/main">
              <a:ext uri="{FF2B5EF4-FFF2-40B4-BE49-F238E27FC236}">
                <a16:creationId xmlns:a16="http://schemas.microsoft.com/office/drawing/2014/main" id="{3ADE32E3-89B7-45AD-BA3C-77A5D0E3FC1B}"/>
              </a:ext>
            </a:extLst>
          </p:cNvPr>
          <p:cNvSpPr>
            <a:spLocks xmlns:a="http://schemas.openxmlformats.org/drawingml/2006/main" noGrp="1"/>
          </p:cNvSpPr>
          <p:nvPr/>
        </p:nvSpPr>
        <p:spPr>
          <a:xfrm xmlns:a="http://schemas.openxmlformats.org/drawingml/2006/main">
            <a:off x="628650" y="4324350"/>
            <a:ext cx="30099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516F59-01C4-447E-9B85-3451FFF35773}"/>
              </a:ext>
            </a:extLst>
          </p:cNvPr>
          <p:cNvSpPr>
            <a:spLocks xmlns:a="http://schemas.openxmlformats.org/drawingml/2006/main" noGrp="1"/>
          </p:cNvSpPr>
          <p:nvPr/>
        </p:nvSpPr>
        <p:spPr>
          <a:xfrm xmlns:a="http://schemas.openxmlformats.org/drawingml/2006/main">
            <a:off x="6286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Known values</a:t>
            </a:r>
          </a:p>
        </p:txBody>
      </p:sp>
      <p:sp>
        <p:nvSpPr>
          <p:cNvPr id="10" name="">
            <a:extLst xmlns:a="http://schemas.openxmlformats.org/drawingml/2006/main">
              <a:ext uri="{FF2B5EF4-FFF2-40B4-BE49-F238E27FC236}">
                <a16:creationId xmlns:a16="http://schemas.microsoft.com/office/drawing/2014/main" id="{12F0D22B-BC65-4E1E-9E92-39ED2F513AEE}"/>
              </a:ext>
            </a:extLst>
          </p:cNvPr>
          <p:cNvSpPr>
            <a:spLocks xmlns:a="http://schemas.openxmlformats.org/drawingml/2006/main" noGrp="1"/>
          </p:cNvSpPr>
          <p:nvPr/>
        </p:nvSpPr>
        <p:spPr>
          <a:xfrm xmlns:a="http://schemas.openxmlformats.org/drawingml/2006/main">
            <a:off x="42862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02</a:t>
            </a:r>
          </a:p>
        </p:txBody>
      </p:sp>
      <p:sp>
        <p:nvSpPr>
          <p:cNvPr id="11" name="">
            <a:extLst xmlns:a="http://schemas.openxmlformats.org/drawingml/2006/main">
              <a:ext uri="{FF2B5EF4-FFF2-40B4-BE49-F238E27FC236}">
                <a16:creationId xmlns:a16="http://schemas.microsoft.com/office/drawing/2014/main" id="{AA9F83F8-983E-4B73-A719-97762520F245}"/>
              </a:ext>
            </a:extLst>
          </p:cNvPr>
          <p:cNvSpPr>
            <a:spLocks xmlns:a="http://schemas.openxmlformats.org/drawingml/2006/main" noGrp="1"/>
          </p:cNvSpPr>
          <p:nvPr/>
        </p:nvSpPr>
        <p:spPr>
          <a:xfrm xmlns:a="http://schemas.openxmlformats.org/drawingml/2006/main">
            <a:off x="4286250" y="4324350"/>
            <a:ext cx="30099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516677A-BC9E-4029-A810-BEC0ADF91B8A}"/>
              </a:ext>
            </a:extLst>
          </p:cNvPr>
          <p:cNvSpPr>
            <a:spLocks xmlns:a="http://schemas.openxmlformats.org/drawingml/2006/main" noGrp="1"/>
          </p:cNvSpPr>
          <p:nvPr/>
        </p:nvSpPr>
        <p:spPr>
          <a:xfrm xmlns:a="http://schemas.openxmlformats.org/drawingml/2006/main">
            <a:off x="42862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Apply the mechanism</a:t>
            </a:r>
          </a:p>
        </p:txBody>
      </p:sp>
      <p:sp>
        <p:nvSpPr>
          <p:cNvPr id="13" name="">
            <a:extLst xmlns:a="http://schemas.openxmlformats.org/drawingml/2006/main">
              <a:ext uri="{FF2B5EF4-FFF2-40B4-BE49-F238E27FC236}">
                <a16:creationId xmlns:a16="http://schemas.microsoft.com/office/drawing/2014/main" id="{9BD40272-FCC9-455B-9477-B419D845BCE9}"/>
              </a:ext>
            </a:extLst>
          </p:cNvPr>
          <p:cNvSpPr>
            <a:spLocks xmlns:a="http://schemas.openxmlformats.org/drawingml/2006/main" noGrp="1"/>
          </p:cNvSpPr>
          <p:nvPr/>
        </p:nvSpPr>
        <p:spPr>
          <a:xfrm xmlns:a="http://schemas.openxmlformats.org/drawingml/2006/main">
            <a:off x="79438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06B5F"/>
                </a:solidFill>
              </a:defRPr>
            </a:pPr>
            <a:r>
              <a:rPr sz="1200" b="1">
                <a:solidFill>
                  <a:srgbClr val="F06B5F"/>
                </a:solidFill>
              </a:rPr>
              <a:t>03</a:t>
            </a:r>
          </a:p>
        </p:txBody>
      </p:sp>
      <p:sp>
        <p:nvSpPr>
          <p:cNvPr id="14" name="">
            <a:extLst xmlns:a="http://schemas.openxmlformats.org/drawingml/2006/main">
              <a:ext uri="{FF2B5EF4-FFF2-40B4-BE49-F238E27FC236}">
                <a16:creationId xmlns:a16="http://schemas.microsoft.com/office/drawing/2014/main" id="{28D8004A-543C-488A-BF31-2616E791B63D}"/>
              </a:ext>
            </a:extLst>
          </p:cNvPr>
          <p:cNvSpPr>
            <a:spLocks xmlns:a="http://schemas.openxmlformats.org/drawingml/2006/main" noGrp="1"/>
          </p:cNvSpPr>
          <p:nvPr/>
        </p:nvSpPr>
        <p:spPr>
          <a:xfrm xmlns:a="http://schemas.openxmlformats.org/drawingml/2006/main">
            <a:off x="7943850" y="4324350"/>
            <a:ext cx="30099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385454C-49C0-47F1-88D5-E0A1244B1D70}"/>
              </a:ext>
            </a:extLst>
          </p:cNvPr>
          <p:cNvSpPr>
            <a:spLocks xmlns:a="http://schemas.openxmlformats.org/drawingml/2006/main" noGrp="1"/>
          </p:cNvSpPr>
          <p:nvPr/>
        </p:nvSpPr>
        <p:spPr>
          <a:xfrm xmlns:a="http://schemas.openxmlformats.org/drawingml/2006/main">
            <a:off x="79438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Interpret the result</a:t>
            </a:r>
          </a:p>
        </p:txBody>
      </p:sp>
    </p:spTree>
    <p:extLst>
      <p:ext uri="{BB962C8B-B14F-4D97-AF65-F5344CB8AC3E}">
        <p14:creationId xmlns:p14="http://schemas.microsoft.com/office/powerpoint/2010/main" val="957931309"/>
      </p:ext>
    </p:extLst>
  </p:cSld>
</p:sld>
</file>

<file path=ppt/slides/slide7.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AC49B24-CA26-4530-8FCB-D6B6324DF33F}"/>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M10 / L01</a:t>
            </a:r>
          </a:p>
        </p:txBody>
      </p:sp>
      <p:sp>
        <p:nvSpPr>
          <p:cNvPr id="2" name="">
            <a:extLst xmlns:a="http://schemas.openxmlformats.org/drawingml/2006/main">
              <a:ext uri="{FF2B5EF4-FFF2-40B4-BE49-F238E27FC236}">
                <a16:creationId xmlns:a16="http://schemas.microsoft.com/office/drawing/2014/main" id="{38194C4F-6319-4747-8CF5-6F2EACC002FA}"/>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Reliable Machine-Learning Pipelines</a:t>
            </a:r>
          </a:p>
        </p:txBody>
      </p:sp>
      <p:sp>
        <p:nvSpPr>
          <p:cNvPr id="3" name="">
            <a:extLst xmlns:a="http://schemas.openxmlformats.org/drawingml/2006/main">
              <a:ext uri="{FF2B5EF4-FFF2-40B4-BE49-F238E27FC236}">
                <a16:creationId xmlns:a16="http://schemas.microsoft.com/office/drawing/2014/main" id="{A1526A30-716E-4A0F-B38B-440BB1F4A81F}"/>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07</a:t>
            </a:r>
          </a:p>
        </p:txBody>
      </p:sp>
      <p:sp>
        <p:nvSpPr>
          <p:cNvPr id="4" name="">
            <a:extLst xmlns:a="http://schemas.openxmlformats.org/drawingml/2006/main">
              <a:ext uri="{FF2B5EF4-FFF2-40B4-BE49-F238E27FC236}">
                <a16:creationId xmlns:a16="http://schemas.microsoft.com/office/drawing/2014/main" id="{60F1CCA6-C0E1-4D54-A426-80EBE8E960E6}"/>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B5E66C79-3CD2-4E28-873F-ECC30DA1102F}"/>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Map the concept to Python</a:t>
            </a:r>
          </a:p>
        </p:txBody>
      </p:sp>
      <p:sp>
        <p:nvSpPr>
          <p:cNvPr id="6" name="">
            <a:extLst xmlns:a="http://schemas.openxmlformats.org/drawingml/2006/main">
              <a:ext uri="{FF2B5EF4-FFF2-40B4-BE49-F238E27FC236}">
                <a16:creationId xmlns:a16="http://schemas.microsoft.com/office/drawing/2014/main" id="{310B00B7-6A63-43D9-8CFD-461A24686E87}"/>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365D489-35B6-404D-80DB-255585F66A08}"/>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5AFDDED-306B-453D-B9F7-3D43A29EC6E4}"/>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658648A-7DED-44CC-A86C-783A373940AD}"/>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5B71FC-51B1-4561-A417-2D57B14293D9}"/>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C4872D-B787-4CDE-A483-A9DE3067E80A}"/>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model = make_pipeline(StandardScaler(), Ridge())</a:t>
            </a:r>
          </a:p>
          <a:p xmlns:a="http://schemas.openxmlformats.org/drawingml/2006/main">
            <a:pPr>
              <a:defRPr sz="1125">
                <a:solidFill>
                  <a:srgbClr val="E8F1F7"/>
                </a:solidFill>
              </a:defRPr>
            </a:pPr>
            <a:r>
              <a:rPr sz="1125">
                <a:solidFill>
                  <a:srgbClr val="E8F1F7"/>
                </a:solidFill>
              </a:rPr>
              <a:t>scores = cross_val_score(model, X, y, cv=5, scoring="neg_root_mean_squared_error")</a:t>
            </a:r>
          </a:p>
          <a:p xmlns:a="http://schemas.openxmlformats.org/drawingml/2006/main">
            <a:pPr>
              <a:defRPr sz="1125">
                <a:solidFill>
                  <a:srgbClr val="E8F1F7"/>
                </a:solidFill>
              </a:defRPr>
            </a:pPr>
            <a:r>
              <a:rPr sz="1125">
                <a:solidFill>
                  <a:srgbClr val="E8F1F7"/>
                </a:solidFill>
              </a:rPr>
              <a:t>print(f"folds={len(scores)}")</a:t>
            </a:r>
          </a:p>
        </p:txBody>
      </p:sp>
      <p:sp>
        <p:nvSpPr>
          <p:cNvPr id="12" name="">
            <a:extLst xmlns:a="http://schemas.openxmlformats.org/drawingml/2006/main">
              <a:ext uri="{FF2B5EF4-FFF2-40B4-BE49-F238E27FC236}">
                <a16:creationId xmlns:a16="http://schemas.microsoft.com/office/drawing/2014/main" id="{CD505485-D94A-40D8-B771-A7C5F0D8150C}"/>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1F2CEEDE-F022-410A-894D-2E407EDCAC65}"/>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AF57150A-12A8-4790-A909-5D3E18D92AE2}"/>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folds=5</a:t>
            </a:r>
          </a:p>
        </p:txBody>
      </p:sp>
      <p:sp>
        <p:nvSpPr>
          <p:cNvPr id="15" name="">
            <a:extLst xmlns:a="http://schemas.openxmlformats.org/drawingml/2006/main">
              <a:ext uri="{FF2B5EF4-FFF2-40B4-BE49-F238E27FC236}">
                <a16:creationId xmlns:a16="http://schemas.microsoft.com/office/drawing/2014/main" id="{81F9E6B2-97F2-40BC-8509-579FA01D4BF8}"/>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A713DDA-0183-4D70-B209-38B7CC206BE1}"/>
              </a:ext>
            </a:extLst>
          </p:cNvPr>
          <p:cNvSpPr>
            <a:spLocks xmlns:a="http://schemas.openxmlformats.org/drawingml/2006/main" noGrp="1"/>
          </p:cNvSpPr>
          <p:nvPr/>
        </p:nvSpPr>
        <p:spPr>
          <a:xfrm xmlns:a="http://schemas.openxmlformats.org/drawingml/2006/main">
            <a:off x="723900" y="5886450"/>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Each line corresponds to a concept already explained.</a:t>
            </a:r>
          </a:p>
        </p:txBody>
      </p:sp>
    </p:spTree>
    <p:extLst>
      <p:ext uri="{BB962C8B-B14F-4D97-AF65-F5344CB8AC3E}">
        <p14:creationId xmlns:p14="http://schemas.microsoft.com/office/powerpoint/2010/main" val="2820460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6956999-E4E4-4F5D-939B-29FF1B45A072}"/>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M10 / L01</a:t>
            </a:r>
          </a:p>
        </p:txBody>
      </p:sp>
      <p:sp>
        <p:nvSpPr>
          <p:cNvPr id="2" name="">
            <a:extLst xmlns:a="http://schemas.openxmlformats.org/drawingml/2006/main">
              <a:ext uri="{FF2B5EF4-FFF2-40B4-BE49-F238E27FC236}">
                <a16:creationId xmlns:a16="http://schemas.microsoft.com/office/drawing/2014/main" id="{C57AE91F-7810-4448-8400-DB9B35D9E448}"/>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Reliable Machine-Learning Pipelines</a:t>
            </a:r>
          </a:p>
        </p:txBody>
      </p:sp>
      <p:sp>
        <p:nvSpPr>
          <p:cNvPr id="3" name="">
            <a:extLst xmlns:a="http://schemas.openxmlformats.org/drawingml/2006/main">
              <a:ext uri="{FF2B5EF4-FFF2-40B4-BE49-F238E27FC236}">
                <a16:creationId xmlns:a16="http://schemas.microsoft.com/office/drawing/2014/main" id="{96BD2971-76F4-4382-B711-4E786554C603}"/>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08</a:t>
            </a:r>
          </a:p>
        </p:txBody>
      </p:sp>
      <p:sp>
        <p:nvSpPr>
          <p:cNvPr id="4" name="">
            <a:extLst xmlns:a="http://schemas.openxmlformats.org/drawingml/2006/main">
              <a:ext uri="{FF2B5EF4-FFF2-40B4-BE49-F238E27FC236}">
                <a16:creationId xmlns:a16="http://schemas.microsoft.com/office/drawing/2014/main" id="{D4F8AE8A-6A5C-4A61-BA5E-5892E78979E7}"/>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23C78DBF-464F-448F-99C7-CF433B8C4999}"/>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Build the complete mental model</a:t>
            </a:r>
          </a:p>
        </p:txBody>
      </p:sp>
      <p:sp>
        <p:nvSpPr>
          <p:cNvPr id="6" name="">
            <a:extLst xmlns:a="http://schemas.openxmlformats.org/drawingml/2006/main">
              <a:ext uri="{FF2B5EF4-FFF2-40B4-BE49-F238E27FC236}">
                <a16:creationId xmlns:a16="http://schemas.microsoft.com/office/drawing/2014/main" id="{A9126107-4499-4A09-87B3-B458547323BA}"/>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AB49E388-EF93-470B-A652-71513CC204EF}"/>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4C6C73B9-18DE-413F-B4DF-FB4E9AAEB12C}"/>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Fit imputation, scaling, and encoding inside each training fold to prevent leakage.</a:t>
            </a:r>
          </a:p>
        </p:txBody>
      </p:sp>
      <p:sp>
        <p:nvSpPr>
          <p:cNvPr id="9" name="">
            <a:extLst xmlns:a="http://schemas.openxmlformats.org/drawingml/2006/main">
              <a:ext uri="{FF2B5EF4-FFF2-40B4-BE49-F238E27FC236}">
                <a16:creationId xmlns:a16="http://schemas.microsoft.com/office/drawing/2014/main" id="{9AAF2FC7-DA94-49A9-A044-4683DE61B654}"/>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9B3A562-FE14-4F6A-AA3A-9AF0D8D63E65}"/>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B1C71A9B-EB48-42B1-AC7D-503BA4EA8E42}"/>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9B5A4E3A-02F5-437F-8322-D17C1B725E0A}"/>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Cross-validation reports variation across folds, not one deceptively precise score.</a:t>
            </a:r>
          </a:p>
        </p:txBody>
      </p:sp>
      <p:sp>
        <p:nvSpPr>
          <p:cNvPr id="13" name="">
            <a:extLst xmlns:a="http://schemas.openxmlformats.org/drawingml/2006/main">
              <a:ext uri="{FF2B5EF4-FFF2-40B4-BE49-F238E27FC236}">
                <a16:creationId xmlns:a16="http://schemas.microsoft.com/office/drawing/2014/main" id="{89627D91-4BA7-4E92-B3DE-FDE783502773}"/>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9ADC82-7408-462B-AFD1-C12E0BC3AD42}"/>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69EFE920-59F4-4D3E-AE7B-B1ED38EAE788}"/>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BCE83C5D-FA54-47A2-B186-18A3E056CBA4}"/>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Select hyperparameters using validation evidence and evaluate once on the untouched test set.</a:t>
            </a:r>
          </a:p>
        </p:txBody>
      </p:sp>
      <p:sp>
        <p:nvSpPr>
          <p:cNvPr id="17" name="">
            <a:extLst xmlns:a="http://schemas.openxmlformats.org/drawingml/2006/main">
              <a:ext uri="{FF2B5EF4-FFF2-40B4-BE49-F238E27FC236}">
                <a16:creationId xmlns:a16="http://schemas.microsoft.com/office/drawing/2014/main" id="{76ED1D1C-4915-45C5-A2D2-F7BB2F33EA8E}"/>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79EFC08-92ED-4E8B-8A61-247BBD148FF3}"/>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5763FAA5-05EF-440B-9DE9-AB47A72B4702}"/>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8074AC76-B4DC-4BBF-8FEC-9333549C930D}"/>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Persist preprocessing, model, schema, versions, parameters, metrics, and data identity together.</a:t>
            </a:r>
          </a:p>
        </p:txBody>
      </p:sp>
      <p:sp>
        <p:nvSpPr>
          <p:cNvPr id="21" name="">
            <a:extLst xmlns:a="http://schemas.openxmlformats.org/drawingml/2006/main">
              <a:ext uri="{FF2B5EF4-FFF2-40B4-BE49-F238E27FC236}">
                <a16:creationId xmlns:a16="http://schemas.microsoft.com/office/drawing/2014/main" id="{C9EED799-021E-4338-8B9B-2F275DE28F85}"/>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1502537987"/>
      </p:ext>
    </p:extLst>
  </p:cSld>
</p:sld>
</file>

<file path=ppt/slides/slide9.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33ED285-216E-4AA0-9A17-F1824697C01F}"/>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M10 / L01</a:t>
            </a:r>
          </a:p>
        </p:txBody>
      </p:sp>
      <p:sp>
        <p:nvSpPr>
          <p:cNvPr id="2" name="">
            <a:extLst xmlns:a="http://schemas.openxmlformats.org/drawingml/2006/main">
              <a:ext uri="{FF2B5EF4-FFF2-40B4-BE49-F238E27FC236}">
                <a16:creationId xmlns:a16="http://schemas.microsoft.com/office/drawing/2014/main" id="{411465B8-C729-4509-BD36-69B39A749ADD}"/>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Reliable Machine-Learning Pipelines</a:t>
            </a:r>
          </a:p>
        </p:txBody>
      </p:sp>
      <p:sp>
        <p:nvSpPr>
          <p:cNvPr id="3" name="">
            <a:extLst xmlns:a="http://schemas.openxmlformats.org/drawingml/2006/main">
              <a:ext uri="{FF2B5EF4-FFF2-40B4-BE49-F238E27FC236}">
                <a16:creationId xmlns:a16="http://schemas.microsoft.com/office/drawing/2014/main" id="{EEF1AD1E-1C51-4908-BA9A-CED1425BE101}"/>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09</a:t>
            </a:r>
          </a:p>
        </p:txBody>
      </p:sp>
      <p:sp>
        <p:nvSpPr>
          <p:cNvPr id="4" name="">
            <a:extLst xmlns:a="http://schemas.openxmlformats.org/drawingml/2006/main">
              <a:ext uri="{FF2B5EF4-FFF2-40B4-BE49-F238E27FC236}">
                <a16:creationId xmlns:a16="http://schemas.microsoft.com/office/drawing/2014/main" id="{C6968DF2-F4B0-47D0-8281-7D2A8EE3EDDF}"/>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FOUR CONNECTED IDEAS</a:t>
            </a:r>
          </a:p>
        </p:txBody>
      </p:sp>
      <p:sp>
        <p:nvSpPr>
          <p:cNvPr id="5" name="">
            <a:extLst xmlns:a="http://schemas.openxmlformats.org/drawingml/2006/main">
              <a:ext uri="{FF2B5EF4-FFF2-40B4-BE49-F238E27FC236}">
                <a16:creationId xmlns:a16="http://schemas.microsoft.com/office/drawing/2014/main" id="{F5AA170B-02DC-4D47-BD34-E7CA18EBC231}"/>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Notebook readiness map</a:t>
            </a:r>
          </a:p>
        </p:txBody>
      </p:sp>
      <p:sp>
        <p:nvSpPr>
          <p:cNvPr id="6" name="">
            <a:extLst xmlns:a="http://schemas.openxmlformats.org/drawingml/2006/main">
              <a:ext uri="{FF2B5EF4-FFF2-40B4-BE49-F238E27FC236}">
                <a16:creationId xmlns:a16="http://schemas.microsoft.com/office/drawing/2014/main" id="{B8257CCA-A67D-45E7-81D6-29614CAB914F}"/>
              </a:ext>
            </a:extLst>
          </p:cNvPr>
          <p:cNvSpPr>
            <a:spLocks xmlns:a="http://schemas.openxmlformats.org/drawingml/2006/main" noGrp="1"/>
          </p:cNvSpPr>
          <p:nvPr/>
        </p:nvSpPr>
        <p:spPr>
          <a:xfrm xmlns:a="http://schemas.openxmlformats.org/drawingml/2006/main">
            <a:off x="6096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7" name="">
            <a:extLst xmlns:a="http://schemas.openxmlformats.org/drawingml/2006/main">
              <a:ext uri="{FF2B5EF4-FFF2-40B4-BE49-F238E27FC236}">
                <a16:creationId xmlns:a16="http://schemas.microsoft.com/office/drawing/2014/main" id="{C59E2763-E259-4564-9000-DD5988338403}"/>
              </a:ext>
            </a:extLst>
          </p:cNvPr>
          <p:cNvSpPr>
            <a:spLocks xmlns:a="http://schemas.openxmlformats.org/drawingml/2006/main" noGrp="1"/>
          </p:cNvSpPr>
          <p:nvPr/>
        </p:nvSpPr>
        <p:spPr>
          <a:xfrm xmlns:a="http://schemas.openxmlformats.org/drawingml/2006/main">
            <a:off x="609600" y="2686050"/>
            <a:ext cx="2095500" cy="47625"/>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FF76B9-2683-4D1C-AE84-772B9C1D8C9C}"/>
              </a:ext>
            </a:extLst>
          </p:cNvPr>
          <p:cNvSpPr>
            <a:spLocks xmlns:a="http://schemas.openxmlformats.org/drawingml/2006/main" noGrp="1"/>
          </p:cNvSpPr>
          <p:nvPr/>
        </p:nvSpPr>
        <p:spPr>
          <a:xfrm xmlns:a="http://schemas.openxmlformats.org/drawingml/2006/main">
            <a:off x="6096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imputation and encoding</a:t>
            </a:r>
          </a:p>
        </p:txBody>
      </p:sp>
      <p:sp>
        <p:nvSpPr>
          <p:cNvPr id="9" name="">
            <a:extLst xmlns:a="http://schemas.openxmlformats.org/drawingml/2006/main">
              <a:ext uri="{FF2B5EF4-FFF2-40B4-BE49-F238E27FC236}">
                <a16:creationId xmlns:a16="http://schemas.microsoft.com/office/drawing/2014/main" id="{308D439B-0985-4B36-96D3-A0CCAA479EA8}"/>
              </a:ext>
            </a:extLst>
          </p:cNvPr>
          <p:cNvSpPr>
            <a:spLocks xmlns:a="http://schemas.openxmlformats.org/drawingml/2006/main" noGrp="1"/>
          </p:cNvSpPr>
          <p:nvPr/>
        </p:nvSpPr>
        <p:spPr>
          <a:xfrm xmlns:a="http://schemas.openxmlformats.org/drawingml/2006/main">
            <a:off x="28194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0" name="">
            <a:extLst xmlns:a="http://schemas.openxmlformats.org/drawingml/2006/main">
              <a:ext uri="{FF2B5EF4-FFF2-40B4-BE49-F238E27FC236}">
                <a16:creationId xmlns:a16="http://schemas.microsoft.com/office/drawing/2014/main" id="{B8A7E57F-0917-463B-AABE-1FB12A234855}"/>
              </a:ext>
            </a:extLst>
          </p:cNvPr>
          <p:cNvSpPr>
            <a:spLocks xmlns:a="http://schemas.openxmlformats.org/drawingml/2006/main" noGrp="1"/>
          </p:cNvSpPr>
          <p:nvPr/>
        </p:nvSpPr>
        <p:spPr>
          <a:xfrm xmlns:a="http://schemas.openxmlformats.org/drawingml/2006/main">
            <a:off x="34290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3A40B3EE-26F3-4F36-B39C-8D71AF1B4704}"/>
              </a:ext>
            </a:extLst>
          </p:cNvPr>
          <p:cNvSpPr>
            <a:spLocks xmlns:a="http://schemas.openxmlformats.org/drawingml/2006/main" noGrp="1"/>
          </p:cNvSpPr>
          <p:nvPr/>
        </p:nvSpPr>
        <p:spPr>
          <a:xfrm xmlns:a="http://schemas.openxmlformats.org/drawingml/2006/main">
            <a:off x="3429000" y="2686050"/>
            <a:ext cx="20955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227103F-9ECF-46D2-BEDE-7CE7F65DC441}"/>
              </a:ext>
            </a:extLst>
          </p:cNvPr>
          <p:cNvSpPr>
            <a:spLocks xmlns:a="http://schemas.openxmlformats.org/drawingml/2006/main" noGrp="1"/>
          </p:cNvSpPr>
          <p:nvPr/>
        </p:nvSpPr>
        <p:spPr>
          <a:xfrm xmlns:a="http://schemas.openxmlformats.org/drawingml/2006/main">
            <a:off x="34290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ColumnTransformer and Pipeline</a:t>
            </a:r>
          </a:p>
        </p:txBody>
      </p:sp>
      <p:sp>
        <p:nvSpPr>
          <p:cNvPr id="13" name="">
            <a:extLst xmlns:a="http://schemas.openxmlformats.org/drawingml/2006/main">
              <a:ext uri="{FF2B5EF4-FFF2-40B4-BE49-F238E27FC236}">
                <a16:creationId xmlns:a16="http://schemas.microsoft.com/office/drawing/2014/main" id="{E384DB41-4FDE-463E-8105-7870717F4534}"/>
              </a:ext>
            </a:extLst>
          </p:cNvPr>
          <p:cNvSpPr>
            <a:spLocks xmlns:a="http://schemas.openxmlformats.org/drawingml/2006/main" noGrp="1"/>
          </p:cNvSpPr>
          <p:nvPr/>
        </p:nvSpPr>
        <p:spPr>
          <a:xfrm xmlns:a="http://schemas.openxmlformats.org/drawingml/2006/main">
            <a:off x="56388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4" name="">
            <a:extLst xmlns:a="http://schemas.openxmlformats.org/drawingml/2006/main">
              <a:ext uri="{FF2B5EF4-FFF2-40B4-BE49-F238E27FC236}">
                <a16:creationId xmlns:a16="http://schemas.microsoft.com/office/drawing/2014/main" id="{F68C7149-2549-4F8B-81E8-1221184F26B7}"/>
              </a:ext>
            </a:extLst>
          </p:cNvPr>
          <p:cNvSpPr>
            <a:spLocks xmlns:a="http://schemas.openxmlformats.org/drawingml/2006/main" noGrp="1"/>
          </p:cNvSpPr>
          <p:nvPr/>
        </p:nvSpPr>
        <p:spPr>
          <a:xfrm xmlns:a="http://schemas.openxmlformats.org/drawingml/2006/main">
            <a:off x="62484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03</a:t>
            </a:r>
          </a:p>
        </p:txBody>
      </p:sp>
      <p:sp>
        <p:nvSpPr>
          <p:cNvPr id="15" name="">
            <a:extLst xmlns:a="http://schemas.openxmlformats.org/drawingml/2006/main">
              <a:ext uri="{FF2B5EF4-FFF2-40B4-BE49-F238E27FC236}">
                <a16:creationId xmlns:a16="http://schemas.microsoft.com/office/drawing/2014/main" id="{A5E35B09-17BE-49D5-A7E6-37A9F01397E3}"/>
              </a:ext>
            </a:extLst>
          </p:cNvPr>
          <p:cNvSpPr>
            <a:spLocks xmlns:a="http://schemas.openxmlformats.org/drawingml/2006/main" noGrp="1"/>
          </p:cNvSpPr>
          <p:nvPr/>
        </p:nvSpPr>
        <p:spPr>
          <a:xfrm xmlns:a="http://schemas.openxmlformats.org/drawingml/2006/main">
            <a:off x="6248400" y="2686050"/>
            <a:ext cx="2095500" cy="47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E8F6F2-476E-4545-9F47-6B0D88D887A3}"/>
              </a:ext>
            </a:extLst>
          </p:cNvPr>
          <p:cNvSpPr>
            <a:spLocks xmlns:a="http://schemas.openxmlformats.org/drawingml/2006/main" noGrp="1"/>
          </p:cNvSpPr>
          <p:nvPr/>
        </p:nvSpPr>
        <p:spPr>
          <a:xfrm xmlns:a="http://schemas.openxmlformats.org/drawingml/2006/main">
            <a:off x="62484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cross-validation</a:t>
            </a:r>
          </a:p>
        </p:txBody>
      </p:sp>
      <p:sp>
        <p:nvSpPr>
          <p:cNvPr id="17" name="">
            <a:extLst xmlns:a="http://schemas.openxmlformats.org/drawingml/2006/main">
              <a:ext uri="{FF2B5EF4-FFF2-40B4-BE49-F238E27FC236}">
                <a16:creationId xmlns:a16="http://schemas.microsoft.com/office/drawing/2014/main" id="{0D31A237-2426-4CFC-B090-74CDC09513B4}"/>
              </a:ext>
            </a:extLst>
          </p:cNvPr>
          <p:cNvSpPr>
            <a:spLocks xmlns:a="http://schemas.openxmlformats.org/drawingml/2006/main" noGrp="1"/>
          </p:cNvSpPr>
          <p:nvPr/>
        </p:nvSpPr>
        <p:spPr>
          <a:xfrm xmlns:a="http://schemas.openxmlformats.org/drawingml/2006/main">
            <a:off x="84582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8" name="">
            <a:extLst xmlns:a="http://schemas.openxmlformats.org/drawingml/2006/main">
              <a:ext uri="{FF2B5EF4-FFF2-40B4-BE49-F238E27FC236}">
                <a16:creationId xmlns:a16="http://schemas.microsoft.com/office/drawing/2014/main" id="{01B116B4-C92D-40C6-A2B1-BDAB7EAFA26A}"/>
              </a:ext>
            </a:extLst>
          </p:cNvPr>
          <p:cNvSpPr>
            <a:spLocks xmlns:a="http://schemas.openxmlformats.org/drawingml/2006/main" noGrp="1"/>
          </p:cNvSpPr>
          <p:nvPr/>
        </p:nvSpPr>
        <p:spPr>
          <a:xfrm xmlns:a="http://schemas.openxmlformats.org/drawingml/2006/main">
            <a:off x="90678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9" name="">
            <a:extLst xmlns:a="http://schemas.openxmlformats.org/drawingml/2006/main">
              <a:ext uri="{FF2B5EF4-FFF2-40B4-BE49-F238E27FC236}">
                <a16:creationId xmlns:a16="http://schemas.microsoft.com/office/drawing/2014/main" id="{43F40724-475E-479E-98D8-AA181BB7F6C4}"/>
              </a:ext>
            </a:extLst>
          </p:cNvPr>
          <p:cNvSpPr>
            <a:spLocks xmlns:a="http://schemas.openxmlformats.org/drawingml/2006/main" noGrp="1"/>
          </p:cNvSpPr>
          <p:nvPr/>
        </p:nvSpPr>
        <p:spPr>
          <a:xfrm xmlns:a="http://schemas.openxmlformats.org/drawingml/2006/main">
            <a:off x="9067800" y="2686050"/>
            <a:ext cx="20955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52D2273-7776-42EF-B0AC-412F44E81447}"/>
              </a:ext>
            </a:extLst>
          </p:cNvPr>
          <p:cNvSpPr>
            <a:spLocks xmlns:a="http://schemas.openxmlformats.org/drawingml/2006/main" noGrp="1"/>
          </p:cNvSpPr>
          <p:nvPr/>
        </p:nvSpPr>
        <p:spPr>
          <a:xfrm xmlns:a="http://schemas.openxmlformats.org/drawingml/2006/main">
            <a:off x="90678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experiment artifacts</a:t>
            </a:r>
          </a:p>
        </p:txBody>
      </p:sp>
      <p:sp>
        <p:nvSpPr>
          <p:cNvPr id="21" name="">
            <a:extLst xmlns:a="http://schemas.openxmlformats.org/drawingml/2006/main">
              <a:ext uri="{FF2B5EF4-FFF2-40B4-BE49-F238E27FC236}">
                <a16:creationId xmlns:a16="http://schemas.microsoft.com/office/drawing/2014/main" id="{FD60DEE5-3E3D-475A-8840-CE5F8F31E91C}"/>
              </a:ext>
            </a:extLst>
          </p:cNvPr>
          <p:cNvSpPr>
            <a:spLocks xmlns:a="http://schemas.openxmlformats.org/drawingml/2006/main" noGrp="1"/>
          </p:cNvSpPr>
          <p:nvPr/>
        </p:nvSpPr>
        <p:spPr>
          <a:xfrm xmlns:a="http://schemas.openxmlformats.org/drawingml/2006/main">
            <a:off x="60960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C9D8E4"/>
                </a:solidFill>
              </a:defRPr>
            </a:pPr>
            <a:r>
              <a:rPr sz="1575">
                <a:solidFill>
                  <a:srgbClr val="C9D8E4"/>
                </a:solidFill>
              </a:rPr>
              <a:t>Use the concepts from this lesson to read and complete https://github.com/curiousily/AI-Bootcamp/blob/master/03.model-development.ipynb.</a:t>
            </a:r>
          </a:p>
        </p:txBody>
      </p:sp>
    </p:spTree>
    <p:extLst>
      <p:ext uri="{BB962C8B-B14F-4D97-AF65-F5344CB8AC3E}">
        <p14:creationId xmlns:p14="http://schemas.microsoft.com/office/powerpoint/2010/main" val="1617777486"/>
      </p:ext>
    </p:extLst>
  </p:cSld>
</p:sld>
</file>

<file path=ppt/slides/slide10.xml><?xml version="1.0" encoding="utf-8"?>
<p:sld xmlns:p="http://schemas.openxmlformats.org/presentationml/2006/main">
  <p:cSld>
    <p:bg>
      <p:bgPr>
        <a:solidFill xmlns:a="http://schemas.openxmlformats.org/drawingml/2006/main">
          <a:srgbClr val="FFF8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F17222-9709-470F-ABF7-B71C848C579E}"/>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M10 / L01</a:t>
            </a:r>
          </a:p>
        </p:txBody>
      </p:sp>
      <p:sp>
        <p:nvSpPr>
          <p:cNvPr id="2" name="">
            <a:extLst xmlns:a="http://schemas.openxmlformats.org/drawingml/2006/main">
              <a:ext uri="{FF2B5EF4-FFF2-40B4-BE49-F238E27FC236}">
                <a16:creationId xmlns:a16="http://schemas.microsoft.com/office/drawing/2014/main" id="{99F6486F-5037-48DB-A027-3AFA00B62F75}"/>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Reliable Machine-Learning Pipelines</a:t>
            </a:r>
          </a:p>
        </p:txBody>
      </p:sp>
      <p:sp>
        <p:nvSpPr>
          <p:cNvPr id="3" name="">
            <a:extLst xmlns:a="http://schemas.openxmlformats.org/drawingml/2006/main">
              <a:ext uri="{FF2B5EF4-FFF2-40B4-BE49-F238E27FC236}">
                <a16:creationId xmlns:a16="http://schemas.microsoft.com/office/drawing/2014/main" id="{B9C9FBFB-26F7-41ED-8F6D-2E483390410A}"/>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B07EFB07-06DF-4B21-AC05-1445AD9375E0}"/>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RISK REVIEW</a:t>
            </a:r>
          </a:p>
        </p:txBody>
      </p:sp>
      <p:sp>
        <p:nvSpPr>
          <p:cNvPr id="5" name="">
            <a:extLst xmlns:a="http://schemas.openxmlformats.org/drawingml/2006/main">
              <a:ext uri="{FF2B5EF4-FFF2-40B4-BE49-F238E27FC236}">
                <a16:creationId xmlns:a16="http://schemas.microsoft.com/office/drawing/2014/main" id="{4CABCC13-C924-4C43-87FE-338F12713F5C}"/>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Common beginner mistakes</a:t>
            </a:r>
          </a:p>
        </p:txBody>
      </p:sp>
      <p:sp>
        <p:nvSpPr>
          <p:cNvPr id="6" name="">
            <a:extLst xmlns:a="http://schemas.openxmlformats.org/drawingml/2006/main">
              <a:ext uri="{FF2B5EF4-FFF2-40B4-BE49-F238E27FC236}">
                <a16:creationId xmlns:a16="http://schemas.microsoft.com/office/drawing/2014/main" id="{67BC1493-F5F1-49FD-B9BF-C48EA575181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56FE780-E6A3-433E-841D-601E5D67DFD7}"/>
              </a:ext>
            </a:extLst>
          </p:cNvPr>
          <p:cNvSpPr>
            <a:spLocks xmlns:a="http://schemas.openxmlformats.org/drawingml/2006/main" noGrp="1"/>
          </p:cNvSpPr>
          <p:nvPr/>
        </p:nvSpPr>
        <p:spPr>
          <a:xfrm xmlns:a="http://schemas.openxmlformats.org/drawingml/2006/main">
            <a:off x="704850" y="18669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01</a:t>
            </a:r>
          </a:p>
        </p:txBody>
      </p:sp>
      <p:sp>
        <p:nvSpPr>
          <p:cNvPr id="8" name="">
            <a:extLst xmlns:a="http://schemas.openxmlformats.org/drawingml/2006/main">
              <a:ext uri="{FF2B5EF4-FFF2-40B4-BE49-F238E27FC236}">
                <a16:creationId xmlns:a16="http://schemas.microsoft.com/office/drawing/2014/main" id="{1957138A-133F-41A7-A40E-0C504F3309D6}"/>
              </a:ext>
            </a:extLst>
          </p:cNvPr>
          <p:cNvSpPr>
            <a:spLocks xmlns:a="http://schemas.openxmlformats.org/drawingml/2006/main" noGrp="1"/>
          </p:cNvSpPr>
          <p:nvPr/>
        </p:nvSpPr>
        <p:spPr>
          <a:xfrm xmlns:a="http://schemas.openxmlformats.org/drawingml/2006/main">
            <a:off x="1809750" y="17907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Fitting preprocessing before cross-validation.</a:t>
            </a:r>
          </a:p>
        </p:txBody>
      </p:sp>
      <p:sp>
        <p:nvSpPr>
          <p:cNvPr id="9" name="">
            <a:extLst xmlns:a="http://schemas.openxmlformats.org/drawingml/2006/main">
              <a:ext uri="{FF2B5EF4-FFF2-40B4-BE49-F238E27FC236}">
                <a16:creationId xmlns:a16="http://schemas.microsoft.com/office/drawing/2014/main" id="{0D39E05C-6348-4D50-B8FD-FFC5BA8C9610}"/>
              </a:ext>
            </a:extLst>
          </p:cNvPr>
          <p:cNvSpPr>
            <a:spLocks xmlns:a="http://schemas.openxmlformats.org/drawingml/2006/main" noGrp="1"/>
          </p:cNvSpPr>
          <p:nvPr/>
        </p:nvSpPr>
        <p:spPr>
          <a:xfrm xmlns:a="http://schemas.openxmlformats.org/drawingml/2006/main">
            <a:off x="704850" y="28670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C506F8A-1A37-4AD2-9CA6-F1375D1252D4}"/>
              </a:ext>
            </a:extLst>
          </p:cNvPr>
          <p:cNvSpPr>
            <a:spLocks xmlns:a="http://schemas.openxmlformats.org/drawingml/2006/main" noGrp="1"/>
          </p:cNvSpPr>
          <p:nvPr/>
        </p:nvSpPr>
        <p:spPr>
          <a:xfrm xmlns:a="http://schemas.openxmlformats.org/drawingml/2006/main">
            <a:off x="704850" y="32766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02</a:t>
            </a:r>
          </a:p>
        </p:txBody>
      </p:sp>
      <p:sp>
        <p:nvSpPr>
          <p:cNvPr id="11" name="">
            <a:extLst xmlns:a="http://schemas.openxmlformats.org/drawingml/2006/main">
              <a:ext uri="{FF2B5EF4-FFF2-40B4-BE49-F238E27FC236}">
                <a16:creationId xmlns:a16="http://schemas.microsoft.com/office/drawing/2014/main" id="{E4CAF963-C428-4EB1-A33B-10D8A145B00C}"/>
              </a:ext>
            </a:extLst>
          </p:cNvPr>
          <p:cNvSpPr>
            <a:spLocks xmlns:a="http://schemas.openxmlformats.org/drawingml/2006/main" noGrp="1"/>
          </p:cNvSpPr>
          <p:nvPr/>
        </p:nvSpPr>
        <p:spPr>
          <a:xfrm xmlns:a="http://schemas.openxmlformats.org/drawingml/2006/main">
            <a:off x="1809750" y="32004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Selecting a model on the final test set.</a:t>
            </a:r>
          </a:p>
        </p:txBody>
      </p:sp>
      <p:sp>
        <p:nvSpPr>
          <p:cNvPr id="12" name="">
            <a:extLst xmlns:a="http://schemas.openxmlformats.org/drawingml/2006/main">
              <a:ext uri="{FF2B5EF4-FFF2-40B4-BE49-F238E27FC236}">
                <a16:creationId xmlns:a16="http://schemas.microsoft.com/office/drawing/2014/main" id="{C2277D56-AA8D-4F42-AD3C-36D29BB61A2D}"/>
              </a:ext>
            </a:extLst>
          </p:cNvPr>
          <p:cNvSpPr>
            <a:spLocks xmlns:a="http://schemas.openxmlformats.org/drawingml/2006/main" noGrp="1"/>
          </p:cNvSpPr>
          <p:nvPr/>
        </p:nvSpPr>
        <p:spPr>
          <a:xfrm xmlns:a="http://schemas.openxmlformats.org/drawingml/2006/main">
            <a:off x="704850" y="42767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Tree>
    <p:extLst>
      <p:ext uri="{BB962C8B-B14F-4D97-AF65-F5344CB8AC3E}">
        <p14:creationId xmlns:p14="http://schemas.microsoft.com/office/powerpoint/2010/main" val="443745878"/>
      </p:ext>
    </p:extLst>
  </p:cSld>
</p:sld>
</file>

<file path=ppt/slides/slide1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D14B07B-BE9C-4ADE-A5CF-392303CE01FA}"/>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M10 / L01</a:t>
            </a:r>
          </a:p>
        </p:txBody>
      </p:sp>
      <p:sp>
        <p:nvSpPr>
          <p:cNvPr id="2" name="">
            <a:extLst xmlns:a="http://schemas.openxmlformats.org/drawingml/2006/main">
              <a:ext uri="{FF2B5EF4-FFF2-40B4-BE49-F238E27FC236}">
                <a16:creationId xmlns:a16="http://schemas.microsoft.com/office/drawing/2014/main" id="{E179E456-0AB9-4A21-B5F2-8B671F60B152}"/>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Reliable Machine-Learning Pipelines</a:t>
            </a:r>
          </a:p>
        </p:txBody>
      </p:sp>
      <p:sp>
        <p:nvSpPr>
          <p:cNvPr id="3" name="">
            <a:extLst xmlns:a="http://schemas.openxmlformats.org/drawingml/2006/main">
              <a:ext uri="{FF2B5EF4-FFF2-40B4-BE49-F238E27FC236}">
                <a16:creationId xmlns:a16="http://schemas.microsoft.com/office/drawing/2014/main" id="{231869EE-799E-4F3F-AB49-E12FBEBD620E}"/>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11</a:t>
            </a:r>
          </a:p>
        </p:txBody>
      </p:sp>
      <p:sp>
        <p:nvSpPr>
          <p:cNvPr id="4" name="">
            <a:extLst xmlns:a="http://schemas.openxmlformats.org/drawingml/2006/main">
              <a:ext uri="{FF2B5EF4-FFF2-40B4-BE49-F238E27FC236}">
                <a16:creationId xmlns:a16="http://schemas.microsoft.com/office/drawing/2014/main" id="{54D38DFE-9A26-4E53-A39D-7F9D93CD9267}"/>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314CCC3A-8A81-4DA0-B812-593991A9B8CC}"/>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75" b="1">
                <a:solidFill>
                  <a:srgbClr val="FFFFFF"/>
                </a:solidFill>
              </a:defRPr>
            </a:pPr>
            <a:r>
              <a:rPr sz="2775" b="1">
                <a:solidFill>
                  <a:srgbClr val="FFFFFF"/>
                </a:solidFill>
              </a:rPr>
              <a:t>Build a mixed-column Pipeline, compare candidates with cross-validation, refit the selected model, and serialize it.</a:t>
            </a:r>
          </a:p>
        </p:txBody>
      </p:sp>
      <p:sp>
        <p:nvSpPr>
          <p:cNvPr id="6" name="">
            <a:extLst xmlns:a="http://schemas.openxmlformats.org/drawingml/2006/main">
              <a:ext uri="{FF2B5EF4-FFF2-40B4-BE49-F238E27FC236}">
                <a16:creationId xmlns:a16="http://schemas.microsoft.com/office/drawing/2014/main" id="{233B0B25-38B2-47C1-B22E-B059598E20AB}"/>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FCF3A335-11D5-4A28-ACB4-C57EF3C6BC35}"/>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20C37E-E7CD-4B58-AAB6-62FAEFB8C18B}"/>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Predict</a:t>
            </a:r>
          </a:p>
        </p:txBody>
      </p:sp>
      <p:sp>
        <p:nvSpPr>
          <p:cNvPr id="9" name="">
            <a:extLst xmlns:a="http://schemas.openxmlformats.org/drawingml/2006/main">
              <a:ext uri="{FF2B5EF4-FFF2-40B4-BE49-F238E27FC236}">
                <a16:creationId xmlns:a16="http://schemas.microsoft.com/office/drawing/2014/main" id="{8700D660-F720-4DAC-BBBC-8F47ECADCBBD}"/>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92177431-3EE4-4B68-87F1-581CAAC591A8}"/>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8EA97D4-B278-4FD9-AECE-8FB3992AE79E}"/>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Run</a:t>
            </a:r>
          </a:p>
        </p:txBody>
      </p:sp>
      <p:sp>
        <p:nvSpPr>
          <p:cNvPr id="12" name="">
            <a:extLst xmlns:a="http://schemas.openxmlformats.org/drawingml/2006/main">
              <a:ext uri="{FF2B5EF4-FFF2-40B4-BE49-F238E27FC236}">
                <a16:creationId xmlns:a16="http://schemas.microsoft.com/office/drawing/2014/main" id="{8B885B92-88FE-45B0-9BA8-BE9D432E16E8}"/>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B7376C22-9D04-4246-959C-AD23BF7521A3}"/>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769FB4-5B2D-40E6-9334-E40D8D976AFC}"/>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Inspect</a:t>
            </a:r>
          </a:p>
        </p:txBody>
      </p:sp>
      <p:sp>
        <p:nvSpPr>
          <p:cNvPr id="15" name="">
            <a:extLst xmlns:a="http://schemas.openxmlformats.org/drawingml/2006/main">
              <a:ext uri="{FF2B5EF4-FFF2-40B4-BE49-F238E27FC236}">
                <a16:creationId xmlns:a16="http://schemas.microsoft.com/office/drawing/2014/main" id="{2E936183-8D4C-40EA-B840-1700900126C4}"/>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48822DC1-C182-4A16-8F75-7B2D37DC9464}"/>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78152B8-FA11-47FD-AED1-A75F21C6EC5F}"/>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Explain</a:t>
            </a:r>
          </a:p>
        </p:txBody>
      </p:sp>
    </p:spTree>
    <p:extLst>
      <p:ext uri="{BB962C8B-B14F-4D97-AF65-F5344CB8AC3E}">
        <p14:creationId xmlns:p14="http://schemas.microsoft.com/office/powerpoint/2010/main" val="1508608831"/>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5D0F2D1-8E2F-4ED8-88EF-1EC680E21A34}"/>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M10 / L01</a:t>
            </a:r>
          </a:p>
        </p:txBody>
      </p:sp>
      <p:sp>
        <p:nvSpPr>
          <p:cNvPr id="2" name="">
            <a:extLst xmlns:a="http://schemas.openxmlformats.org/drawingml/2006/main">
              <a:ext uri="{FF2B5EF4-FFF2-40B4-BE49-F238E27FC236}">
                <a16:creationId xmlns:a16="http://schemas.microsoft.com/office/drawing/2014/main" id="{101B0B33-C41A-41F5-A3FE-D31EE9E0CE24}"/>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Reliable Machine-Learning Pipelines</a:t>
            </a:r>
          </a:p>
        </p:txBody>
      </p:sp>
      <p:sp>
        <p:nvSpPr>
          <p:cNvPr id="3" name="">
            <a:extLst xmlns:a="http://schemas.openxmlformats.org/drawingml/2006/main">
              <a:ext uri="{FF2B5EF4-FFF2-40B4-BE49-F238E27FC236}">
                <a16:creationId xmlns:a16="http://schemas.microsoft.com/office/drawing/2014/main" id="{D22FFA0C-F4F8-4FC8-83A2-4C06BDF62996}"/>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CFB98E08-39FE-4496-8DC1-529D81F11787}"/>
              </a:ext>
            </a:extLst>
          </p:cNvPr>
          <p:cNvSpPr>
            <a:spLocks xmlns:a="http://schemas.openxmlformats.org/drawingml/2006/main" noGrp="1"/>
          </p:cNvSpPr>
          <p:nvPr/>
        </p:nvSpPr>
        <p:spPr>
          <a:xfrm xmlns:a="http://schemas.openxmlformats.org/drawingml/2006/main">
            <a:off x="609600" y="8382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SESSION SYNTHESIS</a:t>
            </a:r>
          </a:p>
        </p:txBody>
      </p:sp>
      <p:sp>
        <p:nvSpPr>
          <p:cNvPr id="5" name="">
            <a:extLst xmlns:a="http://schemas.openxmlformats.org/drawingml/2006/main">
              <a:ext uri="{FF2B5EF4-FFF2-40B4-BE49-F238E27FC236}">
                <a16:creationId xmlns:a16="http://schemas.microsoft.com/office/drawing/2014/main" id="{3B0747D1-FEC7-4A67-BD6F-C91441E97187}"/>
              </a:ext>
            </a:extLst>
          </p:cNvPr>
          <p:cNvSpPr>
            <a:spLocks xmlns:a="http://schemas.openxmlformats.org/drawingml/2006/main" noGrp="1"/>
          </p:cNvSpPr>
          <p:nvPr/>
        </p:nvSpPr>
        <p:spPr>
          <a:xfrm xmlns:a="http://schemas.openxmlformats.org/drawingml/2006/main">
            <a:off x="609600" y="12954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Keep the system, not isolated definitions.</a:t>
            </a:r>
          </a:p>
        </p:txBody>
      </p:sp>
      <p:sp>
        <p:nvSpPr>
          <p:cNvPr id="6" name="">
            <a:extLst xmlns:a="http://schemas.openxmlformats.org/drawingml/2006/main">
              <a:ext uri="{FF2B5EF4-FFF2-40B4-BE49-F238E27FC236}">
                <a16:creationId xmlns:a16="http://schemas.microsoft.com/office/drawing/2014/main" id="{D4F29153-00E2-4DDE-9B4B-CD406EDF8B96}"/>
              </a:ext>
            </a:extLst>
          </p:cNvPr>
          <p:cNvSpPr>
            <a:spLocks xmlns:a="http://schemas.openxmlformats.org/drawingml/2006/main" noGrp="1"/>
          </p:cNvSpPr>
          <p:nvPr/>
        </p:nvSpPr>
        <p:spPr>
          <a:xfrm xmlns:a="http://schemas.openxmlformats.org/drawingml/2006/main">
            <a:off x="628650" y="25336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438601B6-1A99-4F8B-8974-00F2F119D45E}"/>
              </a:ext>
            </a:extLst>
          </p:cNvPr>
          <p:cNvSpPr>
            <a:spLocks xmlns:a="http://schemas.openxmlformats.org/drawingml/2006/main" noGrp="1"/>
          </p:cNvSpPr>
          <p:nvPr/>
        </p:nvSpPr>
        <p:spPr>
          <a:xfrm xmlns:a="http://schemas.openxmlformats.org/drawingml/2006/main">
            <a:off x="1409700" y="248602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Explain imputation and encoding in plain language.</a:t>
            </a:r>
          </a:p>
        </p:txBody>
      </p:sp>
      <p:sp>
        <p:nvSpPr>
          <p:cNvPr id="8" name="">
            <a:extLst xmlns:a="http://schemas.openxmlformats.org/drawingml/2006/main">
              <a:ext uri="{FF2B5EF4-FFF2-40B4-BE49-F238E27FC236}">
                <a16:creationId xmlns:a16="http://schemas.microsoft.com/office/drawing/2014/main" id="{0E60A20F-CBF3-4EAF-BD2C-35064C7E36DF}"/>
              </a:ext>
            </a:extLst>
          </p:cNvPr>
          <p:cNvSpPr>
            <a:spLocks xmlns:a="http://schemas.openxmlformats.org/drawingml/2006/main" noGrp="1"/>
          </p:cNvSpPr>
          <p:nvPr/>
        </p:nvSpPr>
        <p:spPr>
          <a:xfrm xmlns:a="http://schemas.openxmlformats.org/drawingml/2006/main">
            <a:off x="628650" y="33528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9" name="">
            <a:extLst xmlns:a="http://schemas.openxmlformats.org/drawingml/2006/main">
              <a:ext uri="{FF2B5EF4-FFF2-40B4-BE49-F238E27FC236}">
                <a16:creationId xmlns:a16="http://schemas.microsoft.com/office/drawing/2014/main" id="{C1683C65-862E-4170-A28A-3E02784E140E}"/>
              </a:ext>
            </a:extLst>
          </p:cNvPr>
          <p:cNvSpPr>
            <a:spLocks xmlns:a="http://schemas.openxmlformats.org/drawingml/2006/main" noGrp="1"/>
          </p:cNvSpPr>
          <p:nvPr/>
        </p:nvSpPr>
        <p:spPr>
          <a:xfrm xmlns:a="http://schemas.openxmlformats.org/drawingml/2006/main">
            <a:off x="1409700" y="330517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Use ColumnTransformer and Pipeline in a small worked example.</a:t>
            </a:r>
          </a:p>
        </p:txBody>
      </p:sp>
      <p:sp>
        <p:nvSpPr>
          <p:cNvPr id="10" name="">
            <a:extLst xmlns:a="http://schemas.openxmlformats.org/drawingml/2006/main">
              <a:ext uri="{FF2B5EF4-FFF2-40B4-BE49-F238E27FC236}">
                <a16:creationId xmlns:a16="http://schemas.microsoft.com/office/drawing/2014/main" id="{BFAC7666-1D67-4286-A77C-9B06267920E2}"/>
              </a:ext>
            </a:extLst>
          </p:cNvPr>
          <p:cNvSpPr>
            <a:spLocks xmlns:a="http://schemas.openxmlformats.org/drawingml/2006/main" noGrp="1"/>
          </p:cNvSpPr>
          <p:nvPr/>
        </p:nvSpPr>
        <p:spPr>
          <a:xfrm xmlns:a="http://schemas.openxmlformats.org/drawingml/2006/main">
            <a:off x="628650" y="4171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1" name="">
            <a:extLst xmlns:a="http://schemas.openxmlformats.org/drawingml/2006/main">
              <a:ext uri="{FF2B5EF4-FFF2-40B4-BE49-F238E27FC236}">
                <a16:creationId xmlns:a16="http://schemas.microsoft.com/office/drawing/2014/main" id="{6CDB3D2E-81A0-4B24-BECB-F9FB81F51206}"/>
              </a:ext>
            </a:extLst>
          </p:cNvPr>
          <p:cNvSpPr>
            <a:spLocks xmlns:a="http://schemas.openxmlformats.org/drawingml/2006/main" noGrp="1"/>
          </p:cNvSpPr>
          <p:nvPr/>
        </p:nvSpPr>
        <p:spPr>
          <a:xfrm xmlns:a="http://schemas.openxmlformats.org/drawingml/2006/main">
            <a:off x="1409700" y="412432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Complete the guided lab and verify experiment artifacts.</a:t>
            </a:r>
          </a:p>
        </p:txBody>
      </p:sp>
      <p:sp>
        <p:nvSpPr>
          <p:cNvPr id="12" name="">
            <a:extLst xmlns:a="http://schemas.openxmlformats.org/drawingml/2006/main">
              <a:ext uri="{FF2B5EF4-FFF2-40B4-BE49-F238E27FC236}">
                <a16:creationId xmlns:a16="http://schemas.microsoft.com/office/drawing/2014/main" id="{F43006D3-20B0-4FCB-84BF-1CA71B163054}"/>
              </a:ext>
            </a:extLst>
          </p:cNvPr>
          <p:cNvSpPr>
            <a:spLocks xmlns:a="http://schemas.openxmlformats.org/drawingml/2006/main" noGrp="1"/>
          </p:cNvSpPr>
          <p:nvPr/>
        </p:nvSpPr>
        <p:spPr>
          <a:xfrm xmlns:a="http://schemas.openxmlformats.org/drawingml/2006/main">
            <a:off x="7239000" y="27241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06B5F"/>
                </a:solidFill>
              </a:defRPr>
            </a:pPr>
            <a:r>
              <a:rPr sz="900" b="1">
                <a:solidFill>
                  <a:srgbClr val="F06B5F"/>
                </a:solidFill>
              </a:rPr>
              <a:t>NEXT EVIDENCE</a:t>
            </a:r>
          </a:p>
        </p:txBody>
      </p:sp>
      <p:sp>
        <p:nvSpPr>
          <p:cNvPr id="13" name="">
            <a:extLst xmlns:a="http://schemas.openxmlformats.org/drawingml/2006/main">
              <a:ext uri="{FF2B5EF4-FFF2-40B4-BE49-F238E27FC236}">
                <a16:creationId xmlns:a16="http://schemas.microsoft.com/office/drawing/2014/main" id="{35191F5C-0CE7-49C6-AA26-DED6D4D8BE41}"/>
              </a:ext>
            </a:extLst>
          </p:cNvPr>
          <p:cNvSpPr>
            <a:spLocks xmlns:a="http://schemas.openxmlformats.org/drawingml/2006/main" noGrp="1"/>
          </p:cNvSpPr>
          <p:nvPr/>
        </p:nvSpPr>
        <p:spPr>
          <a:xfrm xmlns:a="http://schemas.openxmlformats.org/drawingml/2006/main">
            <a:off x="7239000" y="3200400"/>
            <a:ext cx="4095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A reproducible training pipeline with schema checks, tracked parameters, validation metrics, and a loadable model.</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18958bf8e364415"/>
          <a:stretch xmlns:a="http://schemas.openxmlformats.org/drawingml/2006/main"/>
        </p:blipFill>
        <p:spPr>
          <a:xfrm xmlns:a="http://schemas.openxmlformats.org/drawingml/2006/main">
            <a:off x="9791700" y="5905500"/>
            <a:ext cx="1371600" cy="457200"/>
          </a:xfrm>
          <a:prstGeom xmlns:a="http://schemas.openxmlformats.org/drawingml/2006/main" prst="rect">
            <a:avLst/>
          </a:prstGeom>
        </p:spPr>
      </p:pic>
    </p:spTree>
    <p:extLst>
      <p:ext uri="{BB962C8B-B14F-4D97-AF65-F5344CB8AC3E}">
        <p14:creationId xmlns:p14="http://schemas.microsoft.com/office/powerpoint/2010/main" val="14760735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2026-07-28T16:53:16.2600000Z</dcterms:created>
  <dcterms:modified xsi:type="dcterms:W3CDTF">2026-07-28T16:53:16.2600000Z</dcterms:modified>
</coreProperties>
</file>