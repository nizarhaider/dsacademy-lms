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02031f75134460" /><Relationship Type="http://schemas.openxmlformats.org/officeDocument/2006/relationships/extended-properties" Target="/docProps/app.xml" Id="Rbfa303df64d3407a" /><Relationship Type="http://schemas.openxmlformats.org/officeDocument/2006/relationships/officeDocument" Target="/ppt/presentation.xml" Id="R1e6375edd5a04e2e" /></Relationships>
</file>

<file path=ppt/presentation.xml><?xml version="1.0" encoding="utf-8"?>
<p:presentation xmlns:p="http://schemas.openxmlformats.org/presentationml/2006/main">
  <p:sldMasterIdLst>
    <p:sldMasterId xmlns:r="http://schemas.openxmlformats.org/officeDocument/2006/relationships" id="2147483648" r:id="R4361374903834e67"/>
  </p:sldMasterIdLst>
  <p:notesMasterIdLst>
    <p:notesMasterId xmlns:r="http://schemas.openxmlformats.org/officeDocument/2006/relationships" r:id="R4616c06f1efd4d03"/>
  </p:notesMasterIdLst>
  <p:sldIdLst>
    <p:sldId xmlns:r="http://schemas.openxmlformats.org/officeDocument/2006/relationships" id="256" r:id="R865b673e3f2e4ed5"/>
    <p:sldId xmlns:r="http://schemas.openxmlformats.org/officeDocument/2006/relationships" id="257" r:id="R58eb426b25c940e2"/>
    <p:sldId xmlns:r="http://schemas.openxmlformats.org/officeDocument/2006/relationships" id="258" r:id="Re85884ec9cf24802"/>
    <p:sldId xmlns:r="http://schemas.openxmlformats.org/officeDocument/2006/relationships" id="259" r:id="R375aa6c73964403d"/>
    <p:sldId xmlns:r="http://schemas.openxmlformats.org/officeDocument/2006/relationships" id="260" r:id="Rbf4aee337fdf4e7d"/>
    <p:sldId xmlns:r="http://schemas.openxmlformats.org/officeDocument/2006/relationships" id="261" r:id="R4dd30ed2837645da"/>
    <p:sldId xmlns:r="http://schemas.openxmlformats.org/officeDocument/2006/relationships" id="262" r:id="Rfc200e8155144976"/>
    <p:sldId xmlns:r="http://schemas.openxmlformats.org/officeDocument/2006/relationships" id="263" r:id="R73d081d1b0da4473"/>
    <p:sldId xmlns:r="http://schemas.openxmlformats.org/officeDocument/2006/relationships" id="264" r:id="R95bb6cb2e00f48c0"/>
    <p:sldId xmlns:r="http://schemas.openxmlformats.org/officeDocument/2006/relationships" id="265" r:id="Rb7507c797bfa43c0"/>
    <p:sldId xmlns:r="http://schemas.openxmlformats.org/officeDocument/2006/relationships" id="266" r:id="Rde8c9a3fad344d70"/>
    <p:sldId xmlns:r="http://schemas.openxmlformats.org/officeDocument/2006/relationships" id="267" r:id="R44f0d6b9d4a345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27475674e24bbb" /><Relationship Type="http://schemas.openxmlformats.org/officeDocument/2006/relationships/slideMaster" Target="/ppt/slideMasters/slideMaster1.xml" Id="R4361374903834e67" /><Relationship Type="http://schemas.openxmlformats.org/officeDocument/2006/relationships/notesMaster" Target="/ppt/notesMasters/notesMaster1.xml" Id="R4616c06f1efd4d03" /><Relationship Type="http://schemas.openxmlformats.org/officeDocument/2006/relationships/presProps" Target="/ppt/presProps.xml" Id="Ref9d8c40bea04b1d" /><Relationship Type="http://schemas.openxmlformats.org/officeDocument/2006/relationships/tableStyles" Target="/ppt/tableStyles.xml" Id="R4eb5c3e239274212" /><Relationship Type="http://schemas.openxmlformats.org/officeDocument/2006/relationships/slide" Target="/ppt/slides/slide1.xml" Id="R865b673e3f2e4ed5" /><Relationship Type="http://schemas.openxmlformats.org/officeDocument/2006/relationships/slide" Target="/ppt/slides/slide2.xml" Id="R58eb426b25c940e2" /><Relationship Type="http://schemas.openxmlformats.org/officeDocument/2006/relationships/slide" Target="/ppt/slides/slide3.xml" Id="Re85884ec9cf24802" /><Relationship Type="http://schemas.openxmlformats.org/officeDocument/2006/relationships/slide" Target="/ppt/slides/slide4.xml" Id="R375aa6c73964403d" /><Relationship Type="http://schemas.openxmlformats.org/officeDocument/2006/relationships/slide" Target="/ppt/slides/slide5.xml" Id="Rbf4aee337fdf4e7d" /><Relationship Type="http://schemas.openxmlformats.org/officeDocument/2006/relationships/slide" Target="/ppt/slides/slide6.xml" Id="R4dd30ed2837645da" /><Relationship Type="http://schemas.openxmlformats.org/officeDocument/2006/relationships/slide" Target="/ppt/slides/slide7.xml" Id="Rfc200e8155144976" /><Relationship Type="http://schemas.openxmlformats.org/officeDocument/2006/relationships/slide" Target="/ppt/slides/slide8.xml" Id="R73d081d1b0da4473" /><Relationship Type="http://schemas.openxmlformats.org/officeDocument/2006/relationships/slide" Target="/ppt/slides/slide9.xml" Id="R95bb6cb2e00f48c0" /><Relationship Type="http://schemas.openxmlformats.org/officeDocument/2006/relationships/slide" Target="/ppt/slides/slide10.xml" Id="Rb7507c797bfa43c0" /><Relationship Type="http://schemas.openxmlformats.org/officeDocument/2006/relationships/slide" Target="/ppt/slides/slide11.xml" Id="Rde8c9a3fad344d70" /><Relationship Type="http://schemas.openxmlformats.org/officeDocument/2006/relationships/slide" Target="/ppt/slides/slide12.xml" Id="R44f0d6b9d4a345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896a6a634341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bb06bc281247a8" /><Relationship Type="http://schemas.openxmlformats.org/officeDocument/2006/relationships/notesMaster" Target="/ppt/notesMasters/notesMaster1.xml" Id="R7e4bdff5914b40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f43e8a54ba42b1" /><Relationship Type="http://schemas.openxmlformats.org/officeDocument/2006/relationships/notesMaster" Target="/ppt/notesMasters/notesMaster1.xml" Id="R962e3937342c4f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be30f149f24050" /><Relationship Type="http://schemas.openxmlformats.org/officeDocument/2006/relationships/notesMaster" Target="/ppt/notesMasters/notesMaster1.xml" Id="Rabda54c9e9574d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f44e1c38de4a4f" /><Relationship Type="http://schemas.openxmlformats.org/officeDocument/2006/relationships/notesMaster" Target="/ppt/notesMasters/notesMaster1.xml" Id="R46301e13f08643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157b92252842fd" /><Relationship Type="http://schemas.openxmlformats.org/officeDocument/2006/relationships/notesMaster" Target="/ppt/notesMasters/notesMaster1.xml" Id="R2988f366870241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cd847e29fb4816" /><Relationship Type="http://schemas.openxmlformats.org/officeDocument/2006/relationships/notesMaster" Target="/ppt/notesMasters/notesMaster1.xml" Id="R82fdb382032545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4389d10bbd4f77" /><Relationship Type="http://schemas.openxmlformats.org/officeDocument/2006/relationships/notesMaster" Target="/ppt/notesMasters/notesMaster1.xml" Id="Raa5789fbefdb46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e4f75631cb4d7d" /><Relationship Type="http://schemas.openxmlformats.org/officeDocument/2006/relationships/notesMaster" Target="/ppt/notesMasters/notesMaster1.xml" Id="R5389fb7eff7e4d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e4548b6da1466b" /><Relationship Type="http://schemas.openxmlformats.org/officeDocument/2006/relationships/notesMaster" Target="/ppt/notesMasters/notesMaster1.xml" Id="R288921fad93946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21f7ea56b946a7" /><Relationship Type="http://schemas.openxmlformats.org/officeDocument/2006/relationships/notesMaster" Target="/ppt/notesMasters/notesMaster1.xml" Id="Rf38bce9b720c43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3f8e56b90b4809" /><Relationship Type="http://schemas.openxmlformats.org/officeDocument/2006/relationships/notesMaster" Target="/ppt/notesMasters/notesMaster1.xml" Id="R59064bbcb18143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bdc2450c694d3e" /><Relationship Type="http://schemas.openxmlformats.org/officeDocument/2006/relationships/notesMaster" Target="/ppt/notesMasters/notesMaster1.xml" Id="R71a966fbf04f48a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Agents and LangGraph Workflows. Coordinate stateful steps and bounded tool use with explicit graph control.</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required starting point is llm applications, structured output, tools, retries, state, and evaluation. By the end, you will explain workflows and agents in plain language.</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language before using it: workflows and agents, state nodes and edges, tools and observations, checkpoints and stopping conditions.</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enters a node, the node returns an update, edges choose the next node, and explicit limits bound execution.</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symbol or component has a job. state: The typed data carried through a run. node: One transformation of state. edge: A permitted transition. checkpoint: Saved resumable state.</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through the values before running code. Route a ticket: billing goes to lookup, technical goes to diagnostics, and unknown goes to human review.</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hand-worked mechanism to Python. The observed output is billing -&gt; lookup</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deterministic workflows when steps are known; grant an agent choice only where it adds value. Typed state makes every node input, output, and routing decision inspectable. Tools need schemas, authorization, timeouts, resource limits, and observable results. Bound total steps and attempts, checkpoint recoverable state, and route uncertainty to a human.</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concepts from this lesson to read and complete https://github.com/curiousily/AI-Bootcamp/blob/master/29.langgraph-quickstart.ipynb. Predict what each section does before executing it.</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an open-ended agent when deterministic routing is sufficient. Allowing a graph to revisit a node without a step or attempt limit.</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 run, inspect, and explain. Build a typed LangGraph workflow with conditional routing, one tool, a checkpoint, and a step limit.</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connection between workflows and agents, state nodes and edges, tools and observations, checkpoints and stopping conditions. Verification evidence: Test every route, denied tool access, timeout, checkpoint resume, and maximum-step termination.</a:t>
            </a:r>
          </a:p>
          <a:p xmlns:a="http://schemas.openxmlformats.org/drawingml/2006/main">
            <a:r>
              <a:t/>
            </a:r>
          </a:p>
          <a:p xmlns:a="http://schemas.openxmlformats.org/drawingml/2006/main">
            <a:r>
              <a:t>[Sources]</a:t>
            </a:r>
          </a:p>
          <a:p xmlns:a="http://schemas.openxmlformats.org/drawingml/2006/main">
            <a:r>
              <a:t>- https://github.com/curiousily/AI-Bootcamp/blob/master/29.langgraph-quickstart.ipynb</a:t>
            </a:r>
          </a:p>
          <a:p xmlns:a="http://schemas.openxmlformats.org/drawingml/2006/main">
            <a:r>
              <a:t>- https://github.com/curiousily/AI-Bootcamp/blob/master/18.langgraph-basics.ipynb</a:t>
            </a:r>
          </a:p>
          <a:p xmlns:a="http://schemas.openxmlformats.org/drawingml/2006/main">
            <a:r>
              <a:t>- https://docs.langchain.com/oss/python/langgraph/overview</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4818d2a09249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519259fafd4791" /><Relationship Type="http://schemas.openxmlformats.org/officeDocument/2006/relationships/slideLayout" Target="/ppt/slideLayouts/slideLayout1.xml" Id="R31bd23c6c8544f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bd23c6c8544f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0001aa315348b3" /><Relationship Type="http://schemas.openxmlformats.org/officeDocument/2006/relationships/image" Target="/ppt/media/image.png" Id="R86b1dbc118c243f4" /><Relationship Type="http://schemas.openxmlformats.org/officeDocument/2006/relationships/image" Target="/ppt/media/image2.png" Id="R5d04f3548ddf4f0f" /><Relationship Type="http://schemas.openxmlformats.org/officeDocument/2006/relationships/notesSlide" Target="/ppt/notesSlides/notesSlide1.xml" Id="R9bda4b15f89f40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085e4aa5c64fb5" /><Relationship Type="http://schemas.openxmlformats.org/officeDocument/2006/relationships/notesSlide" Target="/ppt/notesSlides/notesSlide2.xml" Id="Rbdf65e41e8c644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ffa09d14ba4f06" /><Relationship Type="http://schemas.openxmlformats.org/officeDocument/2006/relationships/notesSlide" Target="/ppt/notesSlides/notesSlide3.xml" Id="R23609dafed6242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a7a581ba044d63" /><Relationship Type="http://schemas.openxmlformats.org/officeDocument/2006/relationships/notesSlide" Target="/ppt/notesSlides/notesSlide4.xml" Id="R05823431516d44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0eb9e81b8524308" /><Relationship Type="http://schemas.openxmlformats.org/officeDocument/2006/relationships/notesSlide" Target="/ppt/notesSlides/notesSlide5.xml" Id="R0f264363c5594e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2b37ec3c6b424f" /><Relationship Type="http://schemas.openxmlformats.org/officeDocument/2006/relationships/notesSlide" Target="/ppt/notesSlides/notesSlide6.xml" Id="R8287714d5fb846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f50fa55aa24a85" /><Relationship Type="http://schemas.openxmlformats.org/officeDocument/2006/relationships/notesSlide" Target="/ppt/notesSlides/notesSlide7.xml" Id="Rd7079f3c1cde49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3f1137052c845bc" /><Relationship Type="http://schemas.openxmlformats.org/officeDocument/2006/relationships/notesSlide" Target="/ppt/notesSlides/notesSlide8.xml" Id="R53e0c3271f3647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74a60c53cb4894" /><Relationship Type="http://schemas.openxmlformats.org/officeDocument/2006/relationships/notesSlide" Target="/ppt/notesSlides/notesSlide9.xml" Id="Raff2dff740064a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17dae29fb64475" /><Relationship Type="http://schemas.openxmlformats.org/officeDocument/2006/relationships/notesSlide" Target="/ppt/notesSlides/notesSlide10.xml" Id="R4574f38b374645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b70af92f11a41a9" /><Relationship Type="http://schemas.openxmlformats.org/officeDocument/2006/relationships/notesSlide" Target="/ppt/notesSlides/notesSlide11.xml" Id="R5cc7e813c54348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e78dc7612594159" /><Relationship Type="http://schemas.openxmlformats.org/officeDocument/2006/relationships/image" Target="/ppt/media/image3.png" Id="Ra8ad5b2f63254460" /><Relationship Type="http://schemas.openxmlformats.org/officeDocument/2006/relationships/notesSlide" Target="/ppt/notesSlides/notesSlide12.xml" Id="Rd3b498326a1e41e3"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ADCD47-8BE5-4DDF-ADB5-CCE482925C1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6b1dbc118c243f4"/>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F4CB65F-CF26-4CC4-9516-2D9D8AE4BE13}"/>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788D26E-4963-4504-B551-6A339C5E758E}"/>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17  /  LESSON 01</a:t>
            </a:r>
          </a:p>
        </p:txBody>
      </p:sp>
      <p:sp>
        <p:nvSpPr>
          <p:cNvPr id="5" name="">
            <a:extLst xmlns:a="http://schemas.openxmlformats.org/drawingml/2006/main">
              <a:ext uri="{FF2B5EF4-FFF2-40B4-BE49-F238E27FC236}">
                <a16:creationId xmlns:a16="http://schemas.microsoft.com/office/drawing/2014/main" id="{7BA44BAA-907A-422E-B451-1E2241E6183D}"/>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AI Agents and LangGraph Workflows</a:t>
            </a:r>
          </a:p>
        </p:txBody>
      </p:sp>
      <p:sp>
        <p:nvSpPr>
          <p:cNvPr id="6" name="">
            <a:extLst xmlns:a="http://schemas.openxmlformats.org/drawingml/2006/main">
              <a:ext uri="{FF2B5EF4-FFF2-40B4-BE49-F238E27FC236}">
                <a16:creationId xmlns:a16="http://schemas.microsoft.com/office/drawing/2014/main" id="{3C49A8B8-FDA4-4207-8D10-13F957FBDB75}"/>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D6DDE93-37FB-4C43-99EC-051694759E06}"/>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Coordinate stateful steps and bounded tool use with explicit graph control.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d04f3548ddf4f0f"/>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1078019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58C3FC5-427A-453A-ACCA-FA354EE3427B}"/>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M17 / L01</a:t>
            </a:r>
          </a:p>
        </p:txBody>
      </p:sp>
      <p:sp>
        <p:nvSpPr>
          <p:cNvPr id="2" name="">
            <a:extLst xmlns:a="http://schemas.openxmlformats.org/drawingml/2006/main">
              <a:ext uri="{FF2B5EF4-FFF2-40B4-BE49-F238E27FC236}">
                <a16:creationId xmlns:a16="http://schemas.microsoft.com/office/drawing/2014/main" id="{EE895386-2040-4950-A24E-3241966DA83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AI Agents and LangGraph Workflows</a:t>
            </a:r>
          </a:p>
        </p:txBody>
      </p:sp>
      <p:sp>
        <p:nvSpPr>
          <p:cNvPr id="3" name="">
            <a:extLst xmlns:a="http://schemas.openxmlformats.org/drawingml/2006/main">
              <a:ext uri="{FF2B5EF4-FFF2-40B4-BE49-F238E27FC236}">
                <a16:creationId xmlns:a16="http://schemas.microsoft.com/office/drawing/2014/main" id="{A88280D3-BDE7-4825-8554-0A2ADA59D7C4}"/>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CE1FD84C-E5A9-4A9B-90A9-5558C48955BA}"/>
              </a:ext>
            </a:extLst>
          </p:cNvPr>
          <p:cNvSpPr>
            <a:spLocks xmlns:a="http://schemas.openxmlformats.org/drawingml/2006/main" noGrp="1"/>
          </p:cNvSpPr>
          <p:nvPr/>
        </p:nvSpPr>
        <p:spPr>
          <a:xfrm xmlns:a="http://schemas.openxmlformats.org/drawingml/2006/main">
            <a:off x="609600" y="8953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WHY THIS MATTERS</a:t>
            </a:r>
          </a:p>
        </p:txBody>
      </p:sp>
      <p:sp>
        <p:nvSpPr>
          <p:cNvPr id="5" name="">
            <a:extLst xmlns:a="http://schemas.openxmlformats.org/drawingml/2006/main">
              <a:ext uri="{FF2B5EF4-FFF2-40B4-BE49-F238E27FC236}">
                <a16:creationId xmlns:a16="http://schemas.microsoft.com/office/drawing/2014/main" id="{5570CAE6-ED23-4B77-8C5F-9D33910CF52D}"/>
              </a:ext>
            </a:extLst>
          </p:cNvPr>
          <p:cNvSpPr>
            <a:spLocks xmlns:a="http://schemas.openxmlformats.org/drawingml/2006/main" noGrp="1"/>
          </p:cNvSpPr>
          <p:nvPr/>
        </p:nvSpPr>
        <p:spPr>
          <a:xfrm xmlns:a="http://schemas.openxmlformats.org/drawingml/2006/main">
            <a:off x="609600" y="1390650"/>
            <a:ext cx="104775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9B9A14-44ED-425B-B8FA-B15A27C058B2}"/>
              </a:ext>
            </a:extLst>
          </p:cNvPr>
          <p:cNvSpPr>
            <a:spLocks xmlns:a="http://schemas.openxmlformats.org/drawingml/2006/main" noGrp="1"/>
          </p:cNvSpPr>
          <p:nvPr/>
        </p:nvSpPr>
        <p:spPr>
          <a:xfrm xmlns:a="http://schemas.openxmlformats.org/drawingml/2006/main">
            <a:off x="609600" y="169545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Start from what you already know</a:t>
            </a:r>
          </a:p>
        </p:txBody>
      </p:sp>
      <p:sp>
        <p:nvSpPr>
          <p:cNvPr id="7" name="">
            <a:extLst xmlns:a="http://schemas.openxmlformats.org/drawingml/2006/main">
              <a:ext uri="{FF2B5EF4-FFF2-40B4-BE49-F238E27FC236}">
                <a16:creationId xmlns:a16="http://schemas.microsoft.com/office/drawing/2014/main" id="{AA0B2583-4553-4E43-A2DF-893B57E7BDC3}"/>
              </a:ext>
            </a:extLst>
          </p:cNvPr>
          <p:cNvSpPr>
            <a:spLocks xmlns:a="http://schemas.openxmlformats.org/drawingml/2006/main" noGrp="1"/>
          </p:cNvSpPr>
          <p:nvPr/>
        </p:nvSpPr>
        <p:spPr>
          <a:xfrm xmlns:a="http://schemas.openxmlformats.org/drawingml/2006/main">
            <a:off x="609600" y="2609850"/>
            <a:ext cx="971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76BDB"/>
                </a:solidFill>
              </a:defRPr>
            </a:pPr>
            <a:r>
              <a:rPr sz="2025" b="1">
                <a:solidFill>
                  <a:srgbClr val="176BDB"/>
                </a:solidFill>
              </a:rPr>
              <a:t>LLM applications, structured output, tools, retries, state, and evaluation</a:t>
            </a:r>
          </a:p>
        </p:txBody>
      </p:sp>
      <p:sp>
        <p:nvSpPr>
          <p:cNvPr id="8" name="">
            <a:extLst xmlns:a="http://schemas.openxmlformats.org/drawingml/2006/main">
              <a:ext uri="{FF2B5EF4-FFF2-40B4-BE49-F238E27FC236}">
                <a16:creationId xmlns:a16="http://schemas.microsoft.com/office/drawing/2014/main" id="{6D7EEA7C-4CCE-40BB-A78A-C919C8B2191E}"/>
              </a:ext>
            </a:extLst>
          </p:cNvPr>
          <p:cNvSpPr>
            <a:spLocks xmlns:a="http://schemas.openxmlformats.org/drawingml/2006/main" noGrp="1"/>
          </p:cNvSpPr>
          <p:nvPr/>
        </p:nvSpPr>
        <p:spPr>
          <a:xfrm xmlns:a="http://schemas.openxmlformats.org/drawingml/2006/main">
            <a:off x="628650" y="35623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9" name="">
            <a:extLst xmlns:a="http://schemas.openxmlformats.org/drawingml/2006/main">
              <a:ext uri="{FF2B5EF4-FFF2-40B4-BE49-F238E27FC236}">
                <a16:creationId xmlns:a16="http://schemas.microsoft.com/office/drawing/2014/main" id="{B4510F9D-D97A-4EB1-88FC-1965313360C4}"/>
              </a:ext>
            </a:extLst>
          </p:cNvPr>
          <p:cNvSpPr>
            <a:spLocks xmlns:a="http://schemas.openxmlformats.org/drawingml/2006/main" noGrp="1"/>
          </p:cNvSpPr>
          <p:nvPr/>
        </p:nvSpPr>
        <p:spPr>
          <a:xfrm xmlns:a="http://schemas.openxmlformats.org/drawingml/2006/main">
            <a:off x="1371600" y="35052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Explain workflows and agents in plain language.</a:t>
            </a:r>
          </a:p>
        </p:txBody>
      </p:sp>
      <p:sp>
        <p:nvSpPr>
          <p:cNvPr id="10" name="">
            <a:extLst xmlns:a="http://schemas.openxmlformats.org/drawingml/2006/main">
              <a:ext uri="{FF2B5EF4-FFF2-40B4-BE49-F238E27FC236}">
                <a16:creationId xmlns:a16="http://schemas.microsoft.com/office/drawing/2014/main" id="{C1762DAB-8CC9-4B1B-87D9-5640CC684516}"/>
              </a:ext>
            </a:extLst>
          </p:cNvPr>
          <p:cNvSpPr>
            <a:spLocks xmlns:a="http://schemas.openxmlformats.org/drawingml/2006/main" noGrp="1"/>
          </p:cNvSpPr>
          <p:nvPr/>
        </p:nvSpPr>
        <p:spPr>
          <a:xfrm xmlns:a="http://schemas.openxmlformats.org/drawingml/2006/main">
            <a:off x="628650" y="42481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E85AB48C-DC4F-46BC-A4FC-877B2FED4420}"/>
              </a:ext>
            </a:extLst>
          </p:cNvPr>
          <p:cNvSpPr>
            <a:spLocks xmlns:a="http://schemas.openxmlformats.org/drawingml/2006/main" noGrp="1"/>
          </p:cNvSpPr>
          <p:nvPr/>
        </p:nvSpPr>
        <p:spPr>
          <a:xfrm xmlns:a="http://schemas.openxmlformats.org/drawingml/2006/main">
            <a:off x="1371600" y="41910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Use state nodes and edges in a small worked example.</a:t>
            </a:r>
          </a:p>
        </p:txBody>
      </p:sp>
      <p:sp>
        <p:nvSpPr>
          <p:cNvPr id="12" name="">
            <a:extLst xmlns:a="http://schemas.openxmlformats.org/drawingml/2006/main">
              <a:ext uri="{FF2B5EF4-FFF2-40B4-BE49-F238E27FC236}">
                <a16:creationId xmlns:a16="http://schemas.microsoft.com/office/drawing/2014/main" id="{A373E692-5256-4ABE-AA24-9F8761A9A039}"/>
              </a:ext>
            </a:extLst>
          </p:cNvPr>
          <p:cNvSpPr>
            <a:spLocks xmlns:a="http://schemas.openxmlformats.org/drawingml/2006/main" noGrp="1"/>
          </p:cNvSpPr>
          <p:nvPr/>
        </p:nvSpPr>
        <p:spPr>
          <a:xfrm xmlns:a="http://schemas.openxmlformats.org/drawingml/2006/main">
            <a:off x="628650" y="493395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03</a:t>
            </a:r>
          </a:p>
        </p:txBody>
      </p:sp>
      <p:sp>
        <p:nvSpPr>
          <p:cNvPr id="13" name="">
            <a:extLst xmlns:a="http://schemas.openxmlformats.org/drawingml/2006/main">
              <a:ext uri="{FF2B5EF4-FFF2-40B4-BE49-F238E27FC236}">
                <a16:creationId xmlns:a16="http://schemas.microsoft.com/office/drawing/2014/main" id="{41E4B04D-F7F2-482B-A03E-6D9762A7419B}"/>
              </a:ext>
            </a:extLst>
          </p:cNvPr>
          <p:cNvSpPr>
            <a:spLocks xmlns:a="http://schemas.openxmlformats.org/drawingml/2006/main" noGrp="1"/>
          </p:cNvSpPr>
          <p:nvPr/>
        </p:nvSpPr>
        <p:spPr>
          <a:xfrm xmlns:a="http://schemas.openxmlformats.org/drawingml/2006/main">
            <a:off x="1371600" y="4876800"/>
            <a:ext cx="857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B1220"/>
                </a:solidFill>
              </a:defRPr>
            </a:pPr>
            <a:r>
              <a:rPr sz="1575" b="1">
                <a:solidFill>
                  <a:srgbClr val="0B1220"/>
                </a:solidFill>
              </a:rPr>
              <a:t>Complete the guided lab and verify checkpoints and stopping conditions.</a:t>
            </a:r>
          </a:p>
        </p:txBody>
      </p:sp>
      <p:sp>
        <p:nvSpPr>
          <p:cNvPr id="14" name="">
            <a:extLst xmlns:a="http://schemas.openxmlformats.org/drawingml/2006/main">
              <a:ext uri="{FF2B5EF4-FFF2-40B4-BE49-F238E27FC236}">
                <a16:creationId xmlns:a16="http://schemas.microsoft.com/office/drawing/2014/main" id="{B0132176-7959-479B-A064-189BD504396B}"/>
              </a:ext>
            </a:extLst>
          </p:cNvPr>
          <p:cNvSpPr>
            <a:spLocks xmlns:a="http://schemas.openxmlformats.org/drawingml/2006/main" noGrp="1"/>
          </p:cNvSpPr>
          <p:nvPr/>
        </p:nvSpPr>
        <p:spPr>
          <a:xfrm xmlns:a="http://schemas.openxmlformats.org/drawingml/2006/main">
            <a:off x="10915650" y="1219200"/>
            <a:ext cx="609600" cy="453390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B5676BD-F912-4518-A826-DD857F5F6188}"/>
              </a:ext>
            </a:extLst>
          </p:cNvPr>
          <p:cNvSpPr>
            <a:spLocks xmlns:a="http://schemas.openxmlformats.org/drawingml/2006/main" noGrp="1"/>
          </p:cNvSpPr>
          <p:nvPr/>
        </p:nvSpPr>
        <p:spPr>
          <a:xfrm xmlns:a="http://schemas.openxmlformats.org/drawingml/2006/main">
            <a:off x="11106150" y="2095500"/>
            <a:ext cx="228600" cy="20002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Tree>
    <p:extLst>
      <p:ext uri="{BB962C8B-B14F-4D97-AF65-F5344CB8AC3E}">
        <p14:creationId xmlns:p14="http://schemas.microsoft.com/office/powerpoint/2010/main" val="16202353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5C483A5-11D8-4FB2-B011-9D5B0D4F1D0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M17 / L01</a:t>
            </a:r>
          </a:p>
        </p:txBody>
      </p:sp>
      <p:sp>
        <p:nvSpPr>
          <p:cNvPr id="2" name="">
            <a:extLst xmlns:a="http://schemas.openxmlformats.org/drawingml/2006/main">
              <a:ext uri="{FF2B5EF4-FFF2-40B4-BE49-F238E27FC236}">
                <a16:creationId xmlns:a16="http://schemas.microsoft.com/office/drawing/2014/main" id="{A8D1AD6A-5549-4E20-B1ED-3F161D6A3B01}"/>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AI Agents and LangGraph Workflows</a:t>
            </a:r>
          </a:p>
        </p:txBody>
      </p:sp>
      <p:sp>
        <p:nvSpPr>
          <p:cNvPr id="3" name="">
            <a:extLst xmlns:a="http://schemas.openxmlformats.org/drawingml/2006/main">
              <a:ext uri="{FF2B5EF4-FFF2-40B4-BE49-F238E27FC236}">
                <a16:creationId xmlns:a16="http://schemas.microsoft.com/office/drawing/2014/main" id="{6978B431-0A7B-4E1E-8F79-99DEB6CE293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980E3BE4-873F-48E3-819E-8EC8241CBEBF}"/>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E8A8A929-885D-49F8-8B95-DAFA98F94529}"/>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The vocabulary of this topic</a:t>
            </a:r>
          </a:p>
        </p:txBody>
      </p:sp>
      <p:sp>
        <p:nvSpPr>
          <p:cNvPr id="6" name="">
            <a:extLst xmlns:a="http://schemas.openxmlformats.org/drawingml/2006/main">
              <a:ext uri="{FF2B5EF4-FFF2-40B4-BE49-F238E27FC236}">
                <a16:creationId xmlns:a16="http://schemas.microsoft.com/office/drawing/2014/main" id="{438314C4-D1BF-478A-8B81-4A0BAE1CC8B3}"/>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1646112-A929-4A06-AE8C-0A1CC8945AD3}"/>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Coordinate stateful steps and bounded tool use with explicit graph control.</a:t>
            </a:r>
          </a:p>
        </p:txBody>
      </p:sp>
      <p:sp>
        <p:nvSpPr>
          <p:cNvPr id="8" name="">
            <a:extLst xmlns:a="http://schemas.openxmlformats.org/drawingml/2006/main">
              <a:ext uri="{FF2B5EF4-FFF2-40B4-BE49-F238E27FC236}">
                <a16:creationId xmlns:a16="http://schemas.microsoft.com/office/drawing/2014/main" id="{D39839C1-89D3-4216-87AB-5061243A7F1A}"/>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350264-EE8E-43A0-8E73-4725F65DDCFC}"/>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workflows and agents: A workflow follows declared control flow; an agent chooses actions dynamically from observations and goals.</a:t>
            </a:r>
          </a:p>
        </p:txBody>
      </p:sp>
      <p:sp>
        <p:nvSpPr>
          <p:cNvPr id="10" name="">
            <a:extLst xmlns:a="http://schemas.openxmlformats.org/drawingml/2006/main">
              <a:ext uri="{FF2B5EF4-FFF2-40B4-BE49-F238E27FC236}">
                <a16:creationId xmlns:a16="http://schemas.microsoft.com/office/drawing/2014/main" id="{D52D393D-E940-483A-9D09-9785448B8DC7}"/>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178FBAB-B396-4A1E-906D-29333FD1E91A}"/>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state nodes and edges: State stores the run record, nodes transform it, and edges define allowed transitions.</a:t>
            </a:r>
          </a:p>
        </p:txBody>
      </p:sp>
      <p:sp>
        <p:nvSpPr>
          <p:cNvPr id="12" name="">
            <a:extLst xmlns:a="http://schemas.openxmlformats.org/drawingml/2006/main">
              <a:ext uri="{FF2B5EF4-FFF2-40B4-BE49-F238E27FC236}">
                <a16:creationId xmlns:a16="http://schemas.microsoft.com/office/drawing/2014/main" id="{516B42F5-BE0F-400C-8881-A41F7D1D084D}"/>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6F4C28A-A706-4F62-A820-B9DD221D9F37}"/>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tools and observations: A tool performs a bounded operation; its returned observation becomes evidence for the next decision.</a:t>
            </a:r>
          </a:p>
        </p:txBody>
      </p:sp>
      <p:sp>
        <p:nvSpPr>
          <p:cNvPr id="14" name="">
            <a:extLst xmlns:a="http://schemas.openxmlformats.org/drawingml/2006/main">
              <a:ext uri="{FF2B5EF4-FFF2-40B4-BE49-F238E27FC236}">
                <a16:creationId xmlns:a16="http://schemas.microsoft.com/office/drawing/2014/main" id="{FB322DD2-F99B-4177-B72F-E9921DFF56AC}"/>
              </a:ext>
            </a:extLst>
          </p:cNvPr>
          <p:cNvSpPr>
            <a:spLocks xmlns:a="http://schemas.openxmlformats.org/drawingml/2006/main" noGrp="1"/>
          </p:cNvSpPr>
          <p:nvPr/>
        </p:nvSpPr>
        <p:spPr>
          <a:xfrm xmlns:a="http://schemas.openxmlformats.org/drawingml/2006/main">
            <a:off x="607695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D02EA4-E941-4476-9825-AAF52E102FCA}"/>
              </a:ext>
            </a:extLst>
          </p:cNvPr>
          <p:cNvSpPr>
            <a:spLocks xmlns:a="http://schemas.openxmlformats.org/drawingml/2006/main" noGrp="1"/>
          </p:cNvSpPr>
          <p:nvPr/>
        </p:nvSpPr>
        <p:spPr>
          <a:xfrm xmlns:a="http://schemas.openxmlformats.org/drawingml/2006/main">
            <a:off x="626745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checkpoints and stopping conditions: Checkpoints persist resumable state; stopping conditions bound attempts, steps, time, and cost.</a:t>
            </a:r>
          </a:p>
        </p:txBody>
      </p:sp>
    </p:spTree>
    <p:extLst>
      <p:ext uri="{BB962C8B-B14F-4D97-AF65-F5344CB8AC3E}">
        <p14:creationId xmlns:p14="http://schemas.microsoft.com/office/powerpoint/2010/main" val="1879520842"/>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1E883D8-1B1E-482B-A483-FE7115A34DDE}"/>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M17 / L01</a:t>
            </a:r>
          </a:p>
        </p:txBody>
      </p:sp>
      <p:sp>
        <p:nvSpPr>
          <p:cNvPr id="2" name="">
            <a:extLst xmlns:a="http://schemas.openxmlformats.org/drawingml/2006/main">
              <a:ext uri="{FF2B5EF4-FFF2-40B4-BE49-F238E27FC236}">
                <a16:creationId xmlns:a16="http://schemas.microsoft.com/office/drawing/2014/main" id="{3972CFDE-7922-4302-A413-804FF980AAEA}"/>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AI Agents and LangGraph Workflows</a:t>
            </a:r>
          </a:p>
        </p:txBody>
      </p:sp>
      <p:sp>
        <p:nvSpPr>
          <p:cNvPr id="3" name="">
            <a:extLst xmlns:a="http://schemas.openxmlformats.org/drawingml/2006/main">
              <a:ext uri="{FF2B5EF4-FFF2-40B4-BE49-F238E27FC236}">
                <a16:creationId xmlns:a16="http://schemas.microsoft.com/office/drawing/2014/main" id="{D94C5A99-CE7E-4E51-819E-DF47FA539715}"/>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921F59FB-C618-4758-9359-78E21CC98A8F}"/>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A566AD14-0CAC-4E7A-91FF-19ADA933183C}"/>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How the concept works</a:t>
            </a:r>
          </a:p>
        </p:txBody>
      </p:sp>
      <p:sp>
        <p:nvSpPr>
          <p:cNvPr id="6" name="">
            <a:extLst xmlns:a="http://schemas.openxmlformats.org/drawingml/2006/main">
              <a:ext uri="{FF2B5EF4-FFF2-40B4-BE49-F238E27FC236}">
                <a16:creationId xmlns:a16="http://schemas.microsoft.com/office/drawing/2014/main" id="{6562195F-5C52-4463-8F7F-CA4406A29B1F}"/>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05500B21-29BD-4771-8A0A-40D0F2ED9242}"/>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F39E0D0-FC95-4D68-BF35-CB7A1D1064E0}"/>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workflows and agents</a:t>
            </a:r>
          </a:p>
        </p:txBody>
      </p:sp>
      <p:sp>
        <p:nvSpPr>
          <p:cNvPr id="9" name="">
            <a:extLst xmlns:a="http://schemas.openxmlformats.org/drawingml/2006/main">
              <a:ext uri="{FF2B5EF4-FFF2-40B4-BE49-F238E27FC236}">
                <a16:creationId xmlns:a16="http://schemas.microsoft.com/office/drawing/2014/main" id="{136418F6-CF71-406D-B286-CAEA64411309}"/>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60475495-074B-4428-A12D-1CFEF5DC672E}"/>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C718304A-0017-401E-845D-F1D93F7AB724}"/>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577AE75-F2CD-402F-8212-0D8548FE2A3D}"/>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state nodes and edges</a:t>
            </a:r>
          </a:p>
        </p:txBody>
      </p:sp>
      <p:sp>
        <p:nvSpPr>
          <p:cNvPr id="13" name="">
            <a:extLst xmlns:a="http://schemas.openxmlformats.org/drawingml/2006/main">
              <a:ext uri="{FF2B5EF4-FFF2-40B4-BE49-F238E27FC236}">
                <a16:creationId xmlns:a16="http://schemas.microsoft.com/office/drawing/2014/main" id="{AE55D26C-40FC-4FBE-AAC4-55D59C15F914}"/>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7DE98C35-6D47-4AFC-9D58-402F4E3284ED}"/>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6C5E9C7E-A510-487F-AEDF-943D56871815}"/>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19BBD9B-B189-4E4A-A886-67D4065B040E}"/>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tools and observations</a:t>
            </a:r>
          </a:p>
        </p:txBody>
      </p:sp>
      <p:sp>
        <p:nvSpPr>
          <p:cNvPr id="17" name="">
            <a:extLst xmlns:a="http://schemas.openxmlformats.org/drawingml/2006/main">
              <a:ext uri="{FF2B5EF4-FFF2-40B4-BE49-F238E27FC236}">
                <a16:creationId xmlns:a16="http://schemas.microsoft.com/office/drawing/2014/main" id="{2755388F-DB77-4BDB-A6EE-7B8B950014FA}"/>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A4B46CA2-A9F5-46A2-8EFA-605D292D81EE}"/>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77D35C27-B9FC-4ECB-948E-CDE8A031278E}"/>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D45C822-87FA-4286-96B7-78CAB68B6A6A}"/>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checkpoints and stopping conditions</a:t>
            </a:r>
          </a:p>
        </p:txBody>
      </p:sp>
      <p:sp>
        <p:nvSpPr>
          <p:cNvPr id="21" name="">
            <a:extLst xmlns:a="http://schemas.openxmlformats.org/drawingml/2006/main">
              <a:ext uri="{FF2B5EF4-FFF2-40B4-BE49-F238E27FC236}">
                <a16:creationId xmlns:a16="http://schemas.microsoft.com/office/drawing/2014/main" id="{32E8FF8B-7523-475E-A572-41BF18360B32}"/>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State enters a node, the node returns an update, edges choose the next node, and explicit limits bound execution.</a:t>
            </a:r>
          </a:p>
        </p:txBody>
      </p:sp>
    </p:spTree>
    <p:extLst>
      <p:ext uri="{BB962C8B-B14F-4D97-AF65-F5344CB8AC3E}">
        <p14:creationId xmlns:p14="http://schemas.microsoft.com/office/powerpoint/2010/main" val="9825411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C92CFF9-3DDE-4F63-8994-D690E554463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M17 / L01</a:t>
            </a:r>
          </a:p>
        </p:txBody>
      </p:sp>
      <p:sp>
        <p:nvSpPr>
          <p:cNvPr id="2" name="">
            <a:extLst xmlns:a="http://schemas.openxmlformats.org/drawingml/2006/main">
              <a:ext uri="{FF2B5EF4-FFF2-40B4-BE49-F238E27FC236}">
                <a16:creationId xmlns:a16="http://schemas.microsoft.com/office/drawing/2014/main" id="{130B9AD5-193F-476E-9BBE-58DCFFC5966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AI Agents and LangGraph Workflows</a:t>
            </a:r>
          </a:p>
        </p:txBody>
      </p:sp>
      <p:sp>
        <p:nvSpPr>
          <p:cNvPr id="3" name="">
            <a:extLst xmlns:a="http://schemas.openxmlformats.org/drawingml/2006/main">
              <a:ext uri="{FF2B5EF4-FFF2-40B4-BE49-F238E27FC236}">
                <a16:creationId xmlns:a16="http://schemas.microsoft.com/office/drawing/2014/main" id="{253F2855-070E-49E0-855F-9BC63F8BDF5D}"/>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05</a:t>
            </a:r>
          </a:p>
        </p:txBody>
      </p:sp>
      <p:sp>
        <p:nvSpPr>
          <p:cNvPr id="4" name="">
            <a:extLst xmlns:a="http://schemas.openxmlformats.org/drawingml/2006/main">
              <a:ext uri="{FF2B5EF4-FFF2-40B4-BE49-F238E27FC236}">
                <a16:creationId xmlns:a16="http://schemas.microsoft.com/office/drawing/2014/main" id="{9A21AB83-525F-44CD-BDB2-8B207C094F25}"/>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0F44CA15-4F94-4E3C-A40D-F009C6ED4643}"/>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Read every part of the mechanism</a:t>
            </a:r>
          </a:p>
        </p:txBody>
      </p:sp>
      <p:sp>
        <p:nvSpPr>
          <p:cNvPr id="6" name="">
            <a:extLst xmlns:a="http://schemas.openxmlformats.org/drawingml/2006/main">
              <a:ext uri="{FF2B5EF4-FFF2-40B4-BE49-F238E27FC236}">
                <a16:creationId xmlns:a16="http://schemas.microsoft.com/office/drawing/2014/main" id="{91C84A5F-65B2-42B9-B5E2-04E9DE9132F0}"/>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400CD4-F575-4240-A188-C5C33A864893}"/>
              </a:ext>
            </a:extLst>
          </p:cNvPr>
          <p:cNvSpPr>
            <a:spLocks xmlns:a="http://schemas.openxmlformats.org/drawingml/2006/main" noGrp="1"/>
          </p:cNvSpPr>
          <p:nvPr/>
        </p:nvSpPr>
        <p:spPr>
          <a:xfrm xmlns:a="http://schemas.openxmlformats.org/drawingml/2006/main">
            <a:off x="609600" y="2686050"/>
            <a:ext cx="1057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243244"/>
                </a:solidFill>
              </a:defRPr>
            </a:pPr>
            <a:r>
              <a:rPr sz="1575">
                <a:solidFill>
                  <a:srgbClr val="243244"/>
                </a:solidFill>
              </a:rPr>
              <a:t>State enters a node, the node returns an update, edges choose the next node, and explicit limits bound execution.</a:t>
            </a:r>
          </a:p>
        </p:txBody>
      </p:sp>
      <p:sp>
        <p:nvSpPr>
          <p:cNvPr id="8" name="">
            <a:extLst xmlns:a="http://schemas.openxmlformats.org/drawingml/2006/main">
              <a:ext uri="{FF2B5EF4-FFF2-40B4-BE49-F238E27FC236}">
                <a16:creationId xmlns:a16="http://schemas.microsoft.com/office/drawing/2014/main" id="{677EBC42-4D24-4D2A-AC6E-10E15F20063C}"/>
              </a:ext>
            </a:extLst>
          </p:cNvPr>
          <p:cNvSpPr>
            <a:spLocks xmlns:a="http://schemas.openxmlformats.org/drawingml/2006/main" noGrp="1"/>
          </p:cNvSpPr>
          <p:nvPr/>
        </p:nvSpPr>
        <p:spPr>
          <a:xfrm xmlns:a="http://schemas.openxmlformats.org/drawingml/2006/main">
            <a:off x="60960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440D834-C679-4789-B58D-4C606671A183}"/>
              </a:ext>
            </a:extLst>
          </p:cNvPr>
          <p:cNvSpPr>
            <a:spLocks xmlns:a="http://schemas.openxmlformats.org/drawingml/2006/main" noGrp="1"/>
          </p:cNvSpPr>
          <p:nvPr/>
        </p:nvSpPr>
        <p:spPr>
          <a:xfrm xmlns:a="http://schemas.openxmlformats.org/drawingml/2006/main">
            <a:off x="80010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state: The typed data carried through a run.</a:t>
            </a:r>
          </a:p>
        </p:txBody>
      </p:sp>
      <p:sp>
        <p:nvSpPr>
          <p:cNvPr id="10" name="">
            <a:extLst xmlns:a="http://schemas.openxmlformats.org/drawingml/2006/main">
              <a:ext uri="{FF2B5EF4-FFF2-40B4-BE49-F238E27FC236}">
                <a16:creationId xmlns:a16="http://schemas.microsoft.com/office/drawing/2014/main" id="{2EA8A0EF-4144-444C-8F67-2BDCF0C1DCFB}"/>
              </a:ext>
            </a:extLst>
          </p:cNvPr>
          <p:cNvSpPr>
            <a:spLocks xmlns:a="http://schemas.openxmlformats.org/drawingml/2006/main" noGrp="1"/>
          </p:cNvSpPr>
          <p:nvPr/>
        </p:nvSpPr>
        <p:spPr>
          <a:xfrm xmlns:a="http://schemas.openxmlformats.org/drawingml/2006/main">
            <a:off x="6076950" y="363855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7B248E1-490F-42E9-915D-619EE0CD77DE}"/>
              </a:ext>
            </a:extLst>
          </p:cNvPr>
          <p:cNvSpPr>
            <a:spLocks xmlns:a="http://schemas.openxmlformats.org/drawingml/2006/main" noGrp="1"/>
          </p:cNvSpPr>
          <p:nvPr/>
        </p:nvSpPr>
        <p:spPr>
          <a:xfrm xmlns:a="http://schemas.openxmlformats.org/drawingml/2006/main">
            <a:off x="6267450" y="376237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node: One transformation of state.</a:t>
            </a:r>
          </a:p>
        </p:txBody>
      </p:sp>
      <p:sp>
        <p:nvSpPr>
          <p:cNvPr id="12" name="">
            <a:extLst xmlns:a="http://schemas.openxmlformats.org/drawingml/2006/main">
              <a:ext uri="{FF2B5EF4-FFF2-40B4-BE49-F238E27FC236}">
                <a16:creationId xmlns:a16="http://schemas.microsoft.com/office/drawing/2014/main" id="{590A8B72-26AD-4ADD-B52E-DA2C8C579B40}"/>
              </a:ext>
            </a:extLst>
          </p:cNvPr>
          <p:cNvSpPr>
            <a:spLocks xmlns:a="http://schemas.openxmlformats.org/drawingml/2006/main" noGrp="1"/>
          </p:cNvSpPr>
          <p:nvPr/>
        </p:nvSpPr>
        <p:spPr>
          <a:xfrm xmlns:a="http://schemas.openxmlformats.org/drawingml/2006/main">
            <a:off x="60960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20AB578-B9C4-40AA-899F-7D18DD6B8055}"/>
              </a:ext>
            </a:extLst>
          </p:cNvPr>
          <p:cNvSpPr>
            <a:spLocks xmlns:a="http://schemas.openxmlformats.org/drawingml/2006/main" noGrp="1"/>
          </p:cNvSpPr>
          <p:nvPr/>
        </p:nvSpPr>
        <p:spPr>
          <a:xfrm xmlns:a="http://schemas.openxmlformats.org/drawingml/2006/main">
            <a:off x="80010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edge: A permitted transition.</a:t>
            </a:r>
          </a:p>
        </p:txBody>
      </p:sp>
      <p:sp>
        <p:nvSpPr>
          <p:cNvPr id="14" name="">
            <a:extLst xmlns:a="http://schemas.openxmlformats.org/drawingml/2006/main">
              <a:ext uri="{FF2B5EF4-FFF2-40B4-BE49-F238E27FC236}">
                <a16:creationId xmlns:a16="http://schemas.microsoft.com/office/drawing/2014/main" id="{BA6022AB-DA9A-4BF7-8A03-449C9BCFBB86}"/>
              </a:ext>
            </a:extLst>
          </p:cNvPr>
          <p:cNvSpPr>
            <a:spLocks xmlns:a="http://schemas.openxmlformats.org/drawingml/2006/main" noGrp="1"/>
          </p:cNvSpPr>
          <p:nvPr/>
        </p:nvSpPr>
        <p:spPr>
          <a:xfrm xmlns:a="http://schemas.openxmlformats.org/drawingml/2006/main">
            <a:off x="6076950" y="4800600"/>
            <a:ext cx="5143500" cy="97155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43310B4-F2F9-4730-95DB-EDCD65029DE7}"/>
              </a:ext>
            </a:extLst>
          </p:cNvPr>
          <p:cNvSpPr>
            <a:spLocks xmlns:a="http://schemas.openxmlformats.org/drawingml/2006/main" noGrp="1"/>
          </p:cNvSpPr>
          <p:nvPr/>
        </p:nvSpPr>
        <p:spPr>
          <a:xfrm xmlns:a="http://schemas.openxmlformats.org/drawingml/2006/main">
            <a:off x="6267450" y="49244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1220"/>
                </a:solidFill>
              </a:defRPr>
            </a:pPr>
            <a:r>
              <a:rPr sz="1200" b="1">
                <a:solidFill>
                  <a:srgbClr val="0B1220"/>
                </a:solidFill>
              </a:rPr>
              <a:t>checkpoint: Saved resumable state.</a:t>
            </a:r>
          </a:p>
        </p:txBody>
      </p:sp>
    </p:spTree>
    <p:extLst>
      <p:ext uri="{BB962C8B-B14F-4D97-AF65-F5344CB8AC3E}">
        <p14:creationId xmlns:p14="http://schemas.microsoft.com/office/powerpoint/2010/main" val="125784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A8A8CBF-F749-4B31-B977-70610E927BE7}"/>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M17 / L01</a:t>
            </a:r>
          </a:p>
        </p:txBody>
      </p:sp>
      <p:sp>
        <p:nvSpPr>
          <p:cNvPr id="2" name="">
            <a:extLst xmlns:a="http://schemas.openxmlformats.org/drawingml/2006/main">
              <a:ext uri="{FF2B5EF4-FFF2-40B4-BE49-F238E27FC236}">
                <a16:creationId xmlns:a16="http://schemas.microsoft.com/office/drawing/2014/main" id="{6EA07524-24DE-4A72-AEBE-141DE5C7BB12}"/>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AI Agents and LangGraph Workflows</a:t>
            </a:r>
          </a:p>
        </p:txBody>
      </p:sp>
      <p:sp>
        <p:nvSpPr>
          <p:cNvPr id="3" name="">
            <a:extLst xmlns:a="http://schemas.openxmlformats.org/drawingml/2006/main">
              <a:ext uri="{FF2B5EF4-FFF2-40B4-BE49-F238E27FC236}">
                <a16:creationId xmlns:a16="http://schemas.microsoft.com/office/drawing/2014/main" id="{5C9B2973-11AE-49BE-B080-539CFE80E660}"/>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02C757C5-9A84-4DC5-B0B8-10F2D1CFEA31}"/>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WORKED EXAMPLE</a:t>
            </a:r>
          </a:p>
        </p:txBody>
      </p:sp>
      <p:sp>
        <p:nvSpPr>
          <p:cNvPr id="5" name="">
            <a:extLst xmlns:a="http://schemas.openxmlformats.org/drawingml/2006/main">
              <a:ext uri="{FF2B5EF4-FFF2-40B4-BE49-F238E27FC236}">
                <a16:creationId xmlns:a16="http://schemas.microsoft.com/office/drawing/2014/main" id="{309F45DD-93B5-4D1E-ABDF-1B809CC5C6EE}"/>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Worked example by hand</a:t>
            </a:r>
          </a:p>
        </p:txBody>
      </p:sp>
      <p:sp>
        <p:nvSpPr>
          <p:cNvPr id="6" name="">
            <a:extLst xmlns:a="http://schemas.openxmlformats.org/drawingml/2006/main">
              <a:ext uri="{FF2B5EF4-FFF2-40B4-BE49-F238E27FC236}">
                <a16:creationId xmlns:a16="http://schemas.microsoft.com/office/drawing/2014/main" id="{DDCAC0AB-AF12-43C9-B3A5-8F7BFB61F979}"/>
              </a:ext>
            </a:extLst>
          </p:cNvPr>
          <p:cNvSpPr>
            <a:spLocks xmlns:a="http://schemas.openxmlformats.org/drawingml/2006/main" noGrp="1"/>
          </p:cNvSpPr>
          <p:nvPr/>
        </p:nvSpPr>
        <p:spPr>
          <a:xfrm xmlns:a="http://schemas.openxmlformats.org/drawingml/2006/main">
            <a:off x="628650" y="1714500"/>
            <a:ext cx="10382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0B1220"/>
                </a:solidFill>
              </a:defRPr>
            </a:pPr>
            <a:r>
              <a:rPr sz="2325" b="1">
                <a:solidFill>
                  <a:srgbClr val="0B1220"/>
                </a:solidFill>
              </a:rPr>
              <a:t>Route a ticket: billing goes to lookup, technical goes to diagnostics, and unknown goes to human review.</a:t>
            </a:r>
          </a:p>
        </p:txBody>
      </p:sp>
      <p:sp>
        <p:nvSpPr>
          <p:cNvPr id="7" name="">
            <a:extLst xmlns:a="http://schemas.openxmlformats.org/drawingml/2006/main">
              <a:ext uri="{FF2B5EF4-FFF2-40B4-BE49-F238E27FC236}">
                <a16:creationId xmlns:a16="http://schemas.microsoft.com/office/drawing/2014/main" id="{D7A1FF17-3D6E-4948-9182-56B9888BC7A1}"/>
              </a:ext>
            </a:extLst>
          </p:cNvPr>
          <p:cNvSpPr>
            <a:spLocks xmlns:a="http://schemas.openxmlformats.org/drawingml/2006/main" noGrp="1"/>
          </p:cNvSpPr>
          <p:nvPr/>
        </p:nvSpPr>
        <p:spPr>
          <a:xfrm xmlns:a="http://schemas.openxmlformats.org/drawingml/2006/main">
            <a:off x="6286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01</a:t>
            </a:r>
          </a:p>
        </p:txBody>
      </p:sp>
      <p:sp>
        <p:nvSpPr>
          <p:cNvPr id="8" name="">
            <a:extLst xmlns:a="http://schemas.openxmlformats.org/drawingml/2006/main">
              <a:ext uri="{FF2B5EF4-FFF2-40B4-BE49-F238E27FC236}">
                <a16:creationId xmlns:a16="http://schemas.microsoft.com/office/drawing/2014/main" id="{F87609E9-45FC-497F-A6D4-13644B4A5F32}"/>
              </a:ext>
            </a:extLst>
          </p:cNvPr>
          <p:cNvSpPr>
            <a:spLocks xmlns:a="http://schemas.openxmlformats.org/drawingml/2006/main" noGrp="1"/>
          </p:cNvSpPr>
          <p:nvPr/>
        </p:nvSpPr>
        <p:spPr>
          <a:xfrm xmlns:a="http://schemas.openxmlformats.org/drawingml/2006/main">
            <a:off x="6286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EC74E16-17D9-42B0-8D2C-9EA85EA24AC1}"/>
              </a:ext>
            </a:extLst>
          </p:cNvPr>
          <p:cNvSpPr>
            <a:spLocks xmlns:a="http://schemas.openxmlformats.org/drawingml/2006/main" noGrp="1"/>
          </p:cNvSpPr>
          <p:nvPr/>
        </p:nvSpPr>
        <p:spPr>
          <a:xfrm xmlns:a="http://schemas.openxmlformats.org/drawingml/2006/main">
            <a:off x="6286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Known values</a:t>
            </a:r>
          </a:p>
        </p:txBody>
      </p:sp>
      <p:sp>
        <p:nvSpPr>
          <p:cNvPr id="10" name="">
            <a:extLst xmlns:a="http://schemas.openxmlformats.org/drawingml/2006/main">
              <a:ext uri="{FF2B5EF4-FFF2-40B4-BE49-F238E27FC236}">
                <a16:creationId xmlns:a16="http://schemas.microsoft.com/office/drawing/2014/main" id="{2791FBCD-1B33-4633-A0D3-5D6E026F17C7}"/>
              </a:ext>
            </a:extLst>
          </p:cNvPr>
          <p:cNvSpPr>
            <a:spLocks xmlns:a="http://schemas.openxmlformats.org/drawingml/2006/main" noGrp="1"/>
          </p:cNvSpPr>
          <p:nvPr/>
        </p:nvSpPr>
        <p:spPr>
          <a:xfrm xmlns:a="http://schemas.openxmlformats.org/drawingml/2006/main">
            <a:off x="42862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76BDB"/>
                </a:solidFill>
              </a:defRPr>
            </a:pPr>
            <a:r>
              <a:rPr sz="1200" b="1">
                <a:solidFill>
                  <a:srgbClr val="176BDB"/>
                </a:solidFill>
              </a:rPr>
              <a:t>02</a:t>
            </a:r>
          </a:p>
        </p:txBody>
      </p:sp>
      <p:sp>
        <p:nvSpPr>
          <p:cNvPr id="11" name="">
            <a:extLst xmlns:a="http://schemas.openxmlformats.org/drawingml/2006/main">
              <a:ext uri="{FF2B5EF4-FFF2-40B4-BE49-F238E27FC236}">
                <a16:creationId xmlns:a16="http://schemas.microsoft.com/office/drawing/2014/main" id="{8CCDA7D4-A7CF-4668-840C-2CEFEC4F78F9}"/>
              </a:ext>
            </a:extLst>
          </p:cNvPr>
          <p:cNvSpPr>
            <a:spLocks xmlns:a="http://schemas.openxmlformats.org/drawingml/2006/main" noGrp="1"/>
          </p:cNvSpPr>
          <p:nvPr/>
        </p:nvSpPr>
        <p:spPr>
          <a:xfrm xmlns:a="http://schemas.openxmlformats.org/drawingml/2006/main">
            <a:off x="4286250" y="4324350"/>
            <a:ext cx="30099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FBF092-EF96-42FB-BB0E-94453C7F1C1C}"/>
              </a:ext>
            </a:extLst>
          </p:cNvPr>
          <p:cNvSpPr>
            <a:spLocks xmlns:a="http://schemas.openxmlformats.org/drawingml/2006/main" noGrp="1"/>
          </p:cNvSpPr>
          <p:nvPr/>
        </p:nvSpPr>
        <p:spPr>
          <a:xfrm xmlns:a="http://schemas.openxmlformats.org/drawingml/2006/main">
            <a:off x="42862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Apply the mechanism</a:t>
            </a:r>
          </a:p>
        </p:txBody>
      </p:sp>
      <p:sp>
        <p:nvSpPr>
          <p:cNvPr id="13" name="">
            <a:extLst xmlns:a="http://schemas.openxmlformats.org/drawingml/2006/main">
              <a:ext uri="{FF2B5EF4-FFF2-40B4-BE49-F238E27FC236}">
                <a16:creationId xmlns:a16="http://schemas.microsoft.com/office/drawing/2014/main" id="{F3610C17-9588-4EDE-9DC2-7F1C4AAAA5D9}"/>
              </a:ext>
            </a:extLst>
          </p:cNvPr>
          <p:cNvSpPr>
            <a:spLocks xmlns:a="http://schemas.openxmlformats.org/drawingml/2006/main" noGrp="1"/>
          </p:cNvSpPr>
          <p:nvPr/>
        </p:nvSpPr>
        <p:spPr>
          <a:xfrm xmlns:a="http://schemas.openxmlformats.org/drawingml/2006/main">
            <a:off x="7943850" y="381000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F06B5F"/>
                </a:solidFill>
              </a:defRPr>
            </a:pPr>
            <a:r>
              <a:rPr sz="1200" b="1">
                <a:solidFill>
                  <a:srgbClr val="F06B5F"/>
                </a:solidFill>
              </a:rPr>
              <a:t>03</a:t>
            </a:r>
          </a:p>
        </p:txBody>
      </p:sp>
      <p:sp>
        <p:nvSpPr>
          <p:cNvPr id="14" name="">
            <a:extLst xmlns:a="http://schemas.openxmlformats.org/drawingml/2006/main">
              <a:ext uri="{FF2B5EF4-FFF2-40B4-BE49-F238E27FC236}">
                <a16:creationId xmlns:a16="http://schemas.microsoft.com/office/drawing/2014/main" id="{2210C61F-5311-4B7A-9A9E-A97767ECDBE3}"/>
              </a:ext>
            </a:extLst>
          </p:cNvPr>
          <p:cNvSpPr>
            <a:spLocks xmlns:a="http://schemas.openxmlformats.org/drawingml/2006/main" noGrp="1"/>
          </p:cNvSpPr>
          <p:nvPr/>
        </p:nvSpPr>
        <p:spPr>
          <a:xfrm xmlns:a="http://schemas.openxmlformats.org/drawingml/2006/main">
            <a:off x="7943850" y="4324350"/>
            <a:ext cx="30099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62E84C-4FFB-4663-8F80-FC9A12B8841B}"/>
              </a:ext>
            </a:extLst>
          </p:cNvPr>
          <p:cNvSpPr>
            <a:spLocks xmlns:a="http://schemas.openxmlformats.org/drawingml/2006/main" noGrp="1"/>
          </p:cNvSpPr>
          <p:nvPr/>
        </p:nvSpPr>
        <p:spPr>
          <a:xfrm xmlns:a="http://schemas.openxmlformats.org/drawingml/2006/main">
            <a:off x="7943850" y="4648200"/>
            <a:ext cx="304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Interpret the result</a:t>
            </a:r>
          </a:p>
        </p:txBody>
      </p:sp>
    </p:spTree>
    <p:extLst>
      <p:ext uri="{BB962C8B-B14F-4D97-AF65-F5344CB8AC3E}">
        <p14:creationId xmlns:p14="http://schemas.microsoft.com/office/powerpoint/2010/main" val="810720299"/>
      </p:ext>
    </p:extLst>
  </p:cSld>
</p:sld>
</file>

<file path=ppt/slides/slide7.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A64B4F4-9214-4C14-8E80-CACFA96E2A94}"/>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M17 / L01</a:t>
            </a:r>
          </a:p>
        </p:txBody>
      </p:sp>
      <p:sp>
        <p:nvSpPr>
          <p:cNvPr id="2" name="">
            <a:extLst xmlns:a="http://schemas.openxmlformats.org/drawingml/2006/main">
              <a:ext uri="{FF2B5EF4-FFF2-40B4-BE49-F238E27FC236}">
                <a16:creationId xmlns:a16="http://schemas.microsoft.com/office/drawing/2014/main" id="{D31C2771-67BF-4697-9632-8ABC9CF2A5F2}"/>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AI Agents and LangGraph Workflows</a:t>
            </a:r>
          </a:p>
        </p:txBody>
      </p:sp>
      <p:sp>
        <p:nvSpPr>
          <p:cNvPr id="3" name="">
            <a:extLst xmlns:a="http://schemas.openxmlformats.org/drawingml/2006/main">
              <a:ext uri="{FF2B5EF4-FFF2-40B4-BE49-F238E27FC236}">
                <a16:creationId xmlns:a16="http://schemas.microsoft.com/office/drawing/2014/main" id="{02F00532-3CBD-45FE-B615-748895AD3E6A}"/>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07</a:t>
            </a:r>
          </a:p>
        </p:txBody>
      </p:sp>
      <p:sp>
        <p:nvSpPr>
          <p:cNvPr id="4" name="">
            <a:extLst xmlns:a="http://schemas.openxmlformats.org/drawingml/2006/main">
              <a:ext uri="{FF2B5EF4-FFF2-40B4-BE49-F238E27FC236}">
                <a16:creationId xmlns:a16="http://schemas.microsoft.com/office/drawing/2014/main" id="{8F295C00-8882-45A5-B6D2-5002D8E3A6C1}"/>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3B14E708-C6C7-4FA9-87B5-4D9582325BF0}"/>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Map the concept to Python</a:t>
            </a:r>
          </a:p>
        </p:txBody>
      </p:sp>
      <p:sp>
        <p:nvSpPr>
          <p:cNvPr id="6" name="">
            <a:extLst xmlns:a="http://schemas.openxmlformats.org/drawingml/2006/main">
              <a:ext uri="{FF2B5EF4-FFF2-40B4-BE49-F238E27FC236}">
                <a16:creationId xmlns:a16="http://schemas.microsoft.com/office/drawing/2014/main" id="{57C27D4E-8540-41E5-9A0D-05EA182B48B7}"/>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6D47CB-645F-47FC-AB03-AA8F8D9A1906}"/>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FFEC291-165A-4A4D-ADF0-025DB33DCB94}"/>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D5DC32-6391-4A0C-A0A1-7D264940389B}"/>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848B3E8-3360-4DD6-8814-E421D2FA800D}"/>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95A0061-BFED-4233-B2A8-29BCCD9C6092}"/>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def route(state):</a:t>
            </a:r>
          </a:p>
          <a:p xmlns:a="http://schemas.openxmlformats.org/drawingml/2006/main">
            <a:pPr>
              <a:defRPr sz="1125">
                <a:solidFill>
                  <a:srgbClr val="E8F1F7"/>
                </a:solidFill>
              </a:defRPr>
            </a:pPr>
            <a:r>
              <a:rPr sz="1125">
                <a:solidFill>
                  <a:srgbClr val="E8F1F7"/>
                </a:solidFill>
              </a:rPr>
              <a:t>    return {"billing": "lookup", "technical": "diagnose"}.get(</a:t>
            </a:r>
          </a:p>
          <a:p xmlns:a="http://schemas.openxmlformats.org/drawingml/2006/main">
            <a:pPr>
              <a:defRPr sz="1125">
                <a:solidFill>
                  <a:srgbClr val="E8F1F7"/>
                </a:solidFill>
              </a:defRPr>
            </a:pPr>
            <a:r>
              <a:rPr sz="1125">
                <a:solidFill>
                  <a:srgbClr val="E8F1F7"/>
                </a:solidFill>
              </a:rPr>
              <a:t>        state["category"], "human_review"</a:t>
            </a:r>
          </a:p>
          <a:p xmlns:a="http://schemas.openxmlformats.org/drawingml/2006/main">
            <a:pPr>
              <a:defRPr sz="1125">
                <a:solidFill>
                  <a:srgbClr val="E8F1F7"/>
                </a:solidFill>
              </a:defRPr>
            </a:pPr>
            <a:r>
              <a:rPr sz="1125">
                <a:solidFill>
                  <a:srgbClr val="E8F1F7"/>
                </a:solidFill>
              </a:rPr>
              <a:t>    )</a:t>
            </a:r>
          </a:p>
        </p:txBody>
      </p:sp>
      <p:sp>
        <p:nvSpPr>
          <p:cNvPr id="12" name="">
            <a:extLst xmlns:a="http://schemas.openxmlformats.org/drawingml/2006/main">
              <a:ext uri="{FF2B5EF4-FFF2-40B4-BE49-F238E27FC236}">
                <a16:creationId xmlns:a16="http://schemas.microsoft.com/office/drawing/2014/main" id="{01608008-9E2B-467D-919C-59063AD8C7FA}"/>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A9CF8A64-E0F9-440F-8906-C81151E4498F}"/>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4EBFF0EA-FBC1-49C8-9A58-5821524E23C8}"/>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billing -&gt; lookup</a:t>
            </a:r>
          </a:p>
        </p:txBody>
      </p:sp>
      <p:sp>
        <p:nvSpPr>
          <p:cNvPr id="15" name="">
            <a:extLst xmlns:a="http://schemas.openxmlformats.org/drawingml/2006/main">
              <a:ext uri="{FF2B5EF4-FFF2-40B4-BE49-F238E27FC236}">
                <a16:creationId xmlns:a16="http://schemas.microsoft.com/office/drawing/2014/main" id="{B6829F4D-1795-47D6-8124-C142EA3F6835}"/>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945EAC7-A2C9-44AD-A92A-136A8906A358}"/>
              </a:ext>
            </a:extLst>
          </p:cNvPr>
          <p:cNvSpPr>
            <a:spLocks xmlns:a="http://schemas.openxmlformats.org/drawingml/2006/main" noGrp="1"/>
          </p:cNvSpPr>
          <p:nvPr/>
        </p:nvSpPr>
        <p:spPr>
          <a:xfrm xmlns:a="http://schemas.openxmlformats.org/drawingml/2006/main">
            <a:off x="723900" y="5886450"/>
            <a:ext cx="1074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Each line corresponds to a concept already explained.</a:t>
            </a:r>
          </a:p>
        </p:txBody>
      </p:sp>
    </p:spTree>
    <p:extLst>
      <p:ext uri="{BB962C8B-B14F-4D97-AF65-F5344CB8AC3E}">
        <p14:creationId xmlns:p14="http://schemas.microsoft.com/office/powerpoint/2010/main" val="5128678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AC09B06-E1F2-4C87-B845-3BA600FC21B6}"/>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M17 / L01</a:t>
            </a:r>
          </a:p>
        </p:txBody>
      </p:sp>
      <p:sp>
        <p:nvSpPr>
          <p:cNvPr id="2" name="">
            <a:extLst xmlns:a="http://schemas.openxmlformats.org/drawingml/2006/main">
              <a:ext uri="{FF2B5EF4-FFF2-40B4-BE49-F238E27FC236}">
                <a16:creationId xmlns:a16="http://schemas.microsoft.com/office/drawing/2014/main" id="{105836CC-0BB3-404B-A053-06941F8611E2}"/>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AI Agents and LangGraph Workflows</a:t>
            </a:r>
          </a:p>
        </p:txBody>
      </p:sp>
      <p:sp>
        <p:nvSpPr>
          <p:cNvPr id="3" name="">
            <a:extLst xmlns:a="http://schemas.openxmlformats.org/drawingml/2006/main">
              <a:ext uri="{FF2B5EF4-FFF2-40B4-BE49-F238E27FC236}">
                <a16:creationId xmlns:a16="http://schemas.microsoft.com/office/drawing/2014/main" id="{ED0D71E5-D961-4F69-AD1F-A7E9877157A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08</a:t>
            </a:r>
          </a:p>
        </p:txBody>
      </p:sp>
      <p:sp>
        <p:nvSpPr>
          <p:cNvPr id="4" name="">
            <a:extLst xmlns:a="http://schemas.openxmlformats.org/drawingml/2006/main">
              <a:ext uri="{FF2B5EF4-FFF2-40B4-BE49-F238E27FC236}">
                <a16:creationId xmlns:a16="http://schemas.microsoft.com/office/drawing/2014/main" id="{82C16C25-0AA9-4886-A1F0-3FA952015D08}"/>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65F196F7-E56B-41D5-A50E-3244C010F457}"/>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Build the complete mental model</a:t>
            </a:r>
          </a:p>
        </p:txBody>
      </p:sp>
      <p:sp>
        <p:nvSpPr>
          <p:cNvPr id="6" name="">
            <a:extLst xmlns:a="http://schemas.openxmlformats.org/drawingml/2006/main">
              <a:ext uri="{FF2B5EF4-FFF2-40B4-BE49-F238E27FC236}">
                <a16:creationId xmlns:a16="http://schemas.microsoft.com/office/drawing/2014/main" id="{20D718D7-E1CC-44DB-BAD1-CB5C9D6DDD1C}"/>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2BDC3F42-21F6-4DD6-BF86-2B8E78D9DB27}"/>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ECAFC24B-07A1-488B-8B1D-829007DCAEE3}"/>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Use deterministic workflows when steps are known; grant an agent choice only where it adds value.</a:t>
            </a:r>
          </a:p>
        </p:txBody>
      </p:sp>
      <p:sp>
        <p:nvSpPr>
          <p:cNvPr id="9" name="">
            <a:extLst xmlns:a="http://schemas.openxmlformats.org/drawingml/2006/main">
              <a:ext uri="{FF2B5EF4-FFF2-40B4-BE49-F238E27FC236}">
                <a16:creationId xmlns:a16="http://schemas.microsoft.com/office/drawing/2014/main" id="{753F13D8-93F6-4932-BEF7-679E74285ADB}"/>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C90F72-05C4-4469-9875-BB5C375EF648}"/>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7FF5BBC5-A68D-4189-A07C-D2FA8A240A06}"/>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F9076BE0-009C-42B9-919D-457D086374D8}"/>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Typed state makes every node input, output, and routing decision inspectable.</a:t>
            </a:r>
          </a:p>
        </p:txBody>
      </p:sp>
      <p:sp>
        <p:nvSpPr>
          <p:cNvPr id="13" name="">
            <a:extLst xmlns:a="http://schemas.openxmlformats.org/drawingml/2006/main">
              <a:ext uri="{FF2B5EF4-FFF2-40B4-BE49-F238E27FC236}">
                <a16:creationId xmlns:a16="http://schemas.microsoft.com/office/drawing/2014/main" id="{85EB4E49-B9CB-45B1-BF64-E9FCFDEA55DE}"/>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FF07D65-5D09-43CB-8830-D99C24C155E2}"/>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D4FEE7B1-E526-4DEA-8B93-6E565170FB69}"/>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5460A2D0-5718-4F83-8514-DE0BA9A83C96}"/>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Tools need schemas, authorization, timeouts, resource limits, and observable results.</a:t>
            </a:r>
          </a:p>
        </p:txBody>
      </p:sp>
      <p:sp>
        <p:nvSpPr>
          <p:cNvPr id="17" name="">
            <a:extLst xmlns:a="http://schemas.openxmlformats.org/drawingml/2006/main">
              <a:ext uri="{FF2B5EF4-FFF2-40B4-BE49-F238E27FC236}">
                <a16:creationId xmlns:a16="http://schemas.microsoft.com/office/drawing/2014/main" id="{B2AB9A6E-9760-44D6-8AFF-B9BB46B71B28}"/>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EF4BBBD-9FFF-45E0-8023-B2AAF84B052C}"/>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03406269-EBC9-4695-ADD2-C934D999201E}"/>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620EEEFF-93E0-4FE7-A9CB-EFD0FBC6B527}"/>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Bound total steps and attempts, checkpoint recoverable state, and route uncertainty to a human.</a:t>
            </a:r>
          </a:p>
        </p:txBody>
      </p:sp>
      <p:sp>
        <p:nvSpPr>
          <p:cNvPr id="21" name="">
            <a:extLst xmlns:a="http://schemas.openxmlformats.org/drawingml/2006/main">
              <a:ext uri="{FF2B5EF4-FFF2-40B4-BE49-F238E27FC236}">
                <a16:creationId xmlns:a16="http://schemas.microsoft.com/office/drawing/2014/main" id="{4122AF88-DE3C-41F6-8869-749F4EAE4A5F}"/>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1582027167"/>
      </p:ext>
    </p:extLst>
  </p:cSld>
</p:sld>
</file>

<file path=ppt/slides/slide9.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C1EBC20-D357-4275-BF5A-F4F3858A0B09}"/>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M17 / L01</a:t>
            </a:r>
          </a:p>
        </p:txBody>
      </p:sp>
      <p:sp>
        <p:nvSpPr>
          <p:cNvPr id="2" name="">
            <a:extLst xmlns:a="http://schemas.openxmlformats.org/drawingml/2006/main">
              <a:ext uri="{FF2B5EF4-FFF2-40B4-BE49-F238E27FC236}">
                <a16:creationId xmlns:a16="http://schemas.microsoft.com/office/drawing/2014/main" id="{ACFCD7D3-0068-4A88-9B83-A7831FC86067}"/>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AI Agents and LangGraph Workflows</a:t>
            </a:r>
          </a:p>
        </p:txBody>
      </p:sp>
      <p:sp>
        <p:nvSpPr>
          <p:cNvPr id="3" name="">
            <a:extLst xmlns:a="http://schemas.openxmlformats.org/drawingml/2006/main">
              <a:ext uri="{FF2B5EF4-FFF2-40B4-BE49-F238E27FC236}">
                <a16:creationId xmlns:a16="http://schemas.microsoft.com/office/drawing/2014/main" id="{F0B6E623-DB77-4FB9-9B7D-5FBFFB8190B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09</a:t>
            </a:r>
          </a:p>
        </p:txBody>
      </p:sp>
      <p:sp>
        <p:nvSpPr>
          <p:cNvPr id="4" name="">
            <a:extLst xmlns:a="http://schemas.openxmlformats.org/drawingml/2006/main">
              <a:ext uri="{FF2B5EF4-FFF2-40B4-BE49-F238E27FC236}">
                <a16:creationId xmlns:a16="http://schemas.microsoft.com/office/drawing/2014/main" id="{087FB673-510D-4706-B1BD-AB636B60550B}"/>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FOUR CONNECTED IDEAS</a:t>
            </a:r>
          </a:p>
        </p:txBody>
      </p:sp>
      <p:sp>
        <p:nvSpPr>
          <p:cNvPr id="5" name="">
            <a:extLst xmlns:a="http://schemas.openxmlformats.org/drawingml/2006/main">
              <a:ext uri="{FF2B5EF4-FFF2-40B4-BE49-F238E27FC236}">
                <a16:creationId xmlns:a16="http://schemas.microsoft.com/office/drawing/2014/main" id="{6807EF3F-CFF8-4193-8308-6B1789D7D3A7}"/>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Notebook readiness map</a:t>
            </a:r>
          </a:p>
        </p:txBody>
      </p:sp>
      <p:sp>
        <p:nvSpPr>
          <p:cNvPr id="6" name="">
            <a:extLst xmlns:a="http://schemas.openxmlformats.org/drawingml/2006/main">
              <a:ext uri="{FF2B5EF4-FFF2-40B4-BE49-F238E27FC236}">
                <a16:creationId xmlns:a16="http://schemas.microsoft.com/office/drawing/2014/main" id="{F4517581-841E-4DA6-9C0A-09B43273DA27}"/>
              </a:ext>
            </a:extLst>
          </p:cNvPr>
          <p:cNvSpPr>
            <a:spLocks xmlns:a="http://schemas.openxmlformats.org/drawingml/2006/main" noGrp="1"/>
          </p:cNvSpPr>
          <p:nvPr/>
        </p:nvSpPr>
        <p:spPr>
          <a:xfrm xmlns:a="http://schemas.openxmlformats.org/drawingml/2006/main">
            <a:off x="6096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76BDB"/>
                </a:solidFill>
              </a:defRPr>
            </a:pPr>
            <a:r>
              <a:rPr sz="975" b="1">
                <a:solidFill>
                  <a:srgbClr val="176BDB"/>
                </a:solidFill>
              </a:rPr>
              <a:t>01</a:t>
            </a:r>
          </a:p>
        </p:txBody>
      </p:sp>
      <p:sp>
        <p:nvSpPr>
          <p:cNvPr id="7" name="">
            <a:extLst xmlns:a="http://schemas.openxmlformats.org/drawingml/2006/main">
              <a:ext uri="{FF2B5EF4-FFF2-40B4-BE49-F238E27FC236}">
                <a16:creationId xmlns:a16="http://schemas.microsoft.com/office/drawing/2014/main" id="{03B8556C-19D2-4489-AA51-A81F4C9DB2E5}"/>
              </a:ext>
            </a:extLst>
          </p:cNvPr>
          <p:cNvSpPr>
            <a:spLocks xmlns:a="http://schemas.openxmlformats.org/drawingml/2006/main" noGrp="1"/>
          </p:cNvSpPr>
          <p:nvPr/>
        </p:nvSpPr>
        <p:spPr>
          <a:xfrm xmlns:a="http://schemas.openxmlformats.org/drawingml/2006/main">
            <a:off x="609600" y="2686050"/>
            <a:ext cx="2095500" cy="47625"/>
          </a:xfrm>
          <a:prstGeom xmlns:a="http://schemas.openxmlformats.org/drawingml/2006/main" prst="rect">
            <a:avLst/>
          </a:prstGeom>
          <a:solidFill xmlns:a="http://schemas.openxmlformats.org/drawingml/2006/main">
            <a:srgbClr val="176BD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64B2809-CD78-4A57-AB70-0899B56149D0}"/>
              </a:ext>
            </a:extLst>
          </p:cNvPr>
          <p:cNvSpPr>
            <a:spLocks xmlns:a="http://schemas.openxmlformats.org/drawingml/2006/main" noGrp="1"/>
          </p:cNvSpPr>
          <p:nvPr/>
        </p:nvSpPr>
        <p:spPr>
          <a:xfrm xmlns:a="http://schemas.openxmlformats.org/drawingml/2006/main">
            <a:off x="6096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workflows and agents</a:t>
            </a:r>
          </a:p>
        </p:txBody>
      </p:sp>
      <p:sp>
        <p:nvSpPr>
          <p:cNvPr id="9" name="">
            <a:extLst xmlns:a="http://schemas.openxmlformats.org/drawingml/2006/main">
              <a:ext uri="{FF2B5EF4-FFF2-40B4-BE49-F238E27FC236}">
                <a16:creationId xmlns:a16="http://schemas.microsoft.com/office/drawing/2014/main" id="{34D04482-0621-4E2F-B877-88C8925CD922}"/>
              </a:ext>
            </a:extLst>
          </p:cNvPr>
          <p:cNvSpPr>
            <a:spLocks xmlns:a="http://schemas.openxmlformats.org/drawingml/2006/main" noGrp="1"/>
          </p:cNvSpPr>
          <p:nvPr/>
        </p:nvSpPr>
        <p:spPr>
          <a:xfrm xmlns:a="http://schemas.openxmlformats.org/drawingml/2006/main">
            <a:off x="28194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0" name="">
            <a:extLst xmlns:a="http://schemas.openxmlformats.org/drawingml/2006/main">
              <a:ext uri="{FF2B5EF4-FFF2-40B4-BE49-F238E27FC236}">
                <a16:creationId xmlns:a16="http://schemas.microsoft.com/office/drawing/2014/main" id="{09412633-B25D-4DC2-94BF-9442E398B629}"/>
              </a:ext>
            </a:extLst>
          </p:cNvPr>
          <p:cNvSpPr>
            <a:spLocks xmlns:a="http://schemas.openxmlformats.org/drawingml/2006/main" noGrp="1"/>
          </p:cNvSpPr>
          <p:nvPr/>
        </p:nvSpPr>
        <p:spPr>
          <a:xfrm xmlns:a="http://schemas.openxmlformats.org/drawingml/2006/main">
            <a:off x="34290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1" name="">
            <a:extLst xmlns:a="http://schemas.openxmlformats.org/drawingml/2006/main">
              <a:ext uri="{FF2B5EF4-FFF2-40B4-BE49-F238E27FC236}">
                <a16:creationId xmlns:a16="http://schemas.microsoft.com/office/drawing/2014/main" id="{BD0A938F-7C59-4D0D-B0D7-99554651F686}"/>
              </a:ext>
            </a:extLst>
          </p:cNvPr>
          <p:cNvSpPr>
            <a:spLocks xmlns:a="http://schemas.openxmlformats.org/drawingml/2006/main" noGrp="1"/>
          </p:cNvSpPr>
          <p:nvPr/>
        </p:nvSpPr>
        <p:spPr>
          <a:xfrm xmlns:a="http://schemas.openxmlformats.org/drawingml/2006/main">
            <a:off x="3429000" y="2686050"/>
            <a:ext cx="2095500" cy="47625"/>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FFF76A6-1233-4681-99C3-704413150E6E}"/>
              </a:ext>
            </a:extLst>
          </p:cNvPr>
          <p:cNvSpPr>
            <a:spLocks xmlns:a="http://schemas.openxmlformats.org/drawingml/2006/main" noGrp="1"/>
          </p:cNvSpPr>
          <p:nvPr/>
        </p:nvSpPr>
        <p:spPr>
          <a:xfrm xmlns:a="http://schemas.openxmlformats.org/drawingml/2006/main">
            <a:off x="34290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state nodes and edges</a:t>
            </a:r>
          </a:p>
        </p:txBody>
      </p:sp>
      <p:sp>
        <p:nvSpPr>
          <p:cNvPr id="13" name="">
            <a:extLst xmlns:a="http://schemas.openxmlformats.org/drawingml/2006/main">
              <a:ext uri="{FF2B5EF4-FFF2-40B4-BE49-F238E27FC236}">
                <a16:creationId xmlns:a16="http://schemas.microsoft.com/office/drawing/2014/main" id="{7880FE9F-8B38-4F5B-9401-CFAF9067FF89}"/>
              </a:ext>
            </a:extLst>
          </p:cNvPr>
          <p:cNvSpPr>
            <a:spLocks xmlns:a="http://schemas.openxmlformats.org/drawingml/2006/main" noGrp="1"/>
          </p:cNvSpPr>
          <p:nvPr/>
        </p:nvSpPr>
        <p:spPr>
          <a:xfrm xmlns:a="http://schemas.openxmlformats.org/drawingml/2006/main">
            <a:off x="56388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4" name="">
            <a:extLst xmlns:a="http://schemas.openxmlformats.org/drawingml/2006/main">
              <a:ext uri="{FF2B5EF4-FFF2-40B4-BE49-F238E27FC236}">
                <a16:creationId xmlns:a16="http://schemas.microsoft.com/office/drawing/2014/main" id="{3B50F385-C6DB-4F4F-AD59-415A4CF4D0C6}"/>
              </a:ext>
            </a:extLst>
          </p:cNvPr>
          <p:cNvSpPr>
            <a:spLocks xmlns:a="http://schemas.openxmlformats.org/drawingml/2006/main" noGrp="1"/>
          </p:cNvSpPr>
          <p:nvPr/>
        </p:nvSpPr>
        <p:spPr>
          <a:xfrm xmlns:a="http://schemas.openxmlformats.org/drawingml/2006/main">
            <a:off x="62484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FFFFF"/>
                </a:solidFill>
              </a:defRPr>
            </a:pPr>
            <a:r>
              <a:rPr sz="975" b="1">
                <a:solidFill>
                  <a:srgbClr val="FFFFFF"/>
                </a:solidFill>
              </a:rPr>
              <a:t>03</a:t>
            </a:r>
          </a:p>
        </p:txBody>
      </p:sp>
      <p:sp>
        <p:nvSpPr>
          <p:cNvPr id="15" name="">
            <a:extLst xmlns:a="http://schemas.openxmlformats.org/drawingml/2006/main">
              <a:ext uri="{FF2B5EF4-FFF2-40B4-BE49-F238E27FC236}">
                <a16:creationId xmlns:a16="http://schemas.microsoft.com/office/drawing/2014/main" id="{E7A9035F-399F-4196-BEF5-B3E85DE40E13}"/>
              </a:ext>
            </a:extLst>
          </p:cNvPr>
          <p:cNvSpPr>
            <a:spLocks xmlns:a="http://schemas.openxmlformats.org/drawingml/2006/main" noGrp="1"/>
          </p:cNvSpPr>
          <p:nvPr/>
        </p:nvSpPr>
        <p:spPr>
          <a:xfrm xmlns:a="http://schemas.openxmlformats.org/drawingml/2006/main">
            <a:off x="6248400" y="2686050"/>
            <a:ext cx="2095500" cy="47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E00FBF0-37A3-4879-9CA3-42EE8AFF72D9}"/>
              </a:ext>
            </a:extLst>
          </p:cNvPr>
          <p:cNvSpPr>
            <a:spLocks xmlns:a="http://schemas.openxmlformats.org/drawingml/2006/main" noGrp="1"/>
          </p:cNvSpPr>
          <p:nvPr/>
        </p:nvSpPr>
        <p:spPr>
          <a:xfrm xmlns:a="http://schemas.openxmlformats.org/drawingml/2006/main">
            <a:off x="62484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FFFFFF"/>
                </a:solidFill>
              </a:defRPr>
            </a:pPr>
            <a:r>
              <a:rPr sz="2100" b="1">
                <a:solidFill>
                  <a:srgbClr val="FFFFFF"/>
                </a:solidFill>
              </a:rPr>
              <a:t>tools and observations</a:t>
            </a:r>
          </a:p>
        </p:txBody>
      </p:sp>
      <p:sp>
        <p:nvSpPr>
          <p:cNvPr id="17" name="">
            <a:extLst xmlns:a="http://schemas.openxmlformats.org/drawingml/2006/main">
              <a:ext uri="{FF2B5EF4-FFF2-40B4-BE49-F238E27FC236}">
                <a16:creationId xmlns:a16="http://schemas.microsoft.com/office/drawing/2014/main" id="{1DFC88B9-8ED4-41BA-9913-73F6D723CFF4}"/>
              </a:ext>
            </a:extLst>
          </p:cNvPr>
          <p:cNvSpPr>
            <a:spLocks xmlns:a="http://schemas.openxmlformats.org/drawingml/2006/main" noGrp="1"/>
          </p:cNvSpPr>
          <p:nvPr/>
        </p:nvSpPr>
        <p:spPr>
          <a:xfrm xmlns:a="http://schemas.openxmlformats.org/drawingml/2006/main">
            <a:off x="8458200" y="3086100"/>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325" b="1">
                <a:solidFill>
                  <a:srgbClr val="8BA2B6"/>
                </a:solidFill>
              </a:defRPr>
            </a:pPr>
            <a:r>
              <a:rPr sz="2325" b="1">
                <a:solidFill>
                  <a:srgbClr val="8BA2B6"/>
                </a:solidFill>
              </a:rPr>
              <a:t>→</a:t>
            </a:r>
          </a:p>
        </p:txBody>
      </p:sp>
      <p:sp>
        <p:nvSpPr>
          <p:cNvPr id="18" name="">
            <a:extLst xmlns:a="http://schemas.openxmlformats.org/drawingml/2006/main">
              <a:ext uri="{FF2B5EF4-FFF2-40B4-BE49-F238E27FC236}">
                <a16:creationId xmlns:a16="http://schemas.microsoft.com/office/drawing/2014/main" id="{CFAB3778-50D2-42DC-912F-3729577357C2}"/>
              </a:ext>
            </a:extLst>
          </p:cNvPr>
          <p:cNvSpPr>
            <a:spLocks xmlns:a="http://schemas.openxmlformats.org/drawingml/2006/main" noGrp="1"/>
          </p:cNvSpPr>
          <p:nvPr/>
        </p:nvSpPr>
        <p:spPr>
          <a:xfrm xmlns:a="http://schemas.openxmlformats.org/drawingml/2006/main">
            <a:off x="9067800" y="22098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9" name="">
            <a:extLst xmlns:a="http://schemas.openxmlformats.org/drawingml/2006/main">
              <a:ext uri="{FF2B5EF4-FFF2-40B4-BE49-F238E27FC236}">
                <a16:creationId xmlns:a16="http://schemas.microsoft.com/office/drawing/2014/main" id="{A222B934-947B-459A-B276-3ED901A39127}"/>
              </a:ext>
            </a:extLst>
          </p:cNvPr>
          <p:cNvSpPr>
            <a:spLocks xmlns:a="http://schemas.openxmlformats.org/drawingml/2006/main" noGrp="1"/>
          </p:cNvSpPr>
          <p:nvPr/>
        </p:nvSpPr>
        <p:spPr>
          <a:xfrm xmlns:a="http://schemas.openxmlformats.org/drawingml/2006/main">
            <a:off x="9067800" y="2686050"/>
            <a:ext cx="209550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466A288-7DCD-4F8D-B954-8856BF26AF0C}"/>
              </a:ext>
            </a:extLst>
          </p:cNvPr>
          <p:cNvSpPr>
            <a:spLocks xmlns:a="http://schemas.openxmlformats.org/drawingml/2006/main" noGrp="1"/>
          </p:cNvSpPr>
          <p:nvPr/>
        </p:nvSpPr>
        <p:spPr>
          <a:xfrm xmlns:a="http://schemas.openxmlformats.org/drawingml/2006/main">
            <a:off x="9067800" y="2971800"/>
            <a:ext cx="2190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FFFFFF"/>
                </a:solidFill>
              </a:defRPr>
            </a:pPr>
            <a:r>
              <a:rPr sz="1725" b="1">
                <a:solidFill>
                  <a:srgbClr val="FFFFFF"/>
                </a:solidFill>
              </a:rPr>
              <a:t>checkpoints and stopping conditions</a:t>
            </a:r>
          </a:p>
        </p:txBody>
      </p:sp>
      <p:sp>
        <p:nvSpPr>
          <p:cNvPr id="21" name="">
            <a:extLst xmlns:a="http://schemas.openxmlformats.org/drawingml/2006/main">
              <a:ext uri="{FF2B5EF4-FFF2-40B4-BE49-F238E27FC236}">
                <a16:creationId xmlns:a16="http://schemas.microsoft.com/office/drawing/2014/main" id="{54587631-B395-4F79-88D4-D499C5AA178F}"/>
              </a:ext>
            </a:extLst>
          </p:cNvPr>
          <p:cNvSpPr>
            <a:spLocks xmlns:a="http://schemas.openxmlformats.org/drawingml/2006/main" noGrp="1"/>
          </p:cNvSpPr>
          <p:nvPr/>
        </p:nvSpPr>
        <p:spPr>
          <a:xfrm xmlns:a="http://schemas.openxmlformats.org/drawingml/2006/main">
            <a:off x="609600" y="51435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C9D8E4"/>
                </a:solidFill>
              </a:defRPr>
            </a:pPr>
            <a:r>
              <a:rPr sz="1575">
                <a:solidFill>
                  <a:srgbClr val="C9D8E4"/>
                </a:solidFill>
              </a:rPr>
              <a:t>Use the concepts from this lesson to read and complete https://github.com/curiousily/AI-Bootcamp/blob/master/29.langgraph-quickstart.ipynb.</a:t>
            </a:r>
          </a:p>
        </p:txBody>
      </p:sp>
    </p:spTree>
    <p:extLst>
      <p:ext uri="{BB962C8B-B14F-4D97-AF65-F5344CB8AC3E}">
        <p14:creationId xmlns:p14="http://schemas.microsoft.com/office/powerpoint/2010/main" val="1284763105"/>
      </p:ext>
    </p:extLst>
  </p:cSld>
</p:sld>
</file>

<file path=ppt/slides/slide10.xml><?xml version="1.0" encoding="utf-8"?>
<p:sld xmlns:p="http://schemas.openxmlformats.org/presentationml/2006/main">
  <p:cSld>
    <p:bg>
      <p:bgPr>
        <a:solidFill xmlns:a="http://schemas.openxmlformats.org/drawingml/2006/main">
          <a:srgbClr val="FFF8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86358BB-EFC9-402A-B8DD-8F6F4D5F798C}"/>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M17 / L01</a:t>
            </a:r>
          </a:p>
        </p:txBody>
      </p:sp>
      <p:sp>
        <p:nvSpPr>
          <p:cNvPr id="2" name="">
            <a:extLst xmlns:a="http://schemas.openxmlformats.org/drawingml/2006/main">
              <a:ext uri="{FF2B5EF4-FFF2-40B4-BE49-F238E27FC236}">
                <a16:creationId xmlns:a16="http://schemas.microsoft.com/office/drawing/2014/main" id="{7BABE574-2074-46E5-9334-D44C0EA567B5}"/>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AI Agents and LangGraph Workflows</a:t>
            </a:r>
          </a:p>
        </p:txBody>
      </p:sp>
      <p:sp>
        <p:nvSpPr>
          <p:cNvPr id="3" name="">
            <a:extLst xmlns:a="http://schemas.openxmlformats.org/drawingml/2006/main">
              <a:ext uri="{FF2B5EF4-FFF2-40B4-BE49-F238E27FC236}">
                <a16:creationId xmlns:a16="http://schemas.microsoft.com/office/drawing/2014/main" id="{C8D7B655-4525-4403-96B7-31E4B32EBE7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9E93FE6F-D8CF-4FC8-908B-C145EBB0C225}"/>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RISK REVIEW</a:t>
            </a:r>
          </a:p>
        </p:txBody>
      </p:sp>
      <p:sp>
        <p:nvSpPr>
          <p:cNvPr id="5" name="">
            <a:extLst xmlns:a="http://schemas.openxmlformats.org/drawingml/2006/main">
              <a:ext uri="{FF2B5EF4-FFF2-40B4-BE49-F238E27FC236}">
                <a16:creationId xmlns:a16="http://schemas.microsoft.com/office/drawing/2014/main" id="{855E3409-630B-48BB-9BD6-BF489F4030D6}"/>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Common beginner mistakes</a:t>
            </a:r>
          </a:p>
        </p:txBody>
      </p:sp>
      <p:sp>
        <p:nvSpPr>
          <p:cNvPr id="6" name="">
            <a:extLst xmlns:a="http://schemas.openxmlformats.org/drawingml/2006/main">
              <a:ext uri="{FF2B5EF4-FFF2-40B4-BE49-F238E27FC236}">
                <a16:creationId xmlns:a16="http://schemas.microsoft.com/office/drawing/2014/main" id="{4A3D4694-54EA-4162-92A4-11843649E6A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4683289-BF23-4160-A0D0-0D3E22E893FC}"/>
              </a:ext>
            </a:extLst>
          </p:cNvPr>
          <p:cNvSpPr>
            <a:spLocks xmlns:a="http://schemas.openxmlformats.org/drawingml/2006/main" noGrp="1"/>
          </p:cNvSpPr>
          <p:nvPr/>
        </p:nvSpPr>
        <p:spPr>
          <a:xfrm xmlns:a="http://schemas.openxmlformats.org/drawingml/2006/main">
            <a:off x="704850" y="18669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01</a:t>
            </a:r>
          </a:p>
        </p:txBody>
      </p:sp>
      <p:sp>
        <p:nvSpPr>
          <p:cNvPr id="8" name="">
            <a:extLst xmlns:a="http://schemas.openxmlformats.org/drawingml/2006/main">
              <a:ext uri="{FF2B5EF4-FFF2-40B4-BE49-F238E27FC236}">
                <a16:creationId xmlns:a16="http://schemas.microsoft.com/office/drawing/2014/main" id="{F9E4750C-13F3-4A92-ADB9-CB071B7B41D0}"/>
              </a:ext>
            </a:extLst>
          </p:cNvPr>
          <p:cNvSpPr>
            <a:spLocks xmlns:a="http://schemas.openxmlformats.org/drawingml/2006/main" noGrp="1"/>
          </p:cNvSpPr>
          <p:nvPr/>
        </p:nvSpPr>
        <p:spPr>
          <a:xfrm xmlns:a="http://schemas.openxmlformats.org/drawingml/2006/main">
            <a:off x="1809750" y="17907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Using an open-ended agent when deterministic routing is sufficient.</a:t>
            </a:r>
          </a:p>
        </p:txBody>
      </p:sp>
      <p:sp>
        <p:nvSpPr>
          <p:cNvPr id="9" name="">
            <a:extLst xmlns:a="http://schemas.openxmlformats.org/drawingml/2006/main">
              <a:ext uri="{FF2B5EF4-FFF2-40B4-BE49-F238E27FC236}">
                <a16:creationId xmlns:a16="http://schemas.microsoft.com/office/drawing/2014/main" id="{928E0059-8AC6-4C2B-8D1D-765CEB702F5B}"/>
              </a:ext>
            </a:extLst>
          </p:cNvPr>
          <p:cNvSpPr>
            <a:spLocks xmlns:a="http://schemas.openxmlformats.org/drawingml/2006/main" noGrp="1"/>
          </p:cNvSpPr>
          <p:nvPr/>
        </p:nvSpPr>
        <p:spPr>
          <a:xfrm xmlns:a="http://schemas.openxmlformats.org/drawingml/2006/main">
            <a:off x="704850" y="28670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DC7020-CB6E-4589-912B-BECB3A834F5D}"/>
              </a:ext>
            </a:extLst>
          </p:cNvPr>
          <p:cNvSpPr>
            <a:spLocks xmlns:a="http://schemas.openxmlformats.org/drawingml/2006/main" noGrp="1"/>
          </p:cNvSpPr>
          <p:nvPr/>
        </p:nvSpPr>
        <p:spPr>
          <a:xfrm xmlns:a="http://schemas.openxmlformats.org/drawingml/2006/main">
            <a:off x="704850" y="3276600"/>
            <a:ext cx="742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06B5F"/>
                </a:solidFill>
              </a:defRPr>
            </a:pPr>
            <a:r>
              <a:rPr sz="1350" b="1">
                <a:solidFill>
                  <a:srgbClr val="F06B5F"/>
                </a:solidFill>
              </a:rPr>
              <a:t>02</a:t>
            </a:r>
          </a:p>
        </p:txBody>
      </p:sp>
      <p:sp>
        <p:nvSpPr>
          <p:cNvPr id="11" name="">
            <a:extLst xmlns:a="http://schemas.openxmlformats.org/drawingml/2006/main">
              <a:ext uri="{FF2B5EF4-FFF2-40B4-BE49-F238E27FC236}">
                <a16:creationId xmlns:a16="http://schemas.microsoft.com/office/drawing/2014/main" id="{89F6F63E-CBC2-40D4-BEBE-74FD7676BCAF}"/>
              </a:ext>
            </a:extLst>
          </p:cNvPr>
          <p:cNvSpPr>
            <a:spLocks xmlns:a="http://schemas.openxmlformats.org/drawingml/2006/main" noGrp="1"/>
          </p:cNvSpPr>
          <p:nvPr/>
        </p:nvSpPr>
        <p:spPr>
          <a:xfrm xmlns:a="http://schemas.openxmlformats.org/drawingml/2006/main">
            <a:off x="1809750" y="3200400"/>
            <a:ext cx="885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B1220"/>
                </a:solidFill>
              </a:defRPr>
            </a:pPr>
            <a:r>
              <a:rPr sz="1875" b="1">
                <a:solidFill>
                  <a:srgbClr val="0B1220"/>
                </a:solidFill>
              </a:rPr>
              <a:t>Allowing a graph to revisit a node without a step or attempt limit.</a:t>
            </a:r>
          </a:p>
        </p:txBody>
      </p:sp>
      <p:sp>
        <p:nvSpPr>
          <p:cNvPr id="12" name="">
            <a:extLst xmlns:a="http://schemas.openxmlformats.org/drawingml/2006/main">
              <a:ext uri="{FF2B5EF4-FFF2-40B4-BE49-F238E27FC236}">
                <a16:creationId xmlns:a16="http://schemas.microsoft.com/office/drawing/2014/main" id="{6BEAB714-2A0A-4D58-B602-5687E92E42D9}"/>
              </a:ext>
            </a:extLst>
          </p:cNvPr>
          <p:cNvSpPr>
            <a:spLocks xmlns:a="http://schemas.openxmlformats.org/drawingml/2006/main" noGrp="1"/>
          </p:cNvSpPr>
          <p:nvPr/>
        </p:nvSpPr>
        <p:spPr>
          <a:xfrm xmlns:a="http://schemas.openxmlformats.org/drawingml/2006/main">
            <a:off x="704850" y="4276725"/>
            <a:ext cx="9982200" cy="19050"/>
          </a:xfrm>
          <a:prstGeom xmlns:a="http://schemas.openxmlformats.org/drawingml/2006/main" prst="rect">
            <a:avLst/>
          </a:prstGeom>
          <a:solidFill xmlns:a="http://schemas.openxmlformats.org/drawingml/2006/main">
            <a:srgbClr val="E7C9C4"/>
          </a:solidFill>
          <a:ln xmlns:a="http://schemas.openxmlformats.org/drawingml/2006/main" w="0">
            <a:noFill/>
            <a:prstDash val="solid"/>
          </a:ln>
        </p:spPr>
      </p:sp>
    </p:spTree>
    <p:extLst>
      <p:ext uri="{BB962C8B-B14F-4D97-AF65-F5344CB8AC3E}">
        <p14:creationId xmlns:p14="http://schemas.microsoft.com/office/powerpoint/2010/main" val="808151428"/>
      </p:ext>
    </p:extLst>
  </p:cSld>
</p:sld>
</file>

<file path=ppt/slides/slide1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B2A33D9-2EFB-48A3-B1B8-715CA544D13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M17 / L01</a:t>
            </a:r>
          </a:p>
        </p:txBody>
      </p:sp>
      <p:sp>
        <p:nvSpPr>
          <p:cNvPr id="2" name="">
            <a:extLst xmlns:a="http://schemas.openxmlformats.org/drawingml/2006/main">
              <a:ext uri="{FF2B5EF4-FFF2-40B4-BE49-F238E27FC236}">
                <a16:creationId xmlns:a16="http://schemas.microsoft.com/office/drawing/2014/main" id="{D0940686-AF5B-445E-B34E-8FC9749814E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AI Agents and LangGraph Workflows</a:t>
            </a:r>
          </a:p>
        </p:txBody>
      </p:sp>
      <p:sp>
        <p:nvSpPr>
          <p:cNvPr id="3" name="">
            <a:extLst xmlns:a="http://schemas.openxmlformats.org/drawingml/2006/main">
              <a:ext uri="{FF2B5EF4-FFF2-40B4-BE49-F238E27FC236}">
                <a16:creationId xmlns:a16="http://schemas.microsoft.com/office/drawing/2014/main" id="{46DF6097-D0FA-4AD4-9CE7-6463AB0DA7D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11</a:t>
            </a:r>
          </a:p>
        </p:txBody>
      </p:sp>
      <p:sp>
        <p:nvSpPr>
          <p:cNvPr id="4" name="">
            <a:extLst xmlns:a="http://schemas.openxmlformats.org/drawingml/2006/main">
              <a:ext uri="{FF2B5EF4-FFF2-40B4-BE49-F238E27FC236}">
                <a16:creationId xmlns:a16="http://schemas.microsoft.com/office/drawing/2014/main" id="{67B4E0B8-3C5A-41E8-AE13-2F2A633B4FB0}"/>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DF1A4565-613B-4D38-955C-DE45E1359EE2}"/>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75" b="1">
                <a:solidFill>
                  <a:srgbClr val="FFFFFF"/>
                </a:solidFill>
              </a:defRPr>
            </a:pPr>
            <a:r>
              <a:rPr sz="2775" b="1">
                <a:solidFill>
                  <a:srgbClr val="FFFFFF"/>
                </a:solidFill>
              </a:rPr>
              <a:t>Build a typed LangGraph workflow with conditional routing, one tool, a checkpoint, and a step limit.</a:t>
            </a:r>
          </a:p>
        </p:txBody>
      </p:sp>
      <p:sp>
        <p:nvSpPr>
          <p:cNvPr id="6" name="">
            <a:extLst xmlns:a="http://schemas.openxmlformats.org/drawingml/2006/main">
              <a:ext uri="{FF2B5EF4-FFF2-40B4-BE49-F238E27FC236}">
                <a16:creationId xmlns:a16="http://schemas.microsoft.com/office/drawing/2014/main" id="{D752CA9F-0151-46B2-8761-688026137FBD}"/>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5098AF4E-28AA-4B23-A66A-53544D84EBD1}"/>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EE825B-B94E-4592-9B0F-0134FBE16F2D}"/>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Predict</a:t>
            </a:r>
          </a:p>
        </p:txBody>
      </p:sp>
      <p:sp>
        <p:nvSpPr>
          <p:cNvPr id="9" name="">
            <a:extLst xmlns:a="http://schemas.openxmlformats.org/drawingml/2006/main">
              <a:ext uri="{FF2B5EF4-FFF2-40B4-BE49-F238E27FC236}">
                <a16:creationId xmlns:a16="http://schemas.microsoft.com/office/drawing/2014/main" id="{18AB99D0-96DD-4E03-ABC9-69454C1A59A9}"/>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9AA84CC7-4CE8-47C6-B43E-137098B2B69B}"/>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9C010B9-D63E-4CDC-9355-923FF0A7929F}"/>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Run</a:t>
            </a:r>
          </a:p>
        </p:txBody>
      </p:sp>
      <p:sp>
        <p:nvSpPr>
          <p:cNvPr id="12" name="">
            <a:extLst xmlns:a="http://schemas.openxmlformats.org/drawingml/2006/main">
              <a:ext uri="{FF2B5EF4-FFF2-40B4-BE49-F238E27FC236}">
                <a16:creationId xmlns:a16="http://schemas.microsoft.com/office/drawing/2014/main" id="{4838EA55-3116-4F94-BDB8-5282D95D845D}"/>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F2B58475-40FF-4E24-AB45-D2BBF73643B1}"/>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2EB687-BA4C-43D2-B11E-34C3028E6FFD}"/>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Inspect</a:t>
            </a:r>
          </a:p>
        </p:txBody>
      </p:sp>
      <p:sp>
        <p:nvSpPr>
          <p:cNvPr id="15" name="">
            <a:extLst xmlns:a="http://schemas.openxmlformats.org/drawingml/2006/main">
              <a:ext uri="{FF2B5EF4-FFF2-40B4-BE49-F238E27FC236}">
                <a16:creationId xmlns:a16="http://schemas.microsoft.com/office/drawing/2014/main" id="{F78BBBE4-D504-450A-ABDB-4D3874AAC969}"/>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FC9913DB-14D2-4171-A441-D5E1F514E4DB}"/>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2790F1D-C694-4B4A-9009-E27521A3F23D}"/>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Explain</a:t>
            </a:r>
          </a:p>
        </p:txBody>
      </p:sp>
    </p:spTree>
    <p:extLst>
      <p:ext uri="{BB962C8B-B14F-4D97-AF65-F5344CB8AC3E}">
        <p14:creationId xmlns:p14="http://schemas.microsoft.com/office/powerpoint/2010/main" val="1523210000"/>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9C99E70-47CF-47B3-BC17-998B911DC1C4}"/>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M17 / L01</a:t>
            </a:r>
          </a:p>
        </p:txBody>
      </p:sp>
      <p:sp>
        <p:nvSpPr>
          <p:cNvPr id="2" name="">
            <a:extLst xmlns:a="http://schemas.openxmlformats.org/drawingml/2006/main">
              <a:ext uri="{FF2B5EF4-FFF2-40B4-BE49-F238E27FC236}">
                <a16:creationId xmlns:a16="http://schemas.microsoft.com/office/drawing/2014/main" id="{B509338E-EFE8-4B3D-A937-D6AEF4B8178C}"/>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AI Agents and LangGraph Workflows</a:t>
            </a:r>
          </a:p>
        </p:txBody>
      </p:sp>
      <p:sp>
        <p:nvSpPr>
          <p:cNvPr id="3" name="">
            <a:extLst xmlns:a="http://schemas.openxmlformats.org/drawingml/2006/main">
              <a:ext uri="{FF2B5EF4-FFF2-40B4-BE49-F238E27FC236}">
                <a16:creationId xmlns:a16="http://schemas.microsoft.com/office/drawing/2014/main" id="{73B16123-209F-4255-8945-22A507580E4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F7C0BDEA-7DF2-424A-8BFE-2C266B2AC81D}"/>
              </a:ext>
            </a:extLst>
          </p:cNvPr>
          <p:cNvSpPr>
            <a:spLocks xmlns:a="http://schemas.openxmlformats.org/drawingml/2006/main" noGrp="1"/>
          </p:cNvSpPr>
          <p:nvPr/>
        </p:nvSpPr>
        <p:spPr>
          <a:xfrm xmlns:a="http://schemas.openxmlformats.org/drawingml/2006/main">
            <a:off x="609600" y="8382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SESSION SYNTHESIS</a:t>
            </a:r>
          </a:p>
        </p:txBody>
      </p:sp>
      <p:sp>
        <p:nvSpPr>
          <p:cNvPr id="5" name="">
            <a:extLst xmlns:a="http://schemas.openxmlformats.org/drawingml/2006/main">
              <a:ext uri="{FF2B5EF4-FFF2-40B4-BE49-F238E27FC236}">
                <a16:creationId xmlns:a16="http://schemas.microsoft.com/office/drawing/2014/main" id="{1688B1D7-CA1C-4BBB-87FB-177206EC117A}"/>
              </a:ext>
            </a:extLst>
          </p:cNvPr>
          <p:cNvSpPr>
            <a:spLocks xmlns:a="http://schemas.openxmlformats.org/drawingml/2006/main" noGrp="1"/>
          </p:cNvSpPr>
          <p:nvPr/>
        </p:nvSpPr>
        <p:spPr>
          <a:xfrm xmlns:a="http://schemas.openxmlformats.org/drawingml/2006/main">
            <a:off x="609600" y="12954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Keep the system, not isolated definitions.</a:t>
            </a:r>
          </a:p>
        </p:txBody>
      </p:sp>
      <p:sp>
        <p:nvSpPr>
          <p:cNvPr id="6" name="">
            <a:extLst xmlns:a="http://schemas.openxmlformats.org/drawingml/2006/main">
              <a:ext uri="{FF2B5EF4-FFF2-40B4-BE49-F238E27FC236}">
                <a16:creationId xmlns:a16="http://schemas.microsoft.com/office/drawing/2014/main" id="{39FA095B-0FC3-4E2D-B895-66D50F1C4599}"/>
              </a:ext>
            </a:extLst>
          </p:cNvPr>
          <p:cNvSpPr>
            <a:spLocks xmlns:a="http://schemas.openxmlformats.org/drawingml/2006/main" noGrp="1"/>
          </p:cNvSpPr>
          <p:nvPr/>
        </p:nvSpPr>
        <p:spPr>
          <a:xfrm xmlns:a="http://schemas.openxmlformats.org/drawingml/2006/main">
            <a:off x="628650" y="25336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DAFE2E7A-4B3D-4E1F-A18F-D37ED2F22B8F}"/>
              </a:ext>
            </a:extLst>
          </p:cNvPr>
          <p:cNvSpPr>
            <a:spLocks xmlns:a="http://schemas.openxmlformats.org/drawingml/2006/main" noGrp="1"/>
          </p:cNvSpPr>
          <p:nvPr/>
        </p:nvSpPr>
        <p:spPr>
          <a:xfrm xmlns:a="http://schemas.openxmlformats.org/drawingml/2006/main">
            <a:off x="1409700" y="24860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Explain workflows and agents in plain language.</a:t>
            </a:r>
          </a:p>
        </p:txBody>
      </p:sp>
      <p:sp>
        <p:nvSpPr>
          <p:cNvPr id="8" name="">
            <a:extLst xmlns:a="http://schemas.openxmlformats.org/drawingml/2006/main">
              <a:ext uri="{FF2B5EF4-FFF2-40B4-BE49-F238E27FC236}">
                <a16:creationId xmlns:a16="http://schemas.microsoft.com/office/drawing/2014/main" id="{83659B51-2E7E-40DF-B55D-D952B5A9BF82}"/>
              </a:ext>
            </a:extLst>
          </p:cNvPr>
          <p:cNvSpPr>
            <a:spLocks xmlns:a="http://schemas.openxmlformats.org/drawingml/2006/main" noGrp="1"/>
          </p:cNvSpPr>
          <p:nvPr/>
        </p:nvSpPr>
        <p:spPr>
          <a:xfrm xmlns:a="http://schemas.openxmlformats.org/drawingml/2006/main">
            <a:off x="628650" y="335280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9" name="">
            <a:extLst xmlns:a="http://schemas.openxmlformats.org/drawingml/2006/main">
              <a:ext uri="{FF2B5EF4-FFF2-40B4-BE49-F238E27FC236}">
                <a16:creationId xmlns:a16="http://schemas.microsoft.com/office/drawing/2014/main" id="{C2D31163-0D0E-416E-A3BB-DC40872975A6}"/>
              </a:ext>
            </a:extLst>
          </p:cNvPr>
          <p:cNvSpPr>
            <a:spLocks xmlns:a="http://schemas.openxmlformats.org/drawingml/2006/main" noGrp="1"/>
          </p:cNvSpPr>
          <p:nvPr/>
        </p:nvSpPr>
        <p:spPr>
          <a:xfrm xmlns:a="http://schemas.openxmlformats.org/drawingml/2006/main">
            <a:off x="1409700" y="330517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Use state nodes and edges in a small worked example.</a:t>
            </a:r>
          </a:p>
        </p:txBody>
      </p:sp>
      <p:sp>
        <p:nvSpPr>
          <p:cNvPr id="10" name="">
            <a:extLst xmlns:a="http://schemas.openxmlformats.org/drawingml/2006/main">
              <a:ext uri="{FF2B5EF4-FFF2-40B4-BE49-F238E27FC236}">
                <a16:creationId xmlns:a16="http://schemas.microsoft.com/office/drawing/2014/main" id="{3BDC8319-A43F-4D67-BD48-3F20FF1BE2D8}"/>
              </a:ext>
            </a:extLst>
          </p:cNvPr>
          <p:cNvSpPr>
            <a:spLocks xmlns:a="http://schemas.openxmlformats.org/drawingml/2006/main" noGrp="1"/>
          </p:cNvSpPr>
          <p:nvPr/>
        </p:nvSpPr>
        <p:spPr>
          <a:xfrm xmlns:a="http://schemas.openxmlformats.org/drawingml/2006/main">
            <a:off x="628650" y="4171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1" name="">
            <a:extLst xmlns:a="http://schemas.openxmlformats.org/drawingml/2006/main">
              <a:ext uri="{FF2B5EF4-FFF2-40B4-BE49-F238E27FC236}">
                <a16:creationId xmlns:a16="http://schemas.microsoft.com/office/drawing/2014/main" id="{7B05ACE7-4563-4158-9C3D-BD1A738C9A74}"/>
              </a:ext>
            </a:extLst>
          </p:cNvPr>
          <p:cNvSpPr>
            <a:spLocks xmlns:a="http://schemas.openxmlformats.org/drawingml/2006/main" noGrp="1"/>
          </p:cNvSpPr>
          <p:nvPr/>
        </p:nvSpPr>
        <p:spPr>
          <a:xfrm xmlns:a="http://schemas.openxmlformats.org/drawingml/2006/main">
            <a:off x="1409700" y="412432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Complete the guided lab and verify checkpoints and stopping conditions.</a:t>
            </a:r>
          </a:p>
        </p:txBody>
      </p:sp>
      <p:sp>
        <p:nvSpPr>
          <p:cNvPr id="12" name="">
            <a:extLst xmlns:a="http://schemas.openxmlformats.org/drawingml/2006/main">
              <a:ext uri="{FF2B5EF4-FFF2-40B4-BE49-F238E27FC236}">
                <a16:creationId xmlns:a16="http://schemas.microsoft.com/office/drawing/2014/main" id="{8302F1C4-E82D-4FA6-AF8A-9E6627F84113}"/>
              </a:ext>
            </a:extLst>
          </p:cNvPr>
          <p:cNvSpPr>
            <a:spLocks xmlns:a="http://schemas.openxmlformats.org/drawingml/2006/main" noGrp="1"/>
          </p:cNvSpPr>
          <p:nvPr/>
        </p:nvSpPr>
        <p:spPr>
          <a:xfrm xmlns:a="http://schemas.openxmlformats.org/drawingml/2006/main">
            <a:off x="7239000" y="27241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F06B5F"/>
                </a:solidFill>
              </a:defRPr>
            </a:pPr>
            <a:r>
              <a:rPr sz="900" b="1">
                <a:solidFill>
                  <a:srgbClr val="F06B5F"/>
                </a:solidFill>
              </a:rPr>
              <a:t>NEXT EVIDENCE</a:t>
            </a:r>
          </a:p>
        </p:txBody>
      </p:sp>
      <p:sp>
        <p:nvSpPr>
          <p:cNvPr id="13" name="">
            <a:extLst xmlns:a="http://schemas.openxmlformats.org/drawingml/2006/main">
              <a:ext uri="{FF2B5EF4-FFF2-40B4-BE49-F238E27FC236}">
                <a16:creationId xmlns:a16="http://schemas.microsoft.com/office/drawing/2014/main" id="{4E4D40FF-204C-48DB-8B76-AB7246570E0B}"/>
              </a:ext>
            </a:extLst>
          </p:cNvPr>
          <p:cNvSpPr>
            <a:spLocks xmlns:a="http://schemas.openxmlformats.org/drawingml/2006/main" noGrp="1"/>
          </p:cNvSpPr>
          <p:nvPr/>
        </p:nvSpPr>
        <p:spPr>
          <a:xfrm xmlns:a="http://schemas.openxmlformats.org/drawingml/2006/main">
            <a:off x="7239000" y="3200400"/>
            <a:ext cx="40957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FFFFFF"/>
                </a:solidFill>
              </a:defRPr>
            </a:pPr>
            <a:r>
              <a:rPr sz="1950" b="1">
                <a:solidFill>
                  <a:srgbClr val="FFFFFF"/>
                </a:solidFill>
              </a:rPr>
              <a:t>A tested graph with state schema, rendered routes, tool permissions, execution traces, and failure recovery.</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8ad5b2f63254460"/>
          <a:stretch xmlns:a="http://schemas.openxmlformats.org/drawingml/2006/main"/>
        </p:blipFill>
        <p:spPr>
          <a:xfrm xmlns:a="http://schemas.openxmlformats.org/drawingml/2006/main">
            <a:off x="9791700" y="5905500"/>
            <a:ext cx="1371600" cy="457200"/>
          </a:xfrm>
          <a:prstGeom xmlns:a="http://schemas.openxmlformats.org/drawingml/2006/main" prst="rect">
            <a:avLst/>
          </a:prstGeom>
        </p:spPr>
      </p:pic>
    </p:spTree>
    <p:extLst>
      <p:ext uri="{BB962C8B-B14F-4D97-AF65-F5344CB8AC3E}">
        <p14:creationId xmlns:p14="http://schemas.microsoft.com/office/powerpoint/2010/main" val="580596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2026-07-28T16:53:21.1180000Z</dcterms:created>
  <dcterms:modified xsi:type="dcterms:W3CDTF">2026-07-28T16:53:21.1180000Z</dcterms:modified>
</coreProperties>
</file>