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2acaee32f443ed" /><Relationship Type="http://schemas.openxmlformats.org/officeDocument/2006/relationships/extended-properties" Target="/docProps/app.xml" Id="R5b88c5f53bdd48eb" /><Relationship Type="http://schemas.openxmlformats.org/officeDocument/2006/relationships/officeDocument" Target="/ppt/presentation.xml" Id="R84b2c357314c4698" /></Relationships>
</file>

<file path=ppt/presentation.xml><?xml version="1.0" encoding="utf-8"?>
<p:presentation xmlns:p="http://schemas.openxmlformats.org/presentationml/2006/main">
  <p:sldMasterIdLst>
    <p:sldMasterId xmlns:r="http://schemas.openxmlformats.org/officeDocument/2006/relationships" id="2147483648" r:id="Rf62aaf09ab8a436e"/>
  </p:sldMasterIdLst>
  <p:notesMasterIdLst>
    <p:notesMasterId xmlns:r="http://schemas.openxmlformats.org/officeDocument/2006/relationships" r:id="Ra0753eccf08843cf"/>
  </p:notesMasterIdLst>
  <p:sldIdLst>
    <p:sldId xmlns:r="http://schemas.openxmlformats.org/officeDocument/2006/relationships" id="256" r:id="Rfc0584f6a1b2497e"/>
    <p:sldId xmlns:r="http://schemas.openxmlformats.org/officeDocument/2006/relationships" id="257" r:id="R116c0ee4fd9d47cd"/>
    <p:sldId xmlns:r="http://schemas.openxmlformats.org/officeDocument/2006/relationships" id="258" r:id="R378e234a8ea24902"/>
    <p:sldId xmlns:r="http://schemas.openxmlformats.org/officeDocument/2006/relationships" id="259" r:id="R4c90de856f6541d2"/>
    <p:sldId xmlns:r="http://schemas.openxmlformats.org/officeDocument/2006/relationships" id="260" r:id="R170c3d7c2fbd4383"/>
    <p:sldId xmlns:r="http://schemas.openxmlformats.org/officeDocument/2006/relationships" id="261" r:id="Rd447cde39e854b3e"/>
    <p:sldId xmlns:r="http://schemas.openxmlformats.org/officeDocument/2006/relationships" id="262" r:id="R37eae4cb9e894e47"/>
    <p:sldId xmlns:r="http://schemas.openxmlformats.org/officeDocument/2006/relationships" id="263" r:id="R01125b22e512400e"/>
    <p:sldId xmlns:r="http://schemas.openxmlformats.org/officeDocument/2006/relationships" id="264" r:id="R7980325861d14dfe"/>
    <p:sldId xmlns:r="http://schemas.openxmlformats.org/officeDocument/2006/relationships" id="265" r:id="Rf235340575bf46ac"/>
    <p:sldId xmlns:r="http://schemas.openxmlformats.org/officeDocument/2006/relationships" id="266" r:id="R9adb7285af804a9a"/>
    <p:sldId xmlns:r="http://schemas.openxmlformats.org/officeDocument/2006/relationships" id="267" r:id="R21fe7367ad3c4d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ed3c9bb0444324" /><Relationship Type="http://schemas.openxmlformats.org/officeDocument/2006/relationships/slideMaster" Target="/ppt/slideMasters/slideMaster1.xml" Id="Rf62aaf09ab8a436e" /><Relationship Type="http://schemas.openxmlformats.org/officeDocument/2006/relationships/notesMaster" Target="/ppt/notesMasters/notesMaster1.xml" Id="Ra0753eccf08843cf" /><Relationship Type="http://schemas.openxmlformats.org/officeDocument/2006/relationships/presProps" Target="/ppt/presProps.xml" Id="R0914995d4db34f05" /><Relationship Type="http://schemas.openxmlformats.org/officeDocument/2006/relationships/tableStyles" Target="/ppt/tableStyles.xml" Id="R683c72a3156445f0" /><Relationship Type="http://schemas.openxmlformats.org/officeDocument/2006/relationships/slide" Target="/ppt/slides/slide1.xml" Id="Rfc0584f6a1b2497e" /><Relationship Type="http://schemas.openxmlformats.org/officeDocument/2006/relationships/slide" Target="/ppt/slides/slide2.xml" Id="R116c0ee4fd9d47cd" /><Relationship Type="http://schemas.openxmlformats.org/officeDocument/2006/relationships/slide" Target="/ppt/slides/slide3.xml" Id="R378e234a8ea24902" /><Relationship Type="http://schemas.openxmlformats.org/officeDocument/2006/relationships/slide" Target="/ppt/slides/slide4.xml" Id="R4c90de856f6541d2" /><Relationship Type="http://schemas.openxmlformats.org/officeDocument/2006/relationships/slide" Target="/ppt/slides/slide5.xml" Id="R170c3d7c2fbd4383" /><Relationship Type="http://schemas.openxmlformats.org/officeDocument/2006/relationships/slide" Target="/ppt/slides/slide6.xml" Id="Rd447cde39e854b3e" /><Relationship Type="http://schemas.openxmlformats.org/officeDocument/2006/relationships/slide" Target="/ppt/slides/slide7.xml" Id="R37eae4cb9e894e47" /><Relationship Type="http://schemas.openxmlformats.org/officeDocument/2006/relationships/slide" Target="/ppt/slides/slide8.xml" Id="R01125b22e512400e" /><Relationship Type="http://schemas.openxmlformats.org/officeDocument/2006/relationships/slide" Target="/ppt/slides/slide9.xml" Id="R7980325861d14dfe" /><Relationship Type="http://schemas.openxmlformats.org/officeDocument/2006/relationships/slide" Target="/ppt/slides/slide10.xml" Id="Rf235340575bf46ac" /><Relationship Type="http://schemas.openxmlformats.org/officeDocument/2006/relationships/slide" Target="/ppt/slides/slide11.xml" Id="R9adb7285af804a9a" /><Relationship Type="http://schemas.openxmlformats.org/officeDocument/2006/relationships/slide" Target="/ppt/slides/slide12.xml" Id="R21fe7367ad3c4d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410a70fb8f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0e470ba0a14a58" /><Relationship Type="http://schemas.openxmlformats.org/officeDocument/2006/relationships/notesMaster" Target="/ppt/notesMasters/notesMaster1.xml" Id="R16bd921e3be342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706ab917024353" /><Relationship Type="http://schemas.openxmlformats.org/officeDocument/2006/relationships/notesMaster" Target="/ppt/notesMasters/notesMaster1.xml" Id="R9c4b2cf4cc154c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3c393f26a7417f" /><Relationship Type="http://schemas.openxmlformats.org/officeDocument/2006/relationships/notesMaster" Target="/ppt/notesMasters/notesMaster1.xml" Id="R82f0286b763743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5d35e1c6c54e43" /><Relationship Type="http://schemas.openxmlformats.org/officeDocument/2006/relationships/notesMaster" Target="/ppt/notesMasters/notesMaster1.xml" Id="R9de08a54da824d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a8a42a3b3a4430" /><Relationship Type="http://schemas.openxmlformats.org/officeDocument/2006/relationships/notesMaster" Target="/ppt/notesMasters/notesMaster1.xml" Id="Rb99ad831720541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88dfa2f6de4a98" /><Relationship Type="http://schemas.openxmlformats.org/officeDocument/2006/relationships/notesMaster" Target="/ppt/notesMasters/notesMaster1.xml" Id="R6a57e959e30846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9feb1b13424166" /><Relationship Type="http://schemas.openxmlformats.org/officeDocument/2006/relationships/notesMaster" Target="/ppt/notesMasters/notesMaster1.xml" Id="Rca19a7dc3647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660b9b7f9d4bc2" /><Relationship Type="http://schemas.openxmlformats.org/officeDocument/2006/relationships/notesMaster" Target="/ppt/notesMasters/notesMaster1.xml" Id="Rea4bfec3862042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3deaf44fe94c89" /><Relationship Type="http://schemas.openxmlformats.org/officeDocument/2006/relationships/notesMaster" Target="/ppt/notesMasters/notesMaster1.xml" Id="R544db0abd1ed4b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3fd7614ced46df" /><Relationship Type="http://schemas.openxmlformats.org/officeDocument/2006/relationships/notesMaster" Target="/ppt/notesMasters/notesMaster1.xml" Id="R95f949621f0e4c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c49b67f1814d94" /><Relationship Type="http://schemas.openxmlformats.org/officeDocument/2006/relationships/notesMaster" Target="/ppt/notesMasters/notesMaster1.xml" Id="R6ba5ea8faef445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06e04a0ee84166" /><Relationship Type="http://schemas.openxmlformats.org/officeDocument/2006/relationships/notesMaster" Target="/ppt/notesMasters/notesMaster1.xml" Id="Rfa54b2553f0b40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 Language Model Fundamentals. Understand what an LLM predicts, how text becomes tokens, and why generation is uncertain.</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starting point is python, vectors, probability, neural-network layers, and inference. By the end, you will explain tokens and context windows in plain language.</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language before using it: tokens and context windows, next-token prediction, logits and softmax, base and instruction models.</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P(tokenᵢ|previous tokens)=softmax(logits); generation repeatedly samples or selects a next token.</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symbol or component has a job. token: A vocabulary unit represented by an integer. logit: An unnormalized model score. temperature: A control on sampling sharpness.</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values before running code. For logits [2,1,0], subtract 2, exponentiate, and normalize to approximately [0.665,0.245,0.090].</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hand-worked mechanism to Python. The observed output is [0.665 0.245 0.09 ]</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becomes token IDs, then vectors; the model predicts a distribution for the next token. Softmax probabilities come from relative logits and always sum to one. Temperature changes sampling sharpness but does not add knowledge or factual verification. Base models continue text; instruction models are adapted to follow task-oriented conversations.</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concepts from this lesson to read and complete https://github.com/curiousily/AI-Bootcamp/blob/master/05.llms-101.ipynb. Predict what each section does before executing it.</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Treating generated text as retrieved knowledge. Changing temperature without understanding that it changes sampling, not factual knowledge.</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run, inspect, and explain. Tokenize a prompt, inspect next-token probabilities, and compare deterministic and sampled local generation.</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connection between tokens and context windows, next-token prediction, logits and softmax, base and instruction models. Verification evidence: Repeat deterministic generation, record token counts, and explain every generation parameter used.</a:t>
            </a:r>
          </a:p>
          <a:p xmlns:a="http://schemas.openxmlformats.org/drawingml/2006/main">
            <a:r>
              <a:t/>
            </a:r>
          </a:p>
          <a:p xmlns:a="http://schemas.openxmlformats.org/drawingml/2006/main">
            <a:r>
              <a:t>[Sources]</a:t>
            </a:r>
          </a:p>
          <a:p xmlns:a="http://schemas.openxmlformats.org/drawingml/2006/main">
            <a:r>
              <a:t>- https://github.com/curiousily/AI-Bootcamp/blob/master/05.llms-101.ipynb</a:t>
            </a:r>
          </a:p>
          <a:p xmlns:a="http://schemas.openxmlformats.org/drawingml/2006/main">
            <a:r>
              <a:t>- https://github.com/curiousily/AI-Bootcamp/blob/master/28.ollama-quickstart.ipynb</a:t>
            </a:r>
          </a:p>
          <a:p xmlns:a="http://schemas.openxmlformats.org/drawingml/2006/main">
            <a:r>
              <a:t>- https://docs.ollama.com/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75daf6ddd140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1f7f4679a643c5" /><Relationship Type="http://schemas.openxmlformats.org/officeDocument/2006/relationships/slideLayout" Target="/ppt/slideLayouts/slideLayout1.xml" Id="R95b3715948054a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b3715948054a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7c90b0de454c77" /><Relationship Type="http://schemas.openxmlformats.org/officeDocument/2006/relationships/image" Target="/ppt/media/image.png" Id="R20f074d3719841ca" /><Relationship Type="http://schemas.openxmlformats.org/officeDocument/2006/relationships/image" Target="/ppt/media/image2.png" Id="R60ec6dce6fae4d7f" /><Relationship Type="http://schemas.openxmlformats.org/officeDocument/2006/relationships/notesSlide" Target="/ppt/notesSlides/notesSlide1.xml" Id="R220290f01b574b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f0195bd4df4ef4" /><Relationship Type="http://schemas.openxmlformats.org/officeDocument/2006/relationships/notesSlide" Target="/ppt/notesSlides/notesSlide2.xml" Id="R7f854337c60447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c5a442dd394b0e" /><Relationship Type="http://schemas.openxmlformats.org/officeDocument/2006/relationships/notesSlide" Target="/ppt/notesSlides/notesSlide3.xml" Id="R809ee476fcb248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00f41e59794ad0" /><Relationship Type="http://schemas.openxmlformats.org/officeDocument/2006/relationships/notesSlide" Target="/ppt/notesSlides/notesSlide4.xml" Id="R6f527d4d521e42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c1bf102ff14509" /><Relationship Type="http://schemas.openxmlformats.org/officeDocument/2006/relationships/notesSlide" Target="/ppt/notesSlides/notesSlide5.xml" Id="R5c02e5c9633e41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4dbc38891b43e5" /><Relationship Type="http://schemas.openxmlformats.org/officeDocument/2006/relationships/notesSlide" Target="/ppt/notesSlides/notesSlide6.xml" Id="R5979de1a353b47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6cafdf207241ee" /><Relationship Type="http://schemas.openxmlformats.org/officeDocument/2006/relationships/notesSlide" Target="/ppt/notesSlides/notesSlide7.xml" Id="R58cea1ac4b6a40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b32c58e0144f26" /><Relationship Type="http://schemas.openxmlformats.org/officeDocument/2006/relationships/notesSlide" Target="/ppt/notesSlides/notesSlide8.xml" Id="R35e3069e137341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13983b2aa24315" /><Relationship Type="http://schemas.openxmlformats.org/officeDocument/2006/relationships/notesSlide" Target="/ppt/notesSlides/notesSlide9.xml" Id="Ra9b132b29df548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c12f8738ea4ab1" /><Relationship Type="http://schemas.openxmlformats.org/officeDocument/2006/relationships/notesSlide" Target="/ppt/notesSlides/notesSlide10.xml" Id="R4189af642b35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6ddfd374ca4368" /><Relationship Type="http://schemas.openxmlformats.org/officeDocument/2006/relationships/notesSlide" Target="/ppt/notesSlides/notesSlide11.xml" Id="R78119a4b06564c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a224dfe4c54f81" /><Relationship Type="http://schemas.openxmlformats.org/officeDocument/2006/relationships/image" Target="/ppt/media/image3.png" Id="Rc5d8647f79ff45f2" /><Relationship Type="http://schemas.openxmlformats.org/officeDocument/2006/relationships/notesSlide" Target="/ppt/notesSlides/notesSlide12.xml" Id="Rc324756980ee4374"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712482-DCD5-462A-B51D-86271F682A6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f074d3719841ca"/>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B4EED20-1F58-4076-A58F-156959E47691}"/>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F50D86-4D25-45AF-B53D-E688F7395D32}"/>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12  /  LESSON 01</a:t>
            </a:r>
          </a:p>
        </p:txBody>
      </p:sp>
      <p:sp>
        <p:nvSpPr>
          <p:cNvPr id="5" name="">
            <a:extLst xmlns:a="http://schemas.openxmlformats.org/drawingml/2006/main">
              <a:ext uri="{FF2B5EF4-FFF2-40B4-BE49-F238E27FC236}">
                <a16:creationId xmlns:a16="http://schemas.microsoft.com/office/drawing/2014/main" id="{AF31EF4B-7821-48A4-9678-190305D7EE25}"/>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Large Language Model Fundamentals</a:t>
            </a:r>
          </a:p>
        </p:txBody>
      </p:sp>
      <p:sp>
        <p:nvSpPr>
          <p:cNvPr id="6" name="">
            <a:extLst xmlns:a="http://schemas.openxmlformats.org/drawingml/2006/main">
              <a:ext uri="{FF2B5EF4-FFF2-40B4-BE49-F238E27FC236}">
                <a16:creationId xmlns:a16="http://schemas.microsoft.com/office/drawing/2014/main" id="{E25523F1-5686-48D9-BA33-6E83A41F2088}"/>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75043A-0640-458E-9869-7AF5B4A3427C}"/>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Understand what an LLM predicts, how text becomes tokens, and why generation is uncertain.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0ec6dce6fae4d7f"/>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4527707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980DC9-9C7D-4904-B912-F2E45155063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72682248-41BC-4EF1-8E46-E7119D2B8FF8}"/>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EEA87E39-B934-4793-8870-CD76B1BC5BB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5E3275A1-53AC-41FA-9F38-C9DAE157A1AF}"/>
              </a:ext>
            </a:extLst>
          </p:cNvPr>
          <p:cNvSpPr>
            <a:spLocks xmlns:a="http://schemas.openxmlformats.org/drawingml/2006/main" noGrp="1"/>
          </p:cNvSpPr>
          <p:nvPr/>
        </p:nvSpPr>
        <p:spPr>
          <a:xfrm xmlns:a="http://schemas.openxmlformats.org/drawingml/2006/main">
            <a:off x="609600" y="8953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WHY THIS MATTERS</a:t>
            </a:r>
          </a:p>
        </p:txBody>
      </p:sp>
      <p:sp>
        <p:nvSpPr>
          <p:cNvPr id="5" name="">
            <a:extLst xmlns:a="http://schemas.openxmlformats.org/drawingml/2006/main">
              <a:ext uri="{FF2B5EF4-FFF2-40B4-BE49-F238E27FC236}">
                <a16:creationId xmlns:a16="http://schemas.microsoft.com/office/drawing/2014/main" id="{8BB3AE70-40A7-4819-8A2F-4CDB2C9479C2}"/>
              </a:ext>
            </a:extLst>
          </p:cNvPr>
          <p:cNvSpPr>
            <a:spLocks xmlns:a="http://schemas.openxmlformats.org/drawingml/2006/main" noGrp="1"/>
          </p:cNvSpPr>
          <p:nvPr/>
        </p:nvSpPr>
        <p:spPr>
          <a:xfrm xmlns:a="http://schemas.openxmlformats.org/drawingml/2006/main">
            <a:off x="609600" y="1390650"/>
            <a:ext cx="104775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D779891-9127-4A33-832C-5EC97A232091}"/>
              </a:ext>
            </a:extLst>
          </p:cNvPr>
          <p:cNvSpPr>
            <a:spLocks xmlns:a="http://schemas.openxmlformats.org/drawingml/2006/main" noGrp="1"/>
          </p:cNvSpPr>
          <p:nvPr/>
        </p:nvSpPr>
        <p:spPr>
          <a:xfrm xmlns:a="http://schemas.openxmlformats.org/drawingml/2006/main">
            <a:off x="609600" y="16954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Start from what you already know</a:t>
            </a:r>
          </a:p>
        </p:txBody>
      </p:sp>
      <p:sp>
        <p:nvSpPr>
          <p:cNvPr id="7" name="">
            <a:extLst xmlns:a="http://schemas.openxmlformats.org/drawingml/2006/main">
              <a:ext uri="{FF2B5EF4-FFF2-40B4-BE49-F238E27FC236}">
                <a16:creationId xmlns:a16="http://schemas.microsoft.com/office/drawing/2014/main" id="{5C8CCE01-6F07-499E-B17E-AB21E68D7D34}"/>
              </a:ext>
            </a:extLst>
          </p:cNvPr>
          <p:cNvSpPr>
            <a:spLocks xmlns:a="http://schemas.openxmlformats.org/drawingml/2006/main" noGrp="1"/>
          </p:cNvSpPr>
          <p:nvPr/>
        </p:nvSpPr>
        <p:spPr>
          <a:xfrm xmlns:a="http://schemas.openxmlformats.org/drawingml/2006/main">
            <a:off x="609600" y="260985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6BDB"/>
                </a:solidFill>
              </a:defRPr>
            </a:pPr>
            <a:r>
              <a:rPr sz="2025" b="1">
                <a:solidFill>
                  <a:srgbClr val="176BDB"/>
                </a:solidFill>
              </a:rPr>
              <a:t>Python, vectors, probability, neural-network layers, and inference</a:t>
            </a:r>
          </a:p>
        </p:txBody>
      </p:sp>
      <p:sp>
        <p:nvSpPr>
          <p:cNvPr id="8" name="">
            <a:extLst xmlns:a="http://schemas.openxmlformats.org/drawingml/2006/main">
              <a:ext uri="{FF2B5EF4-FFF2-40B4-BE49-F238E27FC236}">
                <a16:creationId xmlns:a16="http://schemas.microsoft.com/office/drawing/2014/main" id="{C5AD17C9-8B63-4A63-B9E1-EF6A708C7C54}"/>
              </a:ext>
            </a:extLst>
          </p:cNvPr>
          <p:cNvSpPr>
            <a:spLocks xmlns:a="http://schemas.openxmlformats.org/drawingml/2006/main" noGrp="1"/>
          </p:cNvSpPr>
          <p:nvPr/>
        </p:nvSpPr>
        <p:spPr>
          <a:xfrm xmlns:a="http://schemas.openxmlformats.org/drawingml/2006/main">
            <a:off x="628650" y="35623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9" name="">
            <a:extLst xmlns:a="http://schemas.openxmlformats.org/drawingml/2006/main">
              <a:ext uri="{FF2B5EF4-FFF2-40B4-BE49-F238E27FC236}">
                <a16:creationId xmlns:a16="http://schemas.microsoft.com/office/drawing/2014/main" id="{FED97C74-F3AD-4A4D-943E-E53BB348A1FB}"/>
              </a:ext>
            </a:extLst>
          </p:cNvPr>
          <p:cNvSpPr>
            <a:spLocks xmlns:a="http://schemas.openxmlformats.org/drawingml/2006/main" noGrp="1"/>
          </p:cNvSpPr>
          <p:nvPr/>
        </p:nvSpPr>
        <p:spPr>
          <a:xfrm xmlns:a="http://schemas.openxmlformats.org/drawingml/2006/main">
            <a:off x="1371600" y="3505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Explain tokens and context windows in plain language.</a:t>
            </a:r>
          </a:p>
        </p:txBody>
      </p:sp>
      <p:sp>
        <p:nvSpPr>
          <p:cNvPr id="10" name="">
            <a:extLst xmlns:a="http://schemas.openxmlformats.org/drawingml/2006/main">
              <a:ext uri="{FF2B5EF4-FFF2-40B4-BE49-F238E27FC236}">
                <a16:creationId xmlns:a16="http://schemas.microsoft.com/office/drawing/2014/main" id="{E08F79FD-7922-49B4-841E-B8DCDF525FFC}"/>
              </a:ext>
            </a:extLst>
          </p:cNvPr>
          <p:cNvSpPr>
            <a:spLocks xmlns:a="http://schemas.openxmlformats.org/drawingml/2006/main" noGrp="1"/>
          </p:cNvSpPr>
          <p:nvPr/>
        </p:nvSpPr>
        <p:spPr>
          <a:xfrm xmlns:a="http://schemas.openxmlformats.org/drawingml/2006/main">
            <a:off x="628650" y="4248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D7234544-24D3-4F55-86ED-0C8431ED9819}"/>
              </a:ext>
            </a:extLst>
          </p:cNvPr>
          <p:cNvSpPr>
            <a:spLocks xmlns:a="http://schemas.openxmlformats.org/drawingml/2006/main" noGrp="1"/>
          </p:cNvSpPr>
          <p:nvPr/>
        </p:nvSpPr>
        <p:spPr>
          <a:xfrm xmlns:a="http://schemas.openxmlformats.org/drawingml/2006/main">
            <a:off x="1371600" y="41910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Use next-token prediction in a small worked example.</a:t>
            </a:r>
          </a:p>
        </p:txBody>
      </p:sp>
      <p:sp>
        <p:nvSpPr>
          <p:cNvPr id="12" name="">
            <a:extLst xmlns:a="http://schemas.openxmlformats.org/drawingml/2006/main">
              <a:ext uri="{FF2B5EF4-FFF2-40B4-BE49-F238E27FC236}">
                <a16:creationId xmlns:a16="http://schemas.microsoft.com/office/drawing/2014/main" id="{AC1CAAB6-1E1F-4DEB-B9FE-1F1EDB7D663C}"/>
              </a:ext>
            </a:extLst>
          </p:cNvPr>
          <p:cNvSpPr>
            <a:spLocks xmlns:a="http://schemas.openxmlformats.org/drawingml/2006/main" noGrp="1"/>
          </p:cNvSpPr>
          <p:nvPr/>
        </p:nvSpPr>
        <p:spPr>
          <a:xfrm xmlns:a="http://schemas.openxmlformats.org/drawingml/2006/main">
            <a:off x="628650" y="4933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03</a:t>
            </a:r>
          </a:p>
        </p:txBody>
      </p:sp>
      <p:sp>
        <p:nvSpPr>
          <p:cNvPr id="13" name="">
            <a:extLst xmlns:a="http://schemas.openxmlformats.org/drawingml/2006/main">
              <a:ext uri="{FF2B5EF4-FFF2-40B4-BE49-F238E27FC236}">
                <a16:creationId xmlns:a16="http://schemas.microsoft.com/office/drawing/2014/main" id="{CDB828FA-F676-4F3F-B9E0-2EE2B7EB2341}"/>
              </a:ext>
            </a:extLst>
          </p:cNvPr>
          <p:cNvSpPr>
            <a:spLocks xmlns:a="http://schemas.openxmlformats.org/drawingml/2006/main" noGrp="1"/>
          </p:cNvSpPr>
          <p:nvPr/>
        </p:nvSpPr>
        <p:spPr>
          <a:xfrm xmlns:a="http://schemas.openxmlformats.org/drawingml/2006/main">
            <a:off x="137160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Complete the guided lab and verify base and instruction models.</a:t>
            </a:r>
          </a:p>
        </p:txBody>
      </p:sp>
      <p:sp>
        <p:nvSpPr>
          <p:cNvPr id="14" name="">
            <a:extLst xmlns:a="http://schemas.openxmlformats.org/drawingml/2006/main">
              <a:ext uri="{FF2B5EF4-FFF2-40B4-BE49-F238E27FC236}">
                <a16:creationId xmlns:a16="http://schemas.microsoft.com/office/drawing/2014/main" id="{A0BC8E87-6B11-49D0-BC7E-A8480EED2665}"/>
              </a:ext>
            </a:extLst>
          </p:cNvPr>
          <p:cNvSpPr>
            <a:spLocks xmlns:a="http://schemas.openxmlformats.org/drawingml/2006/main" noGrp="1"/>
          </p:cNvSpPr>
          <p:nvPr/>
        </p:nvSpPr>
        <p:spPr>
          <a:xfrm xmlns:a="http://schemas.openxmlformats.org/drawingml/2006/main">
            <a:off x="10915650" y="1219200"/>
            <a:ext cx="609600" cy="453390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7C012C-CC59-466B-85E2-097318D16E03}"/>
              </a:ext>
            </a:extLst>
          </p:cNvPr>
          <p:cNvSpPr>
            <a:spLocks xmlns:a="http://schemas.openxmlformats.org/drawingml/2006/main" noGrp="1"/>
          </p:cNvSpPr>
          <p:nvPr/>
        </p:nvSpPr>
        <p:spPr>
          <a:xfrm xmlns:a="http://schemas.openxmlformats.org/drawingml/2006/main">
            <a:off x="11106150" y="2095500"/>
            <a:ext cx="228600" cy="20002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Tree>
    <p:extLst>
      <p:ext uri="{BB962C8B-B14F-4D97-AF65-F5344CB8AC3E}">
        <p14:creationId xmlns:p14="http://schemas.microsoft.com/office/powerpoint/2010/main" val="14980297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2AB6A3E-2B1C-42DE-8B4F-555C169CC96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3D25993C-040B-4F0D-805F-9419BB2E36D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1A4812F4-975D-43F3-A92C-58F54278BF1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66676147-2CF7-47D9-8D12-B3EF5B193041}"/>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438BC172-F7A9-42B7-84F3-D9B4F312812A}"/>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The vocabulary of this topic</a:t>
            </a:r>
          </a:p>
        </p:txBody>
      </p:sp>
      <p:sp>
        <p:nvSpPr>
          <p:cNvPr id="6" name="">
            <a:extLst xmlns:a="http://schemas.openxmlformats.org/drawingml/2006/main">
              <a:ext uri="{FF2B5EF4-FFF2-40B4-BE49-F238E27FC236}">
                <a16:creationId xmlns:a16="http://schemas.microsoft.com/office/drawing/2014/main" id="{E4DADDB8-0A52-4A4B-B06D-841762AD79E2}"/>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8BC99E-E123-4323-A4BE-0D8274525565}"/>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Understand what an LLM predicts, how text becomes tokens, and why generation is uncertain.</a:t>
            </a:r>
          </a:p>
        </p:txBody>
      </p:sp>
      <p:sp>
        <p:nvSpPr>
          <p:cNvPr id="8" name="">
            <a:extLst xmlns:a="http://schemas.openxmlformats.org/drawingml/2006/main">
              <a:ext uri="{FF2B5EF4-FFF2-40B4-BE49-F238E27FC236}">
                <a16:creationId xmlns:a16="http://schemas.microsoft.com/office/drawing/2014/main" id="{A365727F-17AE-4EF8-BCE3-57E166011839}"/>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9967D90-7E6A-4D49-8F77-6250CC876C84}"/>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tokens and context windows: Tokens are model vocabulary units; the context window limits how many input and output tokens can be considered.</a:t>
            </a:r>
          </a:p>
        </p:txBody>
      </p:sp>
      <p:sp>
        <p:nvSpPr>
          <p:cNvPr id="10" name="">
            <a:extLst xmlns:a="http://schemas.openxmlformats.org/drawingml/2006/main">
              <a:ext uri="{FF2B5EF4-FFF2-40B4-BE49-F238E27FC236}">
                <a16:creationId xmlns:a16="http://schemas.microsoft.com/office/drawing/2014/main" id="{C90E58DA-5095-4F64-BA5D-1C6CC5FD6FD8}"/>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F3C500-56B0-44A2-9098-F9642F7FA1B9}"/>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next-token prediction: An LLM assigns probabilities to possible next tokens from the tokens already in context.</a:t>
            </a:r>
          </a:p>
        </p:txBody>
      </p:sp>
      <p:sp>
        <p:nvSpPr>
          <p:cNvPr id="12" name="">
            <a:extLst xmlns:a="http://schemas.openxmlformats.org/drawingml/2006/main">
              <a:ext uri="{FF2B5EF4-FFF2-40B4-BE49-F238E27FC236}">
                <a16:creationId xmlns:a16="http://schemas.microsoft.com/office/drawing/2014/main" id="{9EF760A7-FAC6-45C9-A0DF-5CA9C846C3EB}"/>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FD55A6C-68EA-468F-B37C-06864BEAF90C}"/>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logits and softmax: Logits are raw token scores; softmax converts them into positive probabilities that sum to one.</a:t>
            </a:r>
          </a:p>
        </p:txBody>
      </p:sp>
      <p:sp>
        <p:nvSpPr>
          <p:cNvPr id="14" name="">
            <a:extLst xmlns:a="http://schemas.openxmlformats.org/drawingml/2006/main">
              <a:ext uri="{FF2B5EF4-FFF2-40B4-BE49-F238E27FC236}">
                <a16:creationId xmlns:a16="http://schemas.microsoft.com/office/drawing/2014/main" id="{4379C304-DD60-4252-A0B8-5EF8FE37DB67}"/>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20F0F79-BAD9-4724-9420-AD18473609BF}"/>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base and instruction models: A base model predicts text continuations; an instruction model is adapted to follow conversational tasks.</a:t>
            </a:r>
          </a:p>
        </p:txBody>
      </p:sp>
    </p:spTree>
    <p:extLst>
      <p:ext uri="{BB962C8B-B14F-4D97-AF65-F5344CB8AC3E}">
        <p14:creationId xmlns:p14="http://schemas.microsoft.com/office/powerpoint/2010/main" val="1282968258"/>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367C3A2-5C7A-448F-BF49-376EEBE1A81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M12 / L01</a:t>
            </a:r>
          </a:p>
        </p:txBody>
      </p:sp>
      <p:sp>
        <p:nvSpPr>
          <p:cNvPr id="2" name="">
            <a:extLst xmlns:a="http://schemas.openxmlformats.org/drawingml/2006/main">
              <a:ext uri="{FF2B5EF4-FFF2-40B4-BE49-F238E27FC236}">
                <a16:creationId xmlns:a16="http://schemas.microsoft.com/office/drawing/2014/main" id="{9C144442-D33E-4117-92B3-5BDB7464157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Large Language Model Fundamentals</a:t>
            </a:r>
          </a:p>
        </p:txBody>
      </p:sp>
      <p:sp>
        <p:nvSpPr>
          <p:cNvPr id="3" name="">
            <a:extLst xmlns:a="http://schemas.openxmlformats.org/drawingml/2006/main">
              <a:ext uri="{FF2B5EF4-FFF2-40B4-BE49-F238E27FC236}">
                <a16:creationId xmlns:a16="http://schemas.microsoft.com/office/drawing/2014/main" id="{41EF41E1-C2CD-49C4-A403-804D0FA7742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F7860B71-AC15-4F73-9162-3671F178B8C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AF9587B2-6043-4498-9A51-3CF816E19DF5}"/>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How the concept works</a:t>
            </a:r>
          </a:p>
        </p:txBody>
      </p:sp>
      <p:sp>
        <p:nvSpPr>
          <p:cNvPr id="6" name="">
            <a:extLst xmlns:a="http://schemas.openxmlformats.org/drawingml/2006/main">
              <a:ext uri="{FF2B5EF4-FFF2-40B4-BE49-F238E27FC236}">
                <a16:creationId xmlns:a16="http://schemas.microsoft.com/office/drawing/2014/main" id="{2D3E06CA-28E6-49E1-A1E0-B266943DFBB9}"/>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41AA6766-3EA6-4237-8530-E23221D6F3D3}"/>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A57E631-BBA7-483F-B86F-5C31CB64EB55}"/>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tokens and context windows</a:t>
            </a:r>
          </a:p>
        </p:txBody>
      </p:sp>
      <p:sp>
        <p:nvSpPr>
          <p:cNvPr id="9" name="">
            <a:extLst xmlns:a="http://schemas.openxmlformats.org/drawingml/2006/main">
              <a:ext uri="{FF2B5EF4-FFF2-40B4-BE49-F238E27FC236}">
                <a16:creationId xmlns:a16="http://schemas.microsoft.com/office/drawing/2014/main" id="{5A39C338-3038-4470-AF7C-B7C677F74D1C}"/>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00E2B19F-1A35-4561-8A87-95BA44CA57EF}"/>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1223F25D-807F-4EED-9740-A2A06D19B443}"/>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0D8E4F-EB99-4A8F-8F96-477C94A180EA}"/>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next-token prediction</a:t>
            </a:r>
          </a:p>
        </p:txBody>
      </p:sp>
      <p:sp>
        <p:nvSpPr>
          <p:cNvPr id="13" name="">
            <a:extLst xmlns:a="http://schemas.openxmlformats.org/drawingml/2006/main">
              <a:ext uri="{FF2B5EF4-FFF2-40B4-BE49-F238E27FC236}">
                <a16:creationId xmlns:a16="http://schemas.microsoft.com/office/drawing/2014/main" id="{65295658-AB6A-491E-8A7F-A206219A7154}"/>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CDFD043A-647B-4CB1-92E2-7E12C383A18B}"/>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ECE4E56A-3DEE-43B2-8559-3861A6357118}"/>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859686-5A9B-4E93-A3FD-34287BA720DA}"/>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logits and softmax</a:t>
            </a:r>
          </a:p>
        </p:txBody>
      </p:sp>
      <p:sp>
        <p:nvSpPr>
          <p:cNvPr id="17" name="">
            <a:extLst xmlns:a="http://schemas.openxmlformats.org/drawingml/2006/main">
              <a:ext uri="{FF2B5EF4-FFF2-40B4-BE49-F238E27FC236}">
                <a16:creationId xmlns:a16="http://schemas.microsoft.com/office/drawing/2014/main" id="{B04DC465-97EE-468A-AB96-B7D454648131}"/>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CCF94200-DF34-4C88-8811-9268B9599E23}"/>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39631E18-593F-467D-8A41-EACE69BB70F9}"/>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4566B1-58CD-452D-A2C9-D5506EC9EDAC}"/>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base and instruction models</a:t>
            </a:r>
          </a:p>
        </p:txBody>
      </p:sp>
      <p:sp>
        <p:nvSpPr>
          <p:cNvPr id="21" name="">
            <a:extLst xmlns:a="http://schemas.openxmlformats.org/drawingml/2006/main">
              <a:ext uri="{FF2B5EF4-FFF2-40B4-BE49-F238E27FC236}">
                <a16:creationId xmlns:a16="http://schemas.microsoft.com/office/drawing/2014/main" id="{4B2C4344-A71A-452D-9D27-BCBD92FFD206}"/>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P(tokenᵢ|previous tokens)=softmax(logits); generation repeatedly samples or selects a next token.</a:t>
            </a:r>
          </a:p>
        </p:txBody>
      </p:sp>
    </p:spTree>
    <p:extLst>
      <p:ext uri="{BB962C8B-B14F-4D97-AF65-F5344CB8AC3E}">
        <p14:creationId xmlns:p14="http://schemas.microsoft.com/office/powerpoint/2010/main" val="8532706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70BF86-072C-4871-BF4C-0233B67D58C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52D7F3CB-3AF0-4B71-BBC4-109F024CDD28}"/>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A89E9292-BD05-40CE-8FB1-08A98C8CE8E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05</a:t>
            </a:r>
          </a:p>
        </p:txBody>
      </p:sp>
      <p:sp>
        <p:nvSpPr>
          <p:cNvPr id="4" name="">
            <a:extLst xmlns:a="http://schemas.openxmlformats.org/drawingml/2006/main">
              <a:ext uri="{FF2B5EF4-FFF2-40B4-BE49-F238E27FC236}">
                <a16:creationId xmlns:a16="http://schemas.microsoft.com/office/drawing/2014/main" id="{75C3AACF-7552-49AD-AD5E-5FCC0FB6E707}"/>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F5EB1309-BAEF-4958-B032-5101F9D7831F}"/>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Read every part of the mechanism</a:t>
            </a:r>
          </a:p>
        </p:txBody>
      </p:sp>
      <p:sp>
        <p:nvSpPr>
          <p:cNvPr id="6" name="">
            <a:extLst xmlns:a="http://schemas.openxmlformats.org/drawingml/2006/main">
              <a:ext uri="{FF2B5EF4-FFF2-40B4-BE49-F238E27FC236}">
                <a16:creationId xmlns:a16="http://schemas.microsoft.com/office/drawing/2014/main" id="{F505170E-6D11-4A47-B37F-D407CED530CE}"/>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50AB0D-D9C2-4EC2-8F65-DA4341DE5D15}"/>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P(tokenᵢ|previous tokens)=softmax(logits); generation repeatedly samples or selects a next token.</a:t>
            </a:r>
          </a:p>
        </p:txBody>
      </p:sp>
      <p:sp>
        <p:nvSpPr>
          <p:cNvPr id="8" name="">
            <a:extLst xmlns:a="http://schemas.openxmlformats.org/drawingml/2006/main">
              <a:ext uri="{FF2B5EF4-FFF2-40B4-BE49-F238E27FC236}">
                <a16:creationId xmlns:a16="http://schemas.microsoft.com/office/drawing/2014/main" id="{22D09A7D-8E63-4A5D-B300-FD585DDE8C22}"/>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C47B68-CFE2-4876-AD68-1822822F6731}"/>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token: A vocabulary unit represented by an integer.</a:t>
            </a:r>
          </a:p>
        </p:txBody>
      </p:sp>
      <p:sp>
        <p:nvSpPr>
          <p:cNvPr id="10" name="">
            <a:extLst xmlns:a="http://schemas.openxmlformats.org/drawingml/2006/main">
              <a:ext uri="{FF2B5EF4-FFF2-40B4-BE49-F238E27FC236}">
                <a16:creationId xmlns:a16="http://schemas.microsoft.com/office/drawing/2014/main" id="{25387597-072E-4572-B52B-B0F2AB7A8998}"/>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6AD66F-4877-417A-86B2-C8E07D645B84}"/>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logit: An unnormalized model score.</a:t>
            </a:r>
          </a:p>
        </p:txBody>
      </p:sp>
      <p:sp>
        <p:nvSpPr>
          <p:cNvPr id="12" name="">
            <a:extLst xmlns:a="http://schemas.openxmlformats.org/drawingml/2006/main">
              <a:ext uri="{FF2B5EF4-FFF2-40B4-BE49-F238E27FC236}">
                <a16:creationId xmlns:a16="http://schemas.microsoft.com/office/drawing/2014/main" id="{5DB72072-3896-4592-8ADE-405776E62DE2}"/>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5922295-DA4D-4DE6-A69A-C91B6F319DF9}"/>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temperature: A control on sampling sharpness.</a:t>
            </a:r>
          </a:p>
        </p:txBody>
      </p:sp>
    </p:spTree>
    <p:extLst>
      <p:ext uri="{BB962C8B-B14F-4D97-AF65-F5344CB8AC3E}">
        <p14:creationId xmlns:p14="http://schemas.microsoft.com/office/powerpoint/2010/main" val="20583141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59905C-CA6E-4F07-AEF2-44215D85A2C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B92F4B30-EE07-4562-9611-33162222001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1FBD8A7C-3C7F-454F-A9E7-F6D428B38640}"/>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8774BDA8-0283-43D0-926D-10B151D72C3C}"/>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WORKED EXAMPLE</a:t>
            </a:r>
          </a:p>
        </p:txBody>
      </p:sp>
      <p:sp>
        <p:nvSpPr>
          <p:cNvPr id="5" name="">
            <a:extLst xmlns:a="http://schemas.openxmlformats.org/drawingml/2006/main">
              <a:ext uri="{FF2B5EF4-FFF2-40B4-BE49-F238E27FC236}">
                <a16:creationId xmlns:a16="http://schemas.microsoft.com/office/drawing/2014/main" id="{8D25D18F-28D7-40A3-A3D3-864ED668EDB4}"/>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Worked example by hand</a:t>
            </a:r>
          </a:p>
        </p:txBody>
      </p:sp>
      <p:sp>
        <p:nvSpPr>
          <p:cNvPr id="6" name="">
            <a:extLst xmlns:a="http://schemas.openxmlformats.org/drawingml/2006/main">
              <a:ext uri="{FF2B5EF4-FFF2-40B4-BE49-F238E27FC236}">
                <a16:creationId xmlns:a16="http://schemas.microsoft.com/office/drawing/2014/main" id="{44FBE86E-5BD0-44D3-8741-E65A84400B3C}"/>
              </a:ext>
            </a:extLst>
          </p:cNvPr>
          <p:cNvSpPr>
            <a:spLocks xmlns:a="http://schemas.openxmlformats.org/drawingml/2006/main" noGrp="1"/>
          </p:cNvSpPr>
          <p:nvPr/>
        </p:nvSpPr>
        <p:spPr>
          <a:xfrm xmlns:a="http://schemas.openxmlformats.org/drawingml/2006/main">
            <a:off x="628650" y="1714500"/>
            <a:ext cx="1038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0B1220"/>
                </a:solidFill>
              </a:defRPr>
            </a:pPr>
            <a:r>
              <a:rPr sz="2325" b="1">
                <a:solidFill>
                  <a:srgbClr val="0B1220"/>
                </a:solidFill>
              </a:rPr>
              <a:t>For logits [2,1,0], subtract 2, exponentiate, and normalize to approximately [0.665,0.245,0.090].</a:t>
            </a:r>
          </a:p>
        </p:txBody>
      </p:sp>
      <p:sp>
        <p:nvSpPr>
          <p:cNvPr id="7" name="">
            <a:extLst xmlns:a="http://schemas.openxmlformats.org/drawingml/2006/main">
              <a:ext uri="{FF2B5EF4-FFF2-40B4-BE49-F238E27FC236}">
                <a16:creationId xmlns:a16="http://schemas.microsoft.com/office/drawing/2014/main" id="{958FD664-5EC4-4024-97AE-5CA211013525}"/>
              </a:ext>
            </a:extLst>
          </p:cNvPr>
          <p:cNvSpPr>
            <a:spLocks xmlns:a="http://schemas.openxmlformats.org/drawingml/2006/main" noGrp="1"/>
          </p:cNvSpPr>
          <p:nvPr/>
        </p:nvSpPr>
        <p:spPr>
          <a:xfrm xmlns:a="http://schemas.openxmlformats.org/drawingml/2006/main">
            <a:off x="6286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01</a:t>
            </a:r>
          </a:p>
        </p:txBody>
      </p:sp>
      <p:sp>
        <p:nvSpPr>
          <p:cNvPr id="8" name="">
            <a:extLst xmlns:a="http://schemas.openxmlformats.org/drawingml/2006/main">
              <a:ext uri="{FF2B5EF4-FFF2-40B4-BE49-F238E27FC236}">
                <a16:creationId xmlns:a16="http://schemas.microsoft.com/office/drawing/2014/main" id="{99087868-0FE1-45A4-9860-3D4A85B719B4}"/>
              </a:ext>
            </a:extLst>
          </p:cNvPr>
          <p:cNvSpPr>
            <a:spLocks xmlns:a="http://schemas.openxmlformats.org/drawingml/2006/main" noGrp="1"/>
          </p:cNvSpPr>
          <p:nvPr/>
        </p:nvSpPr>
        <p:spPr>
          <a:xfrm xmlns:a="http://schemas.openxmlformats.org/drawingml/2006/main">
            <a:off x="6286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86EF59-6568-446A-8D5A-CD6C471D45AB}"/>
              </a:ext>
            </a:extLst>
          </p:cNvPr>
          <p:cNvSpPr>
            <a:spLocks xmlns:a="http://schemas.openxmlformats.org/drawingml/2006/main" noGrp="1"/>
          </p:cNvSpPr>
          <p:nvPr/>
        </p:nvSpPr>
        <p:spPr>
          <a:xfrm xmlns:a="http://schemas.openxmlformats.org/drawingml/2006/main">
            <a:off x="6286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Known values</a:t>
            </a:r>
          </a:p>
        </p:txBody>
      </p:sp>
      <p:sp>
        <p:nvSpPr>
          <p:cNvPr id="10" name="">
            <a:extLst xmlns:a="http://schemas.openxmlformats.org/drawingml/2006/main">
              <a:ext uri="{FF2B5EF4-FFF2-40B4-BE49-F238E27FC236}">
                <a16:creationId xmlns:a16="http://schemas.microsoft.com/office/drawing/2014/main" id="{2A368D52-49FC-41A6-9201-D604E680EA3A}"/>
              </a:ext>
            </a:extLst>
          </p:cNvPr>
          <p:cNvSpPr>
            <a:spLocks xmlns:a="http://schemas.openxmlformats.org/drawingml/2006/main" noGrp="1"/>
          </p:cNvSpPr>
          <p:nvPr/>
        </p:nvSpPr>
        <p:spPr>
          <a:xfrm xmlns:a="http://schemas.openxmlformats.org/drawingml/2006/main">
            <a:off x="42862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02</a:t>
            </a:r>
          </a:p>
        </p:txBody>
      </p:sp>
      <p:sp>
        <p:nvSpPr>
          <p:cNvPr id="11" name="">
            <a:extLst xmlns:a="http://schemas.openxmlformats.org/drawingml/2006/main">
              <a:ext uri="{FF2B5EF4-FFF2-40B4-BE49-F238E27FC236}">
                <a16:creationId xmlns:a16="http://schemas.microsoft.com/office/drawing/2014/main" id="{86E42C65-B7B5-4697-9A96-49F3CCBAEFB8}"/>
              </a:ext>
            </a:extLst>
          </p:cNvPr>
          <p:cNvSpPr>
            <a:spLocks xmlns:a="http://schemas.openxmlformats.org/drawingml/2006/main" noGrp="1"/>
          </p:cNvSpPr>
          <p:nvPr/>
        </p:nvSpPr>
        <p:spPr>
          <a:xfrm xmlns:a="http://schemas.openxmlformats.org/drawingml/2006/main">
            <a:off x="42862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0C66B79-C77D-4E19-8007-13BE61D0AA44}"/>
              </a:ext>
            </a:extLst>
          </p:cNvPr>
          <p:cNvSpPr>
            <a:spLocks xmlns:a="http://schemas.openxmlformats.org/drawingml/2006/main" noGrp="1"/>
          </p:cNvSpPr>
          <p:nvPr/>
        </p:nvSpPr>
        <p:spPr>
          <a:xfrm xmlns:a="http://schemas.openxmlformats.org/drawingml/2006/main">
            <a:off x="42862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Apply the mechanism</a:t>
            </a:r>
          </a:p>
        </p:txBody>
      </p:sp>
      <p:sp>
        <p:nvSpPr>
          <p:cNvPr id="13" name="">
            <a:extLst xmlns:a="http://schemas.openxmlformats.org/drawingml/2006/main">
              <a:ext uri="{FF2B5EF4-FFF2-40B4-BE49-F238E27FC236}">
                <a16:creationId xmlns:a16="http://schemas.microsoft.com/office/drawing/2014/main" id="{8B1D5A29-E0DF-4678-815C-A3F20C39B55E}"/>
              </a:ext>
            </a:extLst>
          </p:cNvPr>
          <p:cNvSpPr>
            <a:spLocks xmlns:a="http://schemas.openxmlformats.org/drawingml/2006/main" noGrp="1"/>
          </p:cNvSpPr>
          <p:nvPr/>
        </p:nvSpPr>
        <p:spPr>
          <a:xfrm xmlns:a="http://schemas.openxmlformats.org/drawingml/2006/main">
            <a:off x="79438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06B5F"/>
                </a:solidFill>
              </a:defRPr>
            </a:pPr>
            <a:r>
              <a:rPr sz="1200" b="1">
                <a:solidFill>
                  <a:srgbClr val="F06B5F"/>
                </a:solidFill>
              </a:rPr>
              <a:t>03</a:t>
            </a:r>
          </a:p>
        </p:txBody>
      </p:sp>
      <p:sp>
        <p:nvSpPr>
          <p:cNvPr id="14" name="">
            <a:extLst xmlns:a="http://schemas.openxmlformats.org/drawingml/2006/main">
              <a:ext uri="{FF2B5EF4-FFF2-40B4-BE49-F238E27FC236}">
                <a16:creationId xmlns:a16="http://schemas.microsoft.com/office/drawing/2014/main" id="{318D628B-90C7-40C3-A08D-25AD8021311C}"/>
              </a:ext>
            </a:extLst>
          </p:cNvPr>
          <p:cNvSpPr>
            <a:spLocks xmlns:a="http://schemas.openxmlformats.org/drawingml/2006/main" noGrp="1"/>
          </p:cNvSpPr>
          <p:nvPr/>
        </p:nvSpPr>
        <p:spPr>
          <a:xfrm xmlns:a="http://schemas.openxmlformats.org/drawingml/2006/main">
            <a:off x="7943850" y="4324350"/>
            <a:ext cx="30099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3EAC222-DBB5-4BB7-8201-876147AE8578}"/>
              </a:ext>
            </a:extLst>
          </p:cNvPr>
          <p:cNvSpPr>
            <a:spLocks xmlns:a="http://schemas.openxmlformats.org/drawingml/2006/main" noGrp="1"/>
          </p:cNvSpPr>
          <p:nvPr/>
        </p:nvSpPr>
        <p:spPr>
          <a:xfrm xmlns:a="http://schemas.openxmlformats.org/drawingml/2006/main">
            <a:off x="79438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Interpret the result</a:t>
            </a:r>
          </a:p>
        </p:txBody>
      </p:sp>
    </p:spTree>
    <p:extLst>
      <p:ext uri="{BB962C8B-B14F-4D97-AF65-F5344CB8AC3E}">
        <p14:creationId xmlns:p14="http://schemas.microsoft.com/office/powerpoint/2010/main" val="231659275"/>
      </p:ext>
    </p:extLst>
  </p:cSld>
</p:sld>
</file>

<file path=ppt/slides/slide7.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600BEA-8FFC-4E98-98D8-257312AD1F8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545B1E10-DE65-4C51-9CED-C0D51238CE3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F82A634B-DE72-4898-8566-BA847B2E636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07</a:t>
            </a:r>
          </a:p>
        </p:txBody>
      </p:sp>
      <p:sp>
        <p:nvSpPr>
          <p:cNvPr id="4" name="">
            <a:extLst xmlns:a="http://schemas.openxmlformats.org/drawingml/2006/main">
              <a:ext uri="{FF2B5EF4-FFF2-40B4-BE49-F238E27FC236}">
                <a16:creationId xmlns:a16="http://schemas.microsoft.com/office/drawing/2014/main" id="{8458EAFD-6BE1-4168-9921-0E46AE4CE58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D50E0201-9915-4952-9C0D-D690117F0320}"/>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Map the concept to Python</a:t>
            </a:r>
          </a:p>
        </p:txBody>
      </p:sp>
      <p:sp>
        <p:nvSpPr>
          <p:cNvPr id="6" name="">
            <a:extLst xmlns:a="http://schemas.openxmlformats.org/drawingml/2006/main">
              <a:ext uri="{FF2B5EF4-FFF2-40B4-BE49-F238E27FC236}">
                <a16:creationId xmlns:a16="http://schemas.microsoft.com/office/drawing/2014/main" id="{51F784E5-6D3F-4E6F-8890-307D8364DCCD}"/>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9AAA8BF-F5AB-4CB7-A70D-CD51DE37B080}"/>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25B33B-67D3-45B3-9DAE-AF650C578DAB}"/>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5E5B5D-6EF3-4FB0-AF3E-11914BA7378E}"/>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E0FE13-4700-4D2E-A546-78480D6C943D}"/>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5C6B6A-4067-43AB-A8A5-8266CF20838D}"/>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import numpy as np</a:t>
            </a:r>
          </a:p>
          <a:p xmlns:a="http://schemas.openxmlformats.org/drawingml/2006/main">
            <a:pPr>
              <a:defRPr sz="1125">
                <a:solidFill>
                  <a:srgbClr val="E8F1F7"/>
                </a:solidFill>
              </a:defRPr>
            </a:pPr>
            <a:r>
              <a:rPr sz="1125">
                <a:solidFill>
                  <a:srgbClr val="E8F1F7"/>
                </a:solidFill>
              </a:rPr>
              <a:t>logits = np.array([2.0, 1.0, 0.0])</a:t>
            </a:r>
          </a:p>
          <a:p xmlns:a="http://schemas.openxmlformats.org/drawingml/2006/main">
            <a:pPr>
              <a:defRPr sz="1125">
                <a:solidFill>
                  <a:srgbClr val="E8F1F7"/>
                </a:solidFill>
              </a:defRPr>
            </a:pPr>
            <a:r>
              <a:rPr sz="1125">
                <a:solidFill>
                  <a:srgbClr val="E8F1F7"/>
                </a:solidFill>
              </a:rPr>
              <a:t>p = np.exp(logits - logits.max())</a:t>
            </a:r>
          </a:p>
          <a:p xmlns:a="http://schemas.openxmlformats.org/drawingml/2006/main">
            <a:pPr>
              <a:defRPr sz="1125">
                <a:solidFill>
                  <a:srgbClr val="E8F1F7"/>
                </a:solidFill>
              </a:defRPr>
            </a:pPr>
            <a:r>
              <a:rPr sz="1125">
                <a:solidFill>
                  <a:srgbClr val="E8F1F7"/>
                </a:solidFill>
              </a:rPr>
              <a:t>print(np.round(p / p.sum(), 3))</a:t>
            </a:r>
          </a:p>
        </p:txBody>
      </p:sp>
      <p:sp>
        <p:nvSpPr>
          <p:cNvPr id="12" name="">
            <a:extLst xmlns:a="http://schemas.openxmlformats.org/drawingml/2006/main">
              <a:ext uri="{FF2B5EF4-FFF2-40B4-BE49-F238E27FC236}">
                <a16:creationId xmlns:a16="http://schemas.microsoft.com/office/drawing/2014/main" id="{5BDE2627-7954-482A-BC8B-F4B33697A487}"/>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C8184878-6D21-4FDA-A74F-FCBC0E0A1291}"/>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0797C5A7-35DE-465A-977A-E47762F8F8AC}"/>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[0.665 0.245 0.09 ]</a:t>
            </a:r>
          </a:p>
        </p:txBody>
      </p:sp>
      <p:sp>
        <p:nvSpPr>
          <p:cNvPr id="15" name="">
            <a:extLst xmlns:a="http://schemas.openxmlformats.org/drawingml/2006/main">
              <a:ext uri="{FF2B5EF4-FFF2-40B4-BE49-F238E27FC236}">
                <a16:creationId xmlns:a16="http://schemas.microsoft.com/office/drawing/2014/main" id="{D5133984-1E76-4536-91B2-4B2C35E152FE}"/>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D7998BA-E02B-4A8D-AC9B-68D9FC9D2145}"/>
              </a:ext>
            </a:extLst>
          </p:cNvPr>
          <p:cNvSpPr>
            <a:spLocks xmlns:a="http://schemas.openxmlformats.org/drawingml/2006/main" noGrp="1"/>
          </p:cNvSpPr>
          <p:nvPr/>
        </p:nvSpPr>
        <p:spPr>
          <a:xfrm xmlns:a="http://schemas.openxmlformats.org/drawingml/2006/main">
            <a:off x="7239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Each line corresponds to a concept already explained.</a:t>
            </a:r>
          </a:p>
        </p:txBody>
      </p:sp>
    </p:spTree>
    <p:extLst>
      <p:ext uri="{BB962C8B-B14F-4D97-AF65-F5344CB8AC3E}">
        <p14:creationId xmlns:p14="http://schemas.microsoft.com/office/powerpoint/2010/main" val="13601992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55E779-CDB3-4217-9A7D-DBB67D28FC8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9D50FD44-1FD8-4F02-9A60-ED08F13A0C7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B46A1DCF-E862-4B3F-858D-10F7F05D30FE}"/>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08</a:t>
            </a:r>
          </a:p>
        </p:txBody>
      </p:sp>
      <p:sp>
        <p:nvSpPr>
          <p:cNvPr id="4" name="">
            <a:extLst xmlns:a="http://schemas.openxmlformats.org/drawingml/2006/main">
              <a:ext uri="{FF2B5EF4-FFF2-40B4-BE49-F238E27FC236}">
                <a16:creationId xmlns:a16="http://schemas.microsoft.com/office/drawing/2014/main" id="{7B75B4A8-709E-4B8A-BA72-DF0C4D87075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A76C6E11-C220-4AAC-A2B4-22B4C3B73DB4}"/>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Build the complete mental model</a:t>
            </a:r>
          </a:p>
        </p:txBody>
      </p:sp>
      <p:sp>
        <p:nvSpPr>
          <p:cNvPr id="6" name="">
            <a:extLst xmlns:a="http://schemas.openxmlformats.org/drawingml/2006/main">
              <a:ext uri="{FF2B5EF4-FFF2-40B4-BE49-F238E27FC236}">
                <a16:creationId xmlns:a16="http://schemas.microsoft.com/office/drawing/2014/main" id="{300FB2AD-AD45-4C36-BAC6-C3003C015AC0}"/>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B7EDDF3F-AFC6-4D75-9E1D-CFB428B138B2}"/>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AA4FF2FB-DDA0-42E7-B48F-A6179956B407}"/>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Text becomes token IDs, then vectors; the model predicts a distribution for the next token.</a:t>
            </a:r>
          </a:p>
        </p:txBody>
      </p:sp>
      <p:sp>
        <p:nvSpPr>
          <p:cNvPr id="9" name="">
            <a:extLst xmlns:a="http://schemas.openxmlformats.org/drawingml/2006/main">
              <a:ext uri="{FF2B5EF4-FFF2-40B4-BE49-F238E27FC236}">
                <a16:creationId xmlns:a16="http://schemas.microsoft.com/office/drawing/2014/main" id="{FE7511BD-76D2-40AF-AACF-26CA6C4E56DF}"/>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DC862C-D050-496F-B9E6-B637806D866B}"/>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EA27ACC7-3F0F-4D20-A400-405FDD5EBAF3}"/>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98691AE9-647C-4A54-BA17-F6742F4F2A78}"/>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Softmax probabilities come from relative logits and always sum to one.</a:t>
            </a:r>
          </a:p>
        </p:txBody>
      </p:sp>
      <p:sp>
        <p:nvSpPr>
          <p:cNvPr id="13" name="">
            <a:extLst xmlns:a="http://schemas.openxmlformats.org/drawingml/2006/main">
              <a:ext uri="{FF2B5EF4-FFF2-40B4-BE49-F238E27FC236}">
                <a16:creationId xmlns:a16="http://schemas.microsoft.com/office/drawing/2014/main" id="{67D5FD92-AD3D-483D-8F15-F42DC491147F}"/>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55DAC2C-E66F-41D9-9517-0395313538C8}"/>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E4978CC0-9C4E-4D07-8E90-1E534AFBA399}"/>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286DF268-B36B-4A40-B557-98514C73A340}"/>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Temperature changes sampling sharpness but does not add knowledge or factual verification.</a:t>
            </a:r>
          </a:p>
        </p:txBody>
      </p:sp>
      <p:sp>
        <p:nvSpPr>
          <p:cNvPr id="17" name="">
            <a:extLst xmlns:a="http://schemas.openxmlformats.org/drawingml/2006/main">
              <a:ext uri="{FF2B5EF4-FFF2-40B4-BE49-F238E27FC236}">
                <a16:creationId xmlns:a16="http://schemas.microsoft.com/office/drawing/2014/main" id="{DE6A5D12-F95D-4F2C-A050-12C575E473FA}"/>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32CF8A-9C8E-46C6-8E71-625FBA2AD62B}"/>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E2A77E6A-DFAD-4861-930C-DC7A301B67E6}"/>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C6875F97-D374-4E52-BCDE-2D3B454D5362}"/>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Base models continue text; instruction models are adapted to follow task-oriented conversations.</a:t>
            </a:r>
          </a:p>
        </p:txBody>
      </p:sp>
      <p:sp>
        <p:nvSpPr>
          <p:cNvPr id="21" name="">
            <a:extLst xmlns:a="http://schemas.openxmlformats.org/drawingml/2006/main">
              <a:ext uri="{FF2B5EF4-FFF2-40B4-BE49-F238E27FC236}">
                <a16:creationId xmlns:a16="http://schemas.microsoft.com/office/drawing/2014/main" id="{2DE1C302-6B06-4B33-960A-1DE55F4087B0}"/>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966749347"/>
      </p:ext>
    </p:extLst>
  </p:cSld>
</p:sld>
</file>

<file path=ppt/slides/slide9.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17A2185-0C6B-4B51-9406-E93F23D035E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M12 / L01</a:t>
            </a:r>
          </a:p>
        </p:txBody>
      </p:sp>
      <p:sp>
        <p:nvSpPr>
          <p:cNvPr id="2" name="">
            <a:extLst xmlns:a="http://schemas.openxmlformats.org/drawingml/2006/main">
              <a:ext uri="{FF2B5EF4-FFF2-40B4-BE49-F238E27FC236}">
                <a16:creationId xmlns:a16="http://schemas.microsoft.com/office/drawing/2014/main" id="{501B6518-5A92-4019-A4A8-E524805E77AF}"/>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Large Language Model Fundamentals</a:t>
            </a:r>
          </a:p>
        </p:txBody>
      </p:sp>
      <p:sp>
        <p:nvSpPr>
          <p:cNvPr id="3" name="">
            <a:extLst xmlns:a="http://schemas.openxmlformats.org/drawingml/2006/main">
              <a:ext uri="{FF2B5EF4-FFF2-40B4-BE49-F238E27FC236}">
                <a16:creationId xmlns:a16="http://schemas.microsoft.com/office/drawing/2014/main" id="{E4BD9B75-6C6D-443F-9E88-70257CAA4F6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09</a:t>
            </a:r>
          </a:p>
        </p:txBody>
      </p:sp>
      <p:sp>
        <p:nvSpPr>
          <p:cNvPr id="4" name="">
            <a:extLst xmlns:a="http://schemas.openxmlformats.org/drawingml/2006/main">
              <a:ext uri="{FF2B5EF4-FFF2-40B4-BE49-F238E27FC236}">
                <a16:creationId xmlns:a16="http://schemas.microsoft.com/office/drawing/2014/main" id="{A6758AA3-E791-4C23-AC4D-42BFFB6A2C30}"/>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CC602952-BCE4-46FF-82BE-509B9FC97DD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Notebook readiness map</a:t>
            </a:r>
          </a:p>
        </p:txBody>
      </p:sp>
      <p:sp>
        <p:nvSpPr>
          <p:cNvPr id="6" name="">
            <a:extLst xmlns:a="http://schemas.openxmlformats.org/drawingml/2006/main">
              <a:ext uri="{FF2B5EF4-FFF2-40B4-BE49-F238E27FC236}">
                <a16:creationId xmlns:a16="http://schemas.microsoft.com/office/drawing/2014/main" id="{1B860E0D-C2EE-4D46-AF5C-E6898356DACC}"/>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AF9FAB0B-942A-43A8-89A7-83F856D09225}"/>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134A5B-6464-4C39-BDB8-13FEAD9C03D3}"/>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tokens and context windows</a:t>
            </a:r>
          </a:p>
        </p:txBody>
      </p:sp>
      <p:sp>
        <p:nvSpPr>
          <p:cNvPr id="9" name="">
            <a:extLst xmlns:a="http://schemas.openxmlformats.org/drawingml/2006/main">
              <a:ext uri="{FF2B5EF4-FFF2-40B4-BE49-F238E27FC236}">
                <a16:creationId xmlns:a16="http://schemas.microsoft.com/office/drawing/2014/main" id="{11C799B6-F431-4B49-BA85-C6D59EC78F48}"/>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1B8BECC0-A984-4404-A32F-4FA82145641E}"/>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BA5B8540-9880-4234-8752-AB80253A05AD}"/>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2D8E27-BA78-46BE-B49B-F866646806D0}"/>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next-token prediction</a:t>
            </a:r>
          </a:p>
        </p:txBody>
      </p:sp>
      <p:sp>
        <p:nvSpPr>
          <p:cNvPr id="13" name="">
            <a:extLst xmlns:a="http://schemas.openxmlformats.org/drawingml/2006/main">
              <a:ext uri="{FF2B5EF4-FFF2-40B4-BE49-F238E27FC236}">
                <a16:creationId xmlns:a16="http://schemas.microsoft.com/office/drawing/2014/main" id="{21838CE6-8568-43C4-B825-589766CE9E13}"/>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B30D9CC5-9B30-4BCC-937C-9164C0703460}"/>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1893DCEE-20B7-483F-B723-CBBDB4882392}"/>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FA228C-E10F-4CF5-9DBA-0DF644F371CE}"/>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logits and softmax</a:t>
            </a:r>
          </a:p>
        </p:txBody>
      </p:sp>
      <p:sp>
        <p:nvSpPr>
          <p:cNvPr id="17" name="">
            <a:extLst xmlns:a="http://schemas.openxmlformats.org/drawingml/2006/main">
              <a:ext uri="{FF2B5EF4-FFF2-40B4-BE49-F238E27FC236}">
                <a16:creationId xmlns:a16="http://schemas.microsoft.com/office/drawing/2014/main" id="{A7800B86-278D-4415-9912-95461170F482}"/>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0C460E2F-2320-495E-A178-80A5DBBC8034}"/>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002F76A5-03F7-4CF0-85B4-6E19254DDB69}"/>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0A2D155-6018-4C72-9632-B29598E4D05B}"/>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base and instruction models</a:t>
            </a:r>
          </a:p>
        </p:txBody>
      </p:sp>
      <p:sp>
        <p:nvSpPr>
          <p:cNvPr id="21" name="">
            <a:extLst xmlns:a="http://schemas.openxmlformats.org/drawingml/2006/main">
              <a:ext uri="{FF2B5EF4-FFF2-40B4-BE49-F238E27FC236}">
                <a16:creationId xmlns:a16="http://schemas.microsoft.com/office/drawing/2014/main" id="{FC81CDEE-CAF4-4F47-938C-B78756AF7610}"/>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 the concepts from this lesson to read and complete https://github.com/curiousily/AI-Bootcamp/blob/master/05.llms-101.ipynb.</a:t>
            </a:r>
          </a:p>
        </p:txBody>
      </p:sp>
    </p:spTree>
    <p:extLst>
      <p:ext uri="{BB962C8B-B14F-4D97-AF65-F5344CB8AC3E}">
        <p14:creationId xmlns:p14="http://schemas.microsoft.com/office/powerpoint/2010/main" val="993408685"/>
      </p:ext>
    </p:extLst>
  </p:cSld>
</p:sld>
</file>

<file path=ppt/slides/slide10.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D742D8-7AAA-4DA7-AA57-03DDDA05747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M12 / L01</a:t>
            </a:r>
          </a:p>
        </p:txBody>
      </p:sp>
      <p:sp>
        <p:nvSpPr>
          <p:cNvPr id="2" name="">
            <a:extLst xmlns:a="http://schemas.openxmlformats.org/drawingml/2006/main">
              <a:ext uri="{FF2B5EF4-FFF2-40B4-BE49-F238E27FC236}">
                <a16:creationId xmlns:a16="http://schemas.microsoft.com/office/drawing/2014/main" id="{C14CCD9B-C34E-46A9-B314-6474F6C03E0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Large Language Model Fundamentals</a:t>
            </a:r>
          </a:p>
        </p:txBody>
      </p:sp>
      <p:sp>
        <p:nvSpPr>
          <p:cNvPr id="3" name="">
            <a:extLst xmlns:a="http://schemas.openxmlformats.org/drawingml/2006/main">
              <a:ext uri="{FF2B5EF4-FFF2-40B4-BE49-F238E27FC236}">
                <a16:creationId xmlns:a16="http://schemas.microsoft.com/office/drawing/2014/main" id="{E10EBE65-392F-4874-BF67-A18F998BA3A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6E19FDC2-DD6B-46DB-ABBC-34E63A5EB223}"/>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ED2B22A1-9B0B-4140-BF65-7D6D84178CA3}"/>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Common beginner mistakes</a:t>
            </a:r>
          </a:p>
        </p:txBody>
      </p:sp>
      <p:sp>
        <p:nvSpPr>
          <p:cNvPr id="6" name="">
            <a:extLst xmlns:a="http://schemas.openxmlformats.org/drawingml/2006/main">
              <a:ext uri="{FF2B5EF4-FFF2-40B4-BE49-F238E27FC236}">
                <a16:creationId xmlns:a16="http://schemas.microsoft.com/office/drawing/2014/main" id="{5D403A3A-F13D-4A6F-AB07-17A2B5C9027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9F6C36-F68D-46DA-99D9-F91F70B7082D}"/>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396B699A-3EBE-4404-8FAA-CF9E8754E507}"/>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Treating generated text as retrieved knowledge.</a:t>
            </a:r>
          </a:p>
        </p:txBody>
      </p:sp>
      <p:sp>
        <p:nvSpPr>
          <p:cNvPr id="9" name="">
            <a:extLst xmlns:a="http://schemas.openxmlformats.org/drawingml/2006/main">
              <a:ext uri="{FF2B5EF4-FFF2-40B4-BE49-F238E27FC236}">
                <a16:creationId xmlns:a16="http://schemas.microsoft.com/office/drawing/2014/main" id="{BA75CB21-7FCB-47F2-99A5-8D3CCD2204F5}"/>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85AA37-9E38-469D-9E0F-5437B2F28333}"/>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4E1FBC9A-1008-48FA-9834-D96BB50FF86B}"/>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Changing temperature without understanding that it changes sampling, not factual knowledge.</a:t>
            </a:r>
          </a:p>
        </p:txBody>
      </p:sp>
      <p:sp>
        <p:nvSpPr>
          <p:cNvPr id="12" name="">
            <a:extLst xmlns:a="http://schemas.openxmlformats.org/drawingml/2006/main">
              <a:ext uri="{FF2B5EF4-FFF2-40B4-BE49-F238E27FC236}">
                <a16:creationId xmlns:a16="http://schemas.microsoft.com/office/drawing/2014/main" id="{9C5A9A5B-9A26-4E08-A093-DC5D541C4D88}"/>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300123735"/>
      </p:ext>
    </p:extLst>
  </p:cSld>
</p:sld>
</file>

<file path=ppt/slides/slide1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38E7D9-6106-42CF-9E4A-76C40473708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M12 / L01</a:t>
            </a:r>
          </a:p>
        </p:txBody>
      </p:sp>
      <p:sp>
        <p:nvSpPr>
          <p:cNvPr id="2" name="">
            <a:extLst xmlns:a="http://schemas.openxmlformats.org/drawingml/2006/main">
              <a:ext uri="{FF2B5EF4-FFF2-40B4-BE49-F238E27FC236}">
                <a16:creationId xmlns:a16="http://schemas.microsoft.com/office/drawing/2014/main" id="{96D9DE3A-6481-475D-9C18-026CC4F26AD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Large Language Model Fundamentals</a:t>
            </a:r>
          </a:p>
        </p:txBody>
      </p:sp>
      <p:sp>
        <p:nvSpPr>
          <p:cNvPr id="3" name="">
            <a:extLst xmlns:a="http://schemas.openxmlformats.org/drawingml/2006/main">
              <a:ext uri="{FF2B5EF4-FFF2-40B4-BE49-F238E27FC236}">
                <a16:creationId xmlns:a16="http://schemas.microsoft.com/office/drawing/2014/main" id="{6CED514C-38E2-416F-85F1-BA0B7D1FF5F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11</a:t>
            </a:r>
          </a:p>
        </p:txBody>
      </p:sp>
      <p:sp>
        <p:nvSpPr>
          <p:cNvPr id="4" name="">
            <a:extLst xmlns:a="http://schemas.openxmlformats.org/drawingml/2006/main">
              <a:ext uri="{FF2B5EF4-FFF2-40B4-BE49-F238E27FC236}">
                <a16:creationId xmlns:a16="http://schemas.microsoft.com/office/drawing/2014/main" id="{3DFD6F66-AB32-4360-BF8D-EEA35E373BD7}"/>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9735828E-BA69-45B7-85E7-C3B4EE0DED86}"/>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Tokenize a prompt, inspect next-token probabilities, and compare deterministic and sampled local generation.</a:t>
            </a:r>
          </a:p>
        </p:txBody>
      </p:sp>
      <p:sp>
        <p:nvSpPr>
          <p:cNvPr id="6" name="">
            <a:extLst xmlns:a="http://schemas.openxmlformats.org/drawingml/2006/main">
              <a:ext uri="{FF2B5EF4-FFF2-40B4-BE49-F238E27FC236}">
                <a16:creationId xmlns:a16="http://schemas.microsoft.com/office/drawing/2014/main" id="{02E79EBB-B2B9-475F-8674-21AF7117DC63}"/>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4E89220B-7D9D-45AD-B434-CA3F0BFDDD02}"/>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8A9BBF-3C6B-4507-94B2-F677E8D6B464}"/>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Predict</a:t>
            </a:r>
          </a:p>
        </p:txBody>
      </p:sp>
      <p:sp>
        <p:nvSpPr>
          <p:cNvPr id="9" name="">
            <a:extLst xmlns:a="http://schemas.openxmlformats.org/drawingml/2006/main">
              <a:ext uri="{FF2B5EF4-FFF2-40B4-BE49-F238E27FC236}">
                <a16:creationId xmlns:a16="http://schemas.microsoft.com/office/drawing/2014/main" id="{B7845F33-FD23-4469-B4DE-CC5A1400127E}"/>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77C2A968-B147-429C-B928-DE7C458FC416}"/>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23C7E2-CC88-456A-A75D-C119A5067800}"/>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Run</a:t>
            </a:r>
          </a:p>
        </p:txBody>
      </p:sp>
      <p:sp>
        <p:nvSpPr>
          <p:cNvPr id="12" name="">
            <a:extLst xmlns:a="http://schemas.openxmlformats.org/drawingml/2006/main">
              <a:ext uri="{FF2B5EF4-FFF2-40B4-BE49-F238E27FC236}">
                <a16:creationId xmlns:a16="http://schemas.microsoft.com/office/drawing/2014/main" id="{D8E452B4-B188-4A00-9F8F-EF768FAAC3FA}"/>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E5E6A4D0-EECB-4954-9F1A-BC1EEF4892B9}"/>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CEDBB0-00E0-4CA0-A90A-F7275A7C896E}"/>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Inspect</a:t>
            </a:r>
          </a:p>
        </p:txBody>
      </p:sp>
      <p:sp>
        <p:nvSpPr>
          <p:cNvPr id="15" name="">
            <a:extLst xmlns:a="http://schemas.openxmlformats.org/drawingml/2006/main">
              <a:ext uri="{FF2B5EF4-FFF2-40B4-BE49-F238E27FC236}">
                <a16:creationId xmlns:a16="http://schemas.microsoft.com/office/drawing/2014/main" id="{710E4B75-B153-4CA3-BCCF-828F5F64A3EB}"/>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8B77A140-DB04-4761-80E9-245B207A7711}"/>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C22CC3-8E5C-4886-B5D7-BD1515FDD17A}"/>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Explain</a:t>
            </a:r>
          </a:p>
        </p:txBody>
      </p:sp>
    </p:spTree>
    <p:extLst>
      <p:ext uri="{BB962C8B-B14F-4D97-AF65-F5344CB8AC3E}">
        <p14:creationId xmlns:p14="http://schemas.microsoft.com/office/powerpoint/2010/main" val="1505562617"/>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D7072AF-8473-4710-9C6D-9C25DBE2769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M12 / L01</a:t>
            </a:r>
          </a:p>
        </p:txBody>
      </p:sp>
      <p:sp>
        <p:nvSpPr>
          <p:cNvPr id="2" name="">
            <a:extLst xmlns:a="http://schemas.openxmlformats.org/drawingml/2006/main">
              <a:ext uri="{FF2B5EF4-FFF2-40B4-BE49-F238E27FC236}">
                <a16:creationId xmlns:a16="http://schemas.microsoft.com/office/drawing/2014/main" id="{E897F3A9-455E-418E-BE46-17CD89F0B6F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Large Language Model Fundamentals</a:t>
            </a:r>
          </a:p>
        </p:txBody>
      </p:sp>
      <p:sp>
        <p:nvSpPr>
          <p:cNvPr id="3" name="">
            <a:extLst xmlns:a="http://schemas.openxmlformats.org/drawingml/2006/main">
              <a:ext uri="{FF2B5EF4-FFF2-40B4-BE49-F238E27FC236}">
                <a16:creationId xmlns:a16="http://schemas.microsoft.com/office/drawing/2014/main" id="{3104901A-9129-4FBD-A3D8-BC436E0FEC9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16FFD7CE-2CB7-4A2F-95C3-E69FD4C2C631}"/>
              </a:ext>
            </a:extLst>
          </p:cNvPr>
          <p:cNvSpPr>
            <a:spLocks xmlns:a="http://schemas.openxmlformats.org/drawingml/2006/main" noGrp="1"/>
          </p:cNvSpPr>
          <p:nvPr/>
        </p:nvSpPr>
        <p:spPr>
          <a:xfrm xmlns:a="http://schemas.openxmlformats.org/drawingml/2006/main">
            <a:off x="609600" y="838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SESSION SYNTHESIS</a:t>
            </a:r>
          </a:p>
        </p:txBody>
      </p:sp>
      <p:sp>
        <p:nvSpPr>
          <p:cNvPr id="5" name="">
            <a:extLst xmlns:a="http://schemas.openxmlformats.org/drawingml/2006/main">
              <a:ext uri="{FF2B5EF4-FFF2-40B4-BE49-F238E27FC236}">
                <a16:creationId xmlns:a16="http://schemas.microsoft.com/office/drawing/2014/main" id="{4D375816-47BD-49D6-BD4C-7CBFC2C5FD8E}"/>
              </a:ext>
            </a:extLst>
          </p:cNvPr>
          <p:cNvSpPr>
            <a:spLocks xmlns:a="http://schemas.openxmlformats.org/drawingml/2006/main" noGrp="1"/>
          </p:cNvSpPr>
          <p:nvPr/>
        </p:nvSpPr>
        <p:spPr>
          <a:xfrm xmlns:a="http://schemas.openxmlformats.org/drawingml/2006/main">
            <a:off x="609600" y="12954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Keep the system, not isolated definitions.</a:t>
            </a:r>
          </a:p>
        </p:txBody>
      </p:sp>
      <p:sp>
        <p:nvSpPr>
          <p:cNvPr id="6" name="">
            <a:extLst xmlns:a="http://schemas.openxmlformats.org/drawingml/2006/main">
              <a:ext uri="{FF2B5EF4-FFF2-40B4-BE49-F238E27FC236}">
                <a16:creationId xmlns:a16="http://schemas.microsoft.com/office/drawing/2014/main" id="{8F692C21-ABD1-487D-B97F-4CF1E62C3DAA}"/>
              </a:ext>
            </a:extLst>
          </p:cNvPr>
          <p:cNvSpPr>
            <a:spLocks xmlns:a="http://schemas.openxmlformats.org/drawingml/2006/main" noGrp="1"/>
          </p:cNvSpPr>
          <p:nvPr/>
        </p:nvSpPr>
        <p:spPr>
          <a:xfrm xmlns:a="http://schemas.openxmlformats.org/drawingml/2006/main">
            <a:off x="628650" y="25336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4C692A4C-11FF-4A93-8EDA-F1EBD3C47C29}"/>
              </a:ext>
            </a:extLst>
          </p:cNvPr>
          <p:cNvSpPr>
            <a:spLocks xmlns:a="http://schemas.openxmlformats.org/drawingml/2006/main" noGrp="1"/>
          </p:cNvSpPr>
          <p:nvPr/>
        </p:nvSpPr>
        <p:spPr>
          <a:xfrm xmlns:a="http://schemas.openxmlformats.org/drawingml/2006/main">
            <a:off x="1409700" y="24860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Explain tokens and context windows in plain language.</a:t>
            </a:r>
          </a:p>
        </p:txBody>
      </p:sp>
      <p:sp>
        <p:nvSpPr>
          <p:cNvPr id="8" name="">
            <a:extLst xmlns:a="http://schemas.openxmlformats.org/drawingml/2006/main">
              <a:ext uri="{FF2B5EF4-FFF2-40B4-BE49-F238E27FC236}">
                <a16:creationId xmlns:a16="http://schemas.microsoft.com/office/drawing/2014/main" id="{2C64B01C-72B1-42E7-BE00-7FAEFCAE9551}"/>
              </a:ext>
            </a:extLst>
          </p:cNvPr>
          <p:cNvSpPr>
            <a:spLocks xmlns:a="http://schemas.openxmlformats.org/drawingml/2006/main" noGrp="1"/>
          </p:cNvSpPr>
          <p:nvPr/>
        </p:nvSpPr>
        <p:spPr>
          <a:xfrm xmlns:a="http://schemas.openxmlformats.org/drawingml/2006/main">
            <a:off x="628650" y="33528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9" name="">
            <a:extLst xmlns:a="http://schemas.openxmlformats.org/drawingml/2006/main">
              <a:ext uri="{FF2B5EF4-FFF2-40B4-BE49-F238E27FC236}">
                <a16:creationId xmlns:a16="http://schemas.microsoft.com/office/drawing/2014/main" id="{B6BF2BEF-EFD7-4D84-A80B-88B993450AF8}"/>
              </a:ext>
            </a:extLst>
          </p:cNvPr>
          <p:cNvSpPr>
            <a:spLocks xmlns:a="http://schemas.openxmlformats.org/drawingml/2006/main" noGrp="1"/>
          </p:cNvSpPr>
          <p:nvPr/>
        </p:nvSpPr>
        <p:spPr>
          <a:xfrm xmlns:a="http://schemas.openxmlformats.org/drawingml/2006/main">
            <a:off x="1409700" y="33051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next-token prediction in a small worked example.</a:t>
            </a:r>
          </a:p>
        </p:txBody>
      </p:sp>
      <p:sp>
        <p:nvSpPr>
          <p:cNvPr id="10" name="">
            <a:extLst xmlns:a="http://schemas.openxmlformats.org/drawingml/2006/main">
              <a:ext uri="{FF2B5EF4-FFF2-40B4-BE49-F238E27FC236}">
                <a16:creationId xmlns:a16="http://schemas.microsoft.com/office/drawing/2014/main" id="{4B453450-1781-473F-BF88-3EAB20D707CD}"/>
              </a:ext>
            </a:extLst>
          </p:cNvPr>
          <p:cNvSpPr>
            <a:spLocks xmlns:a="http://schemas.openxmlformats.org/drawingml/2006/main" noGrp="1"/>
          </p:cNvSpPr>
          <p:nvPr/>
        </p:nvSpPr>
        <p:spPr>
          <a:xfrm xmlns:a="http://schemas.openxmlformats.org/drawingml/2006/main">
            <a:off x="628650" y="4171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1" name="">
            <a:extLst xmlns:a="http://schemas.openxmlformats.org/drawingml/2006/main">
              <a:ext uri="{FF2B5EF4-FFF2-40B4-BE49-F238E27FC236}">
                <a16:creationId xmlns:a16="http://schemas.microsoft.com/office/drawing/2014/main" id="{74F2A37D-D93F-4F7B-B2D0-C084AC319F4A}"/>
              </a:ext>
            </a:extLst>
          </p:cNvPr>
          <p:cNvSpPr>
            <a:spLocks xmlns:a="http://schemas.openxmlformats.org/drawingml/2006/main" noGrp="1"/>
          </p:cNvSpPr>
          <p:nvPr/>
        </p:nvSpPr>
        <p:spPr>
          <a:xfrm xmlns:a="http://schemas.openxmlformats.org/drawingml/2006/main">
            <a:off x="1409700" y="41243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Complete the guided lab and verify base and instruction models.</a:t>
            </a:r>
          </a:p>
        </p:txBody>
      </p:sp>
      <p:sp>
        <p:nvSpPr>
          <p:cNvPr id="12" name="">
            <a:extLst xmlns:a="http://schemas.openxmlformats.org/drawingml/2006/main">
              <a:ext uri="{FF2B5EF4-FFF2-40B4-BE49-F238E27FC236}">
                <a16:creationId xmlns:a16="http://schemas.microsoft.com/office/drawing/2014/main" id="{D46B93AE-FBEC-4CAF-AD5D-2ECAE8C5B8E6}"/>
              </a:ext>
            </a:extLst>
          </p:cNvPr>
          <p:cNvSpPr>
            <a:spLocks xmlns:a="http://schemas.openxmlformats.org/drawingml/2006/main" noGrp="1"/>
          </p:cNvSpPr>
          <p:nvPr/>
        </p:nvSpPr>
        <p:spPr>
          <a:xfrm xmlns:a="http://schemas.openxmlformats.org/drawingml/2006/main">
            <a:off x="7239000" y="2724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06B5F"/>
                </a:solidFill>
              </a:defRPr>
            </a:pPr>
            <a:r>
              <a:rPr sz="900" b="1">
                <a:solidFill>
                  <a:srgbClr val="F06B5F"/>
                </a:solidFill>
              </a:rPr>
              <a:t>NEXT EVIDENCE</a:t>
            </a:r>
          </a:p>
        </p:txBody>
      </p:sp>
      <p:sp>
        <p:nvSpPr>
          <p:cNvPr id="13" name="">
            <a:extLst xmlns:a="http://schemas.openxmlformats.org/drawingml/2006/main">
              <a:ext uri="{FF2B5EF4-FFF2-40B4-BE49-F238E27FC236}">
                <a16:creationId xmlns:a16="http://schemas.microsoft.com/office/drawing/2014/main" id="{8EBFEFCE-D80A-48DB-A4C3-EF40C8898905}"/>
              </a:ext>
            </a:extLst>
          </p:cNvPr>
          <p:cNvSpPr>
            <a:spLocks xmlns:a="http://schemas.openxmlformats.org/drawingml/2006/main" noGrp="1"/>
          </p:cNvSpPr>
          <p:nvPr/>
        </p:nvSpPr>
        <p:spPr>
          <a:xfrm xmlns:a="http://schemas.openxmlformats.org/drawingml/2006/main">
            <a:off x="7239000" y="3200400"/>
            <a:ext cx="4095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A local Ollama notebook documenting tokens, context, generation settings, outputs, and observed limitations.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5d8647f79ff45f2"/>
          <a:stretch xmlns:a="http://schemas.openxmlformats.org/drawingml/2006/main"/>
        </p:blipFill>
        <p:spPr>
          <a:xfrm xmlns:a="http://schemas.openxmlformats.org/drawingml/2006/main">
            <a:off x="9791700" y="5905500"/>
            <a:ext cx="1371600" cy="457200"/>
          </a:xfrm>
          <a:prstGeom xmlns:a="http://schemas.openxmlformats.org/drawingml/2006/main" prst="rect">
            <a:avLst/>
          </a:prstGeom>
        </p:spPr>
      </p:pic>
    </p:spTree>
    <p:extLst>
      <p:ext uri="{BB962C8B-B14F-4D97-AF65-F5344CB8AC3E}">
        <p14:creationId xmlns:p14="http://schemas.microsoft.com/office/powerpoint/2010/main" val="189496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2026-07-28T16:53:17.6390000Z</dcterms:created>
  <dcterms:modified xsi:type="dcterms:W3CDTF">2026-07-28T16:53:17.6390000Z</dcterms:modified>
</coreProperties>
</file>