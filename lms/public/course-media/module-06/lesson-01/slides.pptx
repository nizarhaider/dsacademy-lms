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8a2a365656491d" /><Relationship Type="http://schemas.openxmlformats.org/officeDocument/2006/relationships/extended-properties" Target="/docProps/app.xml" Id="Rcf39ec48078b48f5" /><Relationship Type="http://schemas.openxmlformats.org/officeDocument/2006/relationships/officeDocument" Target="/ppt/presentation.xml" Id="Rbfca9c71d13e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bae61a88484f53"/>
  </p:sldMasterIdLst>
  <p:notesMasterIdLst>
    <p:notesMasterId xmlns:r="http://schemas.openxmlformats.org/officeDocument/2006/relationships" r:id="R76efd35b81af4cfe"/>
  </p:notesMasterIdLst>
  <p:sldIdLst>
    <p:sldId xmlns:r="http://schemas.openxmlformats.org/officeDocument/2006/relationships" id="256" r:id="R3d7e1447281b46eb"/>
    <p:sldId xmlns:r="http://schemas.openxmlformats.org/officeDocument/2006/relationships" id="257" r:id="Re809736f9d644334"/>
    <p:sldId xmlns:r="http://schemas.openxmlformats.org/officeDocument/2006/relationships" id="258" r:id="R2cf2022ca70f4c80"/>
    <p:sldId xmlns:r="http://schemas.openxmlformats.org/officeDocument/2006/relationships" id="259" r:id="R133cb73e891542db"/>
    <p:sldId xmlns:r="http://schemas.openxmlformats.org/officeDocument/2006/relationships" id="260" r:id="R0122876547e24912"/>
    <p:sldId xmlns:r="http://schemas.openxmlformats.org/officeDocument/2006/relationships" id="261" r:id="Rb7332479100d4a15"/>
    <p:sldId xmlns:r="http://schemas.openxmlformats.org/officeDocument/2006/relationships" id="262" r:id="R396890582e8949e8"/>
    <p:sldId xmlns:r="http://schemas.openxmlformats.org/officeDocument/2006/relationships" id="263" r:id="R53c2f109ea714b62"/>
    <p:sldId xmlns:r="http://schemas.openxmlformats.org/officeDocument/2006/relationships" id="264" r:id="Reaa9d6abecd74fba"/>
    <p:sldId xmlns:r="http://schemas.openxmlformats.org/officeDocument/2006/relationships" id="265" r:id="Rd8ceb756018343a0"/>
    <p:sldId xmlns:r="http://schemas.openxmlformats.org/officeDocument/2006/relationships" id="266" r:id="R686cbea4e8864e12"/>
    <p:sldId xmlns:r="http://schemas.openxmlformats.org/officeDocument/2006/relationships" id="267" r:id="R3b6477fb842445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078aafe234c78" /><Relationship Type="http://schemas.openxmlformats.org/officeDocument/2006/relationships/slideMaster" Target="/ppt/slideMasters/slideMaster1.xml" Id="R62bae61a88484f53" /><Relationship Type="http://schemas.openxmlformats.org/officeDocument/2006/relationships/notesMaster" Target="/ppt/notesMasters/notesMaster1.xml" Id="R76efd35b81af4cfe" /><Relationship Type="http://schemas.openxmlformats.org/officeDocument/2006/relationships/presProps" Target="/ppt/presProps.xml" Id="Rf23b0680f98b4b50" /><Relationship Type="http://schemas.openxmlformats.org/officeDocument/2006/relationships/tableStyles" Target="/ppt/tableStyles.xml" Id="R64325e38f9cb4484" /><Relationship Type="http://schemas.openxmlformats.org/officeDocument/2006/relationships/slide" Target="/ppt/slides/slide1.xml" Id="R3d7e1447281b46eb" /><Relationship Type="http://schemas.openxmlformats.org/officeDocument/2006/relationships/slide" Target="/ppt/slides/slide2.xml" Id="Re809736f9d644334" /><Relationship Type="http://schemas.openxmlformats.org/officeDocument/2006/relationships/slide" Target="/ppt/slides/slide3.xml" Id="R2cf2022ca70f4c80" /><Relationship Type="http://schemas.openxmlformats.org/officeDocument/2006/relationships/slide" Target="/ppt/slides/slide4.xml" Id="R133cb73e891542db" /><Relationship Type="http://schemas.openxmlformats.org/officeDocument/2006/relationships/slide" Target="/ppt/slides/slide5.xml" Id="R0122876547e24912" /><Relationship Type="http://schemas.openxmlformats.org/officeDocument/2006/relationships/slide" Target="/ppt/slides/slide6.xml" Id="Rb7332479100d4a15" /><Relationship Type="http://schemas.openxmlformats.org/officeDocument/2006/relationships/slide" Target="/ppt/slides/slide7.xml" Id="R396890582e8949e8" /><Relationship Type="http://schemas.openxmlformats.org/officeDocument/2006/relationships/slide" Target="/ppt/slides/slide8.xml" Id="R53c2f109ea714b62" /><Relationship Type="http://schemas.openxmlformats.org/officeDocument/2006/relationships/slide" Target="/ppt/slides/slide9.xml" Id="Reaa9d6abecd74fba" /><Relationship Type="http://schemas.openxmlformats.org/officeDocument/2006/relationships/slide" Target="/ppt/slides/slide10.xml" Id="Rd8ceb756018343a0" /><Relationship Type="http://schemas.openxmlformats.org/officeDocument/2006/relationships/slide" Target="/ppt/slides/slide11.xml" Id="R686cbea4e8864e12" /><Relationship Type="http://schemas.openxmlformats.org/officeDocument/2006/relationships/slide" Target="/ppt/slides/slide12.xml" Id="R3b6477fb842445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85b0cb5f68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bb3931ef0248d8" /><Relationship Type="http://schemas.openxmlformats.org/officeDocument/2006/relationships/notesMaster" Target="/ppt/notesMasters/notesMaster1.xml" Id="R03db252a716d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795143841b4dce" /><Relationship Type="http://schemas.openxmlformats.org/officeDocument/2006/relationships/notesMaster" Target="/ppt/notesMasters/notesMaster1.xml" Id="Ree3c19409cd2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3359d379124984" /><Relationship Type="http://schemas.openxmlformats.org/officeDocument/2006/relationships/notesMaster" Target="/ppt/notesMasters/notesMaster1.xml" Id="R6a5184030bf049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de86d19ded4e1f" /><Relationship Type="http://schemas.openxmlformats.org/officeDocument/2006/relationships/notesMaster" Target="/ppt/notesMasters/notesMaster1.xml" Id="R7f4a4d53249c41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892098276e44cf" /><Relationship Type="http://schemas.openxmlformats.org/officeDocument/2006/relationships/notesMaster" Target="/ppt/notesMasters/notesMaster1.xml" Id="Rbbb7fd874e3940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79ff3274ab47a8" /><Relationship Type="http://schemas.openxmlformats.org/officeDocument/2006/relationships/notesMaster" Target="/ppt/notesMasters/notesMaster1.xml" Id="Raa93695a4a3b45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4f101080c4423c" /><Relationship Type="http://schemas.openxmlformats.org/officeDocument/2006/relationships/notesMaster" Target="/ppt/notesMasters/notesMaster1.xml" Id="R025e55c1769f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d26966ad204d05" /><Relationship Type="http://schemas.openxmlformats.org/officeDocument/2006/relationships/notesMaster" Target="/ppt/notesMasters/notesMaster1.xml" Id="Rd6a23bca2ad54f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2678cadea24ede" /><Relationship Type="http://schemas.openxmlformats.org/officeDocument/2006/relationships/notesMaster" Target="/ppt/notesMasters/notesMaster1.xml" Id="R6dad76a4d9e448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528a890ea9430f" /><Relationship Type="http://schemas.openxmlformats.org/officeDocument/2006/relationships/notesMaster" Target="/ppt/notesMasters/notesMaster1.xml" Id="Rff07f12aac7e46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3b4a7ee0cc4fe7" /><Relationship Type="http://schemas.openxmlformats.org/officeDocument/2006/relationships/notesMaster" Target="/ppt/notesMasters/notesMaster1.xml" Id="Rdd11103c131748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6adaeff50c46be" /><Relationship Type="http://schemas.openxmlformats.org/officeDocument/2006/relationships/notesMaster" Target="/ppt/notesMasters/notesMaster1.xml" Id="R3d254edf93b84b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Machine Learning Fundamentals. Choose the correct learning problem before choosing an algorithm.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features, targets, tables, distributions, and basic mathematical functions. By the end, you will explain supervised and unsupervised learning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supervised and unsupervised learning, regression and classification, training and inference, generalization.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model learns a mapping or structure from training data and is judged on unseen examples that represent future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feature: An input available at prediction time. target: The value a supervised model learns to predict. label: A categorical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Classify house price as regression, spam detection as classification, and customer grouping as clustering.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price regression</a:t>
            </a:r>
          </a:p>
          <a:p xmlns:a="http://schemas.openxmlformats.org/drawingml/2006/main">
            <a:r>
              <a:t>spam classification</a:t>
            </a:r>
          </a:p>
          <a:p xmlns:a="http://schemas.openxmlformats.org/drawingml/2006/main">
            <a:r>
              <a:t>segments clustering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Regression targets are continuous; classification targets are categories; clustering has no supplied target. Training learns parameters, validation selects choices, and testing estimates final generalization. Underfitting misses structure; overfitting learns training-specific noise. Leakage occurs whenever training receives information unavailable at real prediction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https://github.com/curiousily/AI-Bootcamp/blob/master/03.model-development.ipynb.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Calling every prediction problem classification. Evaluating on rows that influenced training or preprocessing.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Frame five business questions by identifying observation, features, target, learning type, and evaluation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supervised and unsupervised learning, regression and classification, training and inference, generalization. Verification evidence: For each problem, verify the target type and explain what one unseen test row represents.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6923d99b548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247314bd394a6c" /><Relationship Type="http://schemas.openxmlformats.org/officeDocument/2006/relationships/slideLayout" Target="/ppt/slideLayouts/slideLayout1.xml" Id="Rd639d838879e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39d838879e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7f130b8904d1b" /><Relationship Type="http://schemas.openxmlformats.org/officeDocument/2006/relationships/image" Target="/ppt/media/image.png" Id="R276bcda0d9474ecb" /><Relationship Type="http://schemas.openxmlformats.org/officeDocument/2006/relationships/image" Target="/ppt/media/image2.png" Id="R42629f380f734df0" /><Relationship Type="http://schemas.openxmlformats.org/officeDocument/2006/relationships/notesSlide" Target="/ppt/notesSlides/notesSlide1.xml" Id="R7592d1e1573f42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e315fe8b14edb" /><Relationship Type="http://schemas.openxmlformats.org/officeDocument/2006/relationships/notesSlide" Target="/ppt/notesSlides/notesSlide2.xml" Id="R4ebea1a465304c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f9b61ef764b94" /><Relationship Type="http://schemas.openxmlformats.org/officeDocument/2006/relationships/notesSlide" Target="/ppt/notesSlides/notesSlide3.xml" Id="R0222eb891e8e41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640c8878c4e28" /><Relationship Type="http://schemas.openxmlformats.org/officeDocument/2006/relationships/notesSlide" Target="/ppt/notesSlides/notesSlide4.xml" Id="Rf9c21d7221a3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3354c2e2542e5" /><Relationship Type="http://schemas.openxmlformats.org/officeDocument/2006/relationships/notesSlide" Target="/ppt/notesSlides/notesSlide5.xml" Id="R2064ec471d93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44d5e85664880" /><Relationship Type="http://schemas.openxmlformats.org/officeDocument/2006/relationships/notesSlide" Target="/ppt/notesSlides/notesSlide6.xml" Id="R135eaabe853549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17637966c41e9" /><Relationship Type="http://schemas.openxmlformats.org/officeDocument/2006/relationships/notesSlide" Target="/ppt/notesSlides/notesSlide7.xml" Id="R8755d98dccf24c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9d316dd544320" /><Relationship Type="http://schemas.openxmlformats.org/officeDocument/2006/relationships/notesSlide" Target="/ppt/notesSlides/notesSlide8.xml" Id="R11f4e948b8924d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ce8fc0857473b" /><Relationship Type="http://schemas.openxmlformats.org/officeDocument/2006/relationships/notesSlide" Target="/ppt/notesSlides/notesSlide9.xml" Id="R2e9de58295e449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4e49c1f5540d6" /><Relationship Type="http://schemas.openxmlformats.org/officeDocument/2006/relationships/notesSlide" Target="/ppt/notesSlides/notesSlide10.xml" Id="Rd7377ba7c15943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d433db9264f70" /><Relationship Type="http://schemas.openxmlformats.org/officeDocument/2006/relationships/notesSlide" Target="/ppt/notesSlides/notesSlide11.xml" Id="Re9adf8aa37fd4b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2a252583c41e1" /><Relationship Type="http://schemas.openxmlformats.org/officeDocument/2006/relationships/image" Target="/ppt/media/image3.png" Id="R1e3346d58edd4e30" /><Relationship Type="http://schemas.openxmlformats.org/officeDocument/2006/relationships/notesSlide" Target="/ppt/notesSlides/notesSlide12.xml" Id="Rdce643ffcd384b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43A24-DD5F-4436-AF4E-4271CFFF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bcda0d9474ecb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B4FA0-7C61-4F95-9322-4AD13C91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AC572-7DBA-46E6-A17B-51C2A43B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06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B8CF7-CD0B-4B7C-B971-B5B1ADC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Machine Learning Fundamentals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8D3D2-5391-4670-B432-DA09361D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523E4-2518-48DE-8900-274C5704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Choose the correct learning problem before choosing an algorithm.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29f380f734df0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43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62875-A692-4D89-AD0D-7D33BE73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24422-40F0-4003-B91E-E7AB1CF0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060EA-2D07-4F5B-8C38-BA7ABBAC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43EB4-C30E-493C-87CF-3789D2C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79138-3829-4AC4-9BB2-3C82869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A40BC-AABE-4024-8E80-101120D3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3A4AD-5FA0-429A-BF98-BE9AD47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Features, targets, tables, distributions, and basic mathematical 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09780-67F4-47A3-B684-77B741A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04914-0B2E-446B-A18D-15AC13B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supervised and unsupervised learning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4681F-ADE8-4449-B01C-7442AD52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2A74E-7F3F-48D3-9B53-CF17188B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regression and classification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66D8B-36D6-4BFB-AF4C-8A8A04A9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3D2CC-B5A6-49E6-9713-1C61EBA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generalization.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57AAD-51CA-430E-9250-A6ED4EAB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6AE3B-3273-46ED-9F60-FC11344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8206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03062-AA8E-49F9-8F01-259AD812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22896-2FC1-4457-B603-7D33BD13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49A5E-5832-4D38-908B-952183AD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DF7CD-E5A5-42F8-B627-F0181191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1B4C1-913E-41BC-871B-592957A0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3FBF0-2FDA-4387-98D9-FFA78648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08B76-AF36-4711-89C9-DC44746E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Choose the correct learning problem before choosing an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290F1-ABFE-4446-878F-4E8F7D5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A2F67-2A31-444C-B135-5BDD1177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supervised and unsupervised learning: Supervised learning uses known targets; unsupervised learning searches for structure without target labels.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DB0FF-E623-4A7C-82A8-28AADA0B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43C0D-2856-4613-8DA8-D76604B0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regression and classification: Regression predicts a continuous quantity; classification predicts a category or category probability.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65B51-9D41-40C2-91F5-F65E32C5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F2B53-3972-4BB9-A274-5E13BC9F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training and inference: Training estimates model parameters from examples; inference applies fixed learned parameters to new inputs.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E59C5-AEE3-4B2A-B7D4-02EBA10C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85C64-C941-47E6-9FAA-3573DC00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generalization: Generalization is useful performance on representative examples that did not influence model fitting.</a:t>
            </a:r>
          </a:p>
        </p:txBody>
      </p:sp>
    </p:spTree>
    <p:extLst>
      <p:ext uri="{BB962C8B-B14F-4D97-AF65-F5344CB8AC3E}">
        <p14:creationId xmlns:p14="http://schemas.microsoft.com/office/powerpoint/2010/main" val="640923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29179-2CF6-466D-885E-7BBD6F92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75EF8-9F45-43DC-A159-7FC238DB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E5978-DB8C-4810-B8FD-7941306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F036E-246B-4FD4-A346-E5D7EB2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02AD8-5CF9-4A27-BE15-C031DBD0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D9267-E4D2-4C3E-A07A-2C8476D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1ABA0-7FB8-459E-AC2F-EDDE30E2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21CB3-871B-4A4F-A4B4-7BE62F6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supervised and unsupervised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FCF51-01FB-4554-B07A-D6F38D4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D5FA5-6EFE-486E-9015-8CABD53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24571-5B43-416B-AB77-45EB9F2F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69961-E7DF-418B-B15B-6CFB8A6C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regression and 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29D20-6008-4CA8-91CA-7EE26521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488EA-40C4-447E-8F72-F0794999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1D528-0C84-471A-AC95-0E23D243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49472-F0C6-42A6-A5E5-64587281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training and inference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3D294-7B4D-4C4E-A302-FBB96C66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5F45A-DC03-4212-8B58-977FB3F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36601-5D60-4A26-BB4D-F5994C70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28DA5-2D39-4800-B8DB-5DAAF156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generalization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B2432-9169-41DC-88B2-F238736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A model learns a mapping or structure from training data and is judged on unseen examples that represent future use.</a:t>
            </a:r>
          </a:p>
        </p:txBody>
      </p:sp>
    </p:spTree>
    <p:extLst>
      <p:ext uri="{BB962C8B-B14F-4D97-AF65-F5344CB8AC3E}">
        <p14:creationId xmlns:p14="http://schemas.microsoft.com/office/powerpoint/2010/main" val="1601310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B1AB4-618E-4282-84D2-06BCF170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219B5-ACBB-4CF8-A8A8-01D7A5B9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3460F-BC0F-4CDF-A0F2-89C8E644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31607-FA33-4735-A3CB-113EAF7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056CD-4ACC-468A-BA05-6AEA236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F2324-2936-4DB0-90BD-F63DCE35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22F06-3376-489C-B60B-126FFDE2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A model learns a mapping or structure from training data and is judged on unseen examples that represent future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FF45-05EC-4B1E-A941-AB07C724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49E62-CC24-417F-9F50-7276166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feature: An input available at prediction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FFD29-4ACA-4E8E-83FC-A8F66199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11913-4243-4C20-BBE4-B1377B1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target: The value a supervised model learns to predict.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56CC6-5992-4910-9869-39E3AF98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2DBE7-EC9F-4FAF-8A25-7480CB1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label: A categorical target.</a:t>
            </a:r>
          </a:p>
        </p:txBody>
      </p:sp>
    </p:spTree>
    <p:extLst>
      <p:ext uri="{BB962C8B-B14F-4D97-AF65-F5344CB8AC3E}">
        <p14:creationId xmlns:p14="http://schemas.microsoft.com/office/powerpoint/2010/main" val="1577316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0E734-5309-43B2-BF66-2043F9D9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B64BC-9A00-4857-9D13-479EBAE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46731-60A6-45D2-ACFD-855B8ED2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BCD8E-483E-4B12-914E-8BF957F2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D0BDD-74C3-4E72-B6F6-19868179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8F9BF-4D22-418C-BEB1-D5C1570A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Classify house price as regression, spam detection as classification, and customer grouping as clustering.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1009B-0D69-4A00-B377-7363400B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8AB5C-B06F-4778-90BE-5C80A52F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B06AF-1C50-4291-9677-AA6D03E7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FC955-4433-4BD6-A745-E382B653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3F90F-38CD-4B17-9E68-62BF562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DACBE-1A6C-4B92-BA79-B56F5776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91699-F7FD-416C-ADD1-A0C3FF05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C9E5-17D4-410C-8B5A-E424B04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59245-50AE-45ED-8540-E54C039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1611807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DEE94-9487-4C94-9530-57FBE0A7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437DB-1AB6-415D-A62B-B6F78D55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7DF79-B1F2-47C9-9F5A-D892B65E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2C742-8335-4F04-AE47-98F3329E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F8010-EE95-446E-BBCB-F402184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35DA0-580D-424C-8D59-4F77B4E0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E531B-D037-4B77-AD69-E20D50A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A9E94-F01C-45DA-AF1E-47DBF103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D1F3C-0A68-447B-A9A5-DBAAF5E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46B16-0B51-4F48-8C74-7D482F21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86179-B5D5-439B-8CA1-D32C375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problems = {"price": "regression", "spam": "classification", "segments": "clustering"}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for name, kind in problems.items():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print(name, kind)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928EA-D4CE-45EC-9E77-9049FBEA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7DBDB-A3A8-4AAB-89D1-CF060C33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E8CA7-BB37-46DA-A4D1-79954F04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price regression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spam classification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segments clustering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A3028-2230-4131-87FC-03C1AFD0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FE83E-7387-4454-93C1-5BCB5B7A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1999774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348E5-ADF9-42AC-8E88-AD3FB893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11E8E-540A-4334-BB12-D73DE040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99DBB-103B-46A1-A4CB-A029566E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00F3D-8FDD-485B-AC2B-A63BCBBF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2F0CD-944A-4C56-9C80-8A81A20A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88AF-5789-40BB-BEAD-DD08681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1B29B-E0FA-4BC9-B191-8DD231CB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94E70-938A-4784-96C2-E420D563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Regression targets are continuous; classification targets are categories; clustering has no supplied target.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369D5-D566-4E48-9A04-6399789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88601-A81B-4470-8165-50F5015B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4F8BB-4770-464E-9D33-D19D903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37B09-55FD-4024-8B3C-2103935E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Training learns parameters, validation selects choices, and testing estimates final generalization.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B0359-5779-4020-BBA5-5CD5383B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FEF8A-8BC9-4E47-8E36-A133FE5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B8BAA-1336-4D93-8E75-2254E0D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DB7CE-E88E-4F0D-B76F-61C7AB76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Underfitting misses structure; overfitting learns training-specific noise.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E2E4C-DE1D-467E-8D69-3D875CE3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6A50E-FEAF-43DF-939D-099CDEBE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8FCB5-78E4-4EAD-B350-64CCDCA5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6D037-0F3A-4B16-8645-4D2D408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Leakage occurs whenever training receives information unavailable at real prediction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E77B3-1513-4956-A15D-60A3100C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8525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A173C-B2E7-4FB5-825E-71660564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35EE8-54DD-469A-B40C-2929356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79C34-0A01-4EEF-936F-1F6F204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5038D-8BD4-4ADB-AC3B-88616304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BC0E5-F871-4BED-A81D-B3729302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D7F61-AEFA-4688-A883-38FDD59B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CBED6-2A14-4259-93E2-7A27DD1A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B0988-5BD0-4DC3-98AA-D8D8A0D2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supervised and unsupervised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69629-94E9-49B5-BD06-0F9E573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120C-60EC-4FDC-9C2F-3617EF51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CCB31-1027-40E9-93AD-C779B54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A0246-6B87-45B4-8E3F-7940743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regression and 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051F8-6B30-4415-A511-F75C8BD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785D7-19CC-4C94-908E-438AD964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A3A83-2EF2-4239-8EFF-197CC72B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8F912-4768-4D59-905C-67028789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training and inference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9FEAA-C5AC-4FA2-943A-9633FF6D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84355-D34B-40FD-81EC-CEA39CF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CF085-9100-474D-A910-6232BF16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FF617-9712-4712-AAB7-CBC80CB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generalization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34A77-DEA6-4959-BF74-5DB22804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https://github.com/curiousily/AI-Bootcamp/blob/master/03.model-development.ipynb.</a:t>
            </a:r>
          </a:p>
        </p:txBody>
      </p:sp>
    </p:spTree>
    <p:extLst>
      <p:ext uri="{BB962C8B-B14F-4D97-AF65-F5344CB8AC3E}">
        <p14:creationId xmlns:p14="http://schemas.microsoft.com/office/powerpoint/2010/main" val="379211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381C9-C55D-4A1B-8C2B-F33C0090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5896B-A8DA-4ABC-8A03-5210E00E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F6BD0-27F1-46D7-B7A6-96094DC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D6916-3920-4D1E-B752-F8E145D6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64BCB-4144-461D-BDA4-2765002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63E2C-E83A-4B70-A062-BD3A26F5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A8ABB-91D0-44B1-80E9-4EAF6F06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6E182-1F91-4EBC-B0A0-AD9FF76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Calling every prediction problem classification.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FEDFA-4EA4-4E98-A9AB-39E225AD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0F527-0C68-495C-8DFA-BA5D1A4E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AAA7F-A12D-42F6-9578-71C5243D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Evaluating on rows that influenced training or preprocessing.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7AD99-D2C4-4B25-839C-060CEEB7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5488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614B1-AA6C-4E84-A80E-905C816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3A5A3-7112-4557-84BE-9D94CEC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9F1AB-EA3C-411E-AFDE-F9F88E8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FFD54-4FBC-49C3-AA64-C741E56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5DB82-795D-4A4B-A642-16210BB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Frame five business questions by identifying observation, features, target, learning type, and evaluation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99270-6895-436C-AEE8-C8489152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A863D-B675-47B8-B2A6-D2F82546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A43B2-3963-488A-9FEC-10DC33F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49872-677B-4A21-86AB-BD7B44E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F0F94-9903-44CE-A3B5-6934C365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844A4-9109-4F7B-AEB7-671BEC9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5E96A-CCD1-4194-A100-5EF4EE8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EDB2A-3EF2-4FFB-964C-B95296E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9480F-2C61-4FD2-B1D5-D2AAA0B6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B5DB7-96CF-4B5A-8BDC-D02F7E0A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F11E0-5A31-4FF1-B680-2696062E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4CC2D-A488-4D57-B853-107E1576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8470621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E0C38-BDEE-4BD1-9458-2E905794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0C598-AFA3-4584-B210-8D42DC9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Machine Learning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5EC1A-6E91-40C3-A8C3-2D89677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60E62-1DA1-489B-8B47-61B6DD0A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19950-F941-40F5-87EF-21D27414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6805E-2E88-4DED-A70D-DFECBF43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70831-8AFB-449D-8F22-2F256B8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supervised and unsupervised learning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C514A-2E12-4FEE-80D3-8DDB52C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991E5-F2F6-46BF-95CF-441AAB1B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regression and classification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E5EBC-21BB-4FE5-88F8-6DE9A5FA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71951-2ED9-442F-9327-C7F9C20A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generalization.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5FDDE-E759-408E-B264-0A8656DC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DF7FE-5BA5-4A3E-99B4-2584C1E1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problem-framing worksheet with justified learning types and train/validation/test boundaries.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346d58edd4e30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7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2026-07-28T16:53:13.3910000Z</dcterms:created>
  <dcterms:modified xsi:type="dcterms:W3CDTF">2026-07-28T16:53:13.3910000Z</dcterms:modified>
</coreProperties>
</file>