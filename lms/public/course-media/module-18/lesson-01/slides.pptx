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4b0d44ce4e43cb" /><Relationship Type="http://schemas.openxmlformats.org/officeDocument/2006/relationships/extended-properties" Target="/docProps/app.xml" Id="Rb62b663847294bc2" /><Relationship Type="http://schemas.openxmlformats.org/officeDocument/2006/relationships/officeDocument" Target="/ppt/presentation.xml" Id="R3ad0e8534c814511" /></Relationships>
</file>

<file path=ppt/presentation.xml><?xml version="1.0" encoding="utf-8"?>
<p:presentation xmlns:p="http://schemas.openxmlformats.org/presentationml/2006/main">
  <p:sldMasterIdLst>
    <p:sldMasterId xmlns:r="http://schemas.openxmlformats.org/officeDocument/2006/relationships" id="2147483648" r:id="Rc0b3128157ac4e22"/>
  </p:sldMasterIdLst>
  <p:notesMasterIdLst>
    <p:notesMasterId xmlns:r="http://schemas.openxmlformats.org/officeDocument/2006/relationships" r:id="R15f3967d2d5e4292"/>
  </p:notesMasterIdLst>
  <p:sldIdLst>
    <p:sldId xmlns:r="http://schemas.openxmlformats.org/officeDocument/2006/relationships" id="256" r:id="Rcbadbde77b3b459e"/>
    <p:sldId xmlns:r="http://schemas.openxmlformats.org/officeDocument/2006/relationships" id="257" r:id="Rdc3eeb428c694bb5"/>
    <p:sldId xmlns:r="http://schemas.openxmlformats.org/officeDocument/2006/relationships" id="258" r:id="R25594cbd075c4170"/>
    <p:sldId xmlns:r="http://schemas.openxmlformats.org/officeDocument/2006/relationships" id="259" r:id="R3d6cd5621799476f"/>
    <p:sldId xmlns:r="http://schemas.openxmlformats.org/officeDocument/2006/relationships" id="260" r:id="Rcee5300b5a2a46f4"/>
    <p:sldId xmlns:r="http://schemas.openxmlformats.org/officeDocument/2006/relationships" id="261" r:id="Rcd34685636f64d23"/>
    <p:sldId xmlns:r="http://schemas.openxmlformats.org/officeDocument/2006/relationships" id="262" r:id="Rb23aaee4c8e14f99"/>
    <p:sldId xmlns:r="http://schemas.openxmlformats.org/officeDocument/2006/relationships" id="263" r:id="R996d2e7e848b4436"/>
    <p:sldId xmlns:r="http://schemas.openxmlformats.org/officeDocument/2006/relationships" id="264" r:id="Rf2859a43e0254aea"/>
    <p:sldId xmlns:r="http://schemas.openxmlformats.org/officeDocument/2006/relationships" id="265" r:id="Rfbc27886f54e4235"/>
    <p:sldId xmlns:r="http://schemas.openxmlformats.org/officeDocument/2006/relationships" id="266" r:id="Rc8914bbf71c547d9"/>
    <p:sldId xmlns:r="http://schemas.openxmlformats.org/officeDocument/2006/relationships" id="267" r:id="R134c0cd469a849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e36e83de974a07" /><Relationship Type="http://schemas.openxmlformats.org/officeDocument/2006/relationships/slideMaster" Target="/ppt/slideMasters/slideMaster1.xml" Id="Rc0b3128157ac4e22" /><Relationship Type="http://schemas.openxmlformats.org/officeDocument/2006/relationships/notesMaster" Target="/ppt/notesMasters/notesMaster1.xml" Id="R15f3967d2d5e4292" /><Relationship Type="http://schemas.openxmlformats.org/officeDocument/2006/relationships/presProps" Target="/ppt/presProps.xml" Id="R8cfe255a13484e92" /><Relationship Type="http://schemas.openxmlformats.org/officeDocument/2006/relationships/tableStyles" Target="/ppt/tableStyles.xml" Id="Rcafdf376cea94616" /><Relationship Type="http://schemas.openxmlformats.org/officeDocument/2006/relationships/slide" Target="/ppt/slides/slide1.xml" Id="Rcbadbde77b3b459e" /><Relationship Type="http://schemas.openxmlformats.org/officeDocument/2006/relationships/slide" Target="/ppt/slides/slide2.xml" Id="Rdc3eeb428c694bb5" /><Relationship Type="http://schemas.openxmlformats.org/officeDocument/2006/relationships/slide" Target="/ppt/slides/slide3.xml" Id="R25594cbd075c4170" /><Relationship Type="http://schemas.openxmlformats.org/officeDocument/2006/relationships/slide" Target="/ppt/slides/slide4.xml" Id="R3d6cd5621799476f" /><Relationship Type="http://schemas.openxmlformats.org/officeDocument/2006/relationships/slide" Target="/ppt/slides/slide5.xml" Id="Rcee5300b5a2a46f4" /><Relationship Type="http://schemas.openxmlformats.org/officeDocument/2006/relationships/slide" Target="/ppt/slides/slide6.xml" Id="Rcd34685636f64d23" /><Relationship Type="http://schemas.openxmlformats.org/officeDocument/2006/relationships/slide" Target="/ppt/slides/slide7.xml" Id="Rb23aaee4c8e14f99" /><Relationship Type="http://schemas.openxmlformats.org/officeDocument/2006/relationships/slide" Target="/ppt/slides/slide8.xml" Id="R996d2e7e848b4436" /><Relationship Type="http://schemas.openxmlformats.org/officeDocument/2006/relationships/slide" Target="/ppt/slides/slide9.xml" Id="Rf2859a43e0254aea" /><Relationship Type="http://schemas.openxmlformats.org/officeDocument/2006/relationships/slide" Target="/ppt/slides/slide10.xml" Id="Rfbc27886f54e4235" /><Relationship Type="http://schemas.openxmlformats.org/officeDocument/2006/relationships/slide" Target="/ppt/slides/slide11.xml" Id="Rc8914bbf71c547d9" /><Relationship Type="http://schemas.openxmlformats.org/officeDocument/2006/relationships/slide" Target="/ppt/slides/slide12.xml" Id="R134c0cd469a849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bac223cec7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83360e265e4797" /><Relationship Type="http://schemas.openxmlformats.org/officeDocument/2006/relationships/notesMaster" Target="/ppt/notesMasters/notesMaster1.xml" Id="R91987bc2daff47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1cc9f1275f425a" /><Relationship Type="http://schemas.openxmlformats.org/officeDocument/2006/relationships/notesMaster" Target="/ppt/notesMasters/notesMaster1.xml" Id="R6bbe5312b5d643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94e3cccbf6438c" /><Relationship Type="http://schemas.openxmlformats.org/officeDocument/2006/relationships/notesMaster" Target="/ppt/notesMasters/notesMaster1.xml" Id="R1c4890ce2cf340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f07afaf0e247a7" /><Relationship Type="http://schemas.openxmlformats.org/officeDocument/2006/relationships/notesMaster" Target="/ppt/notesMasters/notesMaster1.xml" Id="Rbfc66caed14d48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1b402f23b2469d" /><Relationship Type="http://schemas.openxmlformats.org/officeDocument/2006/relationships/notesMaster" Target="/ppt/notesMasters/notesMaster1.xml" Id="R0036310d2fe743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5123f6c84048e0" /><Relationship Type="http://schemas.openxmlformats.org/officeDocument/2006/relationships/notesMaster" Target="/ppt/notesMasters/notesMaster1.xml" Id="R9b1df6aa681443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30a47501d74abc" /><Relationship Type="http://schemas.openxmlformats.org/officeDocument/2006/relationships/notesMaster" Target="/ppt/notesMasters/notesMaster1.xml" Id="R00009aa178d849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d642bef4424a46" /><Relationship Type="http://schemas.openxmlformats.org/officeDocument/2006/relationships/notesMaster" Target="/ppt/notesMasters/notesMaster1.xml" Id="Re74954e1b1cf4a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e6c14a890d4111" /><Relationship Type="http://schemas.openxmlformats.org/officeDocument/2006/relationships/notesMaster" Target="/ppt/notesMasters/notesMaster1.xml" Id="R04dfcfdd2f3c41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029feb368b4703" /><Relationship Type="http://schemas.openxmlformats.org/officeDocument/2006/relationships/notesMaster" Target="/ppt/notesMasters/notesMaster1.xml" Id="R54d6dfdd8e6147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89252124664b2c" /><Relationship Type="http://schemas.openxmlformats.org/officeDocument/2006/relationships/notesMaster" Target="/ppt/notesMasters/notesMaster1.xml" Id="Rb621a889813849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b94f4225564f53" /><Relationship Type="http://schemas.openxmlformats.org/officeDocument/2006/relationships/notesMaster" Target="/ppt/notesMasters/notesMaster1.xml" Id="R6cac392df5cd4b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AI Capstone. Combine requirements, data, models, retrieval, tools, evaluation, deployment, and documentation into one defensible system.</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required starting point is all prior weeks. By the end, you will explain requirements and architecture in plain language.</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language before using it: requirements and architecture, evidence-first implementation, evaluation and observability, security cost and deployment.</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need → explicit contract → bounded components → evidence and evaluation → monitored deployment.</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symbol or component has a job. requirement: A testable user need and constraint. architecture: Components and data flow. evidence: Observable proof of behavior.</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values before running code. Turn “answer questions about reports” into ingestion, retrieval, citation, refusal, latency, and access-control requirements.</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hand-worked mechanism to Python. The observed output is {'citation_support': 0.95, 'retrieval_recall_at_5': 0.85, 'p95_latency_seconds': 5, 'monthly_budget_usd': 10}</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the user need into measurable quality, safety, latency, and cost acceptance criteria. Draw data flow and trust boundaries before selecting frameworks or implementation details. Demonstrate unsupported, malformed, denied, timeout, and insufficient-evidence cases. Release with versioned artifacts, monitoring, budget alerts, runbook, limitations, and rollback.</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concepts from this lesson to read and complete https://github.com/curiousily/AI-Bootcamp/blob/master/19.langgraph-crypto-agents.ipynb. Predict what each section does before executing it.</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Starting implementation before defining acceptance criteria. Demonstrating one successful path while hiding failure, security, or cost behavior.</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run, inspect, and explain. Build and demonstrate a small deployed AI system with documented requirements, tests, traces, and limitations.</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connection between requirements and architecture, evidence-first implementation, evaluation and observability, security cost and deployment. Verification evidence: Run the complete acceptance suite from clean setup and show evidence for quality, safety, latency, and cost limits.</a:t>
            </a:r>
          </a:p>
          <a:p xmlns:a="http://schemas.openxmlformats.org/drawingml/2006/main">
            <a:r>
              <a:t/>
            </a:r>
          </a:p>
          <a:p xmlns:a="http://schemas.openxmlformats.org/drawingml/2006/main">
            <a:r>
              <a:t>[Sources]</a:t>
            </a:r>
          </a:p>
          <a:p xmlns:a="http://schemas.openxmlformats.org/drawingml/2006/main">
            <a:r>
              <a:t>- https://github.com/curiousily/AI-Bootcamp/blob/master/19.langgraph-crypto-agents.ipynb</a:t>
            </a:r>
          </a:p>
          <a:p xmlns:a="http://schemas.openxmlformats.org/drawingml/2006/main">
            <a:r>
              <a:t>- https://github.com/curiousily/AI-Bootcamp/blob/master/14.sql-agents-with-llama3-crewai.ipynb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2914ab05db44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6734b2c9d7455d" /><Relationship Type="http://schemas.openxmlformats.org/officeDocument/2006/relationships/slideLayout" Target="/ppt/slideLayouts/slideLayout1.xml" Id="R2126601ae6934d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26601ae6934d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6963218526425f" /><Relationship Type="http://schemas.openxmlformats.org/officeDocument/2006/relationships/image" Target="/ppt/media/image.png" Id="R3c65a16164484fcc" /><Relationship Type="http://schemas.openxmlformats.org/officeDocument/2006/relationships/image" Target="/ppt/media/image2.png" Id="R608309cf9a1c4b32" /><Relationship Type="http://schemas.openxmlformats.org/officeDocument/2006/relationships/notesSlide" Target="/ppt/notesSlides/notesSlide1.xml" Id="Rcf38611b69b245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0a7a7fe9de4e1e" /><Relationship Type="http://schemas.openxmlformats.org/officeDocument/2006/relationships/notesSlide" Target="/ppt/notesSlides/notesSlide2.xml" Id="R0f85fabb9ad94a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ea8959b4964e42" /><Relationship Type="http://schemas.openxmlformats.org/officeDocument/2006/relationships/notesSlide" Target="/ppt/notesSlides/notesSlide3.xml" Id="R3968f80e52604b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48c4aa50de4570" /><Relationship Type="http://schemas.openxmlformats.org/officeDocument/2006/relationships/notesSlide" Target="/ppt/notesSlides/notesSlide4.xml" Id="R1024af49e3944d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a0759c211f4b61" /><Relationship Type="http://schemas.openxmlformats.org/officeDocument/2006/relationships/notesSlide" Target="/ppt/notesSlides/notesSlide5.xml" Id="Rfe253ed5d38348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03f823cc844e28" /><Relationship Type="http://schemas.openxmlformats.org/officeDocument/2006/relationships/notesSlide" Target="/ppt/notesSlides/notesSlide6.xml" Id="R0bf5a1d54e3d4f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0c7ff4cd1e4eab" /><Relationship Type="http://schemas.openxmlformats.org/officeDocument/2006/relationships/notesSlide" Target="/ppt/notesSlides/notesSlide7.xml" Id="R2a91a062507f4a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6830fb49274106" /><Relationship Type="http://schemas.openxmlformats.org/officeDocument/2006/relationships/notesSlide" Target="/ppt/notesSlides/notesSlide8.xml" Id="R0a0b4eb6d29b4b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e401aaf330c4c74" /><Relationship Type="http://schemas.openxmlformats.org/officeDocument/2006/relationships/notesSlide" Target="/ppt/notesSlides/notesSlide9.xml" Id="R21942201002949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60e4f3122a4575" /><Relationship Type="http://schemas.openxmlformats.org/officeDocument/2006/relationships/notesSlide" Target="/ppt/notesSlides/notesSlide10.xml" Id="Re1d7fbdef06043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dd5d1435054600" /><Relationship Type="http://schemas.openxmlformats.org/officeDocument/2006/relationships/notesSlide" Target="/ppt/notesSlides/notesSlide11.xml" Id="R7b52990481594b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00f2c619064833" /><Relationship Type="http://schemas.openxmlformats.org/officeDocument/2006/relationships/image" Target="/ppt/media/image3.png" Id="Raf15584b33504fcf" /><Relationship Type="http://schemas.openxmlformats.org/officeDocument/2006/relationships/notesSlide" Target="/ppt/notesSlides/notesSlide12.xml" Id="R9bee56642d7f4ac3"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FE3E50-ED5A-4A84-A780-6DA8D55BC31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c65a16164484fcc"/>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6B8DA7-4015-4F99-AA06-9315A1116228}"/>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55C95F-6301-4C3B-9C3E-93A91AE4E9EA}"/>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18  /  LESSON 01</a:t>
            </a:r>
          </a:p>
        </p:txBody>
      </p:sp>
      <p:sp>
        <p:nvSpPr>
          <p:cNvPr id="5" name="">
            <a:extLst xmlns:a="http://schemas.openxmlformats.org/drawingml/2006/main">
              <a:ext uri="{FF2B5EF4-FFF2-40B4-BE49-F238E27FC236}">
                <a16:creationId xmlns:a16="http://schemas.microsoft.com/office/drawing/2014/main" id="{3DCF0CF1-E4A4-43C5-9F62-DDC1A265B74E}"/>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Production AI Capstone</a:t>
            </a:r>
          </a:p>
        </p:txBody>
      </p:sp>
      <p:sp>
        <p:nvSpPr>
          <p:cNvPr id="6" name="">
            <a:extLst xmlns:a="http://schemas.openxmlformats.org/drawingml/2006/main">
              <a:ext uri="{FF2B5EF4-FFF2-40B4-BE49-F238E27FC236}">
                <a16:creationId xmlns:a16="http://schemas.microsoft.com/office/drawing/2014/main" id="{817FE82E-62B5-4194-ACC6-5E30E3D18E00}"/>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E00D18-0745-4CBB-93D0-DB4D87420AB0}"/>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Combine requirements, data, models, retrieval, tools, evaluation, deployment, and documentation into one defensible system.</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08309cf9a1c4b32"/>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20089216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D7C7D1F-2653-42F0-A49D-9CF70AF2578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96358D6A-B7BE-49A6-A4DC-4899EAFEC53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EA893CF9-6D46-4F4C-B045-34B9F191379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59CD601A-9366-40AA-A9EA-C4CC14C004EA}"/>
              </a:ext>
            </a:extLst>
          </p:cNvPr>
          <p:cNvSpPr>
            <a:spLocks xmlns:a="http://schemas.openxmlformats.org/drawingml/2006/main" noGrp="1"/>
          </p:cNvSpPr>
          <p:nvPr/>
        </p:nvSpPr>
        <p:spPr>
          <a:xfrm xmlns:a="http://schemas.openxmlformats.org/drawingml/2006/main">
            <a:off x="609600" y="8953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WHY THIS MATTERS</a:t>
            </a:r>
          </a:p>
        </p:txBody>
      </p:sp>
      <p:sp>
        <p:nvSpPr>
          <p:cNvPr id="5" name="">
            <a:extLst xmlns:a="http://schemas.openxmlformats.org/drawingml/2006/main">
              <a:ext uri="{FF2B5EF4-FFF2-40B4-BE49-F238E27FC236}">
                <a16:creationId xmlns:a16="http://schemas.microsoft.com/office/drawing/2014/main" id="{7EB5FA90-DA87-4315-BF55-8591AB03BD1A}"/>
              </a:ext>
            </a:extLst>
          </p:cNvPr>
          <p:cNvSpPr>
            <a:spLocks xmlns:a="http://schemas.openxmlformats.org/drawingml/2006/main" noGrp="1"/>
          </p:cNvSpPr>
          <p:nvPr/>
        </p:nvSpPr>
        <p:spPr>
          <a:xfrm xmlns:a="http://schemas.openxmlformats.org/drawingml/2006/main">
            <a:off x="609600" y="1390650"/>
            <a:ext cx="104775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58AA39-28D8-4E6C-804B-0E7CD41F28B4}"/>
              </a:ext>
            </a:extLst>
          </p:cNvPr>
          <p:cNvSpPr>
            <a:spLocks xmlns:a="http://schemas.openxmlformats.org/drawingml/2006/main" noGrp="1"/>
          </p:cNvSpPr>
          <p:nvPr/>
        </p:nvSpPr>
        <p:spPr>
          <a:xfrm xmlns:a="http://schemas.openxmlformats.org/drawingml/2006/main">
            <a:off x="609600" y="16954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Start from what you already know</a:t>
            </a:r>
          </a:p>
        </p:txBody>
      </p:sp>
      <p:sp>
        <p:nvSpPr>
          <p:cNvPr id="7" name="">
            <a:extLst xmlns:a="http://schemas.openxmlformats.org/drawingml/2006/main">
              <a:ext uri="{FF2B5EF4-FFF2-40B4-BE49-F238E27FC236}">
                <a16:creationId xmlns:a16="http://schemas.microsoft.com/office/drawing/2014/main" id="{BD83EE47-C095-49C9-AC80-9AC9459A53F6}"/>
              </a:ext>
            </a:extLst>
          </p:cNvPr>
          <p:cNvSpPr>
            <a:spLocks xmlns:a="http://schemas.openxmlformats.org/drawingml/2006/main" noGrp="1"/>
          </p:cNvSpPr>
          <p:nvPr/>
        </p:nvSpPr>
        <p:spPr>
          <a:xfrm xmlns:a="http://schemas.openxmlformats.org/drawingml/2006/main">
            <a:off x="609600" y="2609850"/>
            <a:ext cx="971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6BDB"/>
                </a:solidFill>
              </a:defRPr>
            </a:pPr>
            <a:r>
              <a:rPr sz="2025" b="1">
                <a:solidFill>
                  <a:srgbClr val="176BDB"/>
                </a:solidFill>
              </a:rPr>
              <a:t>All prior weeks</a:t>
            </a:r>
          </a:p>
        </p:txBody>
      </p:sp>
      <p:sp>
        <p:nvSpPr>
          <p:cNvPr id="8" name="">
            <a:extLst xmlns:a="http://schemas.openxmlformats.org/drawingml/2006/main">
              <a:ext uri="{FF2B5EF4-FFF2-40B4-BE49-F238E27FC236}">
                <a16:creationId xmlns:a16="http://schemas.microsoft.com/office/drawing/2014/main" id="{AF6A2C80-6A25-4206-9BDA-58EB9BE70AD0}"/>
              </a:ext>
            </a:extLst>
          </p:cNvPr>
          <p:cNvSpPr>
            <a:spLocks xmlns:a="http://schemas.openxmlformats.org/drawingml/2006/main" noGrp="1"/>
          </p:cNvSpPr>
          <p:nvPr/>
        </p:nvSpPr>
        <p:spPr>
          <a:xfrm xmlns:a="http://schemas.openxmlformats.org/drawingml/2006/main">
            <a:off x="628650" y="35623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9" name="">
            <a:extLst xmlns:a="http://schemas.openxmlformats.org/drawingml/2006/main">
              <a:ext uri="{FF2B5EF4-FFF2-40B4-BE49-F238E27FC236}">
                <a16:creationId xmlns:a16="http://schemas.microsoft.com/office/drawing/2014/main" id="{9DEB0454-E87C-48BD-9831-475D3B69FD34}"/>
              </a:ext>
            </a:extLst>
          </p:cNvPr>
          <p:cNvSpPr>
            <a:spLocks xmlns:a="http://schemas.openxmlformats.org/drawingml/2006/main" noGrp="1"/>
          </p:cNvSpPr>
          <p:nvPr/>
        </p:nvSpPr>
        <p:spPr>
          <a:xfrm xmlns:a="http://schemas.openxmlformats.org/drawingml/2006/main">
            <a:off x="1371600" y="3505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Explain requirements and architecture in plain language.</a:t>
            </a:r>
          </a:p>
        </p:txBody>
      </p:sp>
      <p:sp>
        <p:nvSpPr>
          <p:cNvPr id="10" name="">
            <a:extLst xmlns:a="http://schemas.openxmlformats.org/drawingml/2006/main">
              <a:ext uri="{FF2B5EF4-FFF2-40B4-BE49-F238E27FC236}">
                <a16:creationId xmlns:a16="http://schemas.microsoft.com/office/drawing/2014/main" id="{EFF55A4A-607F-4126-B921-54931D2056C6}"/>
              </a:ext>
            </a:extLst>
          </p:cNvPr>
          <p:cNvSpPr>
            <a:spLocks xmlns:a="http://schemas.openxmlformats.org/drawingml/2006/main" noGrp="1"/>
          </p:cNvSpPr>
          <p:nvPr/>
        </p:nvSpPr>
        <p:spPr>
          <a:xfrm xmlns:a="http://schemas.openxmlformats.org/drawingml/2006/main">
            <a:off x="628650" y="42481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A1662CC2-412E-4D35-8ADA-96D4B47D1CED}"/>
              </a:ext>
            </a:extLst>
          </p:cNvPr>
          <p:cNvSpPr>
            <a:spLocks xmlns:a="http://schemas.openxmlformats.org/drawingml/2006/main" noGrp="1"/>
          </p:cNvSpPr>
          <p:nvPr/>
        </p:nvSpPr>
        <p:spPr>
          <a:xfrm xmlns:a="http://schemas.openxmlformats.org/drawingml/2006/main">
            <a:off x="1371600" y="41910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Use evidence-first implementation in a small worked example.</a:t>
            </a:r>
          </a:p>
        </p:txBody>
      </p:sp>
      <p:sp>
        <p:nvSpPr>
          <p:cNvPr id="12" name="">
            <a:extLst xmlns:a="http://schemas.openxmlformats.org/drawingml/2006/main">
              <a:ext uri="{FF2B5EF4-FFF2-40B4-BE49-F238E27FC236}">
                <a16:creationId xmlns:a16="http://schemas.microsoft.com/office/drawing/2014/main" id="{2D6426D2-2867-4485-A63C-87389480B467}"/>
              </a:ext>
            </a:extLst>
          </p:cNvPr>
          <p:cNvSpPr>
            <a:spLocks xmlns:a="http://schemas.openxmlformats.org/drawingml/2006/main" noGrp="1"/>
          </p:cNvSpPr>
          <p:nvPr/>
        </p:nvSpPr>
        <p:spPr>
          <a:xfrm xmlns:a="http://schemas.openxmlformats.org/drawingml/2006/main">
            <a:off x="628650" y="49339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03</a:t>
            </a:r>
          </a:p>
        </p:txBody>
      </p:sp>
      <p:sp>
        <p:nvSpPr>
          <p:cNvPr id="13" name="">
            <a:extLst xmlns:a="http://schemas.openxmlformats.org/drawingml/2006/main">
              <a:ext uri="{FF2B5EF4-FFF2-40B4-BE49-F238E27FC236}">
                <a16:creationId xmlns:a16="http://schemas.microsoft.com/office/drawing/2014/main" id="{5D326E2C-CD71-488C-B929-77ED5079EAE9}"/>
              </a:ext>
            </a:extLst>
          </p:cNvPr>
          <p:cNvSpPr>
            <a:spLocks xmlns:a="http://schemas.openxmlformats.org/drawingml/2006/main" noGrp="1"/>
          </p:cNvSpPr>
          <p:nvPr/>
        </p:nvSpPr>
        <p:spPr>
          <a:xfrm xmlns:a="http://schemas.openxmlformats.org/drawingml/2006/main">
            <a:off x="1371600" y="4876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Complete the guided lab and verify security cost and deployment.</a:t>
            </a:r>
          </a:p>
        </p:txBody>
      </p:sp>
      <p:sp>
        <p:nvSpPr>
          <p:cNvPr id="14" name="">
            <a:extLst xmlns:a="http://schemas.openxmlformats.org/drawingml/2006/main">
              <a:ext uri="{FF2B5EF4-FFF2-40B4-BE49-F238E27FC236}">
                <a16:creationId xmlns:a16="http://schemas.microsoft.com/office/drawing/2014/main" id="{732671AA-4C6B-49AE-8DA2-28974787396C}"/>
              </a:ext>
            </a:extLst>
          </p:cNvPr>
          <p:cNvSpPr>
            <a:spLocks xmlns:a="http://schemas.openxmlformats.org/drawingml/2006/main" noGrp="1"/>
          </p:cNvSpPr>
          <p:nvPr/>
        </p:nvSpPr>
        <p:spPr>
          <a:xfrm xmlns:a="http://schemas.openxmlformats.org/drawingml/2006/main">
            <a:off x="10915650" y="1219200"/>
            <a:ext cx="609600" cy="453390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58BC8C8-6546-4746-B323-893611FA75D3}"/>
              </a:ext>
            </a:extLst>
          </p:cNvPr>
          <p:cNvSpPr>
            <a:spLocks xmlns:a="http://schemas.openxmlformats.org/drawingml/2006/main" noGrp="1"/>
          </p:cNvSpPr>
          <p:nvPr/>
        </p:nvSpPr>
        <p:spPr>
          <a:xfrm xmlns:a="http://schemas.openxmlformats.org/drawingml/2006/main">
            <a:off x="11106150" y="2095500"/>
            <a:ext cx="228600" cy="20002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Tree>
    <p:extLst>
      <p:ext uri="{BB962C8B-B14F-4D97-AF65-F5344CB8AC3E}">
        <p14:creationId xmlns:p14="http://schemas.microsoft.com/office/powerpoint/2010/main" val="3838224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E03D40-D351-4761-B20E-19A9EA485DB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C0173531-F71B-4256-A2DE-E2DF243CC08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C5CBAFE9-62D4-4CDD-BAEE-33A543D49638}"/>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1365B4D2-50DD-4C77-9D1A-72CFD898B3A7}"/>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3D5E8A78-0AC1-40AF-9AB2-DDBBD861E5B0}"/>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The vocabulary of this topic</a:t>
            </a:r>
          </a:p>
        </p:txBody>
      </p:sp>
      <p:sp>
        <p:nvSpPr>
          <p:cNvPr id="6" name="">
            <a:extLst xmlns:a="http://schemas.openxmlformats.org/drawingml/2006/main">
              <a:ext uri="{FF2B5EF4-FFF2-40B4-BE49-F238E27FC236}">
                <a16:creationId xmlns:a16="http://schemas.microsoft.com/office/drawing/2014/main" id="{82AAFC2D-346E-4F7E-9968-620DC1550B7E}"/>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E68563-D5FC-41B7-A8DD-C7F76E66C2DA}"/>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Combine requirements, data, models, retrieval, tools, evaluation, deployment, and documentation into one defensible system.</a:t>
            </a:r>
          </a:p>
        </p:txBody>
      </p:sp>
      <p:sp>
        <p:nvSpPr>
          <p:cNvPr id="8" name="">
            <a:extLst xmlns:a="http://schemas.openxmlformats.org/drawingml/2006/main">
              <a:ext uri="{FF2B5EF4-FFF2-40B4-BE49-F238E27FC236}">
                <a16:creationId xmlns:a16="http://schemas.microsoft.com/office/drawing/2014/main" id="{52E53603-9D3E-4481-B374-83026020D3A6}"/>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3ED3966-3C40-4AE4-A01A-7CCDE74DFC15}"/>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requirements and architecture: Requirements define testable needs and constraints; architecture assigns them to components and interfaces.</a:t>
            </a:r>
          </a:p>
        </p:txBody>
      </p:sp>
      <p:sp>
        <p:nvSpPr>
          <p:cNvPr id="10" name="">
            <a:extLst xmlns:a="http://schemas.openxmlformats.org/drawingml/2006/main">
              <a:ext uri="{FF2B5EF4-FFF2-40B4-BE49-F238E27FC236}">
                <a16:creationId xmlns:a16="http://schemas.microsoft.com/office/drawing/2014/main" id="{24FC7B16-16CF-43B6-B62E-A170C44E4A1A}"/>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CEA3D7-015D-4AB3-91D5-5A72C3B3CB24}"/>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evidence-first implementation: Evidence-first implementation defines observable acceptance checks before building a successful demo path.</a:t>
            </a:r>
          </a:p>
        </p:txBody>
      </p:sp>
      <p:sp>
        <p:nvSpPr>
          <p:cNvPr id="12" name="">
            <a:extLst xmlns:a="http://schemas.openxmlformats.org/drawingml/2006/main">
              <a:ext uri="{FF2B5EF4-FFF2-40B4-BE49-F238E27FC236}">
                <a16:creationId xmlns:a16="http://schemas.microsoft.com/office/drawing/2014/main" id="{7472D040-3D10-49C6-AB0D-06B6DDE3C670}"/>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BEBC6A-51FC-4662-824B-F0D9BE5C0F3D}"/>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evaluation and observability: Evaluation measures expected behavior; observability records live metrics, logs, and traces.</a:t>
            </a:r>
          </a:p>
        </p:txBody>
      </p:sp>
      <p:sp>
        <p:nvSpPr>
          <p:cNvPr id="14" name="">
            <a:extLst xmlns:a="http://schemas.openxmlformats.org/drawingml/2006/main">
              <a:ext uri="{FF2B5EF4-FFF2-40B4-BE49-F238E27FC236}">
                <a16:creationId xmlns:a16="http://schemas.microsoft.com/office/drawing/2014/main" id="{0E0A1474-0592-4D3A-A7EE-916AEBB10426}"/>
              </a:ext>
            </a:extLst>
          </p:cNvPr>
          <p:cNvSpPr>
            <a:spLocks xmlns:a="http://schemas.openxmlformats.org/drawingml/2006/main" noGrp="1"/>
          </p:cNvSpPr>
          <p:nvPr/>
        </p:nvSpPr>
        <p:spPr>
          <a:xfrm xmlns:a="http://schemas.openxmlformats.org/drawingml/2006/main">
            <a:off x="607695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051EF9-FB0D-46C9-91A3-752086D9D586}"/>
              </a:ext>
            </a:extLst>
          </p:cNvPr>
          <p:cNvSpPr>
            <a:spLocks xmlns:a="http://schemas.openxmlformats.org/drawingml/2006/main" noGrp="1"/>
          </p:cNvSpPr>
          <p:nvPr/>
        </p:nvSpPr>
        <p:spPr>
          <a:xfrm xmlns:a="http://schemas.openxmlformats.org/drawingml/2006/main">
            <a:off x="626745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security cost and deployment: Production release constrains permissions, secrets, resources, budgets, health, and rollback.</a:t>
            </a:r>
          </a:p>
        </p:txBody>
      </p:sp>
    </p:spTree>
    <p:extLst>
      <p:ext uri="{BB962C8B-B14F-4D97-AF65-F5344CB8AC3E}">
        <p14:creationId xmlns:p14="http://schemas.microsoft.com/office/powerpoint/2010/main" val="1874567584"/>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D542DF1-573A-4D77-9CE0-4BD342AD4C9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76C748EF-16E5-4C2E-A98B-1B1FC598838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Production AI Capstone</a:t>
            </a:r>
          </a:p>
        </p:txBody>
      </p:sp>
      <p:sp>
        <p:nvSpPr>
          <p:cNvPr id="3" name="">
            <a:extLst xmlns:a="http://schemas.openxmlformats.org/drawingml/2006/main">
              <a:ext uri="{FF2B5EF4-FFF2-40B4-BE49-F238E27FC236}">
                <a16:creationId xmlns:a16="http://schemas.microsoft.com/office/drawing/2014/main" id="{F79ABFF1-23D5-46EC-ADA8-8D6A134DC06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134D387C-7505-4394-AD23-3857C93294F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6E244C19-6BB1-4793-8280-5CB7F473057A}"/>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How the concept works</a:t>
            </a:r>
          </a:p>
        </p:txBody>
      </p:sp>
      <p:sp>
        <p:nvSpPr>
          <p:cNvPr id="6" name="">
            <a:extLst xmlns:a="http://schemas.openxmlformats.org/drawingml/2006/main">
              <a:ext uri="{FF2B5EF4-FFF2-40B4-BE49-F238E27FC236}">
                <a16:creationId xmlns:a16="http://schemas.microsoft.com/office/drawing/2014/main" id="{1502FFCE-97FC-40A5-B0B1-AE4F5A7CA117}"/>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5B154C13-D6B9-4D0E-B5BF-3D9AC07E8CCF}"/>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9649F8-5DB1-40D6-9DD3-70CF031F24BA}"/>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requirements and architecture</a:t>
            </a:r>
          </a:p>
        </p:txBody>
      </p:sp>
      <p:sp>
        <p:nvSpPr>
          <p:cNvPr id="9" name="">
            <a:extLst xmlns:a="http://schemas.openxmlformats.org/drawingml/2006/main">
              <a:ext uri="{FF2B5EF4-FFF2-40B4-BE49-F238E27FC236}">
                <a16:creationId xmlns:a16="http://schemas.microsoft.com/office/drawing/2014/main" id="{E222E041-8165-4053-998C-C821D9E0F3D8}"/>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86B66F1A-51A4-4561-8918-EC09A4ED891F}"/>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668208A7-330C-4295-9F4C-F6E583AAC136}"/>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594B9D-9711-4FE6-9D3C-30046C2D5D74}"/>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evidence-first implementation</a:t>
            </a:r>
          </a:p>
        </p:txBody>
      </p:sp>
      <p:sp>
        <p:nvSpPr>
          <p:cNvPr id="13" name="">
            <a:extLst xmlns:a="http://schemas.openxmlformats.org/drawingml/2006/main">
              <a:ext uri="{FF2B5EF4-FFF2-40B4-BE49-F238E27FC236}">
                <a16:creationId xmlns:a16="http://schemas.microsoft.com/office/drawing/2014/main" id="{B885D0B9-BB3E-47AB-AE5B-D76629643011}"/>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F1DDE1E7-4268-4370-B51D-87A35A1CE7B4}"/>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6F80CFEA-9783-4900-A1D9-113CE78B2695}"/>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AD8C6A-7241-49AB-A568-6A64A2936A8C}"/>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evaluation and observability</a:t>
            </a:r>
          </a:p>
        </p:txBody>
      </p:sp>
      <p:sp>
        <p:nvSpPr>
          <p:cNvPr id="17" name="">
            <a:extLst xmlns:a="http://schemas.openxmlformats.org/drawingml/2006/main">
              <a:ext uri="{FF2B5EF4-FFF2-40B4-BE49-F238E27FC236}">
                <a16:creationId xmlns:a16="http://schemas.microsoft.com/office/drawing/2014/main" id="{9D2F99A0-19EB-4FDA-8D69-894801A3A972}"/>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0741061E-69E5-4F21-B81C-26D08C6F98AF}"/>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3C149076-15A7-4534-8141-A8066DCBFD81}"/>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31A8B57-6A8D-4D42-BB18-135AE4718AD7}"/>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security cost and deployment</a:t>
            </a:r>
          </a:p>
        </p:txBody>
      </p:sp>
      <p:sp>
        <p:nvSpPr>
          <p:cNvPr id="21" name="">
            <a:extLst xmlns:a="http://schemas.openxmlformats.org/drawingml/2006/main">
              <a:ext uri="{FF2B5EF4-FFF2-40B4-BE49-F238E27FC236}">
                <a16:creationId xmlns:a16="http://schemas.microsoft.com/office/drawing/2014/main" id="{B7B58834-1839-4256-A694-F1A9609CDC55}"/>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User need → explicit contract → bounded components → evidence and evaluation → monitored deployment.</a:t>
            </a:r>
          </a:p>
        </p:txBody>
      </p:sp>
    </p:spTree>
    <p:extLst>
      <p:ext uri="{BB962C8B-B14F-4D97-AF65-F5344CB8AC3E}">
        <p14:creationId xmlns:p14="http://schemas.microsoft.com/office/powerpoint/2010/main" val="17495084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DCA00B-733F-43B9-93D8-13DB712B489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E8B14FD3-BFD0-406E-8000-01337177303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086D1502-6882-4031-B1F4-A3C46B29E7D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05</a:t>
            </a:r>
          </a:p>
        </p:txBody>
      </p:sp>
      <p:sp>
        <p:nvSpPr>
          <p:cNvPr id="4" name="">
            <a:extLst xmlns:a="http://schemas.openxmlformats.org/drawingml/2006/main">
              <a:ext uri="{FF2B5EF4-FFF2-40B4-BE49-F238E27FC236}">
                <a16:creationId xmlns:a16="http://schemas.microsoft.com/office/drawing/2014/main" id="{192486CF-9447-4B53-A3D5-B4B8CB730507}"/>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35897884-8DE0-45FF-BAC9-6BB5F6FABDAC}"/>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Read every part of the mechanism</a:t>
            </a:r>
          </a:p>
        </p:txBody>
      </p:sp>
      <p:sp>
        <p:nvSpPr>
          <p:cNvPr id="6" name="">
            <a:extLst xmlns:a="http://schemas.openxmlformats.org/drawingml/2006/main">
              <a:ext uri="{FF2B5EF4-FFF2-40B4-BE49-F238E27FC236}">
                <a16:creationId xmlns:a16="http://schemas.microsoft.com/office/drawing/2014/main" id="{30DEA5FB-004F-4466-A7FE-FD622DF37E94}"/>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32F13E-24D8-4DF6-89B4-2069F3F57F37}"/>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User need → explicit contract → bounded components → evidence and evaluation → monitored deployment.</a:t>
            </a:r>
          </a:p>
        </p:txBody>
      </p:sp>
      <p:sp>
        <p:nvSpPr>
          <p:cNvPr id="8" name="">
            <a:extLst xmlns:a="http://schemas.openxmlformats.org/drawingml/2006/main">
              <a:ext uri="{FF2B5EF4-FFF2-40B4-BE49-F238E27FC236}">
                <a16:creationId xmlns:a16="http://schemas.microsoft.com/office/drawing/2014/main" id="{9B6025B5-3311-4F7D-8D18-2C84D00C32B7}"/>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67966EC-BDEE-48F2-8E0F-21513C5247C6}"/>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requirement: A testable user need and constraint.</a:t>
            </a:r>
          </a:p>
        </p:txBody>
      </p:sp>
      <p:sp>
        <p:nvSpPr>
          <p:cNvPr id="10" name="">
            <a:extLst xmlns:a="http://schemas.openxmlformats.org/drawingml/2006/main">
              <a:ext uri="{FF2B5EF4-FFF2-40B4-BE49-F238E27FC236}">
                <a16:creationId xmlns:a16="http://schemas.microsoft.com/office/drawing/2014/main" id="{512FCC1D-AEA9-4542-8505-44DC93699603}"/>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716CA72-FEFA-4955-A6F6-9932338A04F9}"/>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architecture: Components and data flow.</a:t>
            </a:r>
          </a:p>
        </p:txBody>
      </p:sp>
      <p:sp>
        <p:nvSpPr>
          <p:cNvPr id="12" name="">
            <a:extLst xmlns:a="http://schemas.openxmlformats.org/drawingml/2006/main">
              <a:ext uri="{FF2B5EF4-FFF2-40B4-BE49-F238E27FC236}">
                <a16:creationId xmlns:a16="http://schemas.microsoft.com/office/drawing/2014/main" id="{A0C70397-CAA3-40B8-9BF7-6F6655D100DA}"/>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F1B843-BF53-4B89-AAC1-7184AF794C6B}"/>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evidence: Observable proof of behavior.</a:t>
            </a:r>
          </a:p>
        </p:txBody>
      </p:sp>
    </p:spTree>
    <p:extLst>
      <p:ext uri="{BB962C8B-B14F-4D97-AF65-F5344CB8AC3E}">
        <p14:creationId xmlns:p14="http://schemas.microsoft.com/office/powerpoint/2010/main" val="9314576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598B164-2536-429B-BE86-F1AF97F4200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C9FD6622-FCC9-4BF2-AF2D-C1F229E8D08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A5F92290-3EB6-498B-8390-C339EC85EF3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E8B7C052-3339-4BAF-B23B-94305FDF946C}"/>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WORKED EXAMPLE</a:t>
            </a:r>
          </a:p>
        </p:txBody>
      </p:sp>
      <p:sp>
        <p:nvSpPr>
          <p:cNvPr id="5" name="">
            <a:extLst xmlns:a="http://schemas.openxmlformats.org/drawingml/2006/main">
              <a:ext uri="{FF2B5EF4-FFF2-40B4-BE49-F238E27FC236}">
                <a16:creationId xmlns:a16="http://schemas.microsoft.com/office/drawing/2014/main" id="{A377AAEF-6822-4D1E-8201-37A6D5B7C59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Worked example by hand</a:t>
            </a:r>
          </a:p>
        </p:txBody>
      </p:sp>
      <p:sp>
        <p:nvSpPr>
          <p:cNvPr id="6" name="">
            <a:extLst xmlns:a="http://schemas.openxmlformats.org/drawingml/2006/main">
              <a:ext uri="{FF2B5EF4-FFF2-40B4-BE49-F238E27FC236}">
                <a16:creationId xmlns:a16="http://schemas.microsoft.com/office/drawing/2014/main" id="{EBCA02B8-7F68-4A0F-BCAB-11ADF18923C7}"/>
              </a:ext>
            </a:extLst>
          </p:cNvPr>
          <p:cNvSpPr>
            <a:spLocks xmlns:a="http://schemas.openxmlformats.org/drawingml/2006/main" noGrp="1"/>
          </p:cNvSpPr>
          <p:nvPr/>
        </p:nvSpPr>
        <p:spPr>
          <a:xfrm xmlns:a="http://schemas.openxmlformats.org/drawingml/2006/main">
            <a:off x="628650" y="1714500"/>
            <a:ext cx="1038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0B1220"/>
                </a:solidFill>
              </a:defRPr>
            </a:pPr>
            <a:r>
              <a:rPr sz="2325" b="1">
                <a:solidFill>
                  <a:srgbClr val="0B1220"/>
                </a:solidFill>
              </a:rPr>
              <a:t>Turn “answer questions about reports” into ingestion, retrieval, citation, refusal, latency, and access-control requirements.</a:t>
            </a:r>
          </a:p>
        </p:txBody>
      </p:sp>
      <p:sp>
        <p:nvSpPr>
          <p:cNvPr id="7" name="">
            <a:extLst xmlns:a="http://schemas.openxmlformats.org/drawingml/2006/main">
              <a:ext uri="{FF2B5EF4-FFF2-40B4-BE49-F238E27FC236}">
                <a16:creationId xmlns:a16="http://schemas.microsoft.com/office/drawing/2014/main" id="{8EBE89F4-2EDB-4293-9313-17CD9BE80F7C}"/>
              </a:ext>
            </a:extLst>
          </p:cNvPr>
          <p:cNvSpPr>
            <a:spLocks xmlns:a="http://schemas.openxmlformats.org/drawingml/2006/main" noGrp="1"/>
          </p:cNvSpPr>
          <p:nvPr/>
        </p:nvSpPr>
        <p:spPr>
          <a:xfrm xmlns:a="http://schemas.openxmlformats.org/drawingml/2006/main">
            <a:off x="6286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01</a:t>
            </a:r>
          </a:p>
        </p:txBody>
      </p:sp>
      <p:sp>
        <p:nvSpPr>
          <p:cNvPr id="8" name="">
            <a:extLst xmlns:a="http://schemas.openxmlformats.org/drawingml/2006/main">
              <a:ext uri="{FF2B5EF4-FFF2-40B4-BE49-F238E27FC236}">
                <a16:creationId xmlns:a16="http://schemas.microsoft.com/office/drawing/2014/main" id="{9C594A55-CD93-438A-B982-146A75D56DEB}"/>
              </a:ext>
            </a:extLst>
          </p:cNvPr>
          <p:cNvSpPr>
            <a:spLocks xmlns:a="http://schemas.openxmlformats.org/drawingml/2006/main" noGrp="1"/>
          </p:cNvSpPr>
          <p:nvPr/>
        </p:nvSpPr>
        <p:spPr>
          <a:xfrm xmlns:a="http://schemas.openxmlformats.org/drawingml/2006/main">
            <a:off x="6286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77B7C4-B7E4-439B-82DD-BAE1A65F5683}"/>
              </a:ext>
            </a:extLst>
          </p:cNvPr>
          <p:cNvSpPr>
            <a:spLocks xmlns:a="http://schemas.openxmlformats.org/drawingml/2006/main" noGrp="1"/>
          </p:cNvSpPr>
          <p:nvPr/>
        </p:nvSpPr>
        <p:spPr>
          <a:xfrm xmlns:a="http://schemas.openxmlformats.org/drawingml/2006/main">
            <a:off x="6286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Known values</a:t>
            </a:r>
          </a:p>
        </p:txBody>
      </p:sp>
      <p:sp>
        <p:nvSpPr>
          <p:cNvPr id="10" name="">
            <a:extLst xmlns:a="http://schemas.openxmlformats.org/drawingml/2006/main">
              <a:ext uri="{FF2B5EF4-FFF2-40B4-BE49-F238E27FC236}">
                <a16:creationId xmlns:a16="http://schemas.microsoft.com/office/drawing/2014/main" id="{834AF15F-A130-4D30-AB87-DE378246DDFD}"/>
              </a:ext>
            </a:extLst>
          </p:cNvPr>
          <p:cNvSpPr>
            <a:spLocks xmlns:a="http://schemas.openxmlformats.org/drawingml/2006/main" noGrp="1"/>
          </p:cNvSpPr>
          <p:nvPr/>
        </p:nvSpPr>
        <p:spPr>
          <a:xfrm xmlns:a="http://schemas.openxmlformats.org/drawingml/2006/main">
            <a:off x="42862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02</a:t>
            </a:r>
          </a:p>
        </p:txBody>
      </p:sp>
      <p:sp>
        <p:nvSpPr>
          <p:cNvPr id="11" name="">
            <a:extLst xmlns:a="http://schemas.openxmlformats.org/drawingml/2006/main">
              <a:ext uri="{FF2B5EF4-FFF2-40B4-BE49-F238E27FC236}">
                <a16:creationId xmlns:a16="http://schemas.microsoft.com/office/drawing/2014/main" id="{FD9E0147-2E9B-46B0-A8D7-A9781FFF62E3}"/>
              </a:ext>
            </a:extLst>
          </p:cNvPr>
          <p:cNvSpPr>
            <a:spLocks xmlns:a="http://schemas.openxmlformats.org/drawingml/2006/main" noGrp="1"/>
          </p:cNvSpPr>
          <p:nvPr/>
        </p:nvSpPr>
        <p:spPr>
          <a:xfrm xmlns:a="http://schemas.openxmlformats.org/drawingml/2006/main">
            <a:off x="42862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7E15745-68AC-473C-B8DF-3C0E3E8BE717}"/>
              </a:ext>
            </a:extLst>
          </p:cNvPr>
          <p:cNvSpPr>
            <a:spLocks xmlns:a="http://schemas.openxmlformats.org/drawingml/2006/main" noGrp="1"/>
          </p:cNvSpPr>
          <p:nvPr/>
        </p:nvSpPr>
        <p:spPr>
          <a:xfrm xmlns:a="http://schemas.openxmlformats.org/drawingml/2006/main">
            <a:off x="42862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Apply the mechanism</a:t>
            </a:r>
          </a:p>
        </p:txBody>
      </p:sp>
      <p:sp>
        <p:nvSpPr>
          <p:cNvPr id="13" name="">
            <a:extLst xmlns:a="http://schemas.openxmlformats.org/drawingml/2006/main">
              <a:ext uri="{FF2B5EF4-FFF2-40B4-BE49-F238E27FC236}">
                <a16:creationId xmlns:a16="http://schemas.microsoft.com/office/drawing/2014/main" id="{58A43E2B-12A6-4122-A144-1A3AF3208BC7}"/>
              </a:ext>
            </a:extLst>
          </p:cNvPr>
          <p:cNvSpPr>
            <a:spLocks xmlns:a="http://schemas.openxmlformats.org/drawingml/2006/main" noGrp="1"/>
          </p:cNvSpPr>
          <p:nvPr/>
        </p:nvSpPr>
        <p:spPr>
          <a:xfrm xmlns:a="http://schemas.openxmlformats.org/drawingml/2006/main">
            <a:off x="79438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06B5F"/>
                </a:solidFill>
              </a:defRPr>
            </a:pPr>
            <a:r>
              <a:rPr sz="1200" b="1">
                <a:solidFill>
                  <a:srgbClr val="F06B5F"/>
                </a:solidFill>
              </a:rPr>
              <a:t>03</a:t>
            </a:r>
          </a:p>
        </p:txBody>
      </p:sp>
      <p:sp>
        <p:nvSpPr>
          <p:cNvPr id="14" name="">
            <a:extLst xmlns:a="http://schemas.openxmlformats.org/drawingml/2006/main">
              <a:ext uri="{FF2B5EF4-FFF2-40B4-BE49-F238E27FC236}">
                <a16:creationId xmlns:a16="http://schemas.microsoft.com/office/drawing/2014/main" id="{2FBD202D-8F82-4C1F-B277-2C381E944AC4}"/>
              </a:ext>
            </a:extLst>
          </p:cNvPr>
          <p:cNvSpPr>
            <a:spLocks xmlns:a="http://schemas.openxmlformats.org/drawingml/2006/main" noGrp="1"/>
          </p:cNvSpPr>
          <p:nvPr/>
        </p:nvSpPr>
        <p:spPr>
          <a:xfrm xmlns:a="http://schemas.openxmlformats.org/drawingml/2006/main">
            <a:off x="7943850" y="4324350"/>
            <a:ext cx="30099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5D70714-8019-418A-AF8D-60C9082CB578}"/>
              </a:ext>
            </a:extLst>
          </p:cNvPr>
          <p:cNvSpPr>
            <a:spLocks xmlns:a="http://schemas.openxmlformats.org/drawingml/2006/main" noGrp="1"/>
          </p:cNvSpPr>
          <p:nvPr/>
        </p:nvSpPr>
        <p:spPr>
          <a:xfrm xmlns:a="http://schemas.openxmlformats.org/drawingml/2006/main">
            <a:off x="79438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Interpret the result</a:t>
            </a:r>
          </a:p>
        </p:txBody>
      </p:sp>
    </p:spTree>
    <p:extLst>
      <p:ext uri="{BB962C8B-B14F-4D97-AF65-F5344CB8AC3E}">
        <p14:creationId xmlns:p14="http://schemas.microsoft.com/office/powerpoint/2010/main" val="705859754"/>
      </p:ext>
    </p:extLst>
  </p:cSld>
</p:sld>
</file>

<file path=ppt/slides/slide7.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30172E3-1C71-46D6-ACD0-4FFCB10B961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5DFD8D91-0E1F-4494-8C44-A5933CA959D6}"/>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7649B36E-4707-45E1-8101-4B7CE9FA79D0}"/>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07</a:t>
            </a:r>
          </a:p>
        </p:txBody>
      </p:sp>
      <p:sp>
        <p:nvSpPr>
          <p:cNvPr id="4" name="">
            <a:extLst xmlns:a="http://schemas.openxmlformats.org/drawingml/2006/main">
              <a:ext uri="{FF2B5EF4-FFF2-40B4-BE49-F238E27FC236}">
                <a16:creationId xmlns:a16="http://schemas.microsoft.com/office/drawing/2014/main" id="{451E6154-454E-430E-B53A-9DD07D8ADB8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F42175DE-57A5-4718-9D25-B2EF72FE878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Map the concept to Python</a:t>
            </a:r>
          </a:p>
        </p:txBody>
      </p:sp>
      <p:sp>
        <p:nvSpPr>
          <p:cNvPr id="6" name="">
            <a:extLst xmlns:a="http://schemas.openxmlformats.org/drawingml/2006/main">
              <a:ext uri="{FF2B5EF4-FFF2-40B4-BE49-F238E27FC236}">
                <a16:creationId xmlns:a16="http://schemas.microsoft.com/office/drawing/2014/main" id="{1B486B9D-DD41-42C2-BBF0-28A3E392A4D2}"/>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DE81F6-E776-4D4D-89BF-68CBC6640765}"/>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969436-315B-43BC-BF74-E35DBB7502B1}"/>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A09BC46-28D8-42A3-BC51-A419F460957F}"/>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D21B39-1FAB-4FE2-92E3-52E7C8FAE119}"/>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14DC29-694C-4036-A430-96A8B55E87EF}"/>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acceptance = {</a:t>
            </a:r>
          </a:p>
          <a:p xmlns:a="http://schemas.openxmlformats.org/drawingml/2006/main">
            <a:pPr>
              <a:defRPr sz="1125">
                <a:solidFill>
                  <a:srgbClr val="E8F1F7"/>
                </a:solidFill>
              </a:defRPr>
            </a:pPr>
            <a:r>
              <a:rPr sz="1125">
                <a:solidFill>
                  <a:srgbClr val="E8F1F7"/>
                </a:solidFill>
              </a:rPr>
              <a:t>    "citation_support": 0.95,</a:t>
            </a:r>
          </a:p>
          <a:p xmlns:a="http://schemas.openxmlformats.org/drawingml/2006/main">
            <a:pPr>
              <a:defRPr sz="1125">
                <a:solidFill>
                  <a:srgbClr val="E8F1F7"/>
                </a:solidFill>
              </a:defRPr>
            </a:pPr>
            <a:r>
              <a:rPr sz="1125">
                <a:solidFill>
                  <a:srgbClr val="E8F1F7"/>
                </a:solidFill>
              </a:rPr>
              <a:t>    "retrieval_recall_at_5": 0.85,</a:t>
            </a:r>
          </a:p>
          <a:p xmlns:a="http://schemas.openxmlformats.org/drawingml/2006/main">
            <a:pPr>
              <a:defRPr sz="1125">
                <a:solidFill>
                  <a:srgbClr val="E8F1F7"/>
                </a:solidFill>
              </a:defRPr>
            </a:pPr>
            <a:r>
              <a:rPr sz="1125">
                <a:solidFill>
                  <a:srgbClr val="E8F1F7"/>
                </a:solidFill>
              </a:rPr>
              <a:t>    "p95_latency_seconds": 5,</a:t>
            </a:r>
          </a:p>
          <a:p xmlns:a="http://schemas.openxmlformats.org/drawingml/2006/main">
            <a:pPr>
              <a:defRPr sz="1125">
                <a:solidFill>
                  <a:srgbClr val="E8F1F7"/>
                </a:solidFill>
              </a:defRPr>
            </a:pPr>
            <a:r>
              <a:rPr sz="1125">
                <a:solidFill>
                  <a:srgbClr val="E8F1F7"/>
                </a:solidFill>
              </a:rPr>
              <a:t>    "monthly_budget_usd": 10,</a:t>
            </a:r>
          </a:p>
          <a:p xmlns:a="http://schemas.openxmlformats.org/drawingml/2006/main">
            <a:pPr>
              <a:defRPr sz="1125">
                <a:solidFill>
                  <a:srgbClr val="E8F1F7"/>
                </a:solidFill>
              </a:defRPr>
            </a:pPr>
            <a:r>
              <a:rPr sz="1125">
                <a:solidFill>
                  <a:srgbClr val="E8F1F7"/>
                </a:solidFill>
              </a:rPr>
              <a:t>}</a:t>
            </a:r>
          </a:p>
          <a:p xmlns:a="http://schemas.openxmlformats.org/drawingml/2006/main">
            <a:pPr>
              <a:defRPr sz="1125">
                <a:solidFill>
                  <a:srgbClr val="E8F1F7"/>
                </a:solidFill>
              </a:defRPr>
            </a:pPr>
            <a:r>
              <a:rPr sz="1125">
                <a:solidFill>
                  <a:srgbClr val="E8F1F7"/>
                </a:solidFill>
              </a:rPr>
              <a:t>print(acceptance)</a:t>
            </a:r>
          </a:p>
        </p:txBody>
      </p:sp>
      <p:sp>
        <p:nvSpPr>
          <p:cNvPr id="12" name="">
            <a:extLst xmlns:a="http://schemas.openxmlformats.org/drawingml/2006/main">
              <a:ext uri="{FF2B5EF4-FFF2-40B4-BE49-F238E27FC236}">
                <a16:creationId xmlns:a16="http://schemas.microsoft.com/office/drawing/2014/main" id="{18150B6E-E2ED-4C67-ABC4-EB1B3BFF940E}"/>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64264012-B681-4A25-892E-BFD2E5F5ADAB}"/>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187AAA09-B1FC-433F-A20F-BFAAE362EA66}"/>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{'citation_support': 0.95, 'retrieval_recall_at_5': 0.85, 'p95_latency_seconds': 5, 'monthly_budget_usd': 10}</a:t>
            </a:r>
          </a:p>
        </p:txBody>
      </p:sp>
      <p:sp>
        <p:nvSpPr>
          <p:cNvPr id="15" name="">
            <a:extLst xmlns:a="http://schemas.openxmlformats.org/drawingml/2006/main">
              <a:ext uri="{FF2B5EF4-FFF2-40B4-BE49-F238E27FC236}">
                <a16:creationId xmlns:a16="http://schemas.microsoft.com/office/drawing/2014/main" id="{6E3FCAC5-75FD-48AB-9B43-634B3C7BEEEB}"/>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6E9C105-8C57-4312-BD8D-F040A3885A59}"/>
              </a:ext>
            </a:extLst>
          </p:cNvPr>
          <p:cNvSpPr>
            <a:spLocks xmlns:a="http://schemas.openxmlformats.org/drawingml/2006/main" noGrp="1"/>
          </p:cNvSpPr>
          <p:nvPr/>
        </p:nvSpPr>
        <p:spPr>
          <a:xfrm xmlns:a="http://schemas.openxmlformats.org/drawingml/2006/main">
            <a:off x="723900" y="58864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Each line corresponds to a concept already explained.</a:t>
            </a:r>
          </a:p>
        </p:txBody>
      </p:sp>
    </p:spTree>
    <p:extLst>
      <p:ext uri="{BB962C8B-B14F-4D97-AF65-F5344CB8AC3E}">
        <p14:creationId xmlns:p14="http://schemas.microsoft.com/office/powerpoint/2010/main" val="19216844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051317C-4FDE-40CD-9A7D-F154E063E4E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9F78CE76-FC40-4636-8301-53D6C54EFDE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D15EA7A0-E1CB-4148-87F2-DC8E1ED50F16}"/>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08</a:t>
            </a:r>
          </a:p>
        </p:txBody>
      </p:sp>
      <p:sp>
        <p:nvSpPr>
          <p:cNvPr id="4" name="">
            <a:extLst xmlns:a="http://schemas.openxmlformats.org/drawingml/2006/main">
              <a:ext uri="{FF2B5EF4-FFF2-40B4-BE49-F238E27FC236}">
                <a16:creationId xmlns:a16="http://schemas.microsoft.com/office/drawing/2014/main" id="{D8682355-A660-40CE-8DBA-0D860F14CBFA}"/>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B9F2FC82-1EE4-4EC9-B5F0-8EAEDC7F9493}"/>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Build the complete mental model</a:t>
            </a:r>
          </a:p>
        </p:txBody>
      </p:sp>
      <p:sp>
        <p:nvSpPr>
          <p:cNvPr id="6" name="">
            <a:extLst xmlns:a="http://schemas.openxmlformats.org/drawingml/2006/main">
              <a:ext uri="{FF2B5EF4-FFF2-40B4-BE49-F238E27FC236}">
                <a16:creationId xmlns:a16="http://schemas.microsoft.com/office/drawing/2014/main" id="{AEFC974A-E8A5-4349-83A8-B1A7B55E88D1}"/>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8BA45AA8-2F3B-44DE-8A7F-0A5603C84FC6}"/>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A257F408-A41E-4DC0-820C-109D90E25BA2}"/>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Translate the user need into measurable quality, safety, latency, and cost acceptance criteria.</a:t>
            </a:r>
          </a:p>
        </p:txBody>
      </p:sp>
      <p:sp>
        <p:nvSpPr>
          <p:cNvPr id="9" name="">
            <a:extLst xmlns:a="http://schemas.openxmlformats.org/drawingml/2006/main">
              <a:ext uri="{FF2B5EF4-FFF2-40B4-BE49-F238E27FC236}">
                <a16:creationId xmlns:a16="http://schemas.microsoft.com/office/drawing/2014/main" id="{D89426D9-92D4-42CD-83FD-0EA89E272AEC}"/>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B384EC-F2B3-411E-BC34-F9C18E5801A8}"/>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874DEA8E-A01B-4061-9009-6D2FFFADDE61}"/>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358287D8-72B9-4D52-93C5-147B7A8F161A}"/>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Draw data flow and trust boundaries before selecting frameworks or implementation details.</a:t>
            </a:r>
          </a:p>
        </p:txBody>
      </p:sp>
      <p:sp>
        <p:nvSpPr>
          <p:cNvPr id="13" name="">
            <a:extLst xmlns:a="http://schemas.openxmlformats.org/drawingml/2006/main">
              <a:ext uri="{FF2B5EF4-FFF2-40B4-BE49-F238E27FC236}">
                <a16:creationId xmlns:a16="http://schemas.microsoft.com/office/drawing/2014/main" id="{3E0C5AC9-7316-4D37-A92D-7F463C2AB7F8}"/>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318E5A-132B-4D19-99D2-5E0A9AA84651}"/>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750D73C6-3BF0-4E48-A1FB-AAA8CBD79E59}"/>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BABE5BA4-36BB-4E5A-B157-03B212A74D19}"/>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Demonstrate unsupported, malformed, denied, timeout, and insufficient-evidence cases.</a:t>
            </a:r>
          </a:p>
        </p:txBody>
      </p:sp>
      <p:sp>
        <p:nvSpPr>
          <p:cNvPr id="17" name="">
            <a:extLst xmlns:a="http://schemas.openxmlformats.org/drawingml/2006/main">
              <a:ext uri="{FF2B5EF4-FFF2-40B4-BE49-F238E27FC236}">
                <a16:creationId xmlns:a16="http://schemas.microsoft.com/office/drawing/2014/main" id="{E5E8A819-EC42-4C0C-8F8A-E9BF982EEBC7}"/>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389139-9A5E-413A-9291-F1BFF70E9F40}"/>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1B0FB5B9-3C75-43B7-9FA1-426E7C001079}"/>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78282D1C-C2CE-4AF5-ADE0-BECA05E948DD}"/>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Release with versioned artifacts, monitoring, budget alerts, runbook, limitations, and rollback.</a:t>
            </a:r>
          </a:p>
        </p:txBody>
      </p:sp>
      <p:sp>
        <p:nvSpPr>
          <p:cNvPr id="21" name="">
            <a:extLst xmlns:a="http://schemas.openxmlformats.org/drawingml/2006/main">
              <a:ext uri="{FF2B5EF4-FFF2-40B4-BE49-F238E27FC236}">
                <a16:creationId xmlns:a16="http://schemas.microsoft.com/office/drawing/2014/main" id="{C378DB73-6DE3-4AF1-AA95-3F60F1DB5BF7}"/>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723165386"/>
      </p:ext>
    </p:extLst>
  </p:cSld>
</p:sld>
</file>

<file path=ppt/slides/slide9.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ACCB01A-9EFC-4590-8911-4063D3685BC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1BEBD6E2-121D-4F1A-B602-00C7760F7748}"/>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Production AI Capstone</a:t>
            </a:r>
          </a:p>
        </p:txBody>
      </p:sp>
      <p:sp>
        <p:nvSpPr>
          <p:cNvPr id="3" name="">
            <a:extLst xmlns:a="http://schemas.openxmlformats.org/drawingml/2006/main">
              <a:ext uri="{FF2B5EF4-FFF2-40B4-BE49-F238E27FC236}">
                <a16:creationId xmlns:a16="http://schemas.microsoft.com/office/drawing/2014/main" id="{68129985-5627-47C0-B3A3-AE1B55DBF15E}"/>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09</a:t>
            </a:r>
          </a:p>
        </p:txBody>
      </p:sp>
      <p:sp>
        <p:nvSpPr>
          <p:cNvPr id="4" name="">
            <a:extLst xmlns:a="http://schemas.openxmlformats.org/drawingml/2006/main">
              <a:ext uri="{FF2B5EF4-FFF2-40B4-BE49-F238E27FC236}">
                <a16:creationId xmlns:a16="http://schemas.microsoft.com/office/drawing/2014/main" id="{AA5CB7E0-9C50-47FF-B0D6-AD1584D969A2}"/>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DA33211E-30ED-4531-B2B4-10FACB7B6BDC}"/>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Notebook readiness map</a:t>
            </a:r>
          </a:p>
        </p:txBody>
      </p:sp>
      <p:sp>
        <p:nvSpPr>
          <p:cNvPr id="6" name="">
            <a:extLst xmlns:a="http://schemas.openxmlformats.org/drawingml/2006/main">
              <a:ext uri="{FF2B5EF4-FFF2-40B4-BE49-F238E27FC236}">
                <a16:creationId xmlns:a16="http://schemas.microsoft.com/office/drawing/2014/main" id="{AD8ED07C-ED34-4075-926A-D4526E26DBA1}"/>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272FD07A-611A-4DAE-8214-0DE3372B1391}"/>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7B03D2-D81B-4E31-9060-192DF2606D6D}"/>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requirements and architecture</a:t>
            </a:r>
          </a:p>
        </p:txBody>
      </p:sp>
      <p:sp>
        <p:nvSpPr>
          <p:cNvPr id="9" name="">
            <a:extLst xmlns:a="http://schemas.openxmlformats.org/drawingml/2006/main">
              <a:ext uri="{FF2B5EF4-FFF2-40B4-BE49-F238E27FC236}">
                <a16:creationId xmlns:a16="http://schemas.microsoft.com/office/drawing/2014/main" id="{1E89634D-5439-4647-9D8D-6CF8D294492E}"/>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FC2E83CF-03EE-44C5-97D2-AF6C4ACDD5AF}"/>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B01F0649-B526-4008-BAED-B1E0E90C3EEC}"/>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ED73F24-7686-4C9E-BF33-4247DD659103}"/>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evidence-first implementation</a:t>
            </a:r>
          </a:p>
        </p:txBody>
      </p:sp>
      <p:sp>
        <p:nvSpPr>
          <p:cNvPr id="13" name="">
            <a:extLst xmlns:a="http://schemas.openxmlformats.org/drawingml/2006/main">
              <a:ext uri="{FF2B5EF4-FFF2-40B4-BE49-F238E27FC236}">
                <a16:creationId xmlns:a16="http://schemas.microsoft.com/office/drawing/2014/main" id="{65742428-0460-48C1-A223-A8481AEC1ED5}"/>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E4156541-DDF1-4C71-9D99-AFCB15E171C7}"/>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55215176-2306-468A-BBF9-C8CE58FC0DAB}"/>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8A091F-E8AD-4270-B8B5-3DEA7D4C25AB}"/>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evaluation and observability</a:t>
            </a:r>
          </a:p>
        </p:txBody>
      </p:sp>
      <p:sp>
        <p:nvSpPr>
          <p:cNvPr id="17" name="">
            <a:extLst xmlns:a="http://schemas.openxmlformats.org/drawingml/2006/main">
              <a:ext uri="{FF2B5EF4-FFF2-40B4-BE49-F238E27FC236}">
                <a16:creationId xmlns:a16="http://schemas.microsoft.com/office/drawing/2014/main" id="{7513BF37-3597-410A-B63D-728BD4045905}"/>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4975FF2F-0CF3-4BFA-B311-1CF3A8AF4470}"/>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BF7F8CC4-A6D7-431E-941A-80A5D3081601}"/>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C95983D-9148-4599-AA5F-828CAF4B962C}"/>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security cost and deployment</a:t>
            </a:r>
          </a:p>
        </p:txBody>
      </p:sp>
      <p:sp>
        <p:nvSpPr>
          <p:cNvPr id="21" name="">
            <a:extLst xmlns:a="http://schemas.openxmlformats.org/drawingml/2006/main">
              <a:ext uri="{FF2B5EF4-FFF2-40B4-BE49-F238E27FC236}">
                <a16:creationId xmlns:a16="http://schemas.microsoft.com/office/drawing/2014/main" id="{D2880B5A-1CB9-4BA4-AFD3-8B2C154FDEE5}"/>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Use the concepts from this lesson to read and complete https://github.com/curiousily/AI-Bootcamp/blob/master/19.langgraph-crypto-agents.ipynb.</a:t>
            </a:r>
          </a:p>
        </p:txBody>
      </p:sp>
    </p:spTree>
    <p:extLst>
      <p:ext uri="{BB962C8B-B14F-4D97-AF65-F5344CB8AC3E}">
        <p14:creationId xmlns:p14="http://schemas.microsoft.com/office/powerpoint/2010/main" val="1168450846"/>
      </p:ext>
    </p:extLst>
  </p:cSld>
</p:sld>
</file>

<file path=ppt/slides/slide10.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080A61-89E8-4500-B16F-ABF121C6950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38B59F0F-2AD5-4844-ABEB-924D16B096E5}"/>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Production AI Capstone</a:t>
            </a:r>
          </a:p>
        </p:txBody>
      </p:sp>
      <p:sp>
        <p:nvSpPr>
          <p:cNvPr id="3" name="">
            <a:extLst xmlns:a="http://schemas.openxmlformats.org/drawingml/2006/main">
              <a:ext uri="{FF2B5EF4-FFF2-40B4-BE49-F238E27FC236}">
                <a16:creationId xmlns:a16="http://schemas.microsoft.com/office/drawing/2014/main" id="{DF211C63-5C71-4837-BA3A-2812352CC7A2}"/>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407E66C1-E090-4028-8B28-7D5FA16CCE6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572CF764-8022-4FDB-84A3-0CE8B5D6AA5D}"/>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Common beginner mistakes</a:t>
            </a:r>
          </a:p>
        </p:txBody>
      </p:sp>
      <p:sp>
        <p:nvSpPr>
          <p:cNvPr id="6" name="">
            <a:extLst xmlns:a="http://schemas.openxmlformats.org/drawingml/2006/main">
              <a:ext uri="{FF2B5EF4-FFF2-40B4-BE49-F238E27FC236}">
                <a16:creationId xmlns:a16="http://schemas.microsoft.com/office/drawing/2014/main" id="{BF419A27-7A4D-49E6-B190-17F77596A31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F96FB6-C389-40F0-A54E-F932448AD66C}"/>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6E02DD65-11B3-4373-8AD1-59281709A74C}"/>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Starting implementation before defining acceptance criteria.</a:t>
            </a:r>
          </a:p>
        </p:txBody>
      </p:sp>
      <p:sp>
        <p:nvSpPr>
          <p:cNvPr id="9" name="">
            <a:extLst xmlns:a="http://schemas.openxmlformats.org/drawingml/2006/main">
              <a:ext uri="{FF2B5EF4-FFF2-40B4-BE49-F238E27FC236}">
                <a16:creationId xmlns:a16="http://schemas.microsoft.com/office/drawing/2014/main" id="{FD97DC94-0953-4743-A5F3-0EF4858B3755}"/>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B300BA4-F897-4B68-B543-BEADEAEDEC2A}"/>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B86C82B2-BB2B-4E5B-A9EB-4B3B15F101EC}"/>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Demonstrating one successful path while hiding failure, security, or cost behavior.</a:t>
            </a:r>
          </a:p>
        </p:txBody>
      </p:sp>
      <p:sp>
        <p:nvSpPr>
          <p:cNvPr id="12" name="">
            <a:extLst xmlns:a="http://schemas.openxmlformats.org/drawingml/2006/main">
              <a:ext uri="{FF2B5EF4-FFF2-40B4-BE49-F238E27FC236}">
                <a16:creationId xmlns:a16="http://schemas.microsoft.com/office/drawing/2014/main" id="{63EA9F9D-2715-4F5A-A8DB-4347704886F6}"/>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1967102499"/>
      </p:ext>
    </p:extLst>
  </p:cSld>
</p:sld>
</file>

<file path=ppt/slides/slide1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FE4A2AB-8689-4CE0-AE25-6EB319FB790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94C7CF64-5BFB-44F1-B730-9ECCAB30F02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Production AI Capstone</a:t>
            </a:r>
          </a:p>
        </p:txBody>
      </p:sp>
      <p:sp>
        <p:nvSpPr>
          <p:cNvPr id="3" name="">
            <a:extLst xmlns:a="http://schemas.openxmlformats.org/drawingml/2006/main">
              <a:ext uri="{FF2B5EF4-FFF2-40B4-BE49-F238E27FC236}">
                <a16:creationId xmlns:a16="http://schemas.microsoft.com/office/drawing/2014/main" id="{AF692C6D-5B7D-47C6-9334-CAE660C977E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11</a:t>
            </a:r>
          </a:p>
        </p:txBody>
      </p:sp>
      <p:sp>
        <p:nvSpPr>
          <p:cNvPr id="4" name="">
            <a:extLst xmlns:a="http://schemas.openxmlformats.org/drawingml/2006/main">
              <a:ext uri="{FF2B5EF4-FFF2-40B4-BE49-F238E27FC236}">
                <a16:creationId xmlns:a16="http://schemas.microsoft.com/office/drawing/2014/main" id="{B9AACAA3-648C-41F1-86DF-6F0198C4294F}"/>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0BA7F3C6-0A6C-47B8-A3FC-8CE203C60390}"/>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Build and demonstrate a small deployed AI system with documented requirements, tests, traces, and limitations.</a:t>
            </a:r>
          </a:p>
        </p:txBody>
      </p:sp>
      <p:sp>
        <p:nvSpPr>
          <p:cNvPr id="6" name="">
            <a:extLst xmlns:a="http://schemas.openxmlformats.org/drawingml/2006/main">
              <a:ext uri="{FF2B5EF4-FFF2-40B4-BE49-F238E27FC236}">
                <a16:creationId xmlns:a16="http://schemas.microsoft.com/office/drawing/2014/main" id="{063A17C3-7F3D-4B07-88C8-6B526E496BFF}"/>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BBAA2F5A-1245-4242-8CA1-5FE70C59616F}"/>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EB88BE-6BC8-4510-ACB3-78AEB7C09D32}"/>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Predict</a:t>
            </a:r>
          </a:p>
        </p:txBody>
      </p:sp>
      <p:sp>
        <p:nvSpPr>
          <p:cNvPr id="9" name="">
            <a:extLst xmlns:a="http://schemas.openxmlformats.org/drawingml/2006/main">
              <a:ext uri="{FF2B5EF4-FFF2-40B4-BE49-F238E27FC236}">
                <a16:creationId xmlns:a16="http://schemas.microsoft.com/office/drawing/2014/main" id="{6E749CD5-9DAA-45F0-997C-1EB9D835AE50}"/>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3FF9EFFE-B946-4B17-A223-2658179A6CAE}"/>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560DCD-1FAD-468C-9992-140AC3E9AD94}"/>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Run</a:t>
            </a:r>
          </a:p>
        </p:txBody>
      </p:sp>
      <p:sp>
        <p:nvSpPr>
          <p:cNvPr id="12" name="">
            <a:extLst xmlns:a="http://schemas.openxmlformats.org/drawingml/2006/main">
              <a:ext uri="{FF2B5EF4-FFF2-40B4-BE49-F238E27FC236}">
                <a16:creationId xmlns:a16="http://schemas.microsoft.com/office/drawing/2014/main" id="{DCCB8FD4-90BC-4A7B-8E43-4EC98016F578}"/>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15C851A3-7619-4E6B-BDBA-515D71EC633C}"/>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21C2CD-3AC6-44F8-BBBF-EBB3F0067D46}"/>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Inspect</a:t>
            </a:r>
          </a:p>
        </p:txBody>
      </p:sp>
      <p:sp>
        <p:nvSpPr>
          <p:cNvPr id="15" name="">
            <a:extLst xmlns:a="http://schemas.openxmlformats.org/drawingml/2006/main">
              <a:ext uri="{FF2B5EF4-FFF2-40B4-BE49-F238E27FC236}">
                <a16:creationId xmlns:a16="http://schemas.microsoft.com/office/drawing/2014/main" id="{A8D71E63-1507-44B9-8BB7-CD086FA7CC8F}"/>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C769430C-AE21-41CD-B62C-59A3303FB3AB}"/>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CFA0EBD-0F94-493E-8431-A6D1071F2FAB}"/>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Explain</a:t>
            </a:r>
          </a:p>
        </p:txBody>
      </p:sp>
    </p:spTree>
    <p:extLst>
      <p:ext uri="{BB962C8B-B14F-4D97-AF65-F5344CB8AC3E}">
        <p14:creationId xmlns:p14="http://schemas.microsoft.com/office/powerpoint/2010/main" val="1286471866"/>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D3B299-9EED-4EC2-8D3A-027AD8F5EA04}"/>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E7D421E4-D2EE-4B08-A28A-1E87051BDDB6}"/>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Production AI Capstone</a:t>
            </a:r>
          </a:p>
        </p:txBody>
      </p:sp>
      <p:sp>
        <p:nvSpPr>
          <p:cNvPr id="3" name="">
            <a:extLst xmlns:a="http://schemas.openxmlformats.org/drawingml/2006/main">
              <a:ext uri="{FF2B5EF4-FFF2-40B4-BE49-F238E27FC236}">
                <a16:creationId xmlns:a16="http://schemas.microsoft.com/office/drawing/2014/main" id="{66ED495E-AC48-429E-AD07-EAC04E8537F6}"/>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5ED83967-9ABA-4C37-9343-F634351404FB}"/>
              </a:ext>
            </a:extLst>
          </p:cNvPr>
          <p:cNvSpPr>
            <a:spLocks xmlns:a="http://schemas.openxmlformats.org/drawingml/2006/main" noGrp="1"/>
          </p:cNvSpPr>
          <p:nvPr/>
        </p:nvSpPr>
        <p:spPr>
          <a:xfrm xmlns:a="http://schemas.openxmlformats.org/drawingml/2006/main">
            <a:off x="609600" y="838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SESSION SYNTHESIS</a:t>
            </a:r>
          </a:p>
        </p:txBody>
      </p:sp>
      <p:sp>
        <p:nvSpPr>
          <p:cNvPr id="5" name="">
            <a:extLst xmlns:a="http://schemas.openxmlformats.org/drawingml/2006/main">
              <a:ext uri="{FF2B5EF4-FFF2-40B4-BE49-F238E27FC236}">
                <a16:creationId xmlns:a16="http://schemas.microsoft.com/office/drawing/2014/main" id="{856AD0A8-1938-4E27-80F3-AABD673949D4}"/>
              </a:ext>
            </a:extLst>
          </p:cNvPr>
          <p:cNvSpPr>
            <a:spLocks xmlns:a="http://schemas.openxmlformats.org/drawingml/2006/main" noGrp="1"/>
          </p:cNvSpPr>
          <p:nvPr/>
        </p:nvSpPr>
        <p:spPr>
          <a:xfrm xmlns:a="http://schemas.openxmlformats.org/drawingml/2006/main">
            <a:off x="609600" y="12954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Keep the system, not isolated definitions.</a:t>
            </a:r>
          </a:p>
        </p:txBody>
      </p:sp>
      <p:sp>
        <p:nvSpPr>
          <p:cNvPr id="6" name="">
            <a:extLst xmlns:a="http://schemas.openxmlformats.org/drawingml/2006/main">
              <a:ext uri="{FF2B5EF4-FFF2-40B4-BE49-F238E27FC236}">
                <a16:creationId xmlns:a16="http://schemas.microsoft.com/office/drawing/2014/main" id="{78B5E7D1-1313-468E-9F37-B83C61F4E5D6}"/>
              </a:ext>
            </a:extLst>
          </p:cNvPr>
          <p:cNvSpPr>
            <a:spLocks xmlns:a="http://schemas.openxmlformats.org/drawingml/2006/main" noGrp="1"/>
          </p:cNvSpPr>
          <p:nvPr/>
        </p:nvSpPr>
        <p:spPr>
          <a:xfrm xmlns:a="http://schemas.openxmlformats.org/drawingml/2006/main">
            <a:off x="628650" y="25336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49A680B0-C0A7-426F-BAF8-920725E60A46}"/>
              </a:ext>
            </a:extLst>
          </p:cNvPr>
          <p:cNvSpPr>
            <a:spLocks xmlns:a="http://schemas.openxmlformats.org/drawingml/2006/main" noGrp="1"/>
          </p:cNvSpPr>
          <p:nvPr/>
        </p:nvSpPr>
        <p:spPr>
          <a:xfrm xmlns:a="http://schemas.openxmlformats.org/drawingml/2006/main">
            <a:off x="1409700" y="24860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Explain requirements and architecture in plain language.</a:t>
            </a:r>
          </a:p>
        </p:txBody>
      </p:sp>
      <p:sp>
        <p:nvSpPr>
          <p:cNvPr id="8" name="">
            <a:extLst xmlns:a="http://schemas.openxmlformats.org/drawingml/2006/main">
              <a:ext uri="{FF2B5EF4-FFF2-40B4-BE49-F238E27FC236}">
                <a16:creationId xmlns:a16="http://schemas.microsoft.com/office/drawing/2014/main" id="{B92D283C-E822-4B04-B123-76EB24A8DDD8}"/>
              </a:ext>
            </a:extLst>
          </p:cNvPr>
          <p:cNvSpPr>
            <a:spLocks xmlns:a="http://schemas.openxmlformats.org/drawingml/2006/main" noGrp="1"/>
          </p:cNvSpPr>
          <p:nvPr/>
        </p:nvSpPr>
        <p:spPr>
          <a:xfrm xmlns:a="http://schemas.openxmlformats.org/drawingml/2006/main">
            <a:off x="628650" y="33528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9" name="">
            <a:extLst xmlns:a="http://schemas.openxmlformats.org/drawingml/2006/main">
              <a:ext uri="{FF2B5EF4-FFF2-40B4-BE49-F238E27FC236}">
                <a16:creationId xmlns:a16="http://schemas.microsoft.com/office/drawing/2014/main" id="{5EEA9651-16F8-4F96-8802-51B02D6C7240}"/>
              </a:ext>
            </a:extLst>
          </p:cNvPr>
          <p:cNvSpPr>
            <a:spLocks xmlns:a="http://schemas.openxmlformats.org/drawingml/2006/main" noGrp="1"/>
          </p:cNvSpPr>
          <p:nvPr/>
        </p:nvSpPr>
        <p:spPr>
          <a:xfrm xmlns:a="http://schemas.openxmlformats.org/drawingml/2006/main">
            <a:off x="1409700" y="33051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Use evidence-first implementation in a small worked example.</a:t>
            </a:r>
          </a:p>
        </p:txBody>
      </p:sp>
      <p:sp>
        <p:nvSpPr>
          <p:cNvPr id="10" name="">
            <a:extLst xmlns:a="http://schemas.openxmlformats.org/drawingml/2006/main">
              <a:ext uri="{FF2B5EF4-FFF2-40B4-BE49-F238E27FC236}">
                <a16:creationId xmlns:a16="http://schemas.microsoft.com/office/drawing/2014/main" id="{63C90D9A-5322-4FF7-893A-469607121823}"/>
              </a:ext>
            </a:extLst>
          </p:cNvPr>
          <p:cNvSpPr>
            <a:spLocks xmlns:a="http://schemas.openxmlformats.org/drawingml/2006/main" noGrp="1"/>
          </p:cNvSpPr>
          <p:nvPr/>
        </p:nvSpPr>
        <p:spPr>
          <a:xfrm xmlns:a="http://schemas.openxmlformats.org/drawingml/2006/main">
            <a:off x="628650" y="4171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1" name="">
            <a:extLst xmlns:a="http://schemas.openxmlformats.org/drawingml/2006/main">
              <a:ext uri="{FF2B5EF4-FFF2-40B4-BE49-F238E27FC236}">
                <a16:creationId xmlns:a16="http://schemas.microsoft.com/office/drawing/2014/main" id="{1896A4B0-FA4D-4F8B-BE19-891E8E015709}"/>
              </a:ext>
            </a:extLst>
          </p:cNvPr>
          <p:cNvSpPr>
            <a:spLocks xmlns:a="http://schemas.openxmlformats.org/drawingml/2006/main" noGrp="1"/>
          </p:cNvSpPr>
          <p:nvPr/>
        </p:nvSpPr>
        <p:spPr>
          <a:xfrm xmlns:a="http://schemas.openxmlformats.org/drawingml/2006/main">
            <a:off x="1409700" y="41243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Complete the guided lab and verify security cost and deployment.</a:t>
            </a:r>
          </a:p>
        </p:txBody>
      </p:sp>
      <p:sp>
        <p:nvSpPr>
          <p:cNvPr id="12" name="">
            <a:extLst xmlns:a="http://schemas.openxmlformats.org/drawingml/2006/main">
              <a:ext uri="{FF2B5EF4-FFF2-40B4-BE49-F238E27FC236}">
                <a16:creationId xmlns:a16="http://schemas.microsoft.com/office/drawing/2014/main" id="{1F0BDFEA-B335-4CB2-B4CE-F79FCBEA3EE0}"/>
              </a:ext>
            </a:extLst>
          </p:cNvPr>
          <p:cNvSpPr>
            <a:spLocks xmlns:a="http://schemas.openxmlformats.org/drawingml/2006/main" noGrp="1"/>
          </p:cNvSpPr>
          <p:nvPr/>
        </p:nvSpPr>
        <p:spPr>
          <a:xfrm xmlns:a="http://schemas.openxmlformats.org/drawingml/2006/main">
            <a:off x="7239000" y="2724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06B5F"/>
                </a:solidFill>
              </a:defRPr>
            </a:pPr>
            <a:r>
              <a:rPr sz="900" b="1">
                <a:solidFill>
                  <a:srgbClr val="F06B5F"/>
                </a:solidFill>
              </a:rPr>
              <a:t>NEXT EVIDENCE</a:t>
            </a:r>
          </a:p>
        </p:txBody>
      </p:sp>
      <p:sp>
        <p:nvSpPr>
          <p:cNvPr id="13" name="">
            <a:extLst xmlns:a="http://schemas.openxmlformats.org/drawingml/2006/main">
              <a:ext uri="{FF2B5EF4-FFF2-40B4-BE49-F238E27FC236}">
                <a16:creationId xmlns:a16="http://schemas.microsoft.com/office/drawing/2014/main" id="{0C863183-66F7-4DC6-9F34-D87D0E975202}"/>
              </a:ext>
            </a:extLst>
          </p:cNvPr>
          <p:cNvSpPr>
            <a:spLocks xmlns:a="http://schemas.openxmlformats.org/drawingml/2006/main" noGrp="1"/>
          </p:cNvSpPr>
          <p:nvPr/>
        </p:nvSpPr>
        <p:spPr>
          <a:xfrm xmlns:a="http://schemas.openxmlformats.org/drawingml/2006/main">
            <a:off x="7239000" y="3200400"/>
            <a:ext cx="4095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A deployed capstone, source repository, architecture diagram, evaluation report, demo, runbook, and limitations statement.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f15584b33504fcf"/>
          <a:stretch xmlns:a="http://schemas.openxmlformats.org/drawingml/2006/main"/>
        </p:blipFill>
        <p:spPr>
          <a:xfrm xmlns:a="http://schemas.openxmlformats.org/drawingml/2006/main">
            <a:off x="9791700" y="5905500"/>
            <a:ext cx="1371600" cy="457200"/>
          </a:xfrm>
          <a:prstGeom xmlns:a="http://schemas.openxmlformats.org/drawingml/2006/main" prst="rect">
            <a:avLst/>
          </a:prstGeom>
        </p:spPr>
      </p:pic>
    </p:spTree>
    <p:extLst>
      <p:ext uri="{BB962C8B-B14F-4D97-AF65-F5344CB8AC3E}">
        <p14:creationId xmlns:p14="http://schemas.microsoft.com/office/powerpoint/2010/main" val="1263536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2026-07-28T16:53:21.8150000Z</dcterms:created>
  <dcterms:modified xsi:type="dcterms:W3CDTF">2026-07-28T16:53:21.8150000Z</dcterms:modified>
</coreProperties>
</file>