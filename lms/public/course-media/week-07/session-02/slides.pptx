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54fe4355354b2c" /><Relationship Type="http://schemas.openxmlformats.org/officeDocument/2006/relationships/extended-properties" Target="/docProps/app.xml" Id="R8761422fc57e47da" /><Relationship Type="http://schemas.openxmlformats.org/officeDocument/2006/relationships/officeDocument" Target="/ppt/presentation.xml" Id="R8349f1bbca6749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e46574ae714c39"/>
  </p:sldMasterIdLst>
  <p:notesMasterIdLst>
    <p:notesMasterId xmlns:r="http://schemas.openxmlformats.org/officeDocument/2006/relationships" r:id="R364aece6e32a4aa5"/>
  </p:notesMasterIdLst>
  <p:sldIdLst>
    <p:sldId xmlns:r="http://schemas.openxmlformats.org/officeDocument/2006/relationships" id="256" r:id="R0fe87fb1e87845bd"/>
    <p:sldId xmlns:r="http://schemas.openxmlformats.org/officeDocument/2006/relationships" id="257" r:id="R1caf26f81a864aa2"/>
    <p:sldId xmlns:r="http://schemas.openxmlformats.org/officeDocument/2006/relationships" id="258" r:id="R7e4314e339d4413e"/>
    <p:sldId xmlns:r="http://schemas.openxmlformats.org/officeDocument/2006/relationships" id="259" r:id="Rf499ec42216d494f"/>
    <p:sldId xmlns:r="http://schemas.openxmlformats.org/officeDocument/2006/relationships" id="260" r:id="Rb03c0744dad64407"/>
    <p:sldId xmlns:r="http://schemas.openxmlformats.org/officeDocument/2006/relationships" id="261" r:id="R81db6ae817ef45e3"/>
    <p:sldId xmlns:r="http://schemas.openxmlformats.org/officeDocument/2006/relationships" id="262" r:id="R062c3800ef6f4fa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c334c69551c4f59" /><Relationship Type="http://schemas.openxmlformats.org/officeDocument/2006/relationships/slideMaster" Target="/ppt/slideMasters/slideMaster1.xml" Id="R28e46574ae714c39" /><Relationship Type="http://schemas.openxmlformats.org/officeDocument/2006/relationships/notesMaster" Target="/ppt/notesMasters/notesMaster1.xml" Id="R364aece6e32a4aa5" /><Relationship Type="http://schemas.openxmlformats.org/officeDocument/2006/relationships/presProps" Target="/ppt/presProps.xml" Id="R0da46546263146d7" /><Relationship Type="http://schemas.openxmlformats.org/officeDocument/2006/relationships/tableStyles" Target="/ppt/tableStyles.xml" Id="Re1758861db4d4bc9" /><Relationship Type="http://schemas.openxmlformats.org/officeDocument/2006/relationships/slide" Target="/ppt/slides/slide1.xml" Id="R0fe87fb1e87845bd" /><Relationship Type="http://schemas.openxmlformats.org/officeDocument/2006/relationships/slide" Target="/ppt/slides/slide2.xml" Id="R1caf26f81a864aa2" /><Relationship Type="http://schemas.openxmlformats.org/officeDocument/2006/relationships/slide" Target="/ppt/slides/slide3.xml" Id="R7e4314e339d4413e" /><Relationship Type="http://schemas.openxmlformats.org/officeDocument/2006/relationships/slide" Target="/ppt/slides/slide4.xml" Id="Rf499ec42216d494f" /><Relationship Type="http://schemas.openxmlformats.org/officeDocument/2006/relationships/slide" Target="/ppt/slides/slide5.xml" Id="Rb03c0744dad64407" /><Relationship Type="http://schemas.openxmlformats.org/officeDocument/2006/relationships/slide" Target="/ppt/slides/slide6.xml" Id="R81db6ae817ef45e3" /><Relationship Type="http://schemas.openxmlformats.org/officeDocument/2006/relationships/slide" Target="/ppt/slides/slide7.xml" Id="R062c3800ef6f4f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c8078d0fe6444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711d4d25664437" /><Relationship Type="http://schemas.openxmlformats.org/officeDocument/2006/relationships/notesMaster" Target="/ppt/notesMasters/notesMaster1.xml" Id="Re38b5af0d3cc4f8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2677fbe9914f31" /><Relationship Type="http://schemas.openxmlformats.org/officeDocument/2006/relationships/notesMaster" Target="/ppt/notesMasters/notesMaster1.xml" Id="R7b28b3d9d66245f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ab498fa102d46cc" /><Relationship Type="http://schemas.openxmlformats.org/officeDocument/2006/relationships/notesMaster" Target="/ppt/notesMasters/notesMaster1.xml" Id="R1d783162095046c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e55d686d34040ca" /><Relationship Type="http://schemas.openxmlformats.org/officeDocument/2006/relationships/notesMaster" Target="/ppt/notesMasters/notesMaster1.xml" Id="R68e642dccfcd4b2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9769612361d4d34" /><Relationship Type="http://schemas.openxmlformats.org/officeDocument/2006/relationships/notesMaster" Target="/ppt/notesMasters/notesMaster1.xml" Id="R851fd527f2e443a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553ac83b9d4bc5" /><Relationship Type="http://schemas.openxmlformats.org/officeDocument/2006/relationships/notesMaster" Target="/ppt/notesMasters/notesMaster1.xml" Id="R49319a7ba2c14b0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32fbccb3a2d47bf" /><Relationship Type="http://schemas.openxmlformats.org/officeDocument/2006/relationships/notesMaster" Target="/ppt/notesMasters/notesMaster1.xml" Id="Re85366133f0e42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Accuracy can look excellent when the event is rare. We examine precision and recall, keep resampling inside training folds, and match the operating point to action capacity.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Week 7, session 2: Trees, Ensembles and Imbalanced Data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By the end of this session, learners should be able to Compare ensembles with a linear baseline. Evaluate rare events with suitable metrics. Keep weighting or resampling inside training folds.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Learning outcomes for Trees, Ensembles and Imbalanced Data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four concepts as a system rather than isolated vocabulary: decision trees, ensembles, class imbalance, precision and recall.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Core concepts for Trees, Ensembles and Imbalanced Data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Apply the session content through a four-stage reasoning loop: define the question, transform deliberately, validate assumptions, and communicate the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DS Academy teaching framework applied to Trees, Ensembles and Imbalanced Data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Guide learners through the lab without completing the reasoning for them. Ask for an explicit frame, a minimal implementation, boundary tests, and an evidence note.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Guided lab for Trees, Ensembles and Imbalanced Data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deliverable is An imbalanced-classification report and operating point. Use the weekly assessment rubric as a quality gate, not as an after-the-fact scoring checklist.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Portfolio deliverable and assessment rubric for week 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Accuracy can look excellent when the event is rare. We examine precision and recall, keep resampling inside training folds, and match the operating point to action capacity.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Session summary for Trees, Ensembles and Imbalanced Data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362309bfc1473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61dbf723704777" /><Relationship Type="http://schemas.openxmlformats.org/officeDocument/2006/relationships/slideLayout" Target="/ppt/slideLayouts/slideLayout1.xml" Id="Re779d46fb16640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79d46fb16640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ea808fb9484192" /><Relationship Type="http://schemas.openxmlformats.org/officeDocument/2006/relationships/image" Target="/ppt/media/image.png" Id="Re0e58241251b4a83" /><Relationship Type="http://schemas.openxmlformats.org/officeDocument/2006/relationships/image" Target="/ppt/media/image2.png" Id="R002a0abd01f240d7" /><Relationship Type="http://schemas.openxmlformats.org/officeDocument/2006/relationships/notesSlide" Target="/ppt/notesSlides/notesSlide1.xml" Id="R6dedcb98baaf46a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1debffaab244a6" /><Relationship Type="http://schemas.openxmlformats.org/officeDocument/2006/relationships/notesSlide" Target="/ppt/notesSlides/notesSlide2.xml" Id="R59c154f4ffa640b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f6f05ae5ce401e" /><Relationship Type="http://schemas.openxmlformats.org/officeDocument/2006/relationships/notesSlide" Target="/ppt/notesSlides/notesSlide3.xml" Id="R31cdcb9a5f794a1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aac393073b4643" /><Relationship Type="http://schemas.openxmlformats.org/officeDocument/2006/relationships/notesSlide" Target="/ppt/notesSlides/notesSlide4.xml" Id="R638c19e39f1e403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a4a5aee97f4e8c" /><Relationship Type="http://schemas.openxmlformats.org/officeDocument/2006/relationships/notesSlide" Target="/ppt/notesSlides/notesSlide5.xml" Id="Re625543f6ef74c6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a50f47e9c8498f" /><Relationship Type="http://schemas.openxmlformats.org/officeDocument/2006/relationships/notesSlide" Target="/ppt/notesSlides/notesSlide6.xml" Id="R58270d63551e4e2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b230fde828485f" /><Relationship Type="http://schemas.openxmlformats.org/officeDocument/2006/relationships/notesSlide" Target="/ppt/notesSlides/notesSlide7.xml" Id="R3f78dbf3fc01434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3EEF53-9A47-4B21-BC39-199FC55A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266540-3DDC-4874-AE04-2A2EB6EB9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61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e58241251b4a83"/>
          <a:srcRect xmlns:a="http://schemas.openxmlformats.org/drawingml/2006/main" l="23736" t="0" r="2373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91200" y="0"/>
            <a:ext cx="640080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BF3EE4-7ABE-46E4-B75E-83988B762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6BDB"/>
                </a:solidFill>
              </a:defRPr>
            </a:pPr>
            <a:r>
              <a:rPr sz="1050" b="1">
                <a:solidFill>
                  <a:srgbClr val="176BDB"/>
                </a:solidFill>
              </a:rPr>
              <a:t>WEEK 07  ·  SESSION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78BED2-4092-462D-AA5E-ED69B2362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45148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72033"/>
                </a:solidFill>
              </a:defRPr>
            </a:pPr>
            <a:r>
              <a:rPr sz="3675" b="1">
                <a:solidFill>
                  <a:srgbClr val="172033"/>
                </a:solidFill>
              </a:rPr>
              <a:t>Trees, Ensembles and Imbalanced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747B58-1D8C-4DCC-A2FB-7B91A9C2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704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D5B3F7-E5B2-463A-86AD-FF153F9AB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86200"/>
            <a:ext cx="44386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8657A"/>
                </a:solidFill>
              </a:defRPr>
            </a:pPr>
            <a:r>
              <a:rPr sz="1575">
                <a:solidFill>
                  <a:srgbClr val="58657A"/>
                </a:solidFill>
              </a:rPr>
              <a:t>Build calibrated classification workflows and decision thresholds.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2a0abd01f240d7"/>
          <a:stretch xmlns:a="http://schemas.openxmlformats.org/drawingml/2006/main"/>
        </p:blipFill>
        <p:spPr>
          <a:xfrm xmlns:a="http://schemas.openxmlformats.org/drawingml/2006/main">
            <a:off x="666750" y="5810250"/>
            <a:ext cx="1714500" cy="571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1500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AD473E-595C-4C70-8295-CACB887C7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F120F9-A0BB-4308-9831-19EC9DF40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 07  /  SESSION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8A5616-9146-466E-85B5-E9F618057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Learning outcomes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24DCD6-E0B4-4B31-9385-C5C297F66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70B5B7-2101-4646-9342-784A284C5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2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0FAF3B-BEE3-4DB5-868A-CE104A501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80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6BDB"/>
                </a:solidFill>
              </a:defRPr>
            </a:pPr>
            <a:r>
              <a:rPr sz="2700" b="1">
                <a:solidFill>
                  <a:srgbClr val="176BDB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A799E8-21F5-4567-8ECD-F1FA284B2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18097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B4C242-64F7-4913-B917-96915BFF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533525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Compare ensembles with a linear baseline.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A81FCB-3F49-45F3-8FBB-D865BE47C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90850"/>
            <a:ext cx="80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8A7C9"/>
                </a:solidFill>
              </a:defRPr>
            </a:pPr>
            <a:r>
              <a:rPr sz="2700" b="1">
                <a:solidFill>
                  <a:srgbClr val="08A7C9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177241-2598-49A0-B2EF-6C0A9A3CB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23850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76C246-078E-44F2-ABB7-0B0B02ED3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962275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Evaluate rare events with suitable metrics.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074B73-E24A-4C43-8C88-EAC7179C5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19600"/>
            <a:ext cx="80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6BDB"/>
                </a:solidFill>
              </a:defRPr>
            </a:pPr>
            <a:r>
              <a:rPr sz="2700" b="1">
                <a:solidFill>
                  <a:srgbClr val="176BDB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9E3E3F-8E1A-44F5-9CCA-013B8F071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6672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836080-4B6F-4AD3-9E34-29D6544CA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391025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Keep weighting or resampling inside training folds.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F9880E-4176-4BB2-B175-A382B88EC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8657A"/>
                </a:solidFill>
              </a:defRPr>
            </a:pPr>
            <a:r>
              <a:rPr sz="750">
                <a:solidFill>
                  <a:srgbClr val="58657A"/>
                </a:solidFill>
              </a:rPr>
              <a:t>End-to-End Data Science &amp; 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EE0C57-E59C-42C4-855E-B424ED83B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6BDB"/>
                </a:solidFill>
              </a:defRPr>
            </a:pPr>
            <a:r>
              <a:rPr sz="750" b="1">
                <a:solidFill>
                  <a:srgbClr val="176BD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000331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3392D6-0BE2-4EF3-AB80-34437C416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D675CE-7010-43FE-9312-49A4CF75E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 07  /  SESSION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901620-23D0-474C-8BC6-3C8D3BAF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The concept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D5C0F3-654D-4925-8518-FC3B564A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DF9CBF-99D4-4950-8CC9-7A1128A2B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2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13EFD7-B76B-4C56-B4E6-E7F71684C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01117A-D97D-4A70-A219-13594D5C5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5FBB65-7D22-4DE4-8185-C3208F839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716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14994C-2B40-4F25-8B7B-3167CBA84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907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decision trees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6D9857-DC5E-4B29-BBB6-09F977AE7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3355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C3D085-0F8E-4F85-9320-52CC3AD4C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3355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2D44DE-0340-4A2C-A38A-9C5D060A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716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3BC5BF-7EF4-4BA4-823F-EFACE964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907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ensembles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E36563-5545-4D10-B031-9573BC962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7E1895-CD5E-4002-B364-D5BBC3155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EE67B5-0CB7-4A7D-B3B0-8537ACA69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3862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0F97FA-6029-4328-BEE8-B509C9B9E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577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class imbalance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35925C-AFD9-4233-8D68-D293E9BC4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0050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67F9D3-473B-45CD-870A-80181A559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0050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E0F9DB-7690-476A-9EBA-21BA1F6AD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3862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8040CD-4900-4E24-95D7-53FA1B2F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577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precision and recall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EA7CB4-4DFA-449D-BB7E-9E995F37F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8657A"/>
                </a:solidFill>
              </a:defRPr>
            </a:pPr>
            <a:r>
              <a:rPr sz="750">
                <a:solidFill>
                  <a:srgbClr val="58657A"/>
                </a:solidFill>
              </a:rPr>
              <a:t>End-to-End Data Science &amp; AI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C2F147-E65D-437E-99D8-25A83851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6BDB"/>
                </a:solidFill>
              </a:defRPr>
            </a:pPr>
            <a:r>
              <a:rPr sz="750" b="1">
                <a:solidFill>
                  <a:srgbClr val="176BD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051535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225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EBB50D-D39E-4522-9657-9A4F8EF2C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8A7C9"/>
                </a:solidFill>
              </a:defRPr>
            </a:pPr>
            <a:r>
              <a:rPr sz="975" b="1">
                <a:solidFill>
                  <a:srgbClr val="08A7C9"/>
                </a:solidFill>
              </a:rPr>
              <a:t>FROM QUESTION TO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E93798-B78E-49F5-A228-C8A1D5216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685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A repeatable reasoning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5AC3C2-7959-4158-B6DA-66BE8B342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76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6B5DA7-DFD5-48BC-81D9-C2B09EEBF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D52A5B-54AB-4E32-B785-0CE33295F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Define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33023C-0C94-49A1-A990-2A3DB0B85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67050"/>
            <a:ext cx="400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7F38C9-4E65-4DDC-A152-3CD5F971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7650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DDE461-1E3B-4C5D-9D63-EBA92FB3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BC0E5A-B6AD-422A-946F-218174FD3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38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Transform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C7C70F-971A-4401-8B1D-B4E10B573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067050"/>
            <a:ext cx="400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5E6851-394D-4FE2-8C2F-367770D46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7650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203CD6-FCB4-4220-80E1-00FCBD52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8657A"/>
                </a:solidFill>
              </a:defRPr>
            </a:pPr>
            <a:r>
              <a:rPr sz="975" b="1">
                <a:solidFill>
                  <a:srgbClr val="58657A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0865F8-E48F-4E1B-8995-84BF1A67D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38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Validate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DEF6C7-290A-4735-942A-3BCAAD5D9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67050"/>
            <a:ext cx="400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C6F1CD-21B4-413D-B09E-2138E0A5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7650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D30FAB-72BC-4623-9E6C-340934282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749E9E-B27F-440E-A725-6539F5A10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38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Communicate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A75840-1695-4CEC-BF76-B74D6BFD3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FFFFF"/>
                </a:solidFill>
              </a:defRPr>
            </a:pPr>
            <a:r>
              <a:rPr sz="1650">
                <a:solidFill>
                  <a:srgbClr val="FFFFFF"/>
                </a:solidFill>
              </a:rPr>
              <a:t>Detect rare payment failures and inspect false alarms.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2C57DB-0CF7-48DE-ACC3-3B2E3091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FC4D9"/>
                </a:solidFill>
              </a:defRPr>
            </a:pPr>
            <a:r>
              <a:rPr sz="750" b="1">
                <a:solidFill>
                  <a:srgbClr val="AFC4D9"/>
                </a:solidFill>
              </a:rPr>
              <a:t>DS ACADEMY  ·  PRACTICAL REASONING</a:t>
            </a:r>
          </a:p>
        </p:txBody>
      </p:sp>
    </p:spTree>
    <p:extLst>
      <p:ext uri="{BB962C8B-B14F-4D97-AF65-F5344CB8AC3E}">
        <p14:creationId xmlns:p14="http://schemas.microsoft.com/office/powerpoint/2010/main" val="9150469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C1B75B-25FB-47D2-998C-B7A73116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9B9039-6497-43E4-A838-46D05EAFE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 07  /  SESSION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19D753-73E1-464A-854C-442E74774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Guided 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7031EE-369B-4067-8687-C69CADE6C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3C5B74-5D84-4FC9-93B4-108284ED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2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51FB81-C8FC-43C9-9B32-6D23BFAFA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485775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1225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30F0AB-6A32-4C00-BFAC-C0D77430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621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A7C9"/>
                </a:solidFill>
              </a:defRPr>
            </a:pPr>
            <a:r>
              <a:rPr sz="900" b="1">
                <a:solidFill>
                  <a:srgbClr val="08A7C9"/>
                </a:solidFill>
              </a:rPr>
              <a:t>LAB 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3A5923-C3E2-436E-9C2E-7548D0DB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39624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Detect rare payment failures and inspect false alarms.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EA5C85-626F-4B94-A7FC-35EA236D2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720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AFC4D9"/>
                </a:solidFill>
              </a:defRPr>
            </a:pPr>
            <a:r>
              <a:rPr sz="975">
                <a:solidFill>
                  <a:srgbClr val="AFC4D9"/>
                </a:solidFill>
              </a:rPr>
              <a:t>workbook  /  tests  / 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4716D2-9EE6-41C2-8F14-34E05BA04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573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F18CEE-E670-46F0-97E4-AB2E3874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287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Frame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0BDEC8-3C10-4FED-9791-6A8C013E3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812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Define inputs, outputs, and success criteria.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F65022-F161-4F20-99AE-3DAB26A6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95550"/>
            <a:ext cx="489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4AECF8-900D-4878-B90D-7CB4BE40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289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A17360-EA59-4AD5-903F-C0CBA4E3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003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Build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33254E-DCB7-4976-AD12-3B511975A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527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Implement the smallest correct workflow.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A96FB9-D265-49D8-BA5B-923031A94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67100"/>
            <a:ext cx="489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FC92F4-62B3-42C2-A5C4-A0B3DE712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004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1CF044-38CF-4FE3-BA08-7353992E9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718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EC3B21-49FF-431B-804D-319BFF2BA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243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Test normal, boundary, and failure cases.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329EB1-2725-4818-B2F9-299B33DF0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438650"/>
            <a:ext cx="489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E29BDC-2527-4B89-80A8-8323E7911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720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F7768"/>
                </a:solidFill>
              </a:defRPr>
            </a:pPr>
            <a:r>
              <a:rPr sz="975" b="1">
                <a:solidFill>
                  <a:srgbClr val="EF7768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2509EA-7AEA-442E-8B15-C8CEF5B2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434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Explain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4E3126-1894-480E-903C-4FC0DFBDE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958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Record the evidence and remaining limits.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C6E4F0-B18A-4239-9878-00351DAE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8657A"/>
                </a:solidFill>
              </a:defRPr>
            </a:pPr>
            <a:r>
              <a:rPr sz="750">
                <a:solidFill>
                  <a:srgbClr val="58657A"/>
                </a:solidFill>
              </a:rPr>
              <a:t>End-to-End Data Science &amp; AI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5DC918-604E-43C4-8E1F-E63EA81D5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6BDB"/>
                </a:solidFill>
              </a:defRPr>
            </a:pPr>
            <a:r>
              <a:rPr sz="750" b="1">
                <a:solidFill>
                  <a:srgbClr val="176BDB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522815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4010A2-812D-4EEC-9D33-91A741791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D893D9-2643-4E89-A67C-2201C8858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 07  /  SESSION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B0EB1E-C412-4F01-B5D1-03BB6FD0C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Portfolio deliverable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F79DDD-835B-4B4A-835E-71E4E17F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8FECAF-61F6-48E2-81DB-6C254A04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2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81D6EB-BFFC-439A-925D-AD9AB959A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723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033"/>
                </a:solidFill>
              </a:defRPr>
            </a:pPr>
            <a:r>
              <a:rPr sz="2325" b="1">
                <a:solidFill>
                  <a:srgbClr val="172033"/>
                </a:solidFill>
              </a:rPr>
              <a:t>An imbalanced-classification report and operating point.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4DDE39-AD34-48D4-A6AE-4FEE9134C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QUALITY GATE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2A95B3-A494-4A1E-8FDE-5A7D1B016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7665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2D5A14-DF57-493C-8468-5C033C954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004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Reproducible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45FD2E-1BBF-4A76-A828-566A07EED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95775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0C8C2D-2C7C-4D96-BE86-F211DA1A5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1957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Tested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C2C447-3097-4E8E-9D8E-10AE6C82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EABAB6-0047-4DB6-A262-553FB99CF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387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Decision-relevant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7DA4D3-70E8-412A-BAFB-F31B60DC7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00200"/>
            <a:ext cx="3143250" cy="40576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FAC7E0-907D-4714-A22B-0844192FF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621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WEEKLY ASSESSMENT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454913-1155-432B-B26B-B264B7B4D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238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Rare-Event Classifier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F83683-CA63-43C3-9216-FFD123DD6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95700"/>
            <a:ext cx="2381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Leakage 25%, metrics 25%, threshold 20%, calibration 15%, communication 15%.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C1B8BF-60E4-46ED-9E0E-FA604C8C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8657A"/>
                </a:solidFill>
              </a:defRPr>
            </a:pPr>
            <a:r>
              <a:rPr sz="750">
                <a:solidFill>
                  <a:srgbClr val="58657A"/>
                </a:solidFill>
              </a:rPr>
              <a:t>End-to-End Data Science &amp; AI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27A670-8C96-4FB4-AD4C-0A6310015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6BDB"/>
                </a:solidFill>
              </a:defRPr>
            </a:pPr>
            <a:r>
              <a:rPr sz="750" b="1">
                <a:solidFill>
                  <a:srgbClr val="176BDB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561525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7381DD-2E85-43AA-BC57-E982D46BB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ABC022-B085-47DA-80D9-CAC9AB51F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SESSION CHECKPOINT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2DF87C-99E9-4F03-94E1-90F76E03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76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</a:rPr>
              <a:t>What should remain after the lesson?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2468DE-D845-455E-B960-EE1856821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A7C9"/>
                </a:solidFill>
              </a:defRPr>
            </a:pPr>
            <a:r>
              <a:rPr sz="900" b="1">
                <a:solidFill>
                  <a:srgbClr val="08A7C9"/>
                </a:solidFill>
              </a:rPr>
              <a:t>CONCEPT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3D719F-D6FF-40D6-8D5A-8F3C069EC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257425"/>
            <a:ext cx="838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decision trees + ensembles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A4B59F-CBAD-436C-A628-CB2B7AD9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1017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859A32-6753-47F7-BD4E-8EDC6A971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A7C9"/>
                </a:solidFill>
              </a:defRPr>
            </a:pPr>
            <a:r>
              <a:rPr sz="900" b="1">
                <a:solidFill>
                  <a:srgbClr val="08A7C9"/>
                </a:solidFill>
              </a:rPr>
              <a:t>PRACTICE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11185D-4CC1-4186-8DC2-CD5F68BA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400425"/>
            <a:ext cx="838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Detect rare payment failures and inspect false alarms.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39A4AE-3670-440B-8273-43AA556D8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1017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FCD5FF-B5B3-4A12-B536-CE71BE26E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010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EF7768"/>
                </a:solidFill>
              </a:defRPr>
            </a:pPr>
            <a:r>
              <a:rPr sz="900" b="1">
                <a:solidFill>
                  <a:srgbClr val="EF7768"/>
                </a:solidFill>
              </a:rPr>
              <a:t>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D8A664-24CB-4719-8E6C-C7CC264BF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543425"/>
            <a:ext cx="838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An imbalanced-classification report and operating point.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162FF2-8991-43E8-BE8A-42CB326F1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1017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9435C1-2054-4E6B-B777-7EDD5C155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81700"/>
            <a:ext cx="2905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6BDB"/>
                </a:solidFill>
              </a:defRPr>
            </a:pPr>
            <a:r>
              <a:rPr sz="1125" b="1">
                <a:solidFill>
                  <a:srgbClr val="176BDB"/>
                </a:solidFill>
              </a:rPr>
              <a:t>Narration available in English and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037E59-31EB-45CB-BBAA-75713CA3E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953125"/>
            <a:ext cx="87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DB"/>
                </a:solidFill>
              </a:defRPr>
            </a:pPr>
            <a:r>
              <a:rPr sz="1200" b="1">
                <a:solidFill>
                  <a:srgbClr val="176BDB"/>
                </a:solidFill>
              </a:rPr>
              <a:t>සිංහල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7815E2-237E-43A9-AAE5-2D38FCCEE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9817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</p:spTree>
    <p:extLst>
      <p:ext uri="{BB962C8B-B14F-4D97-AF65-F5344CB8AC3E}">
        <p14:creationId xmlns:p14="http://schemas.microsoft.com/office/powerpoint/2010/main" val="13314842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2026-07-27T08:01:07.5160000Z</dcterms:created>
  <dcterms:modified xsi:type="dcterms:W3CDTF">2026-07-27T08:01:07.5160000Z</dcterms:modified>
</coreProperties>
</file>