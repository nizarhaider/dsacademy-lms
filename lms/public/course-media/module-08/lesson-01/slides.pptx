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433a13b2864e96" /><Relationship Type="http://schemas.openxmlformats.org/officeDocument/2006/relationships/extended-properties" Target="/docProps/app.xml" Id="R29788fb4f4d94302" /><Relationship Type="http://schemas.openxmlformats.org/officeDocument/2006/relationships/officeDocument" Target="/ppt/presentation.xml" Id="R5608d68ca06e41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9ab411faec4340"/>
  </p:sldMasterIdLst>
  <p:notesMasterIdLst>
    <p:notesMasterId xmlns:r="http://schemas.openxmlformats.org/officeDocument/2006/relationships" r:id="Re022732833bc4762"/>
  </p:notesMasterIdLst>
  <p:sldIdLst>
    <p:sldId xmlns:r="http://schemas.openxmlformats.org/officeDocument/2006/relationships" id="256" r:id="R7f2a7034517f4ea4"/>
    <p:sldId xmlns:r="http://schemas.openxmlformats.org/officeDocument/2006/relationships" id="257" r:id="R0690e60eab4047c9"/>
    <p:sldId xmlns:r="http://schemas.openxmlformats.org/officeDocument/2006/relationships" id="258" r:id="Re57c21adfe80471e"/>
    <p:sldId xmlns:r="http://schemas.openxmlformats.org/officeDocument/2006/relationships" id="259" r:id="R9f97f3a6e76e4c6a"/>
    <p:sldId xmlns:r="http://schemas.openxmlformats.org/officeDocument/2006/relationships" id="260" r:id="R23feb0f218f24fad"/>
    <p:sldId xmlns:r="http://schemas.openxmlformats.org/officeDocument/2006/relationships" id="261" r:id="Rbf38cfe3f0094834"/>
    <p:sldId xmlns:r="http://schemas.openxmlformats.org/officeDocument/2006/relationships" id="262" r:id="R107b2938574448ca"/>
    <p:sldId xmlns:r="http://schemas.openxmlformats.org/officeDocument/2006/relationships" id="263" r:id="Rd1d23bbb0f614031"/>
    <p:sldId xmlns:r="http://schemas.openxmlformats.org/officeDocument/2006/relationships" id="264" r:id="R25cf5e6a121c4dad"/>
    <p:sldId xmlns:r="http://schemas.openxmlformats.org/officeDocument/2006/relationships" id="265" r:id="Rf634187b76f14ed5"/>
    <p:sldId xmlns:r="http://schemas.openxmlformats.org/officeDocument/2006/relationships" id="266" r:id="R2cac8fe6eaf1487e"/>
    <p:sldId xmlns:r="http://schemas.openxmlformats.org/officeDocument/2006/relationships" id="267" r:id="R8809291188eb4c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f455c1fa4248e9" /><Relationship Type="http://schemas.openxmlformats.org/officeDocument/2006/relationships/slideMaster" Target="/ppt/slideMasters/slideMaster1.xml" Id="R089ab411faec4340" /><Relationship Type="http://schemas.openxmlformats.org/officeDocument/2006/relationships/notesMaster" Target="/ppt/notesMasters/notesMaster1.xml" Id="Re022732833bc4762" /><Relationship Type="http://schemas.openxmlformats.org/officeDocument/2006/relationships/presProps" Target="/ppt/presProps.xml" Id="Re0ec685b27144bbe" /><Relationship Type="http://schemas.openxmlformats.org/officeDocument/2006/relationships/tableStyles" Target="/ppt/tableStyles.xml" Id="R60a3104532a947bf" /><Relationship Type="http://schemas.openxmlformats.org/officeDocument/2006/relationships/slide" Target="/ppt/slides/slide1.xml" Id="R7f2a7034517f4ea4" /><Relationship Type="http://schemas.openxmlformats.org/officeDocument/2006/relationships/slide" Target="/ppt/slides/slide2.xml" Id="R0690e60eab4047c9" /><Relationship Type="http://schemas.openxmlformats.org/officeDocument/2006/relationships/slide" Target="/ppt/slides/slide3.xml" Id="Re57c21adfe80471e" /><Relationship Type="http://schemas.openxmlformats.org/officeDocument/2006/relationships/slide" Target="/ppt/slides/slide4.xml" Id="R9f97f3a6e76e4c6a" /><Relationship Type="http://schemas.openxmlformats.org/officeDocument/2006/relationships/slide" Target="/ppt/slides/slide5.xml" Id="R23feb0f218f24fad" /><Relationship Type="http://schemas.openxmlformats.org/officeDocument/2006/relationships/slide" Target="/ppt/slides/slide6.xml" Id="Rbf38cfe3f0094834" /><Relationship Type="http://schemas.openxmlformats.org/officeDocument/2006/relationships/slide" Target="/ppt/slides/slide7.xml" Id="R107b2938574448ca" /><Relationship Type="http://schemas.openxmlformats.org/officeDocument/2006/relationships/slide" Target="/ppt/slides/slide8.xml" Id="Rd1d23bbb0f614031" /><Relationship Type="http://schemas.openxmlformats.org/officeDocument/2006/relationships/slide" Target="/ppt/slides/slide9.xml" Id="R25cf5e6a121c4dad" /><Relationship Type="http://schemas.openxmlformats.org/officeDocument/2006/relationships/slide" Target="/ppt/slides/slide10.xml" Id="Rf634187b76f14ed5" /><Relationship Type="http://schemas.openxmlformats.org/officeDocument/2006/relationships/slide" Target="/ppt/slides/slide11.xml" Id="R2cac8fe6eaf1487e" /><Relationship Type="http://schemas.openxmlformats.org/officeDocument/2006/relationships/slide" Target="/ppt/slides/slide12.xml" Id="R8809291188eb4c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ec9bbd0cad4b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00c128867345f4" /><Relationship Type="http://schemas.openxmlformats.org/officeDocument/2006/relationships/notesMaster" Target="/ppt/notesMasters/notesMaster1.xml" Id="R7ac0704b6a0449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101f2b339546c6" /><Relationship Type="http://schemas.openxmlformats.org/officeDocument/2006/relationships/notesMaster" Target="/ppt/notesMasters/notesMaster1.xml" Id="R2a564833484b41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4a7d9898634e4f" /><Relationship Type="http://schemas.openxmlformats.org/officeDocument/2006/relationships/notesMaster" Target="/ppt/notesMasters/notesMaster1.xml" Id="R10d3a5fc1db642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61aa06b68349a6" /><Relationship Type="http://schemas.openxmlformats.org/officeDocument/2006/relationships/notesMaster" Target="/ppt/notesMasters/notesMaster1.xml" Id="R94712339b20542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01c4d0b4894ae5" /><Relationship Type="http://schemas.openxmlformats.org/officeDocument/2006/relationships/notesMaster" Target="/ppt/notesMasters/notesMaster1.xml" Id="R04746d24c37a44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fa0b23e5334012" /><Relationship Type="http://schemas.openxmlformats.org/officeDocument/2006/relationships/notesMaster" Target="/ppt/notesMasters/notesMaster1.xml" Id="Radf0bef8cd294a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c7d24e38424af0" /><Relationship Type="http://schemas.openxmlformats.org/officeDocument/2006/relationships/notesMaster" Target="/ppt/notesMasters/notesMaster1.xml" Id="R9b47581ba40349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bdfabfc9394729" /><Relationship Type="http://schemas.openxmlformats.org/officeDocument/2006/relationships/notesMaster" Target="/ppt/notesMasters/notesMaster1.xml" Id="Rf34e70a104a149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ba256d731b4886" /><Relationship Type="http://schemas.openxmlformats.org/officeDocument/2006/relationships/notesMaster" Target="/ppt/notesMasters/notesMaster1.xml" Id="R7dfef2b704ca44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7b8f08df9842f4" /><Relationship Type="http://schemas.openxmlformats.org/officeDocument/2006/relationships/notesMaster" Target="/ppt/notesMasters/notesMaster1.xml" Id="Rdeaab3ce89984d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a3341a436241c9" /><Relationship Type="http://schemas.openxmlformats.org/officeDocument/2006/relationships/notesMaster" Target="/ppt/notesMasters/notesMaster1.xml" Id="Rd8f832ddd0b04d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584a0d1f5643a7" /><Relationship Type="http://schemas.openxmlformats.org/officeDocument/2006/relationships/notesMaster" Target="/ppt/notesMasters/notesMaster1.xml" Id="R2d8019bf435f4d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Classification and Model Evaluation. Predict categories and measure the different consequences of classification errors.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starting point is classification versus regression, linear scores, probability, and test data. By the end, you will explain logistic regression in plain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language before using it: logistic regression, probabilities and thresholds, confusion matrix, precision and recall.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P(y=1|x)=1/(1+e^-(β₀+βᵀx)); a threshold turns probability into a class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symbol or component has a job. probability: A number from 0 to 1. threshold: The action boundary. precision: Correct positives among predicted positives. recall: Found positives among actual positives.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 through the values before running code. From TP=8, FP=2, FN=4, calculate precision=0.80, recall≈0.67, and F1≈0.73.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hand-worked mechanism to Python. The observed output is 0.8 0.67 0.73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Logistic regression converts a linear score into a probability with the sigmoid function. Changing the threshold trades false positives against false negatives without retraining. Accuracy can hide failure on a rare class; precision and recall expose different error costs. Use MAE/RMSE/R² for regression and confusion-derived metrics for classification.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concepts from this lesson to read and complete https://github.com/curiousily/AI-Bootcamp/blob/master/04.model-evaluation-techniques.ipynb. Predict what each section does before executing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Using accuracy for a rare but important class. Changing the threshold after viewing the final test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run, inspect, and explain. Evaluate a binary classifier at two thresholds and explain the operational tradeoff.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 the connection between logistic regression, probabilities and thresholds, confusion matrix, precision and recall. Verification evidence: Recalculate every metric from the confusion matrix and justify the selected threshold using error costs.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https://github.com/curiousily/AI-Bootcamp/blob/master/04.model-evaluation-techniques.ipynb</a:t>
            </a:r>
          </a:p>
          <a:p xmlns:a="http://schemas.openxmlformats.org/drawingml/2006/main">
            <a:r>
              <a:t>- https://scikit-learn.org/stable/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b7ad5ce62140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583fcd2a8b4234" /><Relationship Type="http://schemas.openxmlformats.org/officeDocument/2006/relationships/slideLayout" Target="/ppt/slideLayouts/slideLayout1.xml" Id="Rdf25915bf35e4b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25915bf35e4b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252a69b5e47fc" /><Relationship Type="http://schemas.openxmlformats.org/officeDocument/2006/relationships/image" Target="/ppt/media/image.png" Id="R2a387ef9b26446c3" /><Relationship Type="http://schemas.openxmlformats.org/officeDocument/2006/relationships/image" Target="/ppt/media/image2.png" Id="R670d0770531747de" /><Relationship Type="http://schemas.openxmlformats.org/officeDocument/2006/relationships/notesSlide" Target="/ppt/notesSlides/notesSlide1.xml" Id="R2f4bf8a44ba246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76df8b0934e6c" /><Relationship Type="http://schemas.openxmlformats.org/officeDocument/2006/relationships/notesSlide" Target="/ppt/notesSlides/notesSlide2.xml" Id="R3ec8eff8159445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042b99fac4407" /><Relationship Type="http://schemas.openxmlformats.org/officeDocument/2006/relationships/notesSlide" Target="/ppt/notesSlides/notesSlide3.xml" Id="R9313d9a9cdcb4d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2d5fe4d06429e" /><Relationship Type="http://schemas.openxmlformats.org/officeDocument/2006/relationships/notesSlide" Target="/ppt/notesSlides/notesSlide4.xml" Id="R3c026235f3b64b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31752c3a642ee" /><Relationship Type="http://schemas.openxmlformats.org/officeDocument/2006/relationships/notesSlide" Target="/ppt/notesSlides/notesSlide5.xml" Id="Ra3e2e7797a2e48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a3138cde447e0" /><Relationship Type="http://schemas.openxmlformats.org/officeDocument/2006/relationships/notesSlide" Target="/ppt/notesSlides/notesSlide6.xml" Id="R842e4f560b624c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74f5389e4447e" /><Relationship Type="http://schemas.openxmlformats.org/officeDocument/2006/relationships/notesSlide" Target="/ppt/notesSlides/notesSlide7.xml" Id="Re88de2a7147e43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5083fe4d64275" /><Relationship Type="http://schemas.openxmlformats.org/officeDocument/2006/relationships/notesSlide" Target="/ppt/notesSlides/notesSlide8.xml" Id="R53a4608bd6ad42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b4a2c0c4f4227" /><Relationship Type="http://schemas.openxmlformats.org/officeDocument/2006/relationships/notesSlide" Target="/ppt/notesSlides/notesSlide9.xml" Id="R7d0c7f07a65d43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3d9ed6c494b80" /><Relationship Type="http://schemas.openxmlformats.org/officeDocument/2006/relationships/notesSlide" Target="/ppt/notesSlides/notesSlide10.xml" Id="R6b5a27cde8654b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3c35e048340a8" /><Relationship Type="http://schemas.openxmlformats.org/officeDocument/2006/relationships/notesSlide" Target="/ppt/notesSlides/notesSlide11.xml" Id="R2ec5bcb054b543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d6d78691f4205" /><Relationship Type="http://schemas.openxmlformats.org/officeDocument/2006/relationships/image" Target="/ppt/media/image3.png" Id="R06e83c1df59e4bd1" /><Relationship Type="http://schemas.openxmlformats.org/officeDocument/2006/relationships/notesSlide" Target="/ppt/notesSlides/notesSlide12.xml" Id="R4e76837f9f5d46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0C50F-26A0-40E7-BD5E-3443E613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87ef9b26446c3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97921-3BC0-4A75-A293-11CC793A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EC6F1-2CD9-44FF-887B-736ED5DC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08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9C8C7-3691-4EF7-BD4A-E6FA52C2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Classification and Model 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7494A-571E-48BD-8A65-E28743AD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C6303-F617-42F9-8BD3-2398502B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Predict categories and measure the different consequences of classification errors.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d0770531747de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7641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51AE0-18FC-4C79-84BC-D310B256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M08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A48EF-245C-443F-ADFA-97B39BFD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Classification and Model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CA35C-C563-45FF-830F-60E6ED6C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87FF3-2788-42BB-9AE5-E1F8C5CD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WHY THIS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F2170-0370-4A20-90C0-0A5D78B7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C9CAD-B0BC-421D-BD4C-468FF8A3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Start from what you already know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58733-F606-42E0-84C6-251FCABF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DB"/>
                </a:solidFill>
              </a:defRPr>
            </a:pPr>
            <a:r>
              <a:rPr sz="2025" b="1">
                <a:solidFill>
                  <a:srgbClr val="176BDB"/>
                </a:solidFill>
              </a:rPr>
              <a:t>Classification versus regression, linear scores, probability, and test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04B06-E955-4D07-850C-37C1251A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446BF-3FAC-4693-8662-640BBAF6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05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Explain logistic regression in plain language.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8E42C-D9AC-4296-9F24-D63DA77B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23254-A173-4CD2-A5C6-76497F4F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910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Use probabilities and thresholds in a small worked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E6185B-2C95-4AA4-8C8F-EA2D7C10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77397-C3AA-4D69-846B-4E4C50C3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7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Complete the guided lab and verify precision and recall.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E974F-0C76-4212-93F4-601B5DF1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219200"/>
            <a:ext cx="6096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65B89-32D9-4756-A603-C27F3BE0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095500"/>
            <a:ext cx="228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4118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945F1D-96B2-41E5-AE87-30DFD065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M08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8B023-AB97-46EB-878E-AC24C1AB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Classification and Model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ACBC3-F6D5-46CD-B84E-8198F562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939FD-806F-47BB-A688-ACF709FE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ED4A3-C7E1-4076-A497-CB9CDAFB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The vocabulary of this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8E00D-3B66-4A33-A3B1-2AA1C387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65CDA-B5F1-4E2E-B907-FCA28F4C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Predict categories and measure the different consequences of classification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CF757-7DF5-4ED3-96BD-C7D48890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8FC71-F034-47A2-ACA1-43D15EE9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logistic regression: Logistic regression maps a linear score to a probability for a binary outcome.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41FD3-846E-446F-A3D6-80213B55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A9CE4-1340-4BAC-9417-708EC7EF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probabilities and thresholds: A probability represents uncertainty; a threshold converts that probability into an action or class.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AE58E-D47F-40D9-8968-8B68D891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6767C-7AA3-41EB-90A5-C79C84D8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confusion matrix: A confusion matrix counts correct and incorrect predictions for each actual and predicted class.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D4AF5-EE4D-470E-B626-2D3EA8BE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C1861-F657-45B4-A522-EA484495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precision and recall: Precision measures positive prediction reliability; recall measures coverage of actual positives.</a:t>
            </a:r>
          </a:p>
        </p:txBody>
      </p:sp>
    </p:spTree>
    <p:extLst>
      <p:ext uri="{BB962C8B-B14F-4D97-AF65-F5344CB8AC3E}">
        <p14:creationId xmlns:p14="http://schemas.microsoft.com/office/powerpoint/2010/main" val="21311155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A7E311-F85E-4D90-9F38-6BBC97C4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M08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BB522-93BE-4CB2-8D88-C7D0532A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Classification and Model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9669B-23EB-466F-948B-0236C636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8C58A-997F-4957-85EC-00DFE1DB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03272-B5C7-48D3-AFBF-E87E3DF0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How the concept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478E0-C6C0-4BF7-8BE6-E51C5BEB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CF477-BEE6-480E-BEC4-1DA181DF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02277-F533-4C7F-B3ED-4FFDF996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logistic regression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39C84-C464-4943-9DFF-2426DD0F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5C8A9-013F-477F-82B0-25690420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4135BE-6B8B-4F71-9BF1-289145ED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7DBF2-C288-44A1-ACAE-C40FF8E2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probabilities and thresholds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7AE71-C0C8-4E7C-BA63-3DEE04F1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77E88-257E-47C0-9A88-2163037B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992DD-205A-4560-AF7E-4405E8FC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A85349-5039-4F97-8F4F-FD6B7908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confusion matrix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90294-F1A2-4970-B013-729D3AF7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6E5BDC-5689-4D65-A636-2D7A30AD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8B0DAE-13F3-40D6-B146-565F97E5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C59447-6267-438D-97DA-C07A4112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precision and recall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BEF8A4-9427-471E-A965-E7DD5D5F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P(y=1|x)=1/(1+e^-(β₀+βᵀx)); a threshold turns probability into a class decision.</a:t>
            </a:r>
          </a:p>
        </p:txBody>
      </p:sp>
    </p:spTree>
    <p:extLst>
      <p:ext uri="{BB962C8B-B14F-4D97-AF65-F5344CB8AC3E}">
        <p14:creationId xmlns:p14="http://schemas.microsoft.com/office/powerpoint/2010/main" val="4615013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EF1FF-A561-40D9-A885-683FFE11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M08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E7B1A-18BF-45FF-BADA-8A31641E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Classification and Model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E4D25-9427-44C3-A894-87592A71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2CA2B-E2C8-41C9-A177-CCE0B832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CDDAA-DA4F-4A3F-A4C2-B3BF94DD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Read every part of the mechanism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7644D-B164-4E1D-A565-8911DFDB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FD709-4092-4204-997C-5F76D613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P(y=1|x)=1/(1+e^-(β₀+βᵀx)); a threshold turns probability into a class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45B96-F204-4C76-8F8B-4BD22B9B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57056-6321-4A5C-9C8D-9FC3CD85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probability: A number from 0 to 1.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28C0C-DCEF-4860-965B-6B7AA4EB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EA5CD-6C89-41EA-B3B8-0E20FFE1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threshold: The action boundary.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B30E8-CEBA-4C92-B79A-8CE0408D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56EAC-FE37-4A05-8AFF-19220941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precision: Correct positives among predicted positives.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58225-36D8-40FA-A12F-1B7B4D45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4E6D5-7F7D-4237-A27A-95ED6B84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recall: Found positives among actual positives.</a:t>
            </a:r>
          </a:p>
        </p:txBody>
      </p:sp>
    </p:spTree>
    <p:extLst>
      <p:ext uri="{BB962C8B-B14F-4D97-AF65-F5344CB8AC3E}">
        <p14:creationId xmlns:p14="http://schemas.microsoft.com/office/powerpoint/2010/main" val="12268206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ABAAA4-DFB2-4ABF-A5C8-469E0E53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M08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5D247-3989-4D8E-BF88-E82358BF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Classification and Model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E6E7A-38DF-4F63-A718-0EEF81FF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8203C-4B40-4DD6-80F6-E5E9718C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WORKED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42FD6-FF4E-4350-BEBA-1682D1DE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Worked example by hand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A2745-CA47-49AF-A093-C6B40537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38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220"/>
                </a:solidFill>
              </a:defRPr>
            </a:pPr>
            <a:r>
              <a:rPr sz="2325" b="1">
                <a:solidFill>
                  <a:srgbClr val="0B1220"/>
                </a:solidFill>
              </a:rPr>
              <a:t>From TP=8, FP=2, FN=4, calculate precision=0.80, recall≈0.67, and F1≈0.73.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BE8D7-108E-42F0-A296-17B2C838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680B7-1004-48ED-B79D-BC6A308D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0DAA5-1897-4CDF-8B5E-787616CF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Known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61C1E-E86D-4901-9C4E-4D68DF04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B869D-9821-4B3B-A4E4-7F87B0A8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913F9-6101-4F64-9ED6-7EC86A5A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Apply the mechanism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EC570-5D91-4EAC-BB43-068AD634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6B5F"/>
                </a:solidFill>
              </a:defRPr>
            </a:pPr>
            <a:r>
              <a:rPr sz="1200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A8B76-8136-4CD5-AC3D-03F44D5A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B4484D-9AE8-45B1-A499-83902926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Interpret the result</a:t>
            </a:r>
          </a:p>
        </p:txBody>
      </p:sp>
    </p:spTree>
    <p:extLst>
      <p:ext uri="{BB962C8B-B14F-4D97-AF65-F5344CB8AC3E}">
        <p14:creationId xmlns:p14="http://schemas.microsoft.com/office/powerpoint/2010/main" val="12717743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E2C2F-9E4D-4CD2-9E7B-799865E1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M08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14C08-56E2-4B5F-A949-F96AA7CA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Classification and Model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40430-8465-4514-9A8B-9DFF29EB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8C893-C049-4F9D-9E58-0964F9F2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54058-E767-4F7A-8C35-592BA625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Map the concept to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21BDE-8EB4-475D-8845-EC16D7C5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51D2E-DCB9-44F1-8F6F-85EE392F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E7802-CF11-4C8E-94A1-ACA5F272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21FC6-8CEF-45A6-AEB4-EEE23761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82722-B261-4F61-A911-2B1A342B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9F610-AE27-48C7-AE16-C3A111D8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tp, fp, fn = 8, 2, 4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precision = tp / (tp + fp)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recall = tp / (tp + fn)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f1 = 2 * precision * recall / (precision + recall)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print(round(precision, 2), round(recall, 2), round(f1, 2))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D4439-B2EB-49FB-BF86-D0AB7088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AFBAE-7FF9-43BB-BC64-36A08D3A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3CBB7-96B6-40AE-8E7F-EB2DBC43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0.8 0.67 0.73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5B7B5-CF29-4C90-B672-D310D67C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B9860-EACF-4C84-997E-7C9CD478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Each line corresponds to a concept already explained.</a:t>
            </a:r>
          </a:p>
        </p:txBody>
      </p:sp>
    </p:spTree>
    <p:extLst>
      <p:ext uri="{BB962C8B-B14F-4D97-AF65-F5344CB8AC3E}">
        <p14:creationId xmlns:p14="http://schemas.microsoft.com/office/powerpoint/2010/main" val="9907792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3ED707-6453-489F-9081-AC98EA71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M08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7D5F7-2709-4F0D-82E2-BAE2B25C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Classification and Model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FE422-870B-48C2-883E-887BC04E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C5843-2482-4C8E-8220-63D950EE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9FDDD-0AB7-4110-BE78-73B4AC75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Build the complete mental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E319B-6891-40C8-AD23-E58C3854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0A1F4-5995-45FC-B325-1FC7B13C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4D6BC-02D3-44E8-9155-027B5659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Logistic regression converts a linear score into a probability with the sigmoid function.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87DA5-2882-4F0E-9021-347673DB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B50C7-DA67-4366-AC92-74176AD1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47185-784D-4309-AD6D-BF98A3A9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BCEE2-274A-4D84-A5AE-8DB02E6D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Changing the threshold trades false positives against false negatives without retraining.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4C11B-2A20-41AC-AF1D-6E93F116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33439-BA0D-48B1-81F5-A958B1C9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D123D6-E044-4DCD-9749-55361B5C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846A2A-BBEF-4507-870A-7904F5A1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Accuracy can hide failure on a rare class; precision and recall expose different error costs.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5D528-DCE9-451B-973D-580B19F2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6DAF54-5EC4-45A6-855C-5451DD9A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3594F-B9F5-4204-9380-A4AB15BA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5A7F80-6960-44AE-B845-9B3DB215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Use MAE/RMSE/R² for regression and confusion-derived metrics for classification.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C73463-1B8D-450D-855A-5A826D40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409999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830710-1C45-44C3-886C-C4406179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M08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958E9-8AFD-4A76-A1D6-B64BF02E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Classification and Model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7FAC7-DC6F-424D-B985-80749B15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703CA-7104-49FD-B8F6-8C4192BB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A87B3-2CA8-4E43-83F1-2A97DDF1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Notebook readiness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B12A6-E82B-4D1C-8742-1F27974C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DE73E-60C7-4F58-80EF-6D21359E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CD7C7-4EE1-4993-8F85-C11316B8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logistic regression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EC940-49AC-4366-B61E-47C7717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80904-6F73-410E-958D-9B37B84E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64C53-5DC2-4EF5-819C-33440658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1F9B5-36C3-414A-9E60-1BD943EB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probabilities and thresholds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A3ECC-A653-4591-96EF-7C157181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80A4F-8994-4E7B-BF1D-B6990F5D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18FF1-74FF-4A08-AD07-78943BF8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1F278-0C75-4413-A4E7-EF89B428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confusion matrix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6C85A-EEF1-4EFF-AC42-F557783D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5D4836-D295-4409-A1B6-E765E2FB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673106-ECC8-40AA-A39A-BF2F51B7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51EED7-56A2-4440-9EC0-C808C64D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precision and recall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5025FF-35D0-4C2A-A92F-83B17FEC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Use the concepts from this lesson to read and complete https://github.com/curiousily/AI-Bootcamp/blob/master/04.model-evaluation-techniques.ipynb.</a:t>
            </a:r>
          </a:p>
        </p:txBody>
      </p:sp>
    </p:spTree>
    <p:extLst>
      <p:ext uri="{BB962C8B-B14F-4D97-AF65-F5344CB8AC3E}">
        <p14:creationId xmlns:p14="http://schemas.microsoft.com/office/powerpoint/2010/main" val="10895035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5AA7F-AD1C-4B34-AB95-C9340833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M08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E33E8-9516-43F8-9F9E-AFC36EDB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Classification and Model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9F304-1399-4822-8B04-4CFD4B79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84AEC-F143-49A3-B544-6FCE29E0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RISK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517DD-E115-45A5-86CC-D4FE9EF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Common beginner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67FC8-63B0-485E-87F9-10EA41E2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11B6F-58CC-4089-9D86-2C395A8A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ACC1A-8E26-47C6-A6F9-DFB6A121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907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Using accuracy for a rare but important class.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16385-CA34-407D-86B7-61794F20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F508E-42F0-4882-A16E-A2B61F3F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927C1-0F56-4D9A-B94F-6DE96880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Changing the threshold after viewing the final test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59709-54B0-430A-8E3B-9C18B99F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549031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79F37-7DA7-4488-9E38-6F7DF235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M08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E5F0D-6C35-4CE6-8CC8-388102B3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Classification and Model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CA345-F5BD-4132-9934-2962B68D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EC948-1576-4114-96A8-113958FD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228D3-FEC7-4FC5-9DB7-96481D39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Evaluate a binary classifier at two thresholds and explain the operational tradeoff.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5C23A-1B79-4F34-90AC-B5F21302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7EB0D-2612-42DA-A557-79ED127F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8CE5D-4032-42D0-A06A-A9633E68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C94F7-7988-4952-A7E0-D55CFF39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50118-4FD6-4D9F-A91E-96F1D9B5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66F46-FB2F-4FF3-A6A7-E4C1A501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2A6CC-D1B4-4B14-875C-32B29E90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B0DC1-1156-45AB-9DBA-41BF20BB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3EC9C-8E27-43C8-9D44-C4A5A119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BD862-A894-443E-BFE4-3D3A39F0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ED9A9-1CC9-47FF-9DFB-0F99957C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D9706-134E-4411-AD2B-A3D10BAF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1969652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F0A1E-BA13-488B-9D12-884CF095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M08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C51E8-A241-470C-BC4A-9C915ADF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Classification and Model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51745-E65E-41C4-8693-BCE2203D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35F11-3438-4483-8BDA-3826AD5D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SESSION SYNTHESIS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53F62-A372-44F8-B40F-5115B278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Keep the system, not isolated definitions.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B8F67-753F-4FC8-8411-26C7E920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C2591-D481-43E6-92B0-71C749E7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860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Explain logistic regression in plain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4D311-6525-4C0A-A65D-9EE42270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0A72A-A123-4A3A-B3AA-D248B01C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05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Use probabilities and thresholds in a small worked example.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AA54B-ECFC-4C84-95A2-AA43BFB7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50DD0-9D83-4F9B-BD5F-ABF60152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243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Complete the guided lab and verify precision and recall.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776FA-91F2-4296-9B47-13DA1A5C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6B5F"/>
                </a:solidFill>
              </a:defRPr>
            </a:pPr>
            <a:r>
              <a:rPr sz="900" b="1">
                <a:solidFill>
                  <a:srgbClr val="F06B5F"/>
                </a:solidFill>
              </a:rPr>
              <a:t>NEXT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18CE7-431D-40FB-B825-AC528AD6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4095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An evaluation notebook with a confusion matrix, metric calculations, threshold comparison, and recommendation.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83c1df59e4bd1"/>
          <a:stretch xmlns:a="http://schemas.openxmlformats.org/drawingml/2006/main"/>
        </p:blipFill>
        <p:spPr>
          <a:xfrm xmlns:a="http://schemas.openxmlformats.org/drawingml/2006/main">
            <a:off x="9791700" y="5905500"/>
            <a:ext cx="13716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7436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2026-07-28T16:53:14.8710000Z</dcterms:created>
  <dcterms:modified xsi:type="dcterms:W3CDTF">2026-07-28T16:53:14.8710000Z</dcterms:modified>
</coreProperties>
</file>