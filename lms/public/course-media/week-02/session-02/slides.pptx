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7b73c912dda4d1f" /><Relationship Type="http://schemas.openxmlformats.org/officeDocument/2006/relationships/extended-properties" Target="/docProps/app.xml" Id="R4ebae19235eb422c" /><Relationship Type="http://schemas.openxmlformats.org/officeDocument/2006/relationships/officeDocument" Target="/ppt/presentation.xml" Id="R6e0196ed9be94eb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8eedcd116d4432b"/>
  </p:sldMasterIdLst>
  <p:notesMasterIdLst>
    <p:notesMasterId xmlns:r="http://schemas.openxmlformats.org/officeDocument/2006/relationships" r:id="R64ea6717136843b6"/>
  </p:notesMasterIdLst>
  <p:sldIdLst>
    <p:sldId xmlns:r="http://schemas.openxmlformats.org/officeDocument/2006/relationships" id="256" r:id="R9017b16935e24a42"/>
    <p:sldId xmlns:r="http://schemas.openxmlformats.org/officeDocument/2006/relationships" id="257" r:id="Rbc148be1e6cf4c69"/>
    <p:sldId xmlns:r="http://schemas.openxmlformats.org/officeDocument/2006/relationships" id="258" r:id="Rc4b80aa61fa044a3"/>
    <p:sldId xmlns:r="http://schemas.openxmlformats.org/officeDocument/2006/relationships" id="259" r:id="Rbff02788db8a4c5e"/>
    <p:sldId xmlns:r="http://schemas.openxmlformats.org/officeDocument/2006/relationships" id="260" r:id="R581c28b24ae64d4b"/>
    <p:sldId xmlns:r="http://schemas.openxmlformats.org/officeDocument/2006/relationships" id="261" r:id="R73c001e406bc4701"/>
    <p:sldId xmlns:r="http://schemas.openxmlformats.org/officeDocument/2006/relationships" id="262" r:id="R1c5895ba03434ef8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436774f613d4703" /><Relationship Type="http://schemas.openxmlformats.org/officeDocument/2006/relationships/slideMaster" Target="/ppt/slideMasters/slideMaster1.xml" Id="Ra8eedcd116d4432b" /><Relationship Type="http://schemas.openxmlformats.org/officeDocument/2006/relationships/notesMaster" Target="/ppt/notesMasters/notesMaster1.xml" Id="R64ea6717136843b6" /><Relationship Type="http://schemas.openxmlformats.org/officeDocument/2006/relationships/presProps" Target="/ppt/presProps.xml" Id="R93a2355641214443" /><Relationship Type="http://schemas.openxmlformats.org/officeDocument/2006/relationships/tableStyles" Target="/ppt/tableStyles.xml" Id="R4a2038577e114c55" /><Relationship Type="http://schemas.openxmlformats.org/officeDocument/2006/relationships/slide" Target="/ppt/slides/slide1.xml" Id="R9017b16935e24a42" /><Relationship Type="http://schemas.openxmlformats.org/officeDocument/2006/relationships/slide" Target="/ppt/slides/slide2.xml" Id="Rbc148be1e6cf4c69" /><Relationship Type="http://schemas.openxmlformats.org/officeDocument/2006/relationships/slide" Target="/ppt/slides/slide3.xml" Id="Rc4b80aa61fa044a3" /><Relationship Type="http://schemas.openxmlformats.org/officeDocument/2006/relationships/slide" Target="/ppt/slides/slide4.xml" Id="Rbff02788db8a4c5e" /><Relationship Type="http://schemas.openxmlformats.org/officeDocument/2006/relationships/slide" Target="/ppt/slides/slide5.xml" Id="R581c28b24ae64d4b" /><Relationship Type="http://schemas.openxmlformats.org/officeDocument/2006/relationships/slide" Target="/ppt/slides/slide6.xml" Id="R73c001e406bc4701" /><Relationship Type="http://schemas.openxmlformats.org/officeDocument/2006/relationships/slide" Target="/ppt/slides/slide7.xml" Id="R1c5895ba03434ef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87353a472564d2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0c45039c0bf42ed" /><Relationship Type="http://schemas.openxmlformats.org/officeDocument/2006/relationships/notesMaster" Target="/ppt/notesMasters/notesMaster1.xml" Id="Re19df8b18f824bad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6998c5a63c0944c4" /><Relationship Type="http://schemas.openxmlformats.org/officeDocument/2006/relationships/notesMaster" Target="/ppt/notesMasters/notesMaster1.xml" Id="R0ae7ed3f92ec495d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65482a00535444c0" /><Relationship Type="http://schemas.openxmlformats.org/officeDocument/2006/relationships/notesMaster" Target="/ppt/notesMasters/notesMaster1.xml" Id="Re01c01fa34d34c94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6a853254df0e4f87" /><Relationship Type="http://schemas.openxmlformats.org/officeDocument/2006/relationships/notesMaster" Target="/ppt/notesMasters/notesMaster1.xml" Id="R8530d476bd32461c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fb38664ff60246e3" /><Relationship Type="http://schemas.openxmlformats.org/officeDocument/2006/relationships/notesMaster" Target="/ppt/notesMasters/notesMaster1.xml" Id="R895bdd9dd2e3484c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d576075aa0494683" /><Relationship Type="http://schemas.openxmlformats.org/officeDocument/2006/relationships/notesMaster" Target="/ppt/notesMasters/notesMaster1.xml" Id="Rba396b0dbafd42c1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ce70ac63becb49ac" /><Relationship Type="http://schemas.openxmlformats.org/officeDocument/2006/relationships/notesMaster" Target="/ppt/notesMasters/notesMaster1.xml" Id="R0fba9a0b88b1441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An API is a contract between systems. We validate status, schema, and timeouts before data reaches analysis, then keep interface state separate from the data layer.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DS Academy curriculum manifest: Week 2, session 2: APIs and Interactive Data Apps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By the end of this session, learners should be able to Call HTTP APIs safely and validate responses. Design a JSON endpoint with clear failure states. Build an interactive interface around a data workflow.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DS Academy curriculum manifest: Learning outcomes for APIs and Interactive Data Apps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these four concepts as a system rather than isolated vocabulary: HTTP, JSON, API contracts, application state.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DS Academy curriculum manifest: Core concepts for APIs and Interactive Data Apps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Apply the session content through a four-stage reasoning loop: define the question, transform deliberately, validate assumptions, and communicate the evidence.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DS Academy curriculum manifest: DS Academy teaching framework applied to APIs and Interactive Data Apps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Guide learners through the lab without completing the reasoning for them. Ask for an explicit frame, a minimal implementation, boundary tests, and an evidence note.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DS Academy curriculum manifest: Guided lab for APIs and Interactive Data Apps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deliverable is A documented API client and a small interactive app. Use the weekly assessment rubric as a quality gate, not as an after-the-fact scoring checklist.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DS Academy curriculum manifest: Portfolio deliverable and assessment rubric for week 2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An API is a contract between systems. We validate status, schema, and timeouts before data reaches analysis, then keep interface state separate from the data layer.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DS Academy curriculum manifest: Session summary for APIs and Interactive Data Apps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179539a4a664887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e3474de42d6e41a5" /><Relationship Type="http://schemas.openxmlformats.org/officeDocument/2006/relationships/slideLayout" Target="/ppt/slideLayouts/slideLayout1.xml" Id="R217cf80fcbca45a4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17cf80fcbca45a4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58890aa1e154ee5" /><Relationship Type="http://schemas.openxmlformats.org/officeDocument/2006/relationships/image" Target="/ppt/media/image.png" Id="R0c58cf2b03df4e97" /><Relationship Type="http://schemas.openxmlformats.org/officeDocument/2006/relationships/image" Target="/ppt/media/image2.png" Id="Rf57ebcd5b34c40df" /><Relationship Type="http://schemas.openxmlformats.org/officeDocument/2006/relationships/notesSlide" Target="/ppt/notesSlides/notesSlide1.xml" Id="R0697ef11b17c49e6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87253c56c7c413c" /><Relationship Type="http://schemas.openxmlformats.org/officeDocument/2006/relationships/notesSlide" Target="/ppt/notesSlides/notesSlide2.xml" Id="Rb0843e43584447bc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5a01b21424c4d8e" /><Relationship Type="http://schemas.openxmlformats.org/officeDocument/2006/relationships/notesSlide" Target="/ppt/notesSlides/notesSlide3.xml" Id="R06190785da52405e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398ce550eff4ef9" /><Relationship Type="http://schemas.openxmlformats.org/officeDocument/2006/relationships/notesSlide" Target="/ppt/notesSlides/notesSlide4.xml" Id="R79589d9a952a418d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efeeb8f28c9449b" /><Relationship Type="http://schemas.openxmlformats.org/officeDocument/2006/relationships/notesSlide" Target="/ppt/notesSlides/notesSlide5.xml" Id="R6d7a0db23c6e49be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f2da6470b264dbe" /><Relationship Type="http://schemas.openxmlformats.org/officeDocument/2006/relationships/notesSlide" Target="/ppt/notesSlides/notesSlide6.xml" Id="R9fc5fe38d4fd4b92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408b44673ec4970" /><Relationship Type="http://schemas.openxmlformats.org/officeDocument/2006/relationships/notesSlide" Target="/ppt/notesSlides/notesSlide7.xml" Id="Rfb105027ce2e4ab7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1D99531-35A0-4CF1-AAF2-B47CB8F601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A7C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17E766A-95E7-490E-8BA0-A4F5351B1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0"/>
            <a:ext cx="56197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c58cf2b03df4e97"/>
          <a:srcRect xmlns:a="http://schemas.openxmlformats.org/drawingml/2006/main" l="23736" t="0" r="23736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791200" y="0"/>
            <a:ext cx="6400800" cy="685800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DC33D38-C95A-4625-82C4-972BF6F272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62000"/>
            <a:ext cx="3905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176BDB"/>
                </a:solidFill>
              </a:defRPr>
            </a:pPr>
            <a:r>
              <a:rPr sz="1050" b="1">
                <a:solidFill>
                  <a:srgbClr val="176BDB"/>
                </a:solidFill>
              </a:rPr>
              <a:t>WEEK 02  ·  SESSION 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206AFDD-7260-4F76-A4E6-8C69194992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85900"/>
            <a:ext cx="4514850" cy="1790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675" b="1">
                <a:solidFill>
                  <a:srgbClr val="172033"/>
                </a:solidFill>
              </a:defRPr>
            </a:pPr>
            <a:r>
              <a:rPr sz="3675" b="1">
                <a:solidFill>
                  <a:srgbClr val="172033"/>
                </a:solidFill>
              </a:rPr>
              <a:t>APIs and Interactive Data Apps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95163B7-C69F-454F-9A46-15FE6D5B2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524250"/>
            <a:ext cx="7048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776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AFCE180-4B79-41A9-8DFC-4ED60B7E1E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886200"/>
            <a:ext cx="44386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58657A"/>
                </a:solidFill>
              </a:defRPr>
            </a:pPr>
            <a:r>
              <a:rPr sz="1575">
                <a:solidFill>
                  <a:srgbClr val="58657A"/>
                </a:solidFill>
              </a:rPr>
              <a:t>Turn notebooks into maintainable projects that obtain and expose data.</a:t>
            </a:r>
          </a:p>
        </p:txBody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57ebcd5b34c40df"/>
          <a:stretch xmlns:a="http://schemas.openxmlformats.org/drawingml/2006/main"/>
        </p:blipFill>
        <p:spPr>
          <a:xfrm xmlns:a="http://schemas.openxmlformats.org/drawingml/2006/main">
            <a:off x="666750" y="5810250"/>
            <a:ext cx="1714500" cy="5715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154764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7474B71-98E0-41D9-968F-A842EEA9A9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4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A7C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34DD759-2743-4141-89B9-ED03F7E428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66700"/>
            <a:ext cx="3238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176BDB"/>
                </a:solidFill>
              </a:defRPr>
            </a:pPr>
            <a:r>
              <a:rPr sz="900" b="1">
                <a:solidFill>
                  <a:srgbClr val="176BDB"/>
                </a:solidFill>
              </a:rPr>
              <a:t>WEEK 02  /  SESSION 02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6937635-4669-4CB3-8260-9B59839E58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42925"/>
            <a:ext cx="8763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72033"/>
                </a:solidFill>
              </a:defRPr>
            </a:pPr>
            <a:r>
              <a:rPr sz="2550" b="1">
                <a:solidFill>
                  <a:srgbClr val="172033"/>
                </a:solidFill>
              </a:rPr>
              <a:t>Learning outcomes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716A45B-1EC8-47A4-B677-4E0BA2FB7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34625" y="323850"/>
            <a:ext cx="13811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58657A"/>
                </a:solidFill>
              </a:defRPr>
            </a:pPr>
            <a:r>
              <a:rPr sz="900" b="1">
                <a:solidFill>
                  <a:srgbClr val="58657A"/>
                </a:solidFill>
              </a:rPr>
              <a:t>DS ACADEMY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E86CAD3-6296-42D0-AD7D-B1D2FF942B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181100"/>
            <a:ext cx="112204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2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54A98AC-ED74-4BBC-9330-46A4FCA33F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562100"/>
            <a:ext cx="8001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76BDB"/>
                </a:solidFill>
              </a:defRPr>
            </a:pPr>
            <a:r>
              <a:rPr sz="2700" b="1">
                <a:solidFill>
                  <a:srgbClr val="176BDB"/>
                </a:solidFill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12534BC-50A6-4DBB-B048-DA89B1D56A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2575" y="1809750"/>
            <a:ext cx="800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2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05433AE-D0C9-46CD-85F4-1A8C870D83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1533525"/>
            <a:ext cx="8096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72033"/>
                </a:solidFill>
              </a:defRPr>
            </a:pPr>
            <a:r>
              <a:rPr sz="1875" b="1">
                <a:solidFill>
                  <a:srgbClr val="172033"/>
                </a:solidFill>
              </a:rPr>
              <a:t>Call HTTP APIs safely and validate responses.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51B1037-B977-4DA0-BABC-12A652DCF6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990850"/>
            <a:ext cx="8001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8A7C9"/>
                </a:solidFill>
              </a:defRPr>
            </a:pPr>
            <a:r>
              <a:rPr sz="2700" b="1">
                <a:solidFill>
                  <a:srgbClr val="08A7C9"/>
                </a:solidFill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D71EC1A-4C89-40B0-B017-B8E006A376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2575" y="3238500"/>
            <a:ext cx="800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2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64EC011-4AD8-49CF-8F2F-6ED433AE43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2962275"/>
            <a:ext cx="8096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72033"/>
                </a:solidFill>
              </a:defRPr>
            </a:pPr>
            <a:r>
              <a:rPr sz="1875" b="1">
                <a:solidFill>
                  <a:srgbClr val="172033"/>
                </a:solidFill>
              </a:rPr>
              <a:t>Design a JSON endpoint with clear failure states.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3E16E6D-8E9C-4FE3-B407-05C6B8B306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419600"/>
            <a:ext cx="8001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76BDB"/>
                </a:solidFill>
              </a:defRPr>
            </a:pPr>
            <a:r>
              <a:rPr sz="2700" b="1">
                <a:solidFill>
                  <a:srgbClr val="176BDB"/>
                </a:solidFill>
              </a:rPr>
              <a:t>03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9B0A899-C512-47C2-85BC-947511EB9B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2575" y="4667250"/>
            <a:ext cx="800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776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FE8ABA4-6E0A-4C37-9EDD-AA31B919A9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4391025"/>
            <a:ext cx="8096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72033"/>
                </a:solidFill>
              </a:defRPr>
            </a:pPr>
            <a:r>
              <a:rPr sz="1875" b="1">
                <a:solidFill>
                  <a:srgbClr val="172033"/>
                </a:solidFill>
              </a:rPr>
              <a:t>Build an interactive interface around a data workflow.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1CFC2B7-C137-4A68-AFCF-1B277408E6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77000"/>
            <a:ext cx="342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>
                <a:solidFill>
                  <a:srgbClr val="58657A"/>
                </a:solidFill>
              </a:defRPr>
            </a:pPr>
            <a:r>
              <a:rPr sz="750">
                <a:solidFill>
                  <a:srgbClr val="58657A"/>
                </a:solidFill>
              </a:rPr>
              <a:t>End-to-End Data Science &amp; AI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6C63147-4A52-421A-B404-83499664F8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77000"/>
            <a:ext cx="438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176BDB"/>
                </a:solidFill>
              </a:defRPr>
            </a:pPr>
            <a:r>
              <a:rPr sz="750" b="1">
                <a:solidFill>
                  <a:srgbClr val="176BDB"/>
                </a:solidFill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201760350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8B02B35-DB10-4798-B4D5-DB2B02408D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4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A7C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A436DB1-5F77-40B0-B9B6-A8B0970E26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66700"/>
            <a:ext cx="3238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176BDB"/>
                </a:solidFill>
              </a:defRPr>
            </a:pPr>
            <a:r>
              <a:rPr sz="900" b="1">
                <a:solidFill>
                  <a:srgbClr val="176BDB"/>
                </a:solidFill>
              </a:rPr>
              <a:t>WEEK 02  /  SESSION 02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6B525F3-ABD4-4A5D-A497-CAB31282CC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42925"/>
            <a:ext cx="8763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72033"/>
                </a:solidFill>
              </a:defRPr>
            </a:pPr>
            <a:r>
              <a:rPr sz="2550" b="1">
                <a:solidFill>
                  <a:srgbClr val="172033"/>
                </a:solidFill>
              </a:rPr>
              <a:t>The concept system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61105C7-8314-4D1A-98C5-9698DC7134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34625" y="323850"/>
            <a:ext cx="13811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58657A"/>
                </a:solidFill>
              </a:defRPr>
            </a:pPr>
            <a:r>
              <a:rPr sz="900" b="1">
                <a:solidFill>
                  <a:srgbClr val="58657A"/>
                </a:solidFill>
              </a:rPr>
              <a:t>DS ACADEMY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C901571-547B-4D0D-8688-FF1CEAF0D7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181100"/>
            <a:ext cx="112204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2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2EBDC2E-1F84-41F2-AEC7-BB43A461D6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733550"/>
            <a:ext cx="4762500" cy="16192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EDF4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2873CCE-6882-4B25-BE0F-662A3E91A7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733550"/>
            <a:ext cx="9525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BD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D29BABF-6FDD-4BB5-8B55-CF04047662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971675"/>
            <a:ext cx="552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58657A"/>
                </a:solidFill>
              </a:defRPr>
            </a:pPr>
            <a:r>
              <a:rPr sz="1050" b="1">
                <a:solidFill>
                  <a:srgbClr val="58657A"/>
                </a:solidFill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A28B0E5-013D-4CDE-B35D-3D46D7963A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390775"/>
            <a:ext cx="4000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72033"/>
                </a:solidFill>
              </a:defRPr>
            </a:pPr>
            <a:r>
              <a:rPr sz="2025" b="1">
                <a:solidFill>
                  <a:srgbClr val="172033"/>
                </a:solidFill>
              </a:rPr>
              <a:t>HTTP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63B9ACC-1853-4FA8-B452-F5FD2F70E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1733550"/>
            <a:ext cx="4762500" cy="16192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2EC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F898026-6748-4A7A-A6A9-6F59FCB59A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1733550"/>
            <a:ext cx="9525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A7C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A461597-52C2-4411-A626-63E75425E4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1971675"/>
            <a:ext cx="552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58657A"/>
                </a:solidFill>
              </a:defRPr>
            </a:pPr>
            <a:r>
              <a:rPr sz="1050" b="1">
                <a:solidFill>
                  <a:srgbClr val="58657A"/>
                </a:solidFill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39EF01E-E30B-42BD-98C4-8FCB4C92EE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390775"/>
            <a:ext cx="4000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72033"/>
                </a:solidFill>
              </a:defRPr>
            </a:pPr>
            <a:r>
              <a:rPr sz="2025" b="1">
                <a:solidFill>
                  <a:srgbClr val="172033"/>
                </a:solidFill>
              </a:rPr>
              <a:t>JSON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21B8863-3A94-49FE-85E2-0AC4436993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00500"/>
            <a:ext cx="4762500" cy="16192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EDF4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4324A53-5F27-4E86-93B9-54A515D66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00500"/>
            <a:ext cx="9525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BD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5B8ACE2-C526-4458-8C7F-385276951C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238625"/>
            <a:ext cx="552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58657A"/>
                </a:solidFill>
              </a:defRPr>
            </a:pPr>
            <a:r>
              <a:rPr sz="1050" b="1">
                <a:solidFill>
                  <a:srgbClr val="58657A"/>
                </a:solidFill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F6D9561-C521-44D7-A85D-DB73AA19A5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657725"/>
            <a:ext cx="4000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72033"/>
                </a:solidFill>
              </a:defRPr>
            </a:pPr>
            <a:r>
              <a:rPr sz="2025" b="1">
                <a:solidFill>
                  <a:srgbClr val="172033"/>
                </a:solidFill>
              </a:rPr>
              <a:t>API contracts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5997F0B-3020-4252-A618-EB3C0EE25B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4000500"/>
            <a:ext cx="4762500" cy="16192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2EC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5D9AD79-47F0-4F32-BC5D-AB03FDA3D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4000500"/>
            <a:ext cx="9525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776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28BDA93-49FE-406E-974F-F59DE3387A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4238625"/>
            <a:ext cx="552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58657A"/>
                </a:solidFill>
              </a:defRPr>
            </a:pPr>
            <a:r>
              <a:rPr sz="1050" b="1">
                <a:solidFill>
                  <a:srgbClr val="58657A"/>
                </a:solidFill>
              </a:rPr>
              <a:t>04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F25A15D-09E6-4940-A308-DC6AAF7E4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4657725"/>
            <a:ext cx="4000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72033"/>
                </a:solidFill>
              </a:defRPr>
            </a:pPr>
            <a:r>
              <a:rPr sz="2025" b="1">
                <a:solidFill>
                  <a:srgbClr val="172033"/>
                </a:solidFill>
              </a:rPr>
              <a:t>application state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69D2930-51B1-48F0-BA5E-18F098649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77000"/>
            <a:ext cx="342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>
                <a:solidFill>
                  <a:srgbClr val="58657A"/>
                </a:solidFill>
              </a:defRPr>
            </a:pPr>
            <a:r>
              <a:rPr sz="750">
                <a:solidFill>
                  <a:srgbClr val="58657A"/>
                </a:solidFill>
              </a:rPr>
              <a:t>End-to-End Data Science &amp; AI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D8E168F-2316-43F6-8B9F-06760C8C6C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77000"/>
            <a:ext cx="438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176BDB"/>
                </a:solidFill>
              </a:defRPr>
            </a:pPr>
            <a:r>
              <a:rPr sz="750" b="1">
                <a:solidFill>
                  <a:srgbClr val="176BDB"/>
                </a:solidFill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84448264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12253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B3760AB-129C-400E-A49B-2BAE08796E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6250"/>
            <a:ext cx="3905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08A7C9"/>
                </a:solidFill>
              </a:defRPr>
            </a:pPr>
            <a:r>
              <a:rPr sz="975" b="1">
                <a:solidFill>
                  <a:srgbClr val="08A7C9"/>
                </a:solidFill>
              </a:rPr>
              <a:t>FROM QUESTION TO EVIDENCE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E94DF95-66EE-420B-8945-D52C536F64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76300"/>
            <a:ext cx="685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FFFFFF"/>
                </a:solidFill>
              </a:defRPr>
            </a:pPr>
            <a:r>
              <a:rPr sz="2850" b="1">
                <a:solidFill>
                  <a:srgbClr val="FFFFFF"/>
                </a:solidFill>
              </a:rPr>
              <a:t>A repeatable reasoning loop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63724BA-15D8-4DF9-9935-7880288347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0"/>
            <a:ext cx="2247900" cy="1600200"/>
          </a:xfrm>
          <a:prstGeom xmlns:a="http://schemas.openxmlformats.org/drawingml/2006/main" prst="roundRect">
            <a:avLst>
              <a:gd name="adj" fmla="val 4762"/>
            </a:avLst>
          </a:prstGeom>
          <a:solidFill xmlns:a="http://schemas.openxmlformats.org/drawingml/2006/main">
            <a:srgbClr val="176BD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A5A259B-F7B0-4AEB-B9D4-EA352EE9A2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68605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E70BF2C-0C82-4DE5-828B-4AEA179272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238500"/>
            <a:ext cx="1809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FFFFFF"/>
                </a:solidFill>
              </a:defRPr>
            </a:pPr>
            <a:r>
              <a:rPr sz="1875" b="1">
                <a:solidFill>
                  <a:srgbClr val="FFFFFF"/>
                </a:solidFill>
              </a:rPr>
              <a:t>Define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C1BAA7C-7139-4C5F-A656-45B759B9B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3067050"/>
            <a:ext cx="4000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FFFFFF"/>
                </a:solidFill>
              </a:defRPr>
            </a:pPr>
            <a:r>
              <a:rPr sz="2250" b="1">
                <a:solidFill>
                  <a:srgbClr val="FFFFFF"/>
                </a:solidFill>
              </a:rPr>
              <a:t>→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C37CC6B-F578-434E-9D7E-296DBA8E3C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2476500"/>
            <a:ext cx="2247900" cy="1600200"/>
          </a:xfrm>
          <a:prstGeom xmlns:a="http://schemas.openxmlformats.org/drawingml/2006/main" prst="roundRect">
            <a:avLst>
              <a:gd name="adj" fmla="val 4762"/>
            </a:avLst>
          </a:prstGeom>
          <a:solidFill xmlns:a="http://schemas.openxmlformats.org/drawingml/2006/main">
            <a:srgbClr val="08A7C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F8FF61B-CE9A-4854-A61D-34DD7703DE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268605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02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4607387-9CC4-4E5B-BED3-F66D3827D0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3238500"/>
            <a:ext cx="1809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FFFFFF"/>
                </a:solidFill>
              </a:defRPr>
            </a:pPr>
            <a:r>
              <a:rPr sz="1875" b="1">
                <a:solidFill>
                  <a:srgbClr val="FFFFFF"/>
                </a:solidFill>
              </a:rPr>
              <a:t>Transform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9E4EC70-51EF-4BCA-8BB4-234D31E4E6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3067050"/>
            <a:ext cx="4000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FFFFFF"/>
                </a:solidFill>
              </a:defRPr>
            </a:pPr>
            <a:r>
              <a:rPr sz="2250" b="1">
                <a:solidFill>
                  <a:srgbClr val="FFFFFF"/>
                </a:solidFill>
              </a:rPr>
              <a:t>→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1412A60-C609-4630-AF76-43DBD2CF00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476500"/>
            <a:ext cx="2247900" cy="1600200"/>
          </a:xfrm>
          <a:prstGeom xmlns:a="http://schemas.openxmlformats.org/drawingml/2006/main" prst="roundRect">
            <a:avLst>
              <a:gd name="adj" fmla="val 476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8F5CB2A-069F-497B-A6AA-D76FCA0F83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68605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58657A"/>
                </a:solidFill>
              </a:defRPr>
            </a:pPr>
            <a:r>
              <a:rPr sz="975" b="1">
                <a:solidFill>
                  <a:srgbClr val="58657A"/>
                </a:solidFill>
              </a:rPr>
              <a:t>03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955F2F6-23B2-4853-8E59-F72F0F2F4F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3238500"/>
            <a:ext cx="1809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72033"/>
                </a:solidFill>
              </a:defRPr>
            </a:pPr>
            <a:r>
              <a:rPr sz="1875" b="1">
                <a:solidFill>
                  <a:srgbClr val="172033"/>
                </a:solidFill>
              </a:rPr>
              <a:t>Validate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CA0BE33-F6B4-47F0-9E88-782A6461D8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3067050"/>
            <a:ext cx="4000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FFFFFF"/>
                </a:solidFill>
              </a:defRPr>
            </a:pPr>
            <a:r>
              <a:rPr sz="2250" b="1">
                <a:solidFill>
                  <a:srgbClr val="FFFFFF"/>
                </a:solidFill>
              </a:rPr>
              <a:t>→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DF315F1-0099-441A-86B1-46AD96939B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2476500"/>
            <a:ext cx="2247900" cy="1600200"/>
          </a:xfrm>
          <a:prstGeom xmlns:a="http://schemas.openxmlformats.org/drawingml/2006/main" prst="roundRect">
            <a:avLst>
              <a:gd name="adj" fmla="val 4762"/>
            </a:avLst>
          </a:prstGeom>
          <a:solidFill xmlns:a="http://schemas.openxmlformats.org/drawingml/2006/main">
            <a:srgbClr val="EF776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1648E1F-1DBD-4E98-836D-E0F57EA037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268605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04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1326193-0326-4F8D-86F9-698FD75396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3238500"/>
            <a:ext cx="1809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FFFFFF"/>
                </a:solidFill>
              </a:defRPr>
            </a:pPr>
            <a:r>
              <a:rPr sz="1875" b="1">
                <a:solidFill>
                  <a:srgbClr val="FFFFFF"/>
                </a:solidFill>
              </a:rPr>
              <a:t>Communicate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74C0FFE-8F84-4BCC-BD9F-49C283FF4A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95850"/>
            <a:ext cx="10668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FFFFFF"/>
                </a:solidFill>
              </a:defRPr>
            </a:pPr>
            <a:r>
              <a:rPr sz="1650">
                <a:solidFill>
                  <a:srgbClr val="FFFFFF"/>
                </a:solidFill>
              </a:rPr>
              <a:t>Fetch a public dataset and expose a filtered analytical view.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0C95831-F203-4861-9DDC-82B4C70F63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34125"/>
            <a:ext cx="3810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AFC4D9"/>
                </a:solidFill>
              </a:defRPr>
            </a:pPr>
            <a:r>
              <a:rPr sz="750" b="1">
                <a:solidFill>
                  <a:srgbClr val="AFC4D9"/>
                </a:solidFill>
              </a:rPr>
              <a:t>DS ACADEMY  ·  PRACTICAL REASONING</a:t>
            </a:r>
          </a:p>
        </p:txBody>
      </p:sp>
    </p:spTree>
    <p:extLst>
      <p:ext uri="{BB962C8B-B14F-4D97-AF65-F5344CB8AC3E}">
        <p14:creationId xmlns:p14="http://schemas.microsoft.com/office/powerpoint/2010/main" val="23612557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0CDB941-2DF2-4FA6-BCBB-5B68CF4808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4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A7C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7766ECF-E60D-4A20-BFDF-74B8D5B21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66700"/>
            <a:ext cx="3238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176BDB"/>
                </a:solidFill>
              </a:defRPr>
            </a:pPr>
            <a:r>
              <a:rPr sz="900" b="1">
                <a:solidFill>
                  <a:srgbClr val="176BDB"/>
                </a:solidFill>
              </a:rPr>
              <a:t>WEEK 02  /  SESSION 02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E8C97F6-F36F-4E6B-B85D-E15F97DD0F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42925"/>
            <a:ext cx="8763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72033"/>
                </a:solidFill>
              </a:defRPr>
            </a:pPr>
            <a:r>
              <a:rPr sz="2550" b="1">
                <a:solidFill>
                  <a:srgbClr val="172033"/>
                </a:solidFill>
              </a:rPr>
              <a:t>Guided lab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701E8C5-90B4-4675-BADA-9FE5BD113D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34625" y="323850"/>
            <a:ext cx="13811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58657A"/>
                </a:solidFill>
              </a:defRPr>
            </a:pPr>
            <a:r>
              <a:rPr sz="900" b="1">
                <a:solidFill>
                  <a:srgbClr val="58657A"/>
                </a:solidFill>
              </a:rPr>
              <a:t>DS ACADEMY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2F20C0B-F051-452F-BBA5-8315BBD314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181100"/>
            <a:ext cx="112204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2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291906A-32B0-43C7-9B2D-06B0FB07A8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19250"/>
            <a:ext cx="4857750" cy="4000500"/>
          </a:xfrm>
          <a:prstGeom xmlns:a="http://schemas.openxmlformats.org/drawingml/2006/main" prst="roundRect">
            <a:avLst>
              <a:gd name="adj" fmla="val 1905"/>
            </a:avLst>
          </a:prstGeom>
          <a:solidFill xmlns:a="http://schemas.openxmlformats.org/drawingml/2006/main">
            <a:srgbClr val="12253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4DA7B80-74D4-45F0-AB05-52E664C46A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962150"/>
            <a:ext cx="1714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08A7C9"/>
                </a:solidFill>
              </a:defRPr>
            </a:pPr>
            <a:r>
              <a:rPr sz="900" b="1">
                <a:solidFill>
                  <a:srgbClr val="08A7C9"/>
                </a:solidFill>
              </a:rPr>
              <a:t>LAB BRIEF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F4F8ACD-0950-4BE5-AE0F-661BCE4A2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514600"/>
            <a:ext cx="3962400" cy="1581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FFFFFF"/>
                </a:solidFill>
              </a:defRPr>
            </a:pPr>
            <a:r>
              <a:rPr sz="2025" b="1">
                <a:solidFill>
                  <a:srgbClr val="FFFFFF"/>
                </a:solidFill>
              </a:rPr>
              <a:t>Fetch a public dataset and expose a filtered analytical view.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60A5A7E-B270-437B-B356-85D177F45A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972050"/>
            <a:ext cx="3619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AFC4D9"/>
                </a:solidFill>
              </a:defRPr>
            </a:pPr>
            <a:r>
              <a:rPr sz="975">
                <a:solidFill>
                  <a:srgbClr val="AFC4D9"/>
                </a:solidFill>
              </a:rPr>
              <a:t>workbook  /  tests  /  evidence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DEFB2C6-9851-4C45-998E-06ED778DAF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165735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176BDB"/>
                </a:solidFill>
              </a:defRPr>
            </a:pPr>
            <a:r>
              <a:rPr sz="975" b="1">
                <a:solidFill>
                  <a:srgbClr val="176BDB"/>
                </a:solidFill>
              </a:rPr>
              <a:t>01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BE4EE13-893F-4F0D-92CA-2D19DB204E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1628775"/>
            <a:ext cx="1524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72033"/>
                </a:solidFill>
              </a:defRPr>
            </a:pPr>
            <a:r>
              <a:rPr sz="1575" b="1">
                <a:solidFill>
                  <a:srgbClr val="172033"/>
                </a:solidFill>
              </a:rPr>
              <a:t>Frame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F03BDD9-02A8-4BD9-AC01-C7868C1128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1981200"/>
            <a:ext cx="4286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8657A"/>
                </a:solidFill>
              </a:defRPr>
            </a:pPr>
            <a:r>
              <a:rPr sz="1200">
                <a:solidFill>
                  <a:srgbClr val="58657A"/>
                </a:solidFill>
              </a:rPr>
              <a:t>Define inputs, outputs, and success criteria.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0E66C3C-84B1-4B60-8530-D26551D379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2495550"/>
            <a:ext cx="48958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2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744FE3D-D3B1-4FA7-893F-028921C204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262890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176BDB"/>
                </a:solidFill>
              </a:defRPr>
            </a:pPr>
            <a:r>
              <a:rPr sz="975" b="1">
                <a:solidFill>
                  <a:srgbClr val="176BDB"/>
                </a:solidFill>
              </a:rPr>
              <a:t>02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DAE7B18-8913-41D0-89F2-7FEDE4B01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600325"/>
            <a:ext cx="1524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72033"/>
                </a:solidFill>
              </a:defRPr>
            </a:pPr>
            <a:r>
              <a:rPr sz="1575" b="1">
                <a:solidFill>
                  <a:srgbClr val="172033"/>
                </a:solidFill>
              </a:rPr>
              <a:t>Build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DA09F1E-D0DC-4B43-8D89-E1DC4497C5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952750"/>
            <a:ext cx="4286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8657A"/>
                </a:solidFill>
              </a:defRPr>
            </a:pPr>
            <a:r>
              <a:rPr sz="1200">
                <a:solidFill>
                  <a:srgbClr val="58657A"/>
                </a:solidFill>
              </a:rPr>
              <a:t>Implement the smallest correct workflow.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BABB8C4-3B2D-4D7B-86F2-FDAD6195BE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3467100"/>
            <a:ext cx="48958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2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D7E83B2-CD33-464E-A2AD-7C3306415F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360045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176BDB"/>
                </a:solidFill>
              </a:defRPr>
            </a:pPr>
            <a:r>
              <a:rPr sz="975" b="1">
                <a:solidFill>
                  <a:srgbClr val="176BDB"/>
                </a:solidFill>
              </a:rPr>
              <a:t>03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3F73623-D255-41F9-934C-69678E5277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571875"/>
            <a:ext cx="1524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72033"/>
                </a:solidFill>
              </a:defRPr>
            </a:pPr>
            <a:r>
              <a:rPr sz="1575" b="1">
                <a:solidFill>
                  <a:srgbClr val="172033"/>
                </a:solidFill>
              </a:rPr>
              <a:t>Verify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B6742C2-F417-4578-8800-7B4154B6E5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924300"/>
            <a:ext cx="4286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8657A"/>
                </a:solidFill>
              </a:defRPr>
            </a:pPr>
            <a:r>
              <a:rPr sz="1200">
                <a:solidFill>
                  <a:srgbClr val="58657A"/>
                </a:solidFill>
              </a:rPr>
              <a:t>Test normal, boundary, and failure cases.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7B04BCD-4C62-49D9-A1A4-78FD4A27C1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4438650"/>
            <a:ext cx="48958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2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7FAE5C5-7809-4296-9D36-A910FBACD3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457200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EF7768"/>
                </a:solidFill>
              </a:defRPr>
            </a:pPr>
            <a:r>
              <a:rPr sz="975" b="1">
                <a:solidFill>
                  <a:srgbClr val="EF7768"/>
                </a:solidFill>
              </a:rPr>
              <a:t>04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6A92D76-FA84-4C57-BDC9-AEADDAC529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4543425"/>
            <a:ext cx="1524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72033"/>
                </a:solidFill>
              </a:defRPr>
            </a:pPr>
            <a:r>
              <a:rPr sz="1575" b="1">
                <a:solidFill>
                  <a:srgbClr val="172033"/>
                </a:solidFill>
              </a:rPr>
              <a:t>Explain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F71C85D-ECA3-4D35-8CD9-E67F3FDB6C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4895850"/>
            <a:ext cx="4286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8657A"/>
                </a:solidFill>
              </a:defRPr>
            </a:pPr>
            <a:r>
              <a:rPr sz="1200">
                <a:solidFill>
                  <a:srgbClr val="58657A"/>
                </a:solidFill>
              </a:rPr>
              <a:t>Record the evidence and remaining limits.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DC7C279-125F-44AC-8FD5-9F026E74BC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77000"/>
            <a:ext cx="342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>
                <a:solidFill>
                  <a:srgbClr val="58657A"/>
                </a:solidFill>
              </a:defRPr>
            </a:pPr>
            <a:r>
              <a:rPr sz="750">
                <a:solidFill>
                  <a:srgbClr val="58657A"/>
                </a:solidFill>
              </a:rPr>
              <a:t>End-to-End Data Science &amp; AI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42D0629-2181-4B88-B230-FAF3701D53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77000"/>
            <a:ext cx="438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176BDB"/>
                </a:solidFill>
              </a:defRPr>
            </a:pPr>
            <a:r>
              <a:rPr sz="750" b="1">
                <a:solidFill>
                  <a:srgbClr val="176BDB"/>
                </a:solidFill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898246787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E8EBD1B-B69C-4C92-89F4-C326ACB364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4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A7C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B768539-3F2C-4897-A4EC-CBBC351419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66700"/>
            <a:ext cx="3238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176BDB"/>
                </a:solidFill>
              </a:defRPr>
            </a:pPr>
            <a:r>
              <a:rPr sz="900" b="1">
                <a:solidFill>
                  <a:srgbClr val="176BDB"/>
                </a:solidFill>
              </a:rPr>
              <a:t>WEEK 02  /  SESSION 02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AF0243D-CBC2-4B4E-950F-2567F4DDA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42925"/>
            <a:ext cx="8763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72033"/>
                </a:solidFill>
              </a:defRPr>
            </a:pPr>
            <a:r>
              <a:rPr sz="2550" b="1">
                <a:solidFill>
                  <a:srgbClr val="172033"/>
                </a:solidFill>
              </a:rPr>
              <a:t>Portfolio deliverable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7AD5EBF-3B36-43E3-9F86-AABABA5A25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34625" y="323850"/>
            <a:ext cx="13811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58657A"/>
                </a:solidFill>
              </a:defRPr>
            </a:pPr>
            <a:r>
              <a:rPr sz="900" b="1">
                <a:solidFill>
                  <a:srgbClr val="58657A"/>
                </a:solidFill>
              </a:rPr>
              <a:t>DS ACADEMY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C5E50AF-CFC4-4D6C-9E93-7F7AC7115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181100"/>
            <a:ext cx="112204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2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9C70ED8-996B-4E76-B78F-7DEF060067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19250"/>
            <a:ext cx="72390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172033"/>
                </a:solidFill>
              </a:defRPr>
            </a:pPr>
            <a:r>
              <a:rPr sz="2325" b="1">
                <a:solidFill>
                  <a:srgbClr val="172033"/>
                </a:solidFill>
              </a:rPr>
              <a:t>A documented API client and a small interactive app.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4628B7E-77B3-423B-9549-856B147D56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181350"/>
            <a:ext cx="1714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176BDB"/>
                </a:solidFill>
              </a:defRPr>
            </a:pPr>
            <a:r>
              <a:rPr sz="900" b="1">
                <a:solidFill>
                  <a:srgbClr val="176BDB"/>
                </a:solidFill>
              </a:rPr>
              <a:t>QUALITY GATE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8F2E5F5-ABB2-40DA-8918-62D01F6AC4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76650"/>
            <a:ext cx="190500" cy="19050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08A7C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20A96F5-152D-4F8A-BD56-1F7E1001CE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600450"/>
            <a:ext cx="314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72033"/>
                </a:solidFill>
              </a:defRPr>
            </a:pPr>
            <a:r>
              <a:rPr sz="1500" b="1">
                <a:solidFill>
                  <a:srgbClr val="172033"/>
                </a:solidFill>
              </a:rPr>
              <a:t>Reproducible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EED9C2A-C1F4-4F95-9683-7597BBC2E9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295775"/>
            <a:ext cx="190500" cy="19050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08A7C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9C00B76-E3F1-4D04-A6D2-8441FA07E2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19575"/>
            <a:ext cx="314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72033"/>
                </a:solidFill>
              </a:defRPr>
            </a:pPr>
            <a:r>
              <a:rPr sz="1500" b="1">
                <a:solidFill>
                  <a:srgbClr val="172033"/>
                </a:solidFill>
              </a:rPr>
              <a:t>Tested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E05D27E-43E0-4912-BBDB-B7DAC6331B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914900"/>
            <a:ext cx="190500" cy="19050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EF776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52E36D1-AC49-4E81-96F1-60EB188660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838700"/>
            <a:ext cx="314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72033"/>
                </a:solidFill>
              </a:defRPr>
            </a:pPr>
            <a:r>
              <a:rPr sz="1500" b="1">
                <a:solidFill>
                  <a:srgbClr val="172033"/>
                </a:solidFill>
              </a:rPr>
              <a:t>Decision-relevant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1941B53-F88B-4F03-AE18-5740A44C05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1600200"/>
            <a:ext cx="3143250" cy="4057650"/>
          </a:xfrm>
          <a:prstGeom xmlns:a="http://schemas.openxmlformats.org/drawingml/2006/main" prst="roundRect">
            <a:avLst>
              <a:gd name="adj" fmla="val 2424"/>
            </a:avLst>
          </a:prstGeom>
          <a:solidFill xmlns:a="http://schemas.openxmlformats.org/drawingml/2006/main">
            <a:srgbClr val="EDF4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7D67574-5B26-4C09-87DE-EC4B49FE7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962150"/>
            <a:ext cx="2381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176BDB"/>
                </a:solidFill>
              </a:defRPr>
            </a:pPr>
            <a:r>
              <a:rPr sz="900" b="1">
                <a:solidFill>
                  <a:srgbClr val="176BDB"/>
                </a:solidFill>
              </a:rPr>
              <a:t>WEEKLY ASSESSMENT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DC131D4-965C-4C1A-97F3-AA0E8A0871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476500"/>
            <a:ext cx="23812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72033"/>
                </a:solidFill>
              </a:defRPr>
            </a:pPr>
            <a:r>
              <a:rPr sz="1875" b="1">
                <a:solidFill>
                  <a:srgbClr val="172033"/>
                </a:solidFill>
              </a:rPr>
              <a:t>Public Data Explorer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55907A1-93FF-4D88-92D8-F34D499E7B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695700"/>
            <a:ext cx="238125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8657A"/>
                </a:solidFill>
              </a:defRPr>
            </a:pPr>
            <a:r>
              <a:rPr sz="1200">
                <a:solidFill>
                  <a:srgbClr val="58657A"/>
                </a:solidFill>
              </a:rPr>
              <a:t>Reliability 30%, architecture 25%, interface 20%, documentation 15%, Git practice 10%.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3F7A52A-BF19-45B2-8912-43B47AC772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77000"/>
            <a:ext cx="342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>
                <a:solidFill>
                  <a:srgbClr val="58657A"/>
                </a:solidFill>
              </a:defRPr>
            </a:pPr>
            <a:r>
              <a:rPr sz="750">
                <a:solidFill>
                  <a:srgbClr val="58657A"/>
                </a:solidFill>
              </a:rPr>
              <a:t>End-to-End Data Science &amp; AI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E517331-05DB-4556-9B5F-662EB3546A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77000"/>
            <a:ext cx="438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176BDB"/>
                </a:solidFill>
              </a:defRPr>
            </a:pPr>
            <a:r>
              <a:rPr sz="750" b="1">
                <a:solidFill>
                  <a:srgbClr val="176BDB"/>
                </a:solidFill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202969785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4DE75EC-C5F0-490E-BC29-1EBACD41F9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A7C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8B18467-A6C6-4816-93B8-74F4F1E10B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176BDB"/>
                </a:solidFill>
              </a:defRPr>
            </a:pPr>
            <a:r>
              <a:rPr sz="975" b="1">
                <a:solidFill>
                  <a:srgbClr val="176BDB"/>
                </a:solidFill>
              </a:rPr>
              <a:t>SESSION CHECKPOINT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5F6F2C2-1B81-4D64-B4C0-3CBC1EECC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04900"/>
            <a:ext cx="8763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72033"/>
                </a:solidFill>
              </a:defRPr>
            </a:pPr>
            <a:r>
              <a:rPr sz="2850" b="1">
                <a:solidFill>
                  <a:srgbClr val="172033"/>
                </a:solidFill>
              </a:rPr>
              <a:t>What should remain after the lesson?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BAA0235-7018-49E6-8F7C-8657262EE4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324100"/>
            <a:ext cx="1333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08A7C9"/>
                </a:solidFill>
              </a:defRPr>
            </a:pPr>
            <a:r>
              <a:rPr sz="900" b="1">
                <a:solidFill>
                  <a:srgbClr val="08A7C9"/>
                </a:solidFill>
              </a:rPr>
              <a:t>CONCEPT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12FBCE6-D010-4A6F-8DA0-18BEAB28F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2257425"/>
            <a:ext cx="8382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72033"/>
                </a:solidFill>
              </a:defRPr>
            </a:pPr>
            <a:r>
              <a:rPr sz="1725" b="1">
                <a:solidFill>
                  <a:srgbClr val="172033"/>
                </a:solidFill>
              </a:rPr>
              <a:t>HTTP + JSON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6B209EA-E08A-4DC6-BD24-08959C8D38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124200"/>
            <a:ext cx="101727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2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7BD6362-64D6-434C-9878-E253C712B8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467100"/>
            <a:ext cx="1333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08A7C9"/>
                </a:solidFill>
              </a:defRPr>
            </a:pPr>
            <a:r>
              <a:rPr sz="900" b="1">
                <a:solidFill>
                  <a:srgbClr val="08A7C9"/>
                </a:solidFill>
              </a:rPr>
              <a:t>PRACTICE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094AD19-7EFE-4147-8EBD-7CD237697D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3400425"/>
            <a:ext cx="8382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72033"/>
                </a:solidFill>
              </a:defRPr>
            </a:pPr>
            <a:r>
              <a:rPr sz="1725" b="1">
                <a:solidFill>
                  <a:srgbClr val="172033"/>
                </a:solidFill>
              </a:rPr>
              <a:t>Fetch a public dataset and expose a filtered analytical view.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A6D996A-3ABB-46D5-B84D-F716046AF3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267200"/>
            <a:ext cx="101727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2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6861EDF-1234-42AB-83B3-BE554F10E6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610100"/>
            <a:ext cx="1333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EF7768"/>
                </a:solidFill>
              </a:defRPr>
            </a:pPr>
            <a:r>
              <a:rPr sz="900" b="1">
                <a:solidFill>
                  <a:srgbClr val="EF7768"/>
                </a:solidFill>
              </a:rPr>
              <a:t>EVIDENCE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45C922C-92D0-4B25-8E50-9EE7057B03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4543425"/>
            <a:ext cx="8382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72033"/>
                </a:solidFill>
              </a:defRPr>
            </a:pPr>
            <a:r>
              <a:rPr sz="1725" b="1">
                <a:solidFill>
                  <a:srgbClr val="172033"/>
                </a:solidFill>
              </a:rPr>
              <a:t>A documented API client and a small interactive app.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52F18B6-A541-43D2-84FE-35530C5D3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410200"/>
            <a:ext cx="101727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2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3F7A014-04D4-4DFE-A024-DFE7C1FB97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981700"/>
            <a:ext cx="2905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176BDB"/>
                </a:solidFill>
              </a:defRPr>
            </a:pPr>
            <a:r>
              <a:rPr sz="1125" b="1">
                <a:solidFill>
                  <a:srgbClr val="176BDB"/>
                </a:solidFill>
              </a:rPr>
              <a:t>Narration available in English and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5D6A240-19F8-447E-8BBF-AAA59C569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5953125"/>
            <a:ext cx="876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76BDB"/>
                </a:solidFill>
              </a:defRPr>
            </a:pPr>
            <a:r>
              <a:rPr sz="1200" b="1">
                <a:solidFill>
                  <a:srgbClr val="176BDB"/>
                </a:solidFill>
              </a:rPr>
              <a:t>සිංහල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2F08DAE-9993-4CEB-AF65-F27D73CFA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5981700"/>
            <a:ext cx="133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58657A"/>
                </a:solidFill>
              </a:defRPr>
            </a:pPr>
            <a:r>
              <a:rPr sz="900" b="1">
                <a:solidFill>
                  <a:srgbClr val="58657A"/>
                </a:solidFill>
              </a:rPr>
              <a:t>DS ACADEMY</a:t>
            </a:r>
          </a:p>
        </p:txBody>
      </p:sp>
    </p:spTree>
    <p:extLst>
      <p:ext uri="{BB962C8B-B14F-4D97-AF65-F5344CB8AC3E}">
        <p14:creationId xmlns:p14="http://schemas.microsoft.com/office/powerpoint/2010/main" val="108055273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2026-07-27T08:01:01.2570000Z</dcterms:created>
  <dcterms:modified xsi:type="dcterms:W3CDTF">2026-07-27T08:01:01.2570000Z</dcterms:modified>
</coreProperties>
</file>