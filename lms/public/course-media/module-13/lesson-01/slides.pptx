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9063209996405f" /><Relationship Type="http://schemas.openxmlformats.org/officeDocument/2006/relationships/extended-properties" Target="/docProps/app.xml" Id="R7fce7271a2284e6f" /><Relationship Type="http://schemas.openxmlformats.org/officeDocument/2006/relationships/officeDocument" Target="/ppt/presentation.xml" Id="R5d307394975d4a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b7eb0cfe374f28"/>
  </p:sldMasterIdLst>
  <p:notesMasterIdLst>
    <p:notesMasterId xmlns:r="http://schemas.openxmlformats.org/officeDocument/2006/relationships" r:id="Radf0966635aa4d24"/>
  </p:notesMasterIdLst>
  <p:sldIdLst>
    <p:sldId xmlns:r="http://schemas.openxmlformats.org/officeDocument/2006/relationships" id="256" r:id="R892dc64818d84782"/>
    <p:sldId xmlns:r="http://schemas.openxmlformats.org/officeDocument/2006/relationships" id="257" r:id="Rcb1c0b91e3664645"/>
    <p:sldId xmlns:r="http://schemas.openxmlformats.org/officeDocument/2006/relationships" id="258" r:id="R34deabe1b7914047"/>
    <p:sldId xmlns:r="http://schemas.openxmlformats.org/officeDocument/2006/relationships" id="259" r:id="Ra0e2a4a006a742c6"/>
    <p:sldId xmlns:r="http://schemas.openxmlformats.org/officeDocument/2006/relationships" id="260" r:id="Rf4130db9af614b03"/>
    <p:sldId xmlns:r="http://schemas.openxmlformats.org/officeDocument/2006/relationships" id="261" r:id="Re911c27260854d81"/>
    <p:sldId xmlns:r="http://schemas.openxmlformats.org/officeDocument/2006/relationships" id="262" r:id="Rad2d6d8986bd4024"/>
    <p:sldId xmlns:r="http://schemas.openxmlformats.org/officeDocument/2006/relationships" id="263" r:id="R5783611c97314ebb"/>
    <p:sldId xmlns:r="http://schemas.openxmlformats.org/officeDocument/2006/relationships" id="264" r:id="R80a99ff292154dfc"/>
    <p:sldId xmlns:r="http://schemas.openxmlformats.org/officeDocument/2006/relationships" id="265" r:id="Rd6d9ff4b7606443f"/>
    <p:sldId xmlns:r="http://schemas.openxmlformats.org/officeDocument/2006/relationships" id="266" r:id="R7d7664a7fee94deb"/>
    <p:sldId xmlns:r="http://schemas.openxmlformats.org/officeDocument/2006/relationships" id="267" r:id="R4af197ebb3b243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a725ca766942a0" /><Relationship Type="http://schemas.openxmlformats.org/officeDocument/2006/relationships/slideMaster" Target="/ppt/slideMasters/slideMaster1.xml" Id="R1cb7eb0cfe374f28" /><Relationship Type="http://schemas.openxmlformats.org/officeDocument/2006/relationships/notesMaster" Target="/ppt/notesMasters/notesMaster1.xml" Id="Radf0966635aa4d24" /><Relationship Type="http://schemas.openxmlformats.org/officeDocument/2006/relationships/presProps" Target="/ppt/presProps.xml" Id="R018fab5b53f0441b" /><Relationship Type="http://schemas.openxmlformats.org/officeDocument/2006/relationships/tableStyles" Target="/ppt/tableStyles.xml" Id="R4f4e6136662b4842" /><Relationship Type="http://schemas.openxmlformats.org/officeDocument/2006/relationships/slide" Target="/ppt/slides/slide1.xml" Id="R892dc64818d84782" /><Relationship Type="http://schemas.openxmlformats.org/officeDocument/2006/relationships/slide" Target="/ppt/slides/slide2.xml" Id="Rcb1c0b91e3664645" /><Relationship Type="http://schemas.openxmlformats.org/officeDocument/2006/relationships/slide" Target="/ppt/slides/slide3.xml" Id="R34deabe1b7914047" /><Relationship Type="http://schemas.openxmlformats.org/officeDocument/2006/relationships/slide" Target="/ppt/slides/slide4.xml" Id="Ra0e2a4a006a742c6" /><Relationship Type="http://schemas.openxmlformats.org/officeDocument/2006/relationships/slide" Target="/ppt/slides/slide5.xml" Id="Rf4130db9af614b03" /><Relationship Type="http://schemas.openxmlformats.org/officeDocument/2006/relationships/slide" Target="/ppt/slides/slide6.xml" Id="Re911c27260854d81" /><Relationship Type="http://schemas.openxmlformats.org/officeDocument/2006/relationships/slide" Target="/ppt/slides/slide7.xml" Id="Rad2d6d8986bd4024" /><Relationship Type="http://schemas.openxmlformats.org/officeDocument/2006/relationships/slide" Target="/ppt/slides/slide8.xml" Id="R5783611c97314ebb" /><Relationship Type="http://schemas.openxmlformats.org/officeDocument/2006/relationships/slide" Target="/ppt/slides/slide9.xml" Id="R80a99ff292154dfc" /><Relationship Type="http://schemas.openxmlformats.org/officeDocument/2006/relationships/slide" Target="/ppt/slides/slide10.xml" Id="Rd6d9ff4b7606443f" /><Relationship Type="http://schemas.openxmlformats.org/officeDocument/2006/relationships/slide" Target="/ppt/slides/slide11.xml" Id="R7d7664a7fee94deb" /><Relationship Type="http://schemas.openxmlformats.org/officeDocument/2006/relationships/slide" Target="/ppt/slides/slide12.xml" Id="R4af197ebb3b243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06075ccf3649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6ecc0b70ff4709" /><Relationship Type="http://schemas.openxmlformats.org/officeDocument/2006/relationships/notesMaster" Target="/ppt/notesMasters/notesMaster1.xml" Id="R00727eb9d5e84d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756d2b614c4923" /><Relationship Type="http://schemas.openxmlformats.org/officeDocument/2006/relationships/notesMaster" Target="/ppt/notesMasters/notesMaster1.xml" Id="Rdb4a2768e2724a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7a3c5fc5db4b52" /><Relationship Type="http://schemas.openxmlformats.org/officeDocument/2006/relationships/notesMaster" Target="/ppt/notesMasters/notesMaster1.xml" Id="R4e6f09acf6bf4f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0235dd607a48c6" /><Relationship Type="http://schemas.openxmlformats.org/officeDocument/2006/relationships/notesMaster" Target="/ppt/notesMasters/notesMaster1.xml" Id="R712da46e45904e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57f9ab01c245e4" /><Relationship Type="http://schemas.openxmlformats.org/officeDocument/2006/relationships/notesMaster" Target="/ppt/notesMasters/notesMaster1.xml" Id="R6c2592e4df0945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349d0537ec478c" /><Relationship Type="http://schemas.openxmlformats.org/officeDocument/2006/relationships/notesMaster" Target="/ppt/notesMasters/notesMaster1.xml" Id="Rea9316a8d2114e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a05b74546246cf" /><Relationship Type="http://schemas.openxmlformats.org/officeDocument/2006/relationships/notesMaster" Target="/ppt/notesMasters/notesMaster1.xml" Id="R8e906bfe5fe143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3b4ff26a934ab5" /><Relationship Type="http://schemas.openxmlformats.org/officeDocument/2006/relationships/notesMaster" Target="/ppt/notesMasters/notesMaster1.xml" Id="R335976f4cb1f43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0145f61e3a4e59" /><Relationship Type="http://schemas.openxmlformats.org/officeDocument/2006/relationships/notesMaster" Target="/ppt/notesMasters/notesMaster1.xml" Id="R2cb1d801e42e4a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24788e4c1c4eb5" /><Relationship Type="http://schemas.openxmlformats.org/officeDocument/2006/relationships/notesMaster" Target="/ppt/notesMasters/notesMaster1.xml" Id="Rfb7a877343674d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0e662de4364822" /><Relationship Type="http://schemas.openxmlformats.org/officeDocument/2006/relationships/notesMaster" Target="/ppt/notesMasters/notesMaster1.xml" Id="R1d97d09a760a45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5392ee18a34218" /><Relationship Type="http://schemas.openxmlformats.org/officeDocument/2006/relationships/notesMaster" Target="/ppt/notesMasters/notesMaster1.xml" Id="R1699d8f1087645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Engineering and Structured Outputs. Design model inputs and output contracts that application code can 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https://github.com/curiousily/AI-Bootcamp/blob/master/13.llm-output-format.ipynb</a:t>
            </a:r>
          </a:p>
          <a:p xmlns:a="http://schemas.openxmlformats.org/drawingml/2006/main">
            <a:r>
              <a:t>- https://github.com/curiousily/AI-Bootcamp/blob/master/16.llm-function-calling.ipynb</a:t>
            </a:r>
          </a:p>
          <a:p xmlns:a="http://schemas.openxmlformats.org/drawingml/2006/main">
            <a:r>
              <a:t>- https://docs.pydantic.dev/latest/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starting point is llm generation, python dictionaries, json, functions, and validation. By the end, you will explain message roles in plain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https://github.com/curiousily/AI-Bootcamp/blob/master/13.llm-output-format.ipynb</a:t>
            </a:r>
          </a:p>
          <a:p xmlns:a="http://schemas.openxmlformats.org/drawingml/2006/main">
            <a:r>
              <a:t>- https://github.com/curiousily/AI-Bootcamp/blob/master/16.llm-function-calling.ipynb</a:t>
            </a:r>
          </a:p>
          <a:p xmlns:a="http://schemas.openxmlformats.org/drawingml/2006/main">
            <a:r>
              <a:t>- https://docs.pydantic.dev/latest/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language before using it: message roles, instructions and examples, JSON schemas, tool calling.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https://github.com/curiousily/AI-Bootcamp/blob/master/13.llm-output-format.ipynb</a:t>
            </a:r>
          </a:p>
          <a:p xmlns:a="http://schemas.openxmlformats.org/drawingml/2006/main">
            <a:r>
              <a:t>- https://github.com/curiousily/AI-Bootcamp/blob/master/16.llm-function-calling.ipynb</a:t>
            </a:r>
          </a:p>
          <a:p xmlns:a="http://schemas.openxmlformats.org/drawingml/2006/main">
            <a:r>
              <a:t>- https://docs.pydantic.dev/latest/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Trusted instructions define task and constraints; a schema defines allowed output; application code validates before acting.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https://github.com/curiousily/AI-Bootcamp/blob/master/13.llm-output-format.ipynb</a:t>
            </a:r>
          </a:p>
          <a:p xmlns:a="http://schemas.openxmlformats.org/drawingml/2006/main">
            <a:r>
              <a:t>- https://github.com/curiousily/AI-Bootcamp/blob/master/16.llm-function-calling.ipynb</a:t>
            </a:r>
          </a:p>
          <a:p xmlns:a="http://schemas.openxmlformats.org/drawingml/2006/main">
            <a:r>
              <a:t>- https://docs.pydantic.dev/latest/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symbol or component has a job. system message: Trusted application-level instructions. schema: Required output fields and types. tool call: A proposed operation and arguments.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https://github.com/curiousily/AI-Bootcamp/blob/master/13.llm-output-format.ipynb</a:t>
            </a:r>
          </a:p>
          <a:p xmlns:a="http://schemas.openxmlformats.org/drawingml/2006/main">
            <a:r>
              <a:t>- https://github.com/curiousily/AI-Bootcamp/blob/master/16.llm-function-calling.ipynb</a:t>
            </a:r>
          </a:p>
          <a:p xmlns:a="http://schemas.openxmlformats.org/drawingml/2006/main">
            <a:r>
              <a:t>- https://docs.pydantic.dev/latest/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values before running code. Extract `{name, score}` from one sentence, reject a missing score, then map a validated call to a Python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https://github.com/curiousily/AI-Bootcamp/blob/master/13.llm-output-format.ipynb</a:t>
            </a:r>
          </a:p>
          <a:p xmlns:a="http://schemas.openxmlformats.org/drawingml/2006/main">
            <a:r>
              <a:t>- https://github.com/curiousily/AI-Bootcamp/blob/master/16.llm-function-calling.ipynb</a:t>
            </a:r>
          </a:p>
          <a:p xmlns:a="http://schemas.openxmlformats.org/drawingml/2006/main">
            <a:r>
              <a:t>- https://docs.pydantic.dev/latest/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hand-worked mechanism to Python. The observed output is {'name': 'baseline', 'score': 0.82}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https://github.com/curiousily/AI-Bootcamp/blob/master/13.llm-output-format.ipynb</a:t>
            </a:r>
          </a:p>
          <a:p xmlns:a="http://schemas.openxmlformats.org/drawingml/2006/main">
            <a:r>
              <a:t>- https://github.com/curiousily/AI-Bootcamp/blob/master/16.llm-function-calling.ipynb</a:t>
            </a:r>
          </a:p>
          <a:p xmlns:a="http://schemas.openxmlformats.org/drawingml/2006/main">
            <a:r>
              <a:t>- https://docs.pydantic.dev/latest/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trusted instructions from untrusted user content and retrieved documents. Examples demonstrate behavior, but diverse tests determine whether the behavior generalizes. Validate model output against a schema before storing it or passing it downstream. Treat every tool call as an untrusted proposal requiring authorization and argument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https://github.com/curiousily/AI-Bootcamp/blob/master/13.llm-output-format.ipynb</a:t>
            </a:r>
          </a:p>
          <a:p xmlns:a="http://schemas.openxmlformats.org/drawingml/2006/main">
            <a:r>
              <a:t>- https://github.com/curiousily/AI-Bootcamp/blob/master/16.llm-function-calling.ipynb</a:t>
            </a:r>
          </a:p>
          <a:p xmlns:a="http://schemas.openxmlformats.org/drawingml/2006/main">
            <a:r>
              <a:t>- https://docs.pydantic.dev/latest/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concepts from this lesson to read and complete https://github.com/curiousily/AI-Bootcamp/blob/master/13.llm-output-format.ipynb. Predict what each section does before executing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https://github.com/curiousily/AI-Bootcamp/blob/master/13.llm-output-format.ipynb</a:t>
            </a:r>
          </a:p>
          <a:p xmlns:a="http://schemas.openxmlformats.org/drawingml/2006/main">
            <a:r>
              <a:t>- https://github.com/curiousily/AI-Bootcamp/blob/master/16.llm-function-calling.ipynb</a:t>
            </a:r>
          </a:p>
          <a:p xmlns:a="http://schemas.openxmlformats.org/drawingml/2006/main">
            <a:r>
              <a:t>- https://docs.pydantic.dev/latest/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Parsing important data from unconstrained prose. Executing model-produced tool arguments without authorization and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https://github.com/curiousily/AI-Bootcamp/blob/master/13.llm-output-format.ipynb</a:t>
            </a:r>
          </a:p>
          <a:p xmlns:a="http://schemas.openxmlformats.org/drawingml/2006/main">
            <a:r>
              <a:t>- https://github.com/curiousily/AI-Bootcamp/blob/master/16.llm-function-calling.ipynb</a:t>
            </a:r>
          </a:p>
          <a:p xmlns:a="http://schemas.openxmlformats.org/drawingml/2006/main">
            <a:r>
              <a:t>- https://docs.pydantic.dev/latest/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run, inspect, and explain. Create a prompt contract, validate structured output, and safely execute one allow-listed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https://github.com/curiousily/AI-Bootcamp/blob/master/13.llm-output-format.ipynb</a:t>
            </a:r>
          </a:p>
          <a:p xmlns:a="http://schemas.openxmlformats.org/drawingml/2006/main">
            <a:r>
              <a:t>- https://github.com/curiousily/AI-Bootcamp/blob/master/16.llm-function-calling.ipynb</a:t>
            </a:r>
          </a:p>
          <a:p xmlns:a="http://schemas.openxmlformats.org/drawingml/2006/main">
            <a:r>
              <a:t>- https://docs.pydantic.dev/latest/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connection between message roles, instructions and examples, JSON schemas, tool calling. Verification evidence: Run a fixed test set and confirm valid outputs parse while malformed and unauthorized requests fail safely.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https://github.com/curiousily/AI-Bootcamp/blob/master/13.llm-output-format.ipynb</a:t>
            </a:r>
          </a:p>
          <a:p xmlns:a="http://schemas.openxmlformats.org/drawingml/2006/main">
            <a:r>
              <a:t>- https://github.com/curiousily/AI-Bootcamp/blob/master/16.llm-function-calling.ipynb</a:t>
            </a:r>
          </a:p>
          <a:p xmlns:a="http://schemas.openxmlformats.org/drawingml/2006/main">
            <a:r>
              <a:t>- https://docs.pydantic.dev/latest/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0e3da5a7b4c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67e14a2f3b4717" /><Relationship Type="http://schemas.openxmlformats.org/officeDocument/2006/relationships/slideLayout" Target="/ppt/slideLayouts/slideLayout1.xml" Id="Rc76cd6e30f8741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6cd6e30f8741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e75cab83444d0" /><Relationship Type="http://schemas.openxmlformats.org/officeDocument/2006/relationships/image" Target="/ppt/media/image.png" Id="R013e18b34d034a38" /><Relationship Type="http://schemas.openxmlformats.org/officeDocument/2006/relationships/image" Target="/ppt/media/image2.png" Id="R007e66135d04437d" /><Relationship Type="http://schemas.openxmlformats.org/officeDocument/2006/relationships/notesSlide" Target="/ppt/notesSlides/notesSlide1.xml" Id="R830b611f491040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1973181e24e98" /><Relationship Type="http://schemas.openxmlformats.org/officeDocument/2006/relationships/notesSlide" Target="/ppt/notesSlides/notesSlide2.xml" Id="R1346c194cbbc43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0737f84af4156" /><Relationship Type="http://schemas.openxmlformats.org/officeDocument/2006/relationships/notesSlide" Target="/ppt/notesSlides/notesSlide3.xml" Id="R692a40b1bb0042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c1be4257c4bf2" /><Relationship Type="http://schemas.openxmlformats.org/officeDocument/2006/relationships/notesSlide" Target="/ppt/notesSlides/notesSlide4.xml" Id="Rbe2ae59cc72247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a57b4276a4d90" /><Relationship Type="http://schemas.openxmlformats.org/officeDocument/2006/relationships/notesSlide" Target="/ppt/notesSlides/notesSlide5.xml" Id="Rb8bbe9ed22b948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2ee96ccbb4ef9" /><Relationship Type="http://schemas.openxmlformats.org/officeDocument/2006/relationships/notesSlide" Target="/ppt/notesSlides/notesSlide6.xml" Id="R15bc3b99b63845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a1ad2cd5542b5" /><Relationship Type="http://schemas.openxmlformats.org/officeDocument/2006/relationships/notesSlide" Target="/ppt/notesSlides/notesSlide7.xml" Id="Rc12f0457b5d746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e19a4b4b24149" /><Relationship Type="http://schemas.openxmlformats.org/officeDocument/2006/relationships/notesSlide" Target="/ppt/notesSlides/notesSlide8.xml" Id="R419ee11a7f5e48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da5103c1149e1" /><Relationship Type="http://schemas.openxmlformats.org/officeDocument/2006/relationships/notesSlide" Target="/ppt/notesSlides/notesSlide9.xml" Id="R90f96470778749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f812314d642a5" /><Relationship Type="http://schemas.openxmlformats.org/officeDocument/2006/relationships/notesSlide" Target="/ppt/notesSlides/notesSlide10.xml" Id="R976124a858f543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8a31ab78f4c68" /><Relationship Type="http://schemas.openxmlformats.org/officeDocument/2006/relationships/notesSlide" Target="/ppt/notesSlides/notesSlide11.xml" Id="R283683b3169440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b63164aa34ee8" /><Relationship Type="http://schemas.openxmlformats.org/officeDocument/2006/relationships/image" Target="/ppt/media/image3.png" Id="R13ba025b53c844af" /><Relationship Type="http://schemas.openxmlformats.org/officeDocument/2006/relationships/notesSlide" Target="/ppt/notesSlides/notesSlide12.xml" Id="R870a16fd72664f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D1B47-506A-49A4-9CE8-CA5D562C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e18b34d034a38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AAA65-F021-43EE-B7A7-2440F8F5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E6368-64F6-4EFA-A758-EEFE3C20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13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F7724-FA06-4C6D-82DD-7D81274A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Prompt Engineering and Structured Outputs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FA565-EB85-48D2-9530-69C66B4B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C2BF9-2B3E-4827-8717-F49B134E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Design model inputs and output contracts that application code can validate.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e66135d04437d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66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F6D22-06C9-4D4C-8D28-FF01AE4C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6CDBF-3E5C-4D09-8578-21DAD48E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Prompt Engineering and Structured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EAC8C-7983-47C8-AA7F-3C95CD88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685CA-16FA-467F-8AC0-7CB47D5D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AECEC-ED79-4C6B-9A53-25ADBE34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313E8-76D3-4D5E-82CD-A8BEBC35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from what you already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AC986-3BA0-4874-836D-2E367392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DB"/>
                </a:solidFill>
              </a:defRPr>
            </a:pPr>
            <a:r>
              <a:rPr sz="2025" b="1">
                <a:solidFill>
                  <a:srgbClr val="176BDB"/>
                </a:solidFill>
              </a:rPr>
              <a:t>LLM generation, Python dictionaries, JSON, functions, and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BC6E8-2013-4F6D-ACA9-3C0A4C9B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5F221-5F98-439A-83C1-971EC7CB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Explain message roles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EFCF6-E0FF-41E7-9FFD-37590F1D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4852A-EABB-4E38-B1D0-E42B5A40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Use instructions and examples in a small worked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7AC98-EDE7-403D-BD75-206CC8EA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2633B-1D5A-40DC-BE2D-C0A069EF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Complete the guided lab and verify tool calling.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E95A0-C218-43B7-A02E-1E9C0FCE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19200"/>
            <a:ext cx="6096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1CBD2-E763-483C-855F-B6F6E435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955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9911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583E1-40A9-4D62-BC8D-46498CCC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02C29-D8AA-4606-9AAA-D2DCD546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Prompt Engineering and Structured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755DE-A59F-438D-8F8B-7D18068D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DA8BB-0E53-4D03-818D-A9E2644D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0BFA7-E230-4791-A944-55F8FCF2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vocabulary of this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FF3F4-72D2-41BE-A087-12170C26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85CD7-5018-4C55-9A7B-2C349683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Design model inputs and output contracts that application code can validate.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E22BE-2CC7-440C-A7B3-0C70FB8F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0A1B3-F424-43BD-906E-E79FDFA3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message roles: Message roles distinguish trusted instructions, user requests, assistant output, and tool results.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7D26A-91FA-469C-81A7-72559191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A75BA-CA78-4CDB-BB57-F3C19352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instructions and examples: Instructions state required behavior; examples demonstrate the exact input-output pattern.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98EBA-7354-44FD-B146-9E2E83ED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449D5-A74D-4EB6-AAC4-EA66C408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JSON schemas: A JSON schema defines required fields, types, allowed values, and nesting for machine-validated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077F2-E538-4DB5-A5FB-4F7284FF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D3124-97C8-4865-853C-B46BD4DA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tool calling: Tool calling lets a model propose a named operation and arguments; application code remains responsible for validation and execution.</a:t>
            </a:r>
          </a:p>
        </p:txBody>
      </p:sp>
    </p:spTree>
    <p:extLst>
      <p:ext uri="{BB962C8B-B14F-4D97-AF65-F5344CB8AC3E}">
        <p14:creationId xmlns:p14="http://schemas.microsoft.com/office/powerpoint/2010/main" val="1663042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E9093-8970-4539-81C1-3DE4B9A4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55ED4-4ED3-4B9C-80FC-1277B8A4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Prompt Engineering and Structured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6E1DC-C1AD-4A68-9455-5F74B422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B5F9D-A8FC-492D-92FC-EC9217CD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88CAE-BCA9-452A-88D4-56CE29D4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How the concept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06550-C49A-4621-A752-5B991E81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834C4-9270-4389-8EB5-3E4CD026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D5FA3-F9F3-4812-9145-19242C2F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message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6479C-5580-4D56-8241-DAB36444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11C87-DAA0-4C1D-A9A4-DC35DEBD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D8F4E-8568-47A1-A7A6-883D4875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718FB-73AE-481B-98AC-02C11E7B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instructions and examples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92D60-8478-435C-8DC1-BBB4A9A8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D4DFB-29D2-4039-9D97-2010354B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C6642-2C44-4E5F-94A8-F4C249B1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FDC4E-799E-46AC-AE88-7778B538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JSON schemas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6297D-9A2E-42F3-A7AE-F9CDA1CD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0A6632-449E-45E8-9D11-F464D9AB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3E6E8-5040-4B2B-847A-613EF505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C5582-DB3D-47F5-A002-AC74042E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tool calling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4D924-7776-4C95-B773-77FF6B4E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Trusted instructions define task and constraints; a schema defines allowed output; application code validates before acting.</a:t>
            </a:r>
          </a:p>
        </p:txBody>
      </p:sp>
    </p:spTree>
    <p:extLst>
      <p:ext uri="{BB962C8B-B14F-4D97-AF65-F5344CB8AC3E}">
        <p14:creationId xmlns:p14="http://schemas.microsoft.com/office/powerpoint/2010/main" val="459888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CFF1D-51D4-4222-8C09-F6DF1DD0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5281F-FE30-4D4B-B6DB-A3F87E0A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Prompt Engineering and Structured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15801-88F3-472F-993C-2917325F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790D7-1907-4800-A05A-FB5A1B08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F81B0-AE9D-44F6-B106-DBA4EDF1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Read every part of the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F15B3-B0C8-42EF-8A41-ADE7EC05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E487F-5973-42C5-B096-680A4228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Trusted instructions define task and constraints; a schema defines allowed output; application code validates before acting.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40030-ADFE-4B97-BADC-A9A9F77B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D9061-692E-4110-86DB-11CDEB12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system message: Trusted application-level instructions.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D6A91-AEFC-4B19-9C5C-531B9D3A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69765-15BE-4695-85A0-B2964794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schema: Required output fields and types.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6EA61-177F-4A4E-A253-4FB64208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3405E-0E97-407A-8A12-F2EF07F7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tool call: A proposed operation and arguments.</a:t>
            </a:r>
          </a:p>
        </p:txBody>
      </p:sp>
    </p:spTree>
    <p:extLst>
      <p:ext uri="{BB962C8B-B14F-4D97-AF65-F5344CB8AC3E}">
        <p14:creationId xmlns:p14="http://schemas.microsoft.com/office/powerpoint/2010/main" val="17888809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2F931-28AA-4E18-91A5-CF402346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7C967-F2AB-4348-BDF0-99902F51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Prompt Engineering and Structured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BA61B-E483-4BFD-A98C-EACCC989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EEE22-3823-4FC6-843E-AE89A9ED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D4434-95C5-4C67-A1D8-C6A22FCD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Worked example by hand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49191-646B-4CF0-A891-3B4C6E0F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Extract `{name, score}` from one sentence, reject a missing score, then map a validated call to a Python function.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5F634-09FC-4874-B4ED-B2F8CB53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32252-3EB7-434D-B3A4-BF31E1D1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4FAEE-C0E0-4F0D-A1F8-6627A6B0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Known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A876B-2563-42E3-86D9-797CF381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B9866-909A-4A21-ACF1-D8469DDD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670C0-FE95-40B8-9137-13D7C7E5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 the 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3F4D5-C933-42B7-9F46-569EAFF1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B5F"/>
                </a:solidFill>
              </a:defRPr>
            </a:pPr>
            <a:r>
              <a:rPr sz="120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4D8D1-F2D7-4AA6-B081-3E449DB0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8535E-F0CD-4A49-A0C1-6865C629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 the result</a:t>
            </a:r>
          </a:p>
        </p:txBody>
      </p:sp>
    </p:spTree>
    <p:extLst>
      <p:ext uri="{BB962C8B-B14F-4D97-AF65-F5344CB8AC3E}">
        <p14:creationId xmlns:p14="http://schemas.microsoft.com/office/powerpoint/2010/main" val="72220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0005E-DCC1-4BC8-AE2D-86E9231C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43B10-05DF-4309-9DEB-2CC6F430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Prompt Engineering and Structured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2BEF0-6FB0-474C-A3B4-D5C85F0F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5D3FD-DB45-409A-A090-A5680F9D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92565-949A-4BEE-8AE0-A4544DE3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Map the concept to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5AACB-8AE3-494D-9387-06FAF87E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428A8-746F-43EC-9BCA-21074110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3C6DD-5F7B-4840-B425-AF45023F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2A594-9C2A-455B-A22D-07AA2186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D62ED-5886-4B1F-AB17-61CCB984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B0A08-28FE-4E97-BDDE-CD4E0516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class Result(BaseModel):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name: str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score: float = Field(ge=0, le=1)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result = Result.model_validate({"name": "baseline", "score": 0.82})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print(result.model_dump())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826A7-817A-46F1-B47C-DB35D6CA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25547-A53F-42A8-9CB9-A86D2BC8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34FBC-5030-41F7-8EF5-79AF4039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{'name': 'baseline', 'score': 0.82}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D2104-97BB-494B-96D8-CE2009A7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66017-383F-46B1-983B-14E463E7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Each line corresponds to a concept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13882331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A8AE7-DEED-4754-AAA3-0139863E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EE37C-A413-463F-AB85-7861247E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Prompt Engineering and Structured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B0B91-CFB8-4918-985C-2F789FAE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E2DF9-3275-43BB-A322-80BC1D45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48CFA-F27A-443A-B032-518F38D0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Build the complete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521EA-1E7C-49B4-A0E0-C73AE05B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E0FCA-4AB9-4672-A7F0-E50B3A9B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FADC0-5FBC-4C6E-A721-56F9E4D2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Separate trusted instructions from untrusted user content and retrieved documents.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9EF95-6576-4003-AAFA-9DDF442A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BF192-B1D6-40B0-A1F2-D2F99DD5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0159C-2C12-49BF-9DAD-D8F1FA4A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1AD58-3128-42A6-8B05-FC72DB34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Examples demonstrate behavior, but diverse tests determine whether the behavior generalizes.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D5A1F-88C2-47A6-8897-8A342FAA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73568-2B5B-458C-BA39-AFE3840B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1DF5C-1DA2-4538-B0ED-B53A3A3E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4410B-2F9A-42EA-8643-14865D03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Validate model output against a schema before storing it or passing it downstream.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56F9F-F092-4A91-B64E-82B8047E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FD24B-5176-4A59-AE1C-A98177A7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D740E-1B15-466A-8F30-D5AB92E8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C27BA-FEEF-499B-8324-2F64CF89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Treat every tool call as an untrusted proposal requiring authorization and argument validation.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114D7-4EE1-404C-AF63-F57FB455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6367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28506-AC68-43B7-9C28-B8CC7CC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F757B-0BDD-4694-A507-E415E47F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Prompt Engineering and Structured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84886-6341-4419-937C-DFEE18BE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7A02B-C6F2-4433-A862-A3078DC0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EBD70-95DA-4914-A8C2-EA9E1F7B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Notebook readiness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187AB-E6E0-4947-9F6D-0431FB3A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292B7-797B-4BE8-B5FE-19229E1F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1C520-E54E-4BD3-B0E6-652645A9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message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C42C6-FF7A-4DA8-962E-FB3D5D56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65723-8A61-448D-BA4A-6F48833F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0810F-24A7-4214-9769-C890529D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C7769-2F65-4A90-80C5-7092B9FE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instructions and examples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6BCE3-4C00-45CD-B077-0F11C345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F141F-89F9-40A5-95EB-BA762D34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33689-1C95-4338-9CBC-F1CAE78C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AC0DD-FF6B-40A7-93E3-805B341A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JSON schemas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556F0-EA2E-42CB-A0DA-846067FD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8929E-7DD5-45ED-9526-DD6B9D72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AD530-4BCE-4795-A3D7-7B4827D4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1AF44-CA9C-4926-AED5-E3D2AF8D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tool calling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F90FE-3E4B-4FFD-8CC0-B5CED865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Use the concepts from this lesson to read and complete https://github.com/curiousily/AI-Bootcamp/blob/master/13.llm-output-format.ipynb.</a:t>
            </a:r>
          </a:p>
        </p:txBody>
      </p:sp>
    </p:spTree>
    <p:extLst>
      <p:ext uri="{BB962C8B-B14F-4D97-AF65-F5344CB8AC3E}">
        <p14:creationId xmlns:p14="http://schemas.microsoft.com/office/powerpoint/2010/main" val="182423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C0486-5410-4000-956F-92D06213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2C505-ECFA-45C9-88E2-D89571CE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Prompt Engineering and Structured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F8A56-4D03-44BA-A377-96DDC1C3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58F2D-FAD8-497C-B10B-B9A7C478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E0134-DF64-4F6C-A11D-573918F1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beginner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02A82-CAF0-4979-A1AC-FBB86BCC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5FE69-F547-480C-83BD-92E49A4D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0BB75-292C-457D-8368-EE194BF8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Parsing important data from unconstrained prose.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1795D-08EA-40ED-A09F-B83FA5AB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E3D4E-92C1-4C56-A19A-E71307B1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DE640-8B6B-4880-874A-32E14CE8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Executing model-produced tool arguments without authorization and validation.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0EF97-1CBA-44A1-9FAC-586C6777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76220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5F32C-7C60-452D-BC69-2670C6B7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CC29A-2D40-477B-B0B1-A0B2720F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Prompt Engineering and Structured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0661A-E9EA-48FC-AE95-9AF71795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80B5F-8646-4A46-97D0-380DCAD4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DE410-8767-449A-8373-DF91C2DD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Create a prompt contract, validate structured output, and safely execute one allow-listed tool.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AD74A-713F-4BCB-A726-FE419EC3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08374-BAF6-4266-9BB5-588F3C13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B41C8-2671-4ADF-8919-5FDBDD5F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D405C-1678-4F92-942B-0DFC0549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4458E-3CE3-4334-9355-561020FD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79D3B-BC83-47E6-BF60-38DE1CBC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0311E-DEC4-42F6-A3AE-9738FA31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06A38-52D8-4AC8-83EE-079394A8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BC697-9775-4CD2-B355-DA6C2D8D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849C3-5515-4ADA-B91D-09A21ED0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3C514-636B-4CF3-A40C-53BCDCFC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91CC3-ACF2-4AA0-97D8-BE82D3C6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992375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6E402-E7E1-4602-A218-D2CBAA2F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M13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F051F-3C00-4BDF-99DF-BE082E93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Prompt Engineering and Structured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6C304-F443-4FD8-A640-570BDB2A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69818-E639-4ACD-AEBD-0737F7DD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SESSION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519D7-2EAE-42BE-913C-C75CFC46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system, not isolated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26722-B016-4CD5-94D0-DC45F8F5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9E6A0-28F1-4240-AF50-EB34DD96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 message roles in plain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32598-1DD7-4DF9-A2F1-9CCF46F4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0C732-FAE2-416A-9280-9CE614E5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 instructions and examples in a small worked example.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D25BD-31DD-440A-99AF-9E03858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2DF37-3394-4A02-9321-5F22041C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Complete the guided lab and verify tool calling.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03F48-D389-4C4D-B7BC-ECCD06FD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6B5F"/>
                </a:solidFill>
              </a:defRPr>
            </a:pPr>
            <a:r>
              <a:rPr sz="900" b="1">
                <a:solidFill>
                  <a:srgbClr val="F06B5F"/>
                </a:solidFill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1DA31-6C43-4A3E-A091-C6382FF7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prompt test suite with success, malformed output, injection, unauthorized tool, and recovery cases.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a025b53c844af"/>
          <a:stretch xmlns:a="http://schemas.openxmlformats.org/drawingml/2006/main"/>
        </p:blipFill>
        <p:spPr>
          <a:xfrm xmlns:a="http://schemas.openxmlformats.org/drawingml/2006/main">
            <a:off x="9791700" y="5905500"/>
            <a:ext cx="13716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38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2026-07-28T16:53:18.3350000Z</dcterms:created>
  <dcterms:modified xsi:type="dcterms:W3CDTF">2026-07-28T16:53:18.3350000Z</dcterms:modified>
</coreProperties>
</file>