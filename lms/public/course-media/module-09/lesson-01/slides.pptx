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5da25d1dc3346a2" /><Relationship Type="http://schemas.openxmlformats.org/officeDocument/2006/relationships/extended-properties" Target="/docProps/app.xml" Id="Raff9e561f4014ee4" /><Relationship Type="http://schemas.openxmlformats.org/officeDocument/2006/relationships/officeDocument" Target="/ppt/presentation.xml" Id="Re6fd3294dcc441e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89d638c393f43a7"/>
  </p:sldMasterIdLst>
  <p:notesMasterIdLst>
    <p:notesMasterId xmlns:r="http://schemas.openxmlformats.org/officeDocument/2006/relationships" r:id="R1234905bb0dc4b5b"/>
  </p:notesMasterIdLst>
  <p:sldIdLst>
    <p:sldId xmlns:r="http://schemas.openxmlformats.org/officeDocument/2006/relationships" id="256" r:id="Red745d965b5f43e6"/>
    <p:sldId xmlns:r="http://schemas.openxmlformats.org/officeDocument/2006/relationships" id="257" r:id="R5e273c4098a748fa"/>
    <p:sldId xmlns:r="http://schemas.openxmlformats.org/officeDocument/2006/relationships" id="258" r:id="Ra9aad6e769fb4a7a"/>
    <p:sldId xmlns:r="http://schemas.openxmlformats.org/officeDocument/2006/relationships" id="259" r:id="Ra0c30ea1d3ca4b29"/>
    <p:sldId xmlns:r="http://schemas.openxmlformats.org/officeDocument/2006/relationships" id="260" r:id="R48a7d8bde12d402f"/>
    <p:sldId xmlns:r="http://schemas.openxmlformats.org/officeDocument/2006/relationships" id="261" r:id="R0ca92075561e4b00"/>
    <p:sldId xmlns:r="http://schemas.openxmlformats.org/officeDocument/2006/relationships" id="262" r:id="Rb1e318046be745cf"/>
    <p:sldId xmlns:r="http://schemas.openxmlformats.org/officeDocument/2006/relationships" id="263" r:id="R1c4204678b124dfa"/>
    <p:sldId xmlns:r="http://schemas.openxmlformats.org/officeDocument/2006/relationships" id="264" r:id="Rcf3d136a07f8496f"/>
    <p:sldId xmlns:r="http://schemas.openxmlformats.org/officeDocument/2006/relationships" id="265" r:id="R52448f2e6a1e4cc8"/>
    <p:sldId xmlns:r="http://schemas.openxmlformats.org/officeDocument/2006/relationships" id="266" r:id="R14510e06cec34347"/>
    <p:sldId xmlns:r="http://schemas.openxmlformats.org/officeDocument/2006/relationships" id="267" r:id="R008e0e6e8aac4fe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b42676f906b4568" /><Relationship Type="http://schemas.openxmlformats.org/officeDocument/2006/relationships/slideMaster" Target="/ppt/slideMasters/slideMaster1.xml" Id="R689d638c393f43a7" /><Relationship Type="http://schemas.openxmlformats.org/officeDocument/2006/relationships/notesMaster" Target="/ppt/notesMasters/notesMaster1.xml" Id="R1234905bb0dc4b5b" /><Relationship Type="http://schemas.openxmlformats.org/officeDocument/2006/relationships/presProps" Target="/ppt/presProps.xml" Id="R589101e05fd24151" /><Relationship Type="http://schemas.openxmlformats.org/officeDocument/2006/relationships/tableStyles" Target="/ppt/tableStyles.xml" Id="R240031c53aba4f5e" /><Relationship Type="http://schemas.openxmlformats.org/officeDocument/2006/relationships/slide" Target="/ppt/slides/slide1.xml" Id="Red745d965b5f43e6" /><Relationship Type="http://schemas.openxmlformats.org/officeDocument/2006/relationships/slide" Target="/ppt/slides/slide2.xml" Id="R5e273c4098a748fa" /><Relationship Type="http://schemas.openxmlformats.org/officeDocument/2006/relationships/slide" Target="/ppt/slides/slide3.xml" Id="Ra9aad6e769fb4a7a" /><Relationship Type="http://schemas.openxmlformats.org/officeDocument/2006/relationships/slide" Target="/ppt/slides/slide4.xml" Id="Ra0c30ea1d3ca4b29" /><Relationship Type="http://schemas.openxmlformats.org/officeDocument/2006/relationships/slide" Target="/ppt/slides/slide5.xml" Id="R48a7d8bde12d402f" /><Relationship Type="http://schemas.openxmlformats.org/officeDocument/2006/relationships/slide" Target="/ppt/slides/slide6.xml" Id="R0ca92075561e4b00" /><Relationship Type="http://schemas.openxmlformats.org/officeDocument/2006/relationships/slide" Target="/ppt/slides/slide7.xml" Id="Rb1e318046be745cf" /><Relationship Type="http://schemas.openxmlformats.org/officeDocument/2006/relationships/slide" Target="/ppt/slides/slide8.xml" Id="R1c4204678b124dfa" /><Relationship Type="http://schemas.openxmlformats.org/officeDocument/2006/relationships/slide" Target="/ppt/slides/slide9.xml" Id="Rcf3d136a07f8496f" /><Relationship Type="http://schemas.openxmlformats.org/officeDocument/2006/relationships/slide" Target="/ppt/slides/slide10.xml" Id="R52448f2e6a1e4cc8" /><Relationship Type="http://schemas.openxmlformats.org/officeDocument/2006/relationships/slide" Target="/ppt/slides/slide11.xml" Id="R14510e06cec34347" /><Relationship Type="http://schemas.openxmlformats.org/officeDocument/2006/relationships/slide" Target="/ppt/slides/slide12.xml" Id="R008e0e6e8aac4fe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830d85a022d48a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0cb9903710141ff" /><Relationship Type="http://schemas.openxmlformats.org/officeDocument/2006/relationships/notesMaster" Target="/ppt/notesMasters/notesMaster1.xml" Id="Rdbb669dbe13a467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e4741c06fa54e56" /><Relationship Type="http://schemas.openxmlformats.org/officeDocument/2006/relationships/notesMaster" Target="/ppt/notesMasters/notesMaster1.xml" Id="R66b8083862374e8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8f75a32039c4d7b" /><Relationship Type="http://schemas.openxmlformats.org/officeDocument/2006/relationships/notesMaster" Target="/ppt/notesMasters/notesMaster1.xml" Id="R666c4e523471476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70e985ff58c49e4" /><Relationship Type="http://schemas.openxmlformats.org/officeDocument/2006/relationships/notesMaster" Target="/ppt/notesMasters/notesMaster1.xml" Id="Rc6ea1fe1ec55404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d04e174c95441c4" /><Relationship Type="http://schemas.openxmlformats.org/officeDocument/2006/relationships/notesMaster" Target="/ppt/notesMasters/notesMaster1.xml" Id="R4e0c966d08d84d4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2b966dc53a043ab" /><Relationship Type="http://schemas.openxmlformats.org/officeDocument/2006/relationships/notesMaster" Target="/ppt/notesMasters/notesMaster1.xml" Id="R46cfc39dc76c4a3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3b170cd37954fa3" /><Relationship Type="http://schemas.openxmlformats.org/officeDocument/2006/relationships/notesMaster" Target="/ppt/notesMasters/notesMaster1.xml" Id="R088c99b90d964ae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b46454ce57f4934" /><Relationship Type="http://schemas.openxmlformats.org/officeDocument/2006/relationships/notesMaster" Target="/ppt/notesMasters/notesMaster1.xml" Id="Rb0898659f512488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786e0db95ef4c95" /><Relationship Type="http://schemas.openxmlformats.org/officeDocument/2006/relationships/notesMaster" Target="/ppt/notesMasters/notesMaster1.xml" Id="R5dc4fe4f11c141d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188af8ae52b4caa" /><Relationship Type="http://schemas.openxmlformats.org/officeDocument/2006/relationships/notesMaster" Target="/ppt/notesMasters/notesMaster1.xml" Id="Rcf4f20668e9d463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87a8084c7cf419c" /><Relationship Type="http://schemas.openxmlformats.org/officeDocument/2006/relationships/notesMaster" Target="/ppt/notesMasters/notesMaster1.xml" Id="R1be1a3f91e48445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59c8ddd57064528" /><Relationship Type="http://schemas.openxmlformats.org/officeDocument/2006/relationships/notesMaster" Target="/ppt/notesMasters/notesMaster1.xml" Id="R8aa4968a3256417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Neural Networks and PyTorch. Understand how layers of trainable parameters learn through forward and backward passes.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https://github.com/curiousily/AI-Bootcamp/blob/master/02.real-world-pytorch.ipynb</a:t>
            </a:r>
          </a:p>
          <a:p xmlns:a="http://schemas.openxmlformats.org/drawingml/2006/main">
            <a:r>
              <a:t>- https://docs.pytorch.org/docs/stable/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required starting point is vectors, matrices, classification, loss functions, gradients, and learning rates. By the end, you will explain tensors in plain language.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https://github.com/curiousily/AI-Bootcamp/blob/master/02.real-world-pytorch.ipynb</a:t>
            </a:r>
          </a:p>
          <a:p xmlns:a="http://schemas.openxmlformats.org/drawingml/2006/main">
            <a:r>
              <a:t>- https://docs.pytorch.org/docs/stable/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Define the language before using it: tensors, layers and activations, backpropagation, training and evaluation modes.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https://github.com/curiousily/AI-Bootcamp/blob/master/02.real-world-pytorch.ipynb</a:t>
            </a:r>
          </a:p>
          <a:p xmlns:a="http://schemas.openxmlformats.org/drawingml/2006/main">
            <a:r>
              <a:t>- https://docs.pytorch.org/docs/stable/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z=Wx+b computes a layer; an activation transforms z; backpropagation applies the chain rule to calculate gradients.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https://github.com/curiousily/AI-Bootcamp/blob/master/02.real-world-pytorch.ipynb</a:t>
            </a:r>
          </a:p>
          <a:p xmlns:a="http://schemas.openxmlformats.org/drawingml/2006/main">
            <a:r>
              <a:t>- https://docs.pytorch.org/docs/stable/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Every symbol or component has a job. tensor: A typed multidimensional array. weight: A trainable multiplier. activation: A nonlinear transformation. epoch: One pass over training data.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https://github.com/curiousily/AI-Bootcamp/blob/master/02.real-world-pytorch.ipynb</a:t>
            </a:r>
          </a:p>
          <a:p xmlns:a="http://schemas.openxmlformats.org/drawingml/2006/main">
            <a:r>
              <a:t>- https://docs.pytorch.org/docs/stable/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Work through the values before running code. Calculate z=2×0.5−0.2=0.8, apply ReLU to keep 0.8, then compare the output with its target.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https://github.com/curiousily/AI-Bootcamp/blob/master/02.real-world-pytorch.ipynb</a:t>
            </a:r>
          </a:p>
          <a:p xmlns:a="http://schemas.openxmlformats.org/drawingml/2006/main">
            <a:r>
              <a:t>- https://docs.pytorch.org/docs/stable/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Connect the hand-worked mechanism to Python. The observed output is 0.04 -0.8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https://github.com/curiousily/AI-Bootcamp/blob/master/02.real-world-pytorch.ipynb</a:t>
            </a:r>
          </a:p>
          <a:p xmlns:a="http://schemas.openxmlformats.org/drawingml/2006/main">
            <a:r>
              <a:t>- https://docs.pytorch.org/docs/stable/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Without nonlinear activations, stacked linear layers collapse into one linear transformation. `loss.backward()` calculates gradients; the optimizer uses them to update parameters. Mini-batches trade noisy gradient estimates for memory and computation efficiency. `model.eval()` and inference mode make validation behavior stable and avoid gradient storage.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https://github.com/curiousily/AI-Bootcamp/blob/master/02.real-world-pytorch.ipynb</a:t>
            </a:r>
          </a:p>
          <a:p xmlns:a="http://schemas.openxmlformats.org/drawingml/2006/main">
            <a:r>
              <a:t>- https://docs.pytorch.org/docs/stable/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concepts from this lesson to read and complete https://github.com/curiousily/AI-Bootcamp/blob/master/02.real-world-pytorch.ipynb. Predict what each section does before executing 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https://github.com/curiousily/AI-Bootcamp/blob/master/02.real-world-pytorch.ipynb</a:t>
            </a:r>
          </a:p>
          <a:p xmlns:a="http://schemas.openxmlformats.org/drawingml/2006/main">
            <a:r>
              <a:t>- https://docs.pytorch.org/docs/stable/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Forgetting to clear accumulated gradients. Evaluating with dropout or batch normalization still in training mode.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https://github.com/curiousily/AI-Bootcamp/blob/master/02.real-world-pytorch.ipynb</a:t>
            </a:r>
          </a:p>
          <a:p xmlns:a="http://schemas.openxmlformats.org/drawingml/2006/main">
            <a:r>
              <a:t>- https://docs.pytorch.org/docs/stable/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Predict, run, inspect, and explain. Train a small classifier with DataLoader batches and evaluate it under inference mode.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https://github.com/curiousily/AI-Bootcamp/blob/master/02.real-world-pytorch.ipynb</a:t>
            </a:r>
          </a:p>
          <a:p xmlns:a="http://schemas.openxmlformats.org/drawingml/2006/main">
            <a:r>
              <a:t>- https://docs.pytorch.org/docs/stable/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Retain the connection between tensors, layers and activations, backpropagation, training and evaluation modes. Verification evidence: Confirm shapes at each boundary, decreasing training loss, finite gradients, and deterministic evaluation behavior.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https://github.com/curiousily/AI-Bootcamp/blob/master/02.real-world-pytorch.ipynb</a:t>
            </a:r>
          </a:p>
          <a:p xmlns:a="http://schemas.openxmlformats.org/drawingml/2006/main">
            <a:r>
              <a:t>- https://docs.pytorch.org/docs/stable/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71207f53be74d2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fabda9de65d4fe0" /><Relationship Type="http://schemas.openxmlformats.org/officeDocument/2006/relationships/slideLayout" Target="/ppt/slideLayouts/slideLayout1.xml" Id="Rc43273c14f664ff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43273c14f664ff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c21d7842c74a93" /><Relationship Type="http://schemas.openxmlformats.org/officeDocument/2006/relationships/image" Target="/ppt/media/image.png" Id="R88351f5fb38043a0" /><Relationship Type="http://schemas.openxmlformats.org/officeDocument/2006/relationships/image" Target="/ppt/media/image2.png" Id="R8019269f404e4e55" /><Relationship Type="http://schemas.openxmlformats.org/officeDocument/2006/relationships/notesSlide" Target="/ppt/notesSlides/notesSlide1.xml" Id="R97fd34c33b014af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0da26a714a475f" /><Relationship Type="http://schemas.openxmlformats.org/officeDocument/2006/relationships/notesSlide" Target="/ppt/notesSlides/notesSlide2.xml" Id="Rf1ab57590b8041f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ee8b03de524c5d" /><Relationship Type="http://schemas.openxmlformats.org/officeDocument/2006/relationships/notesSlide" Target="/ppt/notesSlides/notesSlide3.xml" Id="R61447ddbb6264bc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2b9dd9ed58409a" /><Relationship Type="http://schemas.openxmlformats.org/officeDocument/2006/relationships/notesSlide" Target="/ppt/notesSlides/notesSlide4.xml" Id="Ra598921d8ed34b6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d6a7ac6b9146f4" /><Relationship Type="http://schemas.openxmlformats.org/officeDocument/2006/relationships/notesSlide" Target="/ppt/notesSlides/notesSlide5.xml" Id="R987e7affddfa45a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d726aa0da44275" /><Relationship Type="http://schemas.openxmlformats.org/officeDocument/2006/relationships/notesSlide" Target="/ppt/notesSlides/notesSlide6.xml" Id="R022be9edf43f4d1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80afb8b5634064" /><Relationship Type="http://schemas.openxmlformats.org/officeDocument/2006/relationships/notesSlide" Target="/ppt/notesSlides/notesSlide7.xml" Id="R8b3f91bdf6f244d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e779cec7d44359" /><Relationship Type="http://schemas.openxmlformats.org/officeDocument/2006/relationships/notesSlide" Target="/ppt/notesSlides/notesSlide8.xml" Id="R06ca697dbbac493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46cd636e274a00" /><Relationship Type="http://schemas.openxmlformats.org/officeDocument/2006/relationships/notesSlide" Target="/ppt/notesSlides/notesSlide9.xml" Id="Re9245bf9923a468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b28206f9544506" /><Relationship Type="http://schemas.openxmlformats.org/officeDocument/2006/relationships/notesSlide" Target="/ppt/notesSlides/notesSlide10.xml" Id="R5609bd49666545c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bd980e1a144756" /><Relationship Type="http://schemas.openxmlformats.org/officeDocument/2006/relationships/notesSlide" Target="/ppt/notesSlides/notesSlide11.xml" Id="Reed1ebb2fc104ab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b9ed24b2614ba4" /><Relationship Type="http://schemas.openxmlformats.org/officeDocument/2006/relationships/image" Target="/ppt/media/image3.png" Id="Rbf9440ccceb7490f" /><Relationship Type="http://schemas.openxmlformats.org/officeDocument/2006/relationships/notesSlide" Target="/ppt/notesSlides/notesSlide12.xml" Id="Rceb26707f4584ef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E26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7AF260-29A9-42D9-9E73-482A19510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C8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351f5fb38043a0"/>
          <a:srcRect xmlns:a="http://schemas.openxmlformats.org/drawingml/2006/main" l="28270" t="0" r="2827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96100" y="0"/>
            <a:ext cx="52959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E2C7BA-2FED-4E58-82C4-3E92656AF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0"/>
            <a:ext cx="3048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ED0C04-5733-49EE-A458-819B65E1B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0A8C8"/>
                </a:solidFill>
              </a:defRPr>
            </a:pPr>
            <a:r>
              <a:rPr sz="975" b="1">
                <a:solidFill>
                  <a:srgbClr val="00A8C8"/>
                </a:solidFill>
              </a:rPr>
              <a:t>MODULE 09  /  LESSON 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05EC56-D29C-4184-8E3F-8D5D97BF8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09700"/>
            <a:ext cx="52197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FFFFFF"/>
                </a:solidFill>
              </a:defRPr>
            </a:pPr>
            <a:r>
              <a:rPr sz="3900" b="1">
                <a:solidFill>
                  <a:srgbClr val="FFFFFF"/>
                </a:solidFill>
              </a:rPr>
              <a:t>Neural Networks and PyTorch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1E1FCF-FA03-4317-B80F-B549F8A17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95750"/>
            <a:ext cx="914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B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7DA1F8-85C3-4C58-A6D9-A63F0DFDA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95800"/>
            <a:ext cx="50482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D5E2EC"/>
                </a:solidFill>
              </a:defRPr>
            </a:pPr>
            <a:r>
              <a:rPr sz="1650">
                <a:solidFill>
                  <a:srgbClr val="D5E2EC"/>
                </a:solidFill>
              </a:rPr>
              <a:t>Understand how layers of trainable parameters learn through forward and backward passes.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19269f404e4e55"/>
          <a:stretch xmlns:a="http://schemas.openxmlformats.org/drawingml/2006/main"/>
        </p:blipFill>
        <p:spPr>
          <a:xfrm xmlns:a="http://schemas.openxmlformats.org/drawingml/2006/main">
            <a:off x="790575" y="5905500"/>
            <a:ext cx="1485900" cy="4953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786332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99D9389-20FB-40C0-B2CE-0EEF1076E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176BDB"/>
                </a:solidFill>
              </a:defRPr>
            </a:pPr>
            <a:r>
              <a:rPr sz="825" b="1">
                <a:solidFill>
                  <a:srgbClr val="176BDB"/>
                </a:solidFill>
              </a:rPr>
              <a:t>M09 / L01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383353-341A-4CD9-A2C2-A362243ED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667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07086"/>
                </a:solidFill>
              </a:defRPr>
            </a:pPr>
            <a:r>
              <a:rPr sz="825">
                <a:solidFill>
                  <a:srgbClr val="607086"/>
                </a:solidFill>
              </a:rPr>
              <a:t>Neural Networks and PyTorch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2DC02A-E2E1-411C-9F86-025467690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66700"/>
            <a:ext cx="2133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07086"/>
                </a:solidFill>
              </a:defRPr>
            </a:pPr>
            <a:r>
              <a:rPr sz="825" b="1">
                <a:solidFill>
                  <a:srgbClr val="607086"/>
                </a:solidFill>
              </a:rPr>
              <a:t>DS ACADEMY   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13AE61-F17B-4E08-9337-092450AD2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76BDB"/>
                </a:solidFill>
              </a:defRPr>
            </a:pPr>
            <a:r>
              <a:rPr sz="900" b="1">
                <a:solidFill>
                  <a:srgbClr val="176BDB"/>
                </a:solidFill>
              </a:rPr>
              <a:t>WHY THIS MATTERS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0B8039-B29E-4BDA-B6E3-2A6278D44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1047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B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D84F9D-A268-45A8-AF9F-94BD3CF6A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9715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B1220"/>
                </a:solidFill>
              </a:defRPr>
            </a:pPr>
            <a:r>
              <a:rPr sz="3000" b="1">
                <a:solidFill>
                  <a:srgbClr val="0B1220"/>
                </a:solidFill>
              </a:rPr>
              <a:t>Start from what you already know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9D56DF-3096-4ACC-A22A-60EB03286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9850"/>
            <a:ext cx="9715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6BDB"/>
                </a:solidFill>
              </a:defRPr>
            </a:pPr>
            <a:r>
              <a:rPr sz="2025" b="1">
                <a:solidFill>
                  <a:srgbClr val="176BDB"/>
                </a:solidFill>
              </a:rPr>
              <a:t>Vectors, matrices, classification, loss functions, gradients, and learning rates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F6D174-8A48-44B9-A412-5A5F71CC6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56235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0A8C8"/>
                </a:solidFill>
              </a:defRPr>
            </a:pPr>
            <a:r>
              <a:rPr sz="975" b="1">
                <a:solidFill>
                  <a:srgbClr val="00A8C8"/>
                </a:solidFill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FCF419-67BD-4DB5-8B5F-C53A0D366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505200"/>
            <a:ext cx="857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B1220"/>
                </a:solidFill>
              </a:defRPr>
            </a:pPr>
            <a:r>
              <a:rPr sz="1575" b="1">
                <a:solidFill>
                  <a:srgbClr val="0B1220"/>
                </a:solidFill>
              </a:rPr>
              <a:t>Explain tensors in plain language.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5FB5B8-9F0E-40F1-8264-82A340752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4815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0A8C8"/>
                </a:solidFill>
              </a:defRPr>
            </a:pPr>
            <a:r>
              <a:rPr sz="975" b="1">
                <a:solidFill>
                  <a:srgbClr val="00A8C8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E20855-5823-440C-B10B-0A01F474E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191000"/>
            <a:ext cx="857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B1220"/>
                </a:solidFill>
              </a:defRPr>
            </a:pPr>
            <a:r>
              <a:rPr sz="1575" b="1">
                <a:solidFill>
                  <a:srgbClr val="0B1220"/>
                </a:solidFill>
              </a:rPr>
              <a:t>Use layers and activations in a small worked example.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6562C2-EADB-4BC4-94B9-C37C2F0E4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93395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06B5F"/>
                </a:solidFill>
              </a:defRPr>
            </a:pPr>
            <a:r>
              <a:rPr sz="975" b="1">
                <a:solidFill>
                  <a:srgbClr val="F06B5F"/>
                </a:solidFill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E71A32-7CFC-4B8A-8517-DA7634D06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876800"/>
            <a:ext cx="857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B1220"/>
                </a:solidFill>
              </a:defRPr>
            </a:pPr>
            <a:r>
              <a:rPr sz="1575" b="1">
                <a:solidFill>
                  <a:srgbClr val="0B1220"/>
                </a:solidFill>
              </a:rPr>
              <a:t>Complete the guided lab and verify training and evaluation modes.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F870D3-DDF3-4CF7-8254-E1760429B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1219200"/>
            <a:ext cx="609600" cy="453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5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D48ECDA-032C-4E77-9FF0-03DF20CB8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2095500"/>
            <a:ext cx="2286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C8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44376285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CA3E36D-B489-42AE-A93A-6680B792A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176BDB"/>
                </a:solidFill>
              </a:defRPr>
            </a:pPr>
            <a:r>
              <a:rPr sz="825" b="1">
                <a:solidFill>
                  <a:srgbClr val="176BDB"/>
                </a:solidFill>
              </a:rPr>
              <a:t>M09 / L01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C9D34E-8904-401C-84F2-F38ADF66C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667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07086"/>
                </a:solidFill>
              </a:defRPr>
            </a:pPr>
            <a:r>
              <a:rPr sz="825">
                <a:solidFill>
                  <a:srgbClr val="607086"/>
                </a:solidFill>
              </a:rPr>
              <a:t>Neural Networks and PyTorch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B351D7-9BE0-4FDD-8AF2-12E3133D2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66700"/>
            <a:ext cx="2133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07086"/>
                </a:solidFill>
              </a:defRPr>
            </a:pPr>
            <a:r>
              <a:rPr sz="825" b="1">
                <a:solidFill>
                  <a:srgbClr val="607086"/>
                </a:solidFill>
              </a:rPr>
              <a:t>DS ACADEMY   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78E110-4B95-4453-836F-F5D166DAB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76BDB"/>
                </a:solidFill>
              </a:defRPr>
            </a:pPr>
            <a:r>
              <a:rPr sz="900" b="1">
                <a:solidFill>
                  <a:srgbClr val="176BDB"/>
                </a:solidFill>
              </a:rPr>
              <a:t>CORE CONCEPT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D5FEF1-08E5-4873-AD9A-9BE22A5E2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28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B1220"/>
                </a:solidFill>
              </a:defRPr>
            </a:pPr>
            <a:r>
              <a:rPr sz="3000" b="1">
                <a:solidFill>
                  <a:srgbClr val="0B1220"/>
                </a:solidFill>
              </a:rPr>
              <a:t>The vocabulary of this topic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EC76D3-9630-4C15-B283-302B969B1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43150"/>
            <a:ext cx="10668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F305FE-AF38-4C4C-9763-2CFA8EFE1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86050"/>
            <a:ext cx="10572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243244"/>
                </a:solidFill>
              </a:defRPr>
            </a:pPr>
            <a:r>
              <a:rPr sz="1575">
                <a:solidFill>
                  <a:srgbClr val="243244"/>
                </a:solidFill>
              </a:rPr>
              <a:t>Understand how layers of trainable parameters learn through forward and backward passes.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B271FA-A607-4ACA-87B4-CFF117982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38550"/>
            <a:ext cx="51435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06AB5F-617A-466C-8B99-A92A1B411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62375"/>
            <a:ext cx="4762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B1220"/>
                </a:solidFill>
              </a:defRPr>
            </a:pPr>
            <a:r>
              <a:rPr sz="1200" b="1">
                <a:solidFill>
                  <a:srgbClr val="0B1220"/>
                </a:solidFill>
              </a:rPr>
              <a:t>tensors: A tensor is a typed, multidimensional array that can live on CPU or accelerator memory and participate in differentiable operations.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981F17-78AE-4A30-A62A-7F7293BAD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638550"/>
            <a:ext cx="51435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033782-B320-40D8-A954-2FE5263F9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762375"/>
            <a:ext cx="4762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B1220"/>
                </a:solidFill>
              </a:defRPr>
            </a:pPr>
            <a:r>
              <a:rPr sz="1200" b="1">
                <a:solidFill>
                  <a:srgbClr val="0B1220"/>
                </a:solidFill>
              </a:rPr>
              <a:t>layers and activations: A layer computes weighted sums; an activation introduces a nonlinear transformation.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D0EB1A-2D25-4C25-A96C-81B376245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00600"/>
            <a:ext cx="51435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0B4246-36CA-44B5-8573-C5A635E22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24425"/>
            <a:ext cx="4762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B1220"/>
                </a:solidFill>
              </a:defRPr>
            </a:pPr>
            <a:r>
              <a:rPr sz="1200" b="1">
                <a:solidFill>
                  <a:srgbClr val="0B1220"/>
                </a:solidFill>
              </a:rPr>
              <a:t>backpropagation: Backpropagation applies the chain rule from loss to every trainable parameter.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1FD568-4A2C-4335-8EF7-3D7713FDE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800600"/>
            <a:ext cx="51435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6C58CBE-95B8-4EF9-BF5F-3B86AF68F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924425"/>
            <a:ext cx="4762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B1220"/>
                </a:solidFill>
              </a:defRPr>
            </a:pPr>
            <a:r>
              <a:rPr sz="1200" b="1">
                <a:solidFill>
                  <a:srgbClr val="0B1220"/>
                </a:solidFill>
              </a:rPr>
              <a:t>training and evaluation modes: Training mode enables learning-time behavior; evaluation mode freezes stochastic or running-statistic behavior.</a:t>
            </a:r>
          </a:p>
        </p:txBody>
      </p:sp>
    </p:spTree>
    <p:extLst>
      <p:ext uri="{BB962C8B-B14F-4D97-AF65-F5344CB8AC3E}">
        <p14:creationId xmlns:p14="http://schemas.microsoft.com/office/powerpoint/2010/main" val="52539365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E26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0632E8F-5CF6-4B9D-8E99-A8BD53AF3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00A8C8"/>
                </a:solidFill>
              </a:defRPr>
            </a:pPr>
            <a:r>
              <a:rPr sz="825" b="1">
                <a:solidFill>
                  <a:srgbClr val="00A8C8"/>
                </a:solidFill>
              </a:rPr>
              <a:t>M09 / L01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7BDCA4-9B5C-4F67-840F-0F7431617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667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B7CAD9"/>
                </a:solidFill>
              </a:defRPr>
            </a:pPr>
            <a:r>
              <a:rPr sz="825">
                <a:solidFill>
                  <a:srgbClr val="B7CAD9"/>
                </a:solidFill>
              </a:rPr>
              <a:t>Neural Networks and PyTorch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F8141A-40C7-4007-A193-8AD539CD7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66700"/>
            <a:ext cx="2133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B7CAD9"/>
                </a:solidFill>
              </a:defRPr>
            </a:pPr>
            <a:r>
              <a:rPr sz="825" b="1">
                <a:solidFill>
                  <a:srgbClr val="B7CAD9"/>
                </a:solidFill>
              </a:rPr>
              <a:t>DS ACADEMY   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64C946-734C-49D8-94CC-D0D69BF16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4295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0A8C8"/>
                </a:solidFill>
              </a:defRPr>
            </a:pPr>
            <a:r>
              <a:rPr sz="900" b="1">
                <a:solidFill>
                  <a:srgbClr val="00A8C8"/>
                </a:solidFill>
              </a:rPr>
              <a:t>FOUR CONNECTED IDEAS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5DB7D3-7EE1-4E34-9E2E-97076387F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2870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How the concept works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EE28EC-F29A-48A4-8D13-76142DB45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76BDB"/>
                </a:solidFill>
              </a:defRPr>
            </a:pPr>
            <a:r>
              <a:rPr sz="975" b="1">
                <a:solidFill>
                  <a:srgbClr val="176BDB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E0E042-8F9A-4AD4-8971-3342E2E34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86050"/>
            <a:ext cx="2095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51FF7A-B9AC-454E-947A-835953C46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21907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tensors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933EAE-9EB4-4CF0-A8FC-2C9C0FC1C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086100"/>
            <a:ext cx="400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8BA2B6"/>
                </a:solidFill>
              </a:defRPr>
            </a:pPr>
            <a:r>
              <a:rPr sz="2325" b="1">
                <a:solidFill>
                  <a:srgbClr val="8BA2B6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17ECBD-DC23-4549-AA1F-3A3924735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20980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0A8C8"/>
                </a:solidFill>
              </a:defRPr>
            </a:pPr>
            <a:r>
              <a:rPr sz="975" b="1">
                <a:solidFill>
                  <a:srgbClr val="00A8C8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9079B6-4167-42AF-AA79-4968CED71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686050"/>
            <a:ext cx="2095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94A4E0-59D5-46D5-8B31-EC2B80260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971800"/>
            <a:ext cx="21907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layers and activations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A6F4B0C-9CAA-467E-A056-485F4114B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086100"/>
            <a:ext cx="400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8BA2B6"/>
                </a:solidFill>
              </a:defRPr>
            </a:pPr>
            <a:r>
              <a:rPr sz="2325" b="1">
                <a:solidFill>
                  <a:srgbClr val="8BA2B6"/>
                </a:solidFill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14B5C28-FA10-4973-8597-7DB06A958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20980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F6BD98D-212C-49A9-A41B-4B2B8ACC1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686050"/>
            <a:ext cx="2095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DC1C5A0-7246-42B8-A145-979B42C1F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971800"/>
            <a:ext cx="21907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backpropagation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5AA07B0-D230-4F3A-BAA3-EF9839707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086100"/>
            <a:ext cx="400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8BA2B6"/>
                </a:solidFill>
              </a:defRPr>
            </a:pPr>
            <a:r>
              <a:rPr sz="2325" b="1">
                <a:solidFill>
                  <a:srgbClr val="8BA2B6"/>
                </a:solidFill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F70FEE4-1BE6-4DD2-BE1D-56CA241FE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20980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06B5F"/>
                </a:solidFill>
              </a:defRPr>
            </a:pPr>
            <a:r>
              <a:rPr sz="975" b="1">
                <a:solidFill>
                  <a:srgbClr val="F06B5F"/>
                </a:solidFill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E69AB53-C784-4E5F-893E-0418062B2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686050"/>
            <a:ext cx="2095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B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D922EE7-05FC-41F5-89B7-627CFBFF6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971800"/>
            <a:ext cx="21907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training and evaluation modes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A843D7F-B80B-464C-AE3D-9E91E29B7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C9D8E4"/>
                </a:solidFill>
              </a:defRPr>
            </a:pPr>
            <a:r>
              <a:rPr sz="1575">
                <a:solidFill>
                  <a:srgbClr val="C9D8E4"/>
                </a:solidFill>
              </a:rPr>
              <a:t>z=Wx+b computes a layer; an activation transforms z; backpropagation applies the chain rule to calculate gradients.</a:t>
            </a:r>
          </a:p>
        </p:txBody>
      </p:sp>
    </p:spTree>
    <p:extLst>
      <p:ext uri="{BB962C8B-B14F-4D97-AF65-F5344CB8AC3E}">
        <p14:creationId xmlns:p14="http://schemas.microsoft.com/office/powerpoint/2010/main" val="118288076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E7945DF-1ABB-4D2E-BC09-76099460D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176BDB"/>
                </a:solidFill>
              </a:defRPr>
            </a:pPr>
            <a:r>
              <a:rPr sz="825" b="1">
                <a:solidFill>
                  <a:srgbClr val="176BDB"/>
                </a:solidFill>
              </a:rPr>
              <a:t>M09 / L01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7B30A1-2402-4A85-88F2-1581D8C79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667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07086"/>
                </a:solidFill>
              </a:defRPr>
            </a:pPr>
            <a:r>
              <a:rPr sz="825">
                <a:solidFill>
                  <a:srgbClr val="607086"/>
                </a:solidFill>
              </a:rPr>
              <a:t>Neural Networks and PyTorch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DCCC97-A7DF-4DC0-B561-2D9287A0C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66700"/>
            <a:ext cx="2133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07086"/>
                </a:solidFill>
              </a:defRPr>
            </a:pPr>
            <a:r>
              <a:rPr sz="825" b="1">
                <a:solidFill>
                  <a:srgbClr val="607086"/>
                </a:solidFill>
              </a:rPr>
              <a:t>DS ACADEMY   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BEE739-7E13-46A5-BCF2-FB3CE2285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76BDB"/>
                </a:solidFill>
              </a:defRPr>
            </a:pPr>
            <a:r>
              <a:rPr sz="900" b="1">
                <a:solidFill>
                  <a:srgbClr val="176BDB"/>
                </a:solidFill>
              </a:rPr>
              <a:t>CORE CONCEPT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4F4D98-E18D-4494-8514-859658799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28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B1220"/>
                </a:solidFill>
              </a:defRPr>
            </a:pPr>
            <a:r>
              <a:rPr sz="3000" b="1">
                <a:solidFill>
                  <a:srgbClr val="0B1220"/>
                </a:solidFill>
              </a:rPr>
              <a:t>Read every part of the mechanism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38DBA7-68E4-46A2-B427-2001D51D1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43150"/>
            <a:ext cx="10668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F9D6D3-184F-44B2-BFEE-94DD2AB54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86050"/>
            <a:ext cx="10572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243244"/>
                </a:solidFill>
              </a:defRPr>
            </a:pPr>
            <a:r>
              <a:rPr sz="1575">
                <a:solidFill>
                  <a:srgbClr val="243244"/>
                </a:solidFill>
              </a:rPr>
              <a:t>z=Wx+b computes a layer; an activation transforms z; backpropagation applies the chain rule to calculate gradients.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879B02-B83F-4F4D-8935-0839AC208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38550"/>
            <a:ext cx="51435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C6730C-B550-4ED2-8932-483A94744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62375"/>
            <a:ext cx="4762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B1220"/>
                </a:solidFill>
              </a:defRPr>
            </a:pPr>
            <a:r>
              <a:rPr sz="1200" b="1">
                <a:solidFill>
                  <a:srgbClr val="0B1220"/>
                </a:solidFill>
              </a:rPr>
              <a:t>tensor: A typed multidimensional array.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96BEE7-671A-4B42-B9D4-E7EA415A0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638550"/>
            <a:ext cx="51435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0E5DDF-7A89-462C-A29B-5F1623F85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762375"/>
            <a:ext cx="4762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B1220"/>
                </a:solidFill>
              </a:defRPr>
            </a:pPr>
            <a:r>
              <a:rPr sz="1200" b="1">
                <a:solidFill>
                  <a:srgbClr val="0B1220"/>
                </a:solidFill>
              </a:rPr>
              <a:t>weight: A trainable multiplier.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088538-1FBD-4DAA-9B5D-160906576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00600"/>
            <a:ext cx="51435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F1E5E4-E1E6-48A9-A9EB-6B3378D9E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24425"/>
            <a:ext cx="4762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B1220"/>
                </a:solidFill>
              </a:defRPr>
            </a:pPr>
            <a:r>
              <a:rPr sz="1200" b="1">
                <a:solidFill>
                  <a:srgbClr val="0B1220"/>
                </a:solidFill>
              </a:rPr>
              <a:t>activation: A nonlinear transformation.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A91D8F-62CB-4678-BF55-E7B3E5A5F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800600"/>
            <a:ext cx="51435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C12F25E-409C-483B-83C0-A6E327070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924425"/>
            <a:ext cx="4762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B1220"/>
                </a:solidFill>
              </a:defRPr>
            </a:pPr>
            <a:r>
              <a:rPr sz="1200" b="1">
                <a:solidFill>
                  <a:srgbClr val="0B1220"/>
                </a:solidFill>
              </a:rPr>
              <a:t>epoch: One pass over training data.</a:t>
            </a:r>
          </a:p>
        </p:txBody>
      </p:sp>
    </p:spTree>
    <p:extLst>
      <p:ext uri="{BB962C8B-B14F-4D97-AF65-F5344CB8AC3E}">
        <p14:creationId xmlns:p14="http://schemas.microsoft.com/office/powerpoint/2010/main" val="147804399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54AAABC-61B9-43B1-B44F-05AE424B6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176BDB"/>
                </a:solidFill>
              </a:defRPr>
            </a:pPr>
            <a:r>
              <a:rPr sz="825" b="1">
                <a:solidFill>
                  <a:srgbClr val="176BDB"/>
                </a:solidFill>
              </a:rPr>
              <a:t>M09 / L01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2CF0B1-9D5E-42F5-AF66-EA7E87D38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667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07086"/>
                </a:solidFill>
              </a:defRPr>
            </a:pPr>
            <a:r>
              <a:rPr sz="825">
                <a:solidFill>
                  <a:srgbClr val="607086"/>
                </a:solidFill>
              </a:rPr>
              <a:t>Neural Networks and PyTorch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8328A6-8A59-4C89-9D2A-39AF370C8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66700"/>
            <a:ext cx="2133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07086"/>
                </a:solidFill>
              </a:defRPr>
            </a:pPr>
            <a:r>
              <a:rPr sz="825" b="1">
                <a:solidFill>
                  <a:srgbClr val="607086"/>
                </a:solidFill>
              </a:rPr>
              <a:t>DS ACADEMY   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F99830-CA6A-4914-8343-0AFE4CDA2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4295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76BDB"/>
                </a:solidFill>
              </a:defRPr>
            </a:pPr>
            <a:r>
              <a:rPr sz="900" b="1">
                <a:solidFill>
                  <a:srgbClr val="176BDB"/>
                </a:solidFill>
              </a:rPr>
              <a:t>WORKED EXAMPLE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830A56-232B-4049-9262-3864110FE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2870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B1220"/>
                </a:solidFill>
              </a:defRPr>
            </a:pPr>
            <a:r>
              <a:rPr sz="2850" b="1">
                <a:solidFill>
                  <a:srgbClr val="0B1220"/>
                </a:solidFill>
              </a:rPr>
              <a:t>Worked example by hand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F72A85-1E96-43EF-9343-9B1584C70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14500"/>
            <a:ext cx="103822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0B1220"/>
                </a:solidFill>
              </a:defRPr>
            </a:pPr>
            <a:r>
              <a:rPr sz="2325" b="1">
                <a:solidFill>
                  <a:srgbClr val="0B1220"/>
                </a:solidFill>
              </a:rPr>
              <a:t>Calculate z=2×0.5−0.2=0.8, apply ReLU to keep 0.8, then compare the output with its target.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78706C-9A55-4EAA-BF2F-B14D1C22A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10000"/>
            <a:ext cx="66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6BDB"/>
                </a:solidFill>
              </a:defRPr>
            </a:pPr>
            <a:r>
              <a:rPr sz="1200" b="1">
                <a:solidFill>
                  <a:srgbClr val="176BDB"/>
                </a:solidFill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DB3B6B-0907-41D7-9C77-74C19D0C7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24350"/>
            <a:ext cx="3009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73417F-2562-4177-814A-FB2531A3C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648200"/>
            <a:ext cx="304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B1220"/>
                </a:solidFill>
              </a:defRPr>
            </a:pPr>
            <a:r>
              <a:rPr sz="1875" b="1">
                <a:solidFill>
                  <a:srgbClr val="0B1220"/>
                </a:solidFill>
              </a:rPr>
              <a:t>Known values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4313BA-9BF0-42BC-97E2-F1FF7773D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810000"/>
            <a:ext cx="66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6BDB"/>
                </a:solidFill>
              </a:defRPr>
            </a:pPr>
            <a:r>
              <a:rPr sz="1200" b="1">
                <a:solidFill>
                  <a:srgbClr val="176BDB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C80B01-B53D-43DC-8220-85266DE60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324350"/>
            <a:ext cx="3009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92A278-9763-4B3C-A40E-1C792978E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648200"/>
            <a:ext cx="304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B1220"/>
                </a:solidFill>
              </a:defRPr>
            </a:pPr>
            <a:r>
              <a:rPr sz="1875" b="1">
                <a:solidFill>
                  <a:srgbClr val="0B1220"/>
                </a:solidFill>
              </a:rPr>
              <a:t>Apply the mechanism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D14481-EB72-42BD-B5EB-F843CEC3B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810000"/>
            <a:ext cx="66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06B5F"/>
                </a:solidFill>
              </a:defRPr>
            </a:pPr>
            <a:r>
              <a:rPr sz="1200" b="1">
                <a:solidFill>
                  <a:srgbClr val="F06B5F"/>
                </a:solidFill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DF895B7-EB77-4BB2-9743-80E754FE2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324350"/>
            <a:ext cx="3009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B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5724A0-2CAE-424F-8027-C0A1F7A6E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648200"/>
            <a:ext cx="304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B1220"/>
                </a:solidFill>
              </a:defRPr>
            </a:pPr>
            <a:r>
              <a:rPr sz="1875" b="1">
                <a:solidFill>
                  <a:srgbClr val="0B1220"/>
                </a:solidFill>
              </a:rPr>
              <a:t>Interpret the result</a:t>
            </a:r>
          </a:p>
        </p:txBody>
      </p:sp>
    </p:spTree>
    <p:extLst>
      <p:ext uri="{BB962C8B-B14F-4D97-AF65-F5344CB8AC3E}">
        <p14:creationId xmlns:p14="http://schemas.microsoft.com/office/powerpoint/2010/main" val="128289984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EEF4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B86A920-8E87-44B3-9AC3-40A51D654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176BDB"/>
                </a:solidFill>
              </a:defRPr>
            </a:pPr>
            <a:r>
              <a:rPr sz="825" b="1">
                <a:solidFill>
                  <a:srgbClr val="176BDB"/>
                </a:solidFill>
              </a:rPr>
              <a:t>M09 / L01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AEE7EF-982F-4CCE-9304-3F277DFBA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667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07086"/>
                </a:solidFill>
              </a:defRPr>
            </a:pPr>
            <a:r>
              <a:rPr sz="825">
                <a:solidFill>
                  <a:srgbClr val="607086"/>
                </a:solidFill>
              </a:rPr>
              <a:t>Neural Networks and PyTorch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1F0AB3-001F-4260-B8ED-711102561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66700"/>
            <a:ext cx="2133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07086"/>
                </a:solidFill>
              </a:defRPr>
            </a:pPr>
            <a:r>
              <a:rPr sz="825" b="1">
                <a:solidFill>
                  <a:srgbClr val="607086"/>
                </a:solidFill>
              </a:rPr>
              <a:t>DS ACADEMY   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C633A4-AA24-46B1-8192-BA465BDC1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4295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76BDB"/>
                </a:solidFill>
              </a:defRPr>
            </a:pPr>
            <a:r>
              <a:rPr sz="900" b="1">
                <a:solidFill>
                  <a:srgbClr val="176BDB"/>
                </a:solidFill>
              </a:rPr>
              <a:t>RUN IT AND INSPECT THE RESULT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15E040-E682-483A-B936-5E39E6A51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2870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B1220"/>
                </a:solidFill>
              </a:defRPr>
            </a:pPr>
            <a:r>
              <a:rPr sz="2850" b="1">
                <a:solidFill>
                  <a:srgbClr val="0B1220"/>
                </a:solidFill>
              </a:rPr>
              <a:t>Map the concept to Python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4FF708-C516-4E02-8DB5-C5225A8E0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19250"/>
            <a:ext cx="6515100" cy="388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23E99F-5B40-44BF-BEEC-D2B1807EF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19250"/>
            <a:ext cx="65151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2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A45AF3-9801-4E47-98EF-0F125B96B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6B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427132-6259-4017-B487-3BE0D6A08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145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C9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0865E6-3B8C-4A75-BB2F-FEC88CE88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7145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8D9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82865A-2D70-4833-8D04-486F6063F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95500"/>
            <a:ext cx="6115050" cy="320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E8F1F7"/>
                </a:solidFill>
              </a:defRPr>
            </a:pPr>
            <a:r>
              <a:rPr sz="1125">
                <a:solidFill>
                  <a:srgbClr val="E8F1F7"/>
                </a:solidFill>
              </a:rPr>
              <a:t>import torch</a:t>
            </a:r>
          </a:p>
          <a:p xmlns:a="http://schemas.openxmlformats.org/drawingml/2006/main">
            <a:pPr>
              <a:defRPr sz="1125">
                <a:solidFill>
                  <a:srgbClr val="E8F1F7"/>
                </a:solidFill>
              </a:defRPr>
            </a:pPr>
            <a:r>
              <a:rPr sz="1125">
                <a:solidFill>
                  <a:srgbClr val="E8F1F7"/>
                </a:solidFill>
              </a:rPr>
              <a:t>x = torch.tensor([2.0])</a:t>
            </a:r>
          </a:p>
          <a:p xmlns:a="http://schemas.openxmlformats.org/drawingml/2006/main">
            <a:pPr>
              <a:defRPr sz="1125">
                <a:solidFill>
                  <a:srgbClr val="E8F1F7"/>
                </a:solidFill>
              </a:defRPr>
            </a:pPr>
            <a:r>
              <a:rPr sz="1125">
                <a:solidFill>
                  <a:srgbClr val="E8F1F7"/>
                </a:solidFill>
              </a:rPr>
              <a:t>w = torch.tensor([0.5], requires_grad=True)</a:t>
            </a:r>
          </a:p>
          <a:p xmlns:a="http://schemas.openxmlformats.org/drawingml/2006/main">
            <a:pPr>
              <a:defRPr sz="1125">
                <a:solidFill>
                  <a:srgbClr val="E8F1F7"/>
                </a:solidFill>
              </a:defRPr>
            </a:pPr>
            <a:r>
              <a:rPr sz="1125">
                <a:solidFill>
                  <a:srgbClr val="E8F1F7"/>
                </a:solidFill>
              </a:rPr>
              <a:t>loss = (torch.relu(x * w - 0.2) - 1.0) ** 2</a:t>
            </a:r>
          </a:p>
          <a:p xmlns:a="http://schemas.openxmlformats.org/drawingml/2006/main">
            <a:pPr>
              <a:defRPr sz="1125">
                <a:solidFill>
                  <a:srgbClr val="E8F1F7"/>
                </a:solidFill>
              </a:defRPr>
            </a:pPr>
            <a:r>
              <a:rPr sz="1125">
                <a:solidFill>
                  <a:srgbClr val="E8F1F7"/>
                </a:solidFill>
              </a:rPr>
              <a:t>loss.backward()</a:t>
            </a:r>
          </a:p>
          <a:p xmlns:a="http://schemas.openxmlformats.org/drawingml/2006/main">
            <a:pPr>
              <a:defRPr sz="1125">
                <a:solidFill>
                  <a:srgbClr val="E8F1F7"/>
                </a:solidFill>
              </a:defRPr>
            </a:pPr>
            <a:r>
              <a:rPr sz="1125">
                <a:solidFill>
                  <a:srgbClr val="E8F1F7"/>
                </a:solidFill>
              </a:rPr>
              <a:t>print(round(loss.item(), 2), round(w.grad.item(), 2))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C2D9D7-0503-463E-BE74-8F1F857AE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619250"/>
            <a:ext cx="4324350" cy="388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6D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66E541-B65E-476B-9782-D8A89675B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184785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76BDB"/>
                </a:solidFill>
              </a:defRPr>
            </a:pPr>
            <a:r>
              <a:rPr sz="900" b="1">
                <a:solidFill>
                  <a:srgbClr val="176BDB"/>
                </a:solidFill>
              </a:rPr>
              <a:t>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82C4CA-0D9F-430E-98C8-862BD9AC3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228850"/>
            <a:ext cx="3790950" cy="2971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0B1220"/>
                </a:solidFill>
              </a:defRPr>
            </a:pPr>
            <a:r>
              <a:rPr sz="1050">
                <a:solidFill>
                  <a:srgbClr val="0B1220"/>
                </a:solidFill>
              </a:rPr>
              <a:t>0.04 -0.8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A1F2DC9-EF1D-4307-9086-21F06103D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34050"/>
            <a:ext cx="11144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5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54CC79A-90D4-4D75-AEDF-35668CE6E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86450"/>
            <a:ext cx="10744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B1220"/>
                </a:solidFill>
              </a:defRPr>
            </a:pPr>
            <a:r>
              <a:rPr sz="1500" b="1">
                <a:solidFill>
                  <a:srgbClr val="0B1220"/>
                </a:solidFill>
              </a:rPr>
              <a:t>Each line corresponds to a concept already explained.</a:t>
            </a:r>
          </a:p>
        </p:txBody>
      </p:sp>
    </p:spTree>
    <p:extLst>
      <p:ext uri="{BB962C8B-B14F-4D97-AF65-F5344CB8AC3E}">
        <p14:creationId xmlns:p14="http://schemas.microsoft.com/office/powerpoint/2010/main" val="160885579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D833B07-67F0-4E67-8162-819442A06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176BDB"/>
                </a:solidFill>
              </a:defRPr>
            </a:pPr>
            <a:r>
              <a:rPr sz="825" b="1">
                <a:solidFill>
                  <a:srgbClr val="176BDB"/>
                </a:solidFill>
              </a:rPr>
              <a:t>M09 / L01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9BEF1C-368A-401D-BC27-B3B90CD26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667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07086"/>
                </a:solidFill>
              </a:defRPr>
            </a:pPr>
            <a:r>
              <a:rPr sz="825">
                <a:solidFill>
                  <a:srgbClr val="607086"/>
                </a:solidFill>
              </a:rPr>
              <a:t>Neural Networks and PyTorch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A2A3C6-8F06-441A-BD24-D734680CD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66700"/>
            <a:ext cx="2133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07086"/>
                </a:solidFill>
              </a:defRPr>
            </a:pPr>
            <a:r>
              <a:rPr sz="825" b="1">
                <a:solidFill>
                  <a:srgbClr val="607086"/>
                </a:solidFill>
              </a:rPr>
              <a:t>DS ACADEMY   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24253B-5ABB-43D0-BC90-7073742B4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4295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76BDB"/>
                </a:solidFill>
              </a:defRPr>
            </a:pPr>
            <a:r>
              <a:rPr sz="900" b="1">
                <a:solidFill>
                  <a:srgbClr val="176BDB"/>
                </a:solidFill>
              </a:rPr>
              <a:t>QUALITY GATE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12F53D-0E5F-47B2-8BB7-377DC8403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2870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B1220"/>
                </a:solidFill>
              </a:defRPr>
            </a:pPr>
            <a:r>
              <a:rPr sz="2850" b="1">
                <a:solidFill>
                  <a:srgbClr val="0B1220"/>
                </a:solidFill>
              </a:rPr>
              <a:t>Build the complete mental model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06AD94-0311-4888-8728-5FAA48ECF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A8C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168F18-7CA5-4E0E-BE62-B6FB6B034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743075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A8C8"/>
                </a:solidFill>
              </a:defRPr>
            </a:pPr>
            <a:r>
              <a:rPr sz="1500" b="1">
                <a:solidFill>
                  <a:srgbClr val="00A8C8"/>
                </a:solidFill>
              </a:rPr>
              <a:t>✓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26379C-4DD4-4F01-A75F-C17F0F068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695450"/>
            <a:ext cx="9239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B1220"/>
                </a:solidFill>
              </a:defRPr>
            </a:pPr>
            <a:r>
              <a:rPr sz="1500" b="1">
                <a:solidFill>
                  <a:srgbClr val="0B1220"/>
                </a:solidFill>
              </a:rPr>
              <a:t>Without nonlinear activations, stacked linear layers collapse into one linear transformation.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B7BABE-43C7-47DB-8B13-A23E156F6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457450"/>
            <a:ext cx="9239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6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4B73CD-87E7-40A7-8534-D81075D70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2892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A8C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3566C3-6BD3-4D2F-B922-F7320D294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809875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A8C8"/>
                </a:solidFill>
              </a:defRPr>
            </a:pPr>
            <a:r>
              <a:rPr sz="1500" b="1">
                <a:solidFill>
                  <a:srgbClr val="00A8C8"/>
                </a:solidFill>
              </a:rPr>
              <a:t>✓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09F83B-3E9A-450D-A7E5-D6148839A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762250"/>
            <a:ext cx="9239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B1220"/>
                </a:solidFill>
              </a:defRPr>
            </a:pPr>
            <a:r>
              <a:rPr sz="1500" b="1">
                <a:solidFill>
                  <a:srgbClr val="0B1220"/>
                </a:solidFill>
              </a:rPr>
              <a:t>`loss.backward()` calculates gradients; the optimizer uses them to update parameters.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AD237D-8B24-445F-A8C7-D9D9CED6A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524250"/>
            <a:ext cx="9239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6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A51069-2CD1-4840-9871-C3FC26319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9572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A8C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B41EE6-73AC-4105-81A3-6704EC56F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876675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A8C8"/>
                </a:solidFill>
              </a:defRPr>
            </a:pPr>
            <a:r>
              <a:rPr sz="1500" b="1">
                <a:solidFill>
                  <a:srgbClr val="00A8C8"/>
                </a:solidFill>
              </a:rPr>
              <a:t>✓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722115-C425-489F-9AAE-42EEFEFAA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829050"/>
            <a:ext cx="9239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B1220"/>
                </a:solidFill>
              </a:defRPr>
            </a:pPr>
            <a:r>
              <a:rPr sz="1500" b="1">
                <a:solidFill>
                  <a:srgbClr val="0B1220"/>
                </a:solidFill>
              </a:rPr>
              <a:t>Mini-batches trade noisy gradient estimates for memory and computation efficiency.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29E33B5-995F-47FC-A6CC-16F6D87CA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591050"/>
            <a:ext cx="9239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6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1C3F335-6DC2-4618-896F-219E03D70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6252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A8C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E0AEB2E-D52E-4B2D-AEC2-29F618FF9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943475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A8C8"/>
                </a:solidFill>
              </a:defRPr>
            </a:pPr>
            <a:r>
              <a:rPr sz="1500" b="1">
                <a:solidFill>
                  <a:srgbClr val="00A8C8"/>
                </a:solidFill>
              </a:rPr>
              <a:t>✓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6B5A133-5021-486F-9C17-157DD6D09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895850"/>
            <a:ext cx="9239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B1220"/>
                </a:solidFill>
              </a:defRPr>
            </a:pPr>
            <a:r>
              <a:rPr sz="1500" b="1">
                <a:solidFill>
                  <a:srgbClr val="0B1220"/>
                </a:solidFill>
              </a:rPr>
              <a:t>`model.eval()` and inference mode make validation behavior stable and avoid gradient storage.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5A7EBD4-DCA4-4DD9-AEBB-12432A2DA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657850"/>
            <a:ext cx="9239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6DF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43171633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E26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7C50A4A-5AD0-4DA2-BA31-32AD79344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00A8C8"/>
                </a:solidFill>
              </a:defRPr>
            </a:pPr>
            <a:r>
              <a:rPr sz="825" b="1">
                <a:solidFill>
                  <a:srgbClr val="00A8C8"/>
                </a:solidFill>
              </a:rPr>
              <a:t>M09 / L01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97E382-EA32-4922-BD85-0A609B3E0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667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B7CAD9"/>
                </a:solidFill>
              </a:defRPr>
            </a:pPr>
            <a:r>
              <a:rPr sz="825">
                <a:solidFill>
                  <a:srgbClr val="B7CAD9"/>
                </a:solidFill>
              </a:rPr>
              <a:t>Neural Networks and PyTorch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10FE42-2CA3-456E-B591-D87B7B75F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66700"/>
            <a:ext cx="2133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B7CAD9"/>
                </a:solidFill>
              </a:defRPr>
            </a:pPr>
            <a:r>
              <a:rPr sz="825" b="1">
                <a:solidFill>
                  <a:srgbClr val="B7CAD9"/>
                </a:solidFill>
              </a:rPr>
              <a:t>DS ACADEMY   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F19216-80D7-43B7-927D-DE51FC8D3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4295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0A8C8"/>
                </a:solidFill>
              </a:defRPr>
            </a:pPr>
            <a:r>
              <a:rPr sz="900" b="1">
                <a:solidFill>
                  <a:srgbClr val="00A8C8"/>
                </a:solidFill>
              </a:rPr>
              <a:t>FOUR CONNECTED IDEAS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087F14-640B-4EEA-88C1-EA2AF0618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2870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Notebook readiness map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185430-5D45-4CBB-A852-41B75B684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76BDB"/>
                </a:solidFill>
              </a:defRPr>
            </a:pPr>
            <a:r>
              <a:rPr sz="975" b="1">
                <a:solidFill>
                  <a:srgbClr val="176BDB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6F4023-D42A-4850-B38A-34E4A25C8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86050"/>
            <a:ext cx="2095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FAF786-6F4C-4B51-A879-AB7818462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21907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tensors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4174C1-EB0E-483F-9B59-C3ACDA990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086100"/>
            <a:ext cx="400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8BA2B6"/>
                </a:solidFill>
              </a:defRPr>
            </a:pPr>
            <a:r>
              <a:rPr sz="2325" b="1">
                <a:solidFill>
                  <a:srgbClr val="8BA2B6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B51C01-4961-4CDF-8C71-516CC0651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20980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0A8C8"/>
                </a:solidFill>
              </a:defRPr>
            </a:pPr>
            <a:r>
              <a:rPr sz="975" b="1">
                <a:solidFill>
                  <a:srgbClr val="00A8C8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263676-1F9F-467B-8826-E5E3E8B55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686050"/>
            <a:ext cx="2095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EFC758-2E63-4855-9CB9-83769DD2B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971800"/>
            <a:ext cx="21907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layers and activations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0F2037-6682-454B-B54E-5BE95FE9C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086100"/>
            <a:ext cx="400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8BA2B6"/>
                </a:solidFill>
              </a:defRPr>
            </a:pPr>
            <a:r>
              <a:rPr sz="2325" b="1">
                <a:solidFill>
                  <a:srgbClr val="8BA2B6"/>
                </a:solidFill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397A29-CBEB-4BA3-B60B-27710EDD5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20980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1C5F8BB-A1A6-4420-A248-5A7828068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686050"/>
            <a:ext cx="2095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741057B-9460-423C-ADF4-1502D3B95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971800"/>
            <a:ext cx="21907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backpropagation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3AA1176-BB5A-448E-AE7D-EC392F53F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086100"/>
            <a:ext cx="400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8BA2B6"/>
                </a:solidFill>
              </a:defRPr>
            </a:pPr>
            <a:r>
              <a:rPr sz="2325" b="1">
                <a:solidFill>
                  <a:srgbClr val="8BA2B6"/>
                </a:solidFill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24392EB-1AB8-48BF-94DB-FF872A98E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20980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06B5F"/>
                </a:solidFill>
              </a:defRPr>
            </a:pPr>
            <a:r>
              <a:rPr sz="975" b="1">
                <a:solidFill>
                  <a:srgbClr val="F06B5F"/>
                </a:solidFill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A897325-72DD-4BD1-9D90-CA4C0A15E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686050"/>
            <a:ext cx="2095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B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B71FA0D-006A-46EA-A939-25631E98F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971800"/>
            <a:ext cx="21907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training and evaluation modes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F99984C-0112-4130-82E0-9C0D39C66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C9D8E4"/>
                </a:solidFill>
              </a:defRPr>
            </a:pPr>
            <a:r>
              <a:rPr sz="1575">
                <a:solidFill>
                  <a:srgbClr val="C9D8E4"/>
                </a:solidFill>
              </a:rPr>
              <a:t>Use the concepts from this lesson to read and complete https://github.com/curiousily/AI-Bootcamp/blob/master/02.real-world-pytorch.ipynb.</a:t>
            </a:r>
          </a:p>
        </p:txBody>
      </p:sp>
    </p:spTree>
    <p:extLst>
      <p:ext uri="{BB962C8B-B14F-4D97-AF65-F5344CB8AC3E}">
        <p14:creationId xmlns:p14="http://schemas.microsoft.com/office/powerpoint/2010/main" val="143644807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46C9A4-9632-4FF3-9B62-B133209FB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176BDB"/>
                </a:solidFill>
              </a:defRPr>
            </a:pPr>
            <a:r>
              <a:rPr sz="825" b="1">
                <a:solidFill>
                  <a:srgbClr val="176BDB"/>
                </a:solidFill>
              </a:rPr>
              <a:t>M09 / L01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F7002F-D876-4FFF-9A3F-A8C587B10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667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07086"/>
                </a:solidFill>
              </a:defRPr>
            </a:pPr>
            <a:r>
              <a:rPr sz="825">
                <a:solidFill>
                  <a:srgbClr val="607086"/>
                </a:solidFill>
              </a:rPr>
              <a:t>Neural Networks and PyTorch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61EE49-C843-4AA3-B678-CD322AD71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66700"/>
            <a:ext cx="2133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07086"/>
                </a:solidFill>
              </a:defRPr>
            </a:pPr>
            <a:r>
              <a:rPr sz="825" b="1">
                <a:solidFill>
                  <a:srgbClr val="607086"/>
                </a:solidFill>
              </a:rPr>
              <a:t>DS ACADEMY   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645615-840E-478B-A192-BADD49464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4295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76BDB"/>
                </a:solidFill>
              </a:defRPr>
            </a:pPr>
            <a:r>
              <a:rPr sz="900" b="1">
                <a:solidFill>
                  <a:srgbClr val="176BDB"/>
                </a:solidFill>
              </a:rPr>
              <a:t>RISK REVIEW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B57871-9C91-4AA8-9A11-6AA013F16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2870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B1220"/>
                </a:solidFill>
              </a:defRPr>
            </a:pPr>
            <a:r>
              <a:rPr sz="2850" b="1">
                <a:solidFill>
                  <a:srgbClr val="0B1220"/>
                </a:solidFill>
              </a:rPr>
              <a:t>Common beginner mistakes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3AFEA3-09D1-4F09-8FF3-C3826DCA3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B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386BD2-DFC5-405F-850A-6BC97F402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66900"/>
            <a:ext cx="742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06B5F"/>
                </a:solidFill>
              </a:defRPr>
            </a:pPr>
            <a:r>
              <a:rPr sz="1350" b="1">
                <a:solidFill>
                  <a:srgbClr val="F06B5F"/>
                </a:solidFill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76C966-ED85-4933-BA7C-C57D6F1CB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790700"/>
            <a:ext cx="8858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B1220"/>
                </a:solidFill>
              </a:defRPr>
            </a:pPr>
            <a:r>
              <a:rPr sz="1875" b="1">
                <a:solidFill>
                  <a:srgbClr val="0B1220"/>
                </a:solidFill>
              </a:rPr>
              <a:t>Forgetting to clear accumulated gradients.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FB081D-B866-448A-A573-B32BCACB3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67025"/>
            <a:ext cx="9982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C9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141B23-35C4-4497-99E1-656893D21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76600"/>
            <a:ext cx="742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06B5F"/>
                </a:solidFill>
              </a:defRPr>
            </a:pPr>
            <a:r>
              <a:rPr sz="1350" b="1">
                <a:solidFill>
                  <a:srgbClr val="F06B5F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C5E9D0-8B17-45F7-88B3-035366036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200400"/>
            <a:ext cx="8858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B1220"/>
                </a:solidFill>
              </a:defRPr>
            </a:pPr>
            <a:r>
              <a:rPr sz="1875" b="1">
                <a:solidFill>
                  <a:srgbClr val="0B1220"/>
                </a:solidFill>
              </a:rPr>
              <a:t>Evaluating with dropout or batch normalization still in training mode.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720CD6-0A03-4D75-AD64-3E5EBD9E0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76725"/>
            <a:ext cx="9982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C9C4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89099613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E26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3535F49-5614-4D3F-882F-B78860DCA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00A8C8"/>
                </a:solidFill>
              </a:defRPr>
            </a:pPr>
            <a:r>
              <a:rPr sz="825" b="1">
                <a:solidFill>
                  <a:srgbClr val="00A8C8"/>
                </a:solidFill>
              </a:rPr>
              <a:t>M09 / L01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D5B98D-6148-46F8-A5F5-2541C05A9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667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B7CAD9"/>
                </a:solidFill>
              </a:defRPr>
            </a:pPr>
            <a:r>
              <a:rPr sz="825">
                <a:solidFill>
                  <a:srgbClr val="B7CAD9"/>
                </a:solidFill>
              </a:rPr>
              <a:t>Neural Networks and PyTorch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5EB168-2966-401C-821F-BCDA1DF92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66700"/>
            <a:ext cx="2133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B7CAD9"/>
                </a:solidFill>
              </a:defRPr>
            </a:pPr>
            <a:r>
              <a:rPr sz="825" b="1">
                <a:solidFill>
                  <a:srgbClr val="B7CAD9"/>
                </a:solidFill>
              </a:rPr>
              <a:t>DS ACADEMY   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81A02D-5E42-4EAE-8DF8-7AE028E0D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0A8C8"/>
                </a:solidFill>
              </a:defRPr>
            </a:pPr>
            <a:r>
              <a:rPr sz="900" b="1">
                <a:solidFill>
                  <a:srgbClr val="00A8C8"/>
                </a:solidFill>
              </a:rPr>
              <a:t>GUIDED LAB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7FA3B8-DA5C-40DB-B2E3-17D81F79E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4775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FFFFF"/>
                </a:solidFill>
              </a:defRPr>
            </a:pPr>
            <a:r>
              <a:rPr sz="2775" b="1">
                <a:solidFill>
                  <a:srgbClr val="FFFFFF"/>
                </a:solidFill>
              </a:rPr>
              <a:t>Train a small classifier with DataLoader batches and evaluate it under inference mode.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141792-BC30-4420-ACA7-EC3EE5AC7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0"/>
            <a:ext cx="590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0A8C8"/>
                </a:solidFill>
              </a:defRPr>
            </a:pPr>
            <a:r>
              <a:rPr sz="975" b="1">
                <a:solidFill>
                  <a:srgbClr val="00A8C8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4D8010-0165-4AFA-A35C-F3EF7FE83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00550"/>
            <a:ext cx="2038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657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894F50-EEDF-446C-BBD2-AEB392E82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209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Predict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9E73F5-3A4A-4A55-BAD9-EDFFD6084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905250"/>
            <a:ext cx="590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0A8C8"/>
                </a:solidFill>
              </a:defRPr>
            </a:pPr>
            <a:r>
              <a:rPr sz="975" b="1">
                <a:solidFill>
                  <a:srgbClr val="00A8C8"/>
                </a:solidFill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57923E-7E0F-4446-B7EF-40CF71C84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400550"/>
            <a:ext cx="2038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657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A840FF-95AC-4CA3-8F4F-A516A9E00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762500"/>
            <a:ext cx="209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Run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35B703-7EA6-4B5C-91F3-25ECD93CC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905250"/>
            <a:ext cx="590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0A8C8"/>
                </a:solidFill>
              </a:defRPr>
            </a:pPr>
            <a:r>
              <a:rPr sz="975" b="1">
                <a:solidFill>
                  <a:srgbClr val="00A8C8"/>
                </a:solidFill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D98312-E522-46FA-BB12-870DA5349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400550"/>
            <a:ext cx="2038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657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67BDA9-23EF-43AE-B939-1B7285D9A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762500"/>
            <a:ext cx="209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Inspect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630B396-1EF7-4E49-B026-C365E4B51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905250"/>
            <a:ext cx="590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06B5F"/>
                </a:solidFill>
              </a:defRPr>
            </a:pPr>
            <a:r>
              <a:rPr sz="975" b="1">
                <a:solidFill>
                  <a:srgbClr val="F06B5F"/>
                </a:solidFill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5756683-C4BD-4A37-9D23-CBACE7468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400550"/>
            <a:ext cx="2038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B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A319259-54E6-4359-8147-FDCE5F8D1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762500"/>
            <a:ext cx="209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Explain</a:t>
            </a:r>
          </a:p>
        </p:txBody>
      </p:sp>
    </p:spTree>
    <p:extLst>
      <p:ext uri="{BB962C8B-B14F-4D97-AF65-F5344CB8AC3E}">
        <p14:creationId xmlns:p14="http://schemas.microsoft.com/office/powerpoint/2010/main" val="2442891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E26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1714547-EA46-4449-B5B6-056895E60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00A8C8"/>
                </a:solidFill>
              </a:defRPr>
            </a:pPr>
            <a:r>
              <a:rPr sz="825" b="1">
                <a:solidFill>
                  <a:srgbClr val="00A8C8"/>
                </a:solidFill>
              </a:rPr>
              <a:t>M09 / L01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CDCF1F-18AF-45D3-8E65-50C97ACD6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667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B7CAD9"/>
                </a:solidFill>
              </a:defRPr>
            </a:pPr>
            <a:r>
              <a:rPr sz="825">
                <a:solidFill>
                  <a:srgbClr val="B7CAD9"/>
                </a:solidFill>
              </a:rPr>
              <a:t>Neural Networks and PyTorch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A7FF46-6F41-4CA0-BD7D-AE05907F4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66700"/>
            <a:ext cx="2133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B7CAD9"/>
                </a:solidFill>
              </a:defRPr>
            </a:pPr>
            <a:r>
              <a:rPr sz="825" b="1">
                <a:solidFill>
                  <a:srgbClr val="B7CAD9"/>
                </a:solidFill>
              </a:rPr>
              <a:t>DS ACADEMY   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D50002-009D-4A3D-970E-CC0784F01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0A8C8"/>
                </a:solidFill>
              </a:defRPr>
            </a:pPr>
            <a:r>
              <a:rPr sz="900" b="1">
                <a:solidFill>
                  <a:srgbClr val="00A8C8"/>
                </a:solidFill>
              </a:rPr>
              <a:t>SESSION SYNTHESIS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3B4D42-EAB7-4248-BECA-0BC67D5A2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95400"/>
            <a:ext cx="990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FFFFF"/>
                </a:solidFill>
              </a:defRPr>
            </a:pPr>
            <a:r>
              <a:rPr sz="3000" b="1">
                <a:solidFill>
                  <a:srgbClr val="FFFFFF"/>
                </a:solidFill>
              </a:rPr>
              <a:t>Keep the system, not isolated definitions.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BB7650-9A0C-4D70-BFCB-74D868474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5336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0A8C8"/>
                </a:solidFill>
              </a:defRPr>
            </a:pPr>
            <a:r>
              <a:rPr sz="975" b="1">
                <a:solidFill>
                  <a:srgbClr val="00A8C8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1B9DCD-07D8-418B-96C3-611446F70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486025"/>
            <a:ext cx="495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Explain tensors in plain language.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80F979-BA30-4B6E-924A-ECBA75DA2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528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0A8C8"/>
                </a:solidFill>
              </a:defRPr>
            </a:pPr>
            <a:r>
              <a:rPr sz="975" b="1">
                <a:solidFill>
                  <a:srgbClr val="00A8C8"/>
                </a:solidFill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EE9374-3EC6-416B-B28D-0EB569506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305175"/>
            <a:ext cx="495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Use layers and activations in a small worked example.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1A6B9F-AF7B-44E2-9604-917C09A5C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1719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0A8C8"/>
                </a:solidFill>
              </a:defRPr>
            </a:pPr>
            <a:r>
              <a:rPr sz="975" b="1">
                <a:solidFill>
                  <a:srgbClr val="00A8C8"/>
                </a:solidFill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32E7EA-B167-4E36-ACA3-BDB3E8D3C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124325"/>
            <a:ext cx="495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Complete the guided lab and verify training and evaluation modes.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315516-3F01-403E-AE98-165E13204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7241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06B5F"/>
                </a:solidFill>
              </a:defRPr>
            </a:pPr>
            <a:r>
              <a:rPr sz="900" b="1">
                <a:solidFill>
                  <a:srgbClr val="F06B5F"/>
                </a:solidFill>
              </a:rPr>
              <a:t>NEXT EVIDENCE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598325F-0EB9-4305-9394-774F3D520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200400"/>
            <a:ext cx="409575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A PyTorch notebook showing shapes, forward pass, loss, gradients, optimizer updates, validation, and saved state.</a:t>
            </a:r>
          </a:p>
        </p:txBody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9440ccceb7490f"/>
          <a:stretch xmlns:a="http://schemas.openxmlformats.org/drawingml/2006/main"/>
        </p:blipFill>
        <p:spPr>
          <a:xfrm xmlns:a="http://schemas.openxmlformats.org/drawingml/2006/main">
            <a:off x="9791700" y="5905500"/>
            <a:ext cx="1371600" cy="4572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151685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2026-07-28T16:53:15.5620000Z</dcterms:created>
  <dcterms:modified xsi:type="dcterms:W3CDTF">2026-07-28T16:53:15.5620000Z</dcterms:modified>
</coreProperties>
</file>