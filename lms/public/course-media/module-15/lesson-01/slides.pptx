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e1da9a49784ddf" /><Relationship Type="http://schemas.openxmlformats.org/officeDocument/2006/relationships/extended-properties" Target="/docProps/app.xml" Id="Rbc1f31c9cd6c44b3" /><Relationship Type="http://schemas.openxmlformats.org/officeDocument/2006/relationships/officeDocument" Target="/ppt/presentation.xml" Id="R1f575d72e8ee47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0b83abc44f428e"/>
  </p:sldMasterIdLst>
  <p:notesMasterIdLst>
    <p:notesMasterId xmlns:r="http://schemas.openxmlformats.org/officeDocument/2006/relationships" r:id="R4b04a8ff77424b5f"/>
  </p:notesMasterIdLst>
  <p:sldIdLst>
    <p:sldId xmlns:r="http://schemas.openxmlformats.org/officeDocument/2006/relationships" id="256" r:id="R99dec9f5aa594e50"/>
    <p:sldId xmlns:r="http://schemas.openxmlformats.org/officeDocument/2006/relationships" id="257" r:id="R4c3fdb14d7cf4df7"/>
    <p:sldId xmlns:r="http://schemas.openxmlformats.org/officeDocument/2006/relationships" id="258" r:id="R12f47c392f474e65"/>
    <p:sldId xmlns:r="http://schemas.openxmlformats.org/officeDocument/2006/relationships" id="259" r:id="R10910a7eb21d4f67"/>
    <p:sldId xmlns:r="http://schemas.openxmlformats.org/officeDocument/2006/relationships" id="260" r:id="R21f563e2c8074bbe"/>
    <p:sldId xmlns:r="http://schemas.openxmlformats.org/officeDocument/2006/relationships" id="261" r:id="R8782cc211b3a4189"/>
    <p:sldId xmlns:r="http://schemas.openxmlformats.org/officeDocument/2006/relationships" id="262" r:id="R84ed3a75d3974f17"/>
    <p:sldId xmlns:r="http://schemas.openxmlformats.org/officeDocument/2006/relationships" id="263" r:id="Rf40fc8ed6c2c47bb"/>
    <p:sldId xmlns:r="http://schemas.openxmlformats.org/officeDocument/2006/relationships" id="264" r:id="R80c18eb4ba934609"/>
    <p:sldId xmlns:r="http://schemas.openxmlformats.org/officeDocument/2006/relationships" id="265" r:id="R0a4b75b0e6ba46d2"/>
    <p:sldId xmlns:r="http://schemas.openxmlformats.org/officeDocument/2006/relationships" id="266" r:id="R2d387925846a4623"/>
    <p:sldId xmlns:r="http://schemas.openxmlformats.org/officeDocument/2006/relationships" id="267" r:id="R0281a9f764ce42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799c6e417341eb" /><Relationship Type="http://schemas.openxmlformats.org/officeDocument/2006/relationships/slideMaster" Target="/ppt/slideMasters/slideMaster1.xml" Id="R4e0b83abc44f428e" /><Relationship Type="http://schemas.openxmlformats.org/officeDocument/2006/relationships/notesMaster" Target="/ppt/notesMasters/notesMaster1.xml" Id="R4b04a8ff77424b5f" /><Relationship Type="http://schemas.openxmlformats.org/officeDocument/2006/relationships/presProps" Target="/ppt/presProps.xml" Id="R01a9c52433134935" /><Relationship Type="http://schemas.openxmlformats.org/officeDocument/2006/relationships/tableStyles" Target="/ppt/tableStyles.xml" Id="R1bd7c605eba14268" /><Relationship Type="http://schemas.openxmlformats.org/officeDocument/2006/relationships/slide" Target="/ppt/slides/slide1.xml" Id="R99dec9f5aa594e50" /><Relationship Type="http://schemas.openxmlformats.org/officeDocument/2006/relationships/slide" Target="/ppt/slides/slide2.xml" Id="R4c3fdb14d7cf4df7" /><Relationship Type="http://schemas.openxmlformats.org/officeDocument/2006/relationships/slide" Target="/ppt/slides/slide3.xml" Id="R12f47c392f474e65" /><Relationship Type="http://schemas.openxmlformats.org/officeDocument/2006/relationships/slide" Target="/ppt/slides/slide4.xml" Id="R10910a7eb21d4f67" /><Relationship Type="http://schemas.openxmlformats.org/officeDocument/2006/relationships/slide" Target="/ppt/slides/slide5.xml" Id="R21f563e2c8074bbe" /><Relationship Type="http://schemas.openxmlformats.org/officeDocument/2006/relationships/slide" Target="/ppt/slides/slide6.xml" Id="R8782cc211b3a4189" /><Relationship Type="http://schemas.openxmlformats.org/officeDocument/2006/relationships/slide" Target="/ppt/slides/slide7.xml" Id="R84ed3a75d3974f17" /><Relationship Type="http://schemas.openxmlformats.org/officeDocument/2006/relationships/slide" Target="/ppt/slides/slide8.xml" Id="Rf40fc8ed6c2c47bb" /><Relationship Type="http://schemas.openxmlformats.org/officeDocument/2006/relationships/slide" Target="/ppt/slides/slide9.xml" Id="R80c18eb4ba934609" /><Relationship Type="http://schemas.openxmlformats.org/officeDocument/2006/relationships/slide" Target="/ppt/slides/slide10.xml" Id="R0a4b75b0e6ba46d2" /><Relationship Type="http://schemas.openxmlformats.org/officeDocument/2006/relationships/slide" Target="/ppt/slides/slide11.xml" Id="R2d387925846a4623" /><Relationship Type="http://schemas.openxmlformats.org/officeDocument/2006/relationships/slide" Target="/ppt/slides/slide12.xml" Id="R0281a9f764ce42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e9aa78d8324e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386a72efc648c6" /><Relationship Type="http://schemas.openxmlformats.org/officeDocument/2006/relationships/notesMaster" Target="/ppt/notesMasters/notesMaster1.xml" Id="R8ec57cdbb72c43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34fc23a19446f9" /><Relationship Type="http://schemas.openxmlformats.org/officeDocument/2006/relationships/notesMaster" Target="/ppt/notesMasters/notesMaster1.xml" Id="Rab786053b4de46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f66763fa594612" /><Relationship Type="http://schemas.openxmlformats.org/officeDocument/2006/relationships/notesMaster" Target="/ppt/notesMasters/notesMaster1.xml" Id="Rf41675cd1b1948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77805db3e0421e" /><Relationship Type="http://schemas.openxmlformats.org/officeDocument/2006/relationships/notesMaster" Target="/ppt/notesMasters/notesMaster1.xml" Id="Rb189a6cc088243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d8d4bc7ee14ab4" /><Relationship Type="http://schemas.openxmlformats.org/officeDocument/2006/relationships/notesMaster" Target="/ppt/notesMasters/notesMaster1.xml" Id="R3eaf14259aed4a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6ef03ec0a1436e" /><Relationship Type="http://schemas.openxmlformats.org/officeDocument/2006/relationships/notesMaster" Target="/ppt/notesMasters/notesMaster1.xml" Id="R2179b4c9611c40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282f2174c4415a" /><Relationship Type="http://schemas.openxmlformats.org/officeDocument/2006/relationships/notesMaster" Target="/ppt/notesMasters/notesMaster1.xml" Id="R6af8e70f2e4748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53f8844873459e" /><Relationship Type="http://schemas.openxmlformats.org/officeDocument/2006/relationships/notesMaster" Target="/ppt/notesMasters/notesMaster1.xml" Id="Rcc27eed202da42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378a692e024587" /><Relationship Type="http://schemas.openxmlformats.org/officeDocument/2006/relationships/notesMaster" Target="/ppt/notesMasters/notesMaster1.xml" Id="R4ea091e9f5f246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99ae14ed264176" /><Relationship Type="http://schemas.openxmlformats.org/officeDocument/2006/relationships/notesMaster" Target="/ppt/notesMasters/notesMaster1.xml" Id="Ra457651505fd49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c779cff3344ccb" /><Relationship Type="http://schemas.openxmlformats.org/officeDocument/2006/relationships/notesMaster" Target="/ppt/notesMasters/notesMaster1.xml" Id="Rd043a2a4063a40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1cce93224c43e7" /><Relationship Type="http://schemas.openxmlformats.org/officeDocument/2006/relationships/notesMaster" Target="/ppt/notesMasters/notesMaster1.xml" Id="R4fd0a0bd8c6646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Retrieval-Augmented Generation. Ground an LLM response in selected evidence retrieved from an external document collection.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https://github.com/curiousily/AI-Bootcamp/blob/master/17.rag-from-scratch.ipynb</a:t>
            </a:r>
          </a:p>
          <a:p xmlns:a="http://schemas.openxmlformats.org/drawingml/2006/main">
            <a:r>
              <a:t>- https://github.com/curiousily/AI-Bootcamp/blob/master/06.build-rag.ipynb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required starting point is llms, vectors, dot products, application pipelines, schemas, and evaluation. By the end, you will explain document processing and chunking in plain language.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https://github.com/curiousily/AI-Bootcamp/blob/master/17.rag-from-scratch.ipynb</a:t>
            </a:r>
          </a:p>
          <a:p xmlns:a="http://schemas.openxmlformats.org/drawingml/2006/main">
            <a:r>
              <a:t>- https://github.com/curiousily/AI-Bootcamp/blob/master/06.build-rag.ipynb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language before using it: document processing and chunking, embeddings, vector search, grounded generation and citations.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https://github.com/curiousily/AI-Bootcamp/blob/master/17.rag-from-scratch.ipynb</a:t>
            </a:r>
          </a:p>
          <a:p xmlns:a="http://schemas.openxmlformats.org/drawingml/2006/main">
            <a:r>
              <a:t>- https://github.com/curiousily/AI-Bootcamp/blob/master/06.build-rag.ipynb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cos(a,b)=(a·b)/(||a||||b||); retrieve similar chunks, assemble context, then generate only from that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https://github.com/curiousily/AI-Bootcamp/blob/master/17.rag-from-scratch.ipynb</a:t>
            </a:r>
          </a:p>
          <a:p xmlns:a="http://schemas.openxmlformats.org/drawingml/2006/main">
            <a:r>
              <a:t>- https://github.com/curiousily/AI-Bootcamp/blob/master/06.build-rag.ipynb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symbol or component has a job. chunk: A retrievable passage plus metadata. embedding: A semantic vector. citation: A reference connecting a claim to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https://github.com/curiousily/AI-Bootcamp/blob/master/17.rag-from-scratch.ipynb</a:t>
            </a:r>
          </a:p>
          <a:p xmlns:a="http://schemas.openxmlformats.org/drawingml/2006/main">
            <a:r>
              <a:t>- https://github.com/curiousily/AI-Bootcamp/blob/master/06.build-rag.ipynb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 through the values before running code. For vectors [1,0] and [0.8,0.6], cosine similarity is 0.8; rank it above [0,1], whose score is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https://github.com/curiousily/AI-Bootcamp/blob/master/17.rag-from-scratch.ipynb</a:t>
            </a:r>
          </a:p>
          <a:p xmlns:a="http://schemas.openxmlformats.org/drawingml/2006/main">
            <a:r>
              <a:t>- https://github.com/curiousily/AI-Bootcamp/blob/master/06.build-rag.ipynb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hand-worked mechanism to Python. The observed output is 0.8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https://github.com/curiousily/AI-Bootcamp/blob/master/17.rag-from-scratch.ipynb</a:t>
            </a:r>
          </a:p>
          <a:p xmlns:a="http://schemas.openxmlformats.org/drawingml/2006/main">
            <a:r>
              <a:t>- https://github.com/curiousily/AI-Bootcamp/blob/master/06.build-rag.ipynb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Chunk around meaningful document structure and retain source, page, section, and access metadata. Embed both chunks and queries into the same vector space before similarity comparison. Retrieval selects evidence; generation must remain constrained to that supplied evidence. Refuse or state insufficient evidence when no retrieved passage supports an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https://github.com/curiousily/AI-Bootcamp/blob/master/17.rag-from-scratch.ipynb</a:t>
            </a:r>
          </a:p>
          <a:p xmlns:a="http://schemas.openxmlformats.org/drawingml/2006/main">
            <a:r>
              <a:t>- https://github.com/curiousily/AI-Bootcamp/blob/master/06.build-rag.ipynb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concepts from this lesson to read and complete https://github.com/curiousily/AI-Bootcamp/blob/master/17.rag-from-scratch.ipynb. Predict what each section does before executing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https://github.com/curiousily/AI-Bootcamp/blob/master/17.rag-from-scratch.ipynb</a:t>
            </a:r>
          </a:p>
          <a:p xmlns:a="http://schemas.openxmlformats.org/drawingml/2006/main">
            <a:r>
              <a:t>- https://github.com/curiousily/AI-Bootcamp/blob/master/06.build-rag.ipynb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Choosing chunk sizes without inspecting document structure. Accepting a fluent answer that has no supporting retrieved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https://github.com/curiousily/AI-Bootcamp/blob/master/17.rag-from-scratch.ipynb</a:t>
            </a:r>
          </a:p>
          <a:p xmlns:a="http://schemas.openxmlformats.org/drawingml/2006/main">
            <a:r>
              <a:t>- https://github.com/curiousily/AI-Bootcamp/blob/master/06.build-rag.ipynb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run, inspect, and explain. Parse a document, create chunks and embeddings, retrieve evidence, and produce a cited answer or refusal.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https://github.com/curiousily/AI-Bootcamp/blob/master/17.rag-from-scratch.ipynb</a:t>
            </a:r>
          </a:p>
          <a:p xmlns:a="http://schemas.openxmlformats.org/drawingml/2006/main">
            <a:r>
              <a:t>- https://github.com/curiousily/AI-Bootcamp/blob/master/06.build-rag.ipynb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Retain the connection between document processing and chunking, embeddings, vector search, grounded generation and citations. Verification evidence: Trace every answer to retrieved chunks and verify each citation supports the associated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https://github.com/curiousily/AI-Bootcamp/blob/master/17.rag-from-scratch.ipynb</a:t>
            </a:r>
          </a:p>
          <a:p xmlns:a="http://schemas.openxmlformats.org/drawingml/2006/main">
            <a:r>
              <a:t>- https://github.com/curiousily/AI-Bootcamp/blob/master/06.build-rag.ipynb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f20a37582849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cdd459263e4610" /><Relationship Type="http://schemas.openxmlformats.org/officeDocument/2006/relationships/slideLayout" Target="/ppt/slideLayouts/slideLayout1.xml" Id="Rd87046f568a640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7046f568a640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380a3a1574326" /><Relationship Type="http://schemas.openxmlformats.org/officeDocument/2006/relationships/image" Target="/ppt/media/image.png" Id="R004b612a2300493f" /><Relationship Type="http://schemas.openxmlformats.org/officeDocument/2006/relationships/image" Target="/ppt/media/image2.png" Id="R5ade5d5a0f604a78" /><Relationship Type="http://schemas.openxmlformats.org/officeDocument/2006/relationships/notesSlide" Target="/ppt/notesSlides/notesSlide1.xml" Id="R3e6107f834a24d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dbf9a171c4297" /><Relationship Type="http://schemas.openxmlformats.org/officeDocument/2006/relationships/notesSlide" Target="/ppt/notesSlides/notesSlide2.xml" Id="R64b039ae752544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233bfbbef4a3c" /><Relationship Type="http://schemas.openxmlformats.org/officeDocument/2006/relationships/notesSlide" Target="/ppt/notesSlides/notesSlide3.xml" Id="Rf30ff3f2da8c41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ef7395ff94bfa" /><Relationship Type="http://schemas.openxmlformats.org/officeDocument/2006/relationships/notesSlide" Target="/ppt/notesSlides/notesSlide4.xml" Id="Rf193bf82a91947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83e74647c40f6" /><Relationship Type="http://schemas.openxmlformats.org/officeDocument/2006/relationships/notesSlide" Target="/ppt/notesSlides/notesSlide5.xml" Id="Rb29746e931ff46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a3b5092294cc5" /><Relationship Type="http://schemas.openxmlformats.org/officeDocument/2006/relationships/notesSlide" Target="/ppt/notesSlides/notesSlide6.xml" Id="Rbe5eb69e36e748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979ee51a04e9f" /><Relationship Type="http://schemas.openxmlformats.org/officeDocument/2006/relationships/notesSlide" Target="/ppt/notesSlides/notesSlide7.xml" Id="R7a54775b9a4446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dadf55ba54f75" /><Relationship Type="http://schemas.openxmlformats.org/officeDocument/2006/relationships/notesSlide" Target="/ppt/notesSlides/notesSlide8.xml" Id="Rf24019c08b7c4a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f1c426aeb4750" /><Relationship Type="http://schemas.openxmlformats.org/officeDocument/2006/relationships/notesSlide" Target="/ppt/notesSlides/notesSlide9.xml" Id="R9463ec3f715443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2cad7a197418f" /><Relationship Type="http://schemas.openxmlformats.org/officeDocument/2006/relationships/notesSlide" Target="/ppt/notesSlides/notesSlide10.xml" Id="R0eebbede94c74f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009fd655e4221" /><Relationship Type="http://schemas.openxmlformats.org/officeDocument/2006/relationships/notesSlide" Target="/ppt/notesSlides/notesSlide11.xml" Id="Rc10724c7e7db4e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c1bd5809e4201" /><Relationship Type="http://schemas.openxmlformats.org/officeDocument/2006/relationships/image" Target="/ppt/media/image3.png" Id="R4fa0e0382e9e42c8" /><Relationship Type="http://schemas.openxmlformats.org/officeDocument/2006/relationships/notesSlide" Target="/ppt/notesSlides/notesSlide12.xml" Id="R0ca26891dce443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745DE-7AB9-43FF-8E8C-BAA70F75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b612a2300493f"/>
          <a:srcRect xmlns:a="http://schemas.openxmlformats.org/drawingml/2006/main" l="28270" t="0" r="28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BB16D-2BF9-4CC7-A4DA-CB34FA7A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CF424-F98F-4E14-B994-67615BAC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MODULE 15  /  LESSON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EEB40-DDB3-42F4-AF79-D7B1FCF8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219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Retrieval-Augmented Generation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D5ECC-25FD-49F4-8157-47F9B2B5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775CF-5B2C-45D5-9980-7F97BA8A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5048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5E2EC"/>
                </a:solidFill>
              </a:defRPr>
            </a:pPr>
            <a:r>
              <a:rPr sz="1650">
                <a:solidFill>
                  <a:srgbClr val="D5E2EC"/>
                </a:solidFill>
              </a:rPr>
              <a:t>Ground an LLM response in selected evidence retrieved from an external document collection.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e5d5a0f604a78"/>
          <a:stretch xmlns:a="http://schemas.openxmlformats.org/drawingml/2006/main"/>
        </p:blipFill>
        <p:spPr>
          <a:xfrm xmlns:a="http://schemas.openxmlformats.org/drawingml/2006/main">
            <a:off x="790575" y="5905500"/>
            <a:ext cx="1485900" cy="49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7145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FCA1E9-8D16-4F51-AB2C-CFA17C23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6790F-DB62-412B-A1C7-257C93D4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Retrieval-Augmented Generation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EDB11-5D06-4B37-8F67-C48E5221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A973B-756B-4973-AE1D-E6DEC3BA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WHY THIS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670D6-C5D9-4355-8A3B-EAA01D5D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A17C8-63DB-45C3-B8EF-2D97D36C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Start from what you already know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58611-9076-4CD2-9019-EB5BE6B2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DB"/>
                </a:solidFill>
              </a:defRPr>
            </a:pPr>
            <a:r>
              <a:rPr sz="2025" b="1">
                <a:solidFill>
                  <a:srgbClr val="176BDB"/>
                </a:solidFill>
              </a:rPr>
              <a:t>LLMs, vectors, dot products, application pipelines, schemas, and evaluation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5303A-048F-4F54-A350-2CB6CAC6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A5782-3D95-42A3-ACE2-56EC9979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05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Explain document processing and chunking in plain language.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7D99B-7CE4-48C9-8EE5-6988F04D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C82C0-8478-4BB4-8E07-0712EBBA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910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Use embeddings in a small worked example.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5E987-082D-4404-B967-0F4D0748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BC778-347C-435E-B4C7-F28F3018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76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Complete the guided lab and verify grounded generation and citations.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DD36F-DDD5-4806-9307-E493B2B9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219200"/>
            <a:ext cx="60960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DBD5D-777A-4542-A04B-043C231B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095500"/>
            <a:ext cx="228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68534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3BB81A-C6DC-42F8-ABF6-06E55638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7BD45-1BFF-4B9C-A394-1AD7C90D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Retrieval-Augmented Generation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BB919-0A21-4B22-8200-4F321305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0B9F4-1F8B-4956-9A26-654F5A0B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F6C9F-7988-4763-827A-EE2B6BCC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The vocabulary of this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B46DF-7943-4A1A-8C54-FF513078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CF33A-C511-4B4B-930B-50AC5CA7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Ground an LLM response in selected evidence retrieved from an external document collection.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AE5BE-2868-455E-A813-3E292119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BA210-78B1-4643-8CA0-757FAF9F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document processing and chunking: Document processing extracts structured content; chunking divides it into retrievable evidence units.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ADCBC-3C2B-4CA1-81B0-CF6D8F42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2B39D-F74F-4B8E-9D35-8DF0E142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embeddings: Embeddings map content into fixed-length vectors whose geometry can approximate semantic similarity.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D975AD-2A76-4CC0-BF5E-AE081A10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FF44F-2177-4D06-B50F-D66BE25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vector search: Vector search ranks stored embeddings by geometric similarity to an embedded query.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7B4600-7233-4EC7-BAFA-52A092FF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DDF9FC-8E29-4F7E-9961-FD18A52A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grounded generation and citations: Grounded generation uses supplied evidence; citations identify which evidence supports each claim.</a:t>
            </a:r>
          </a:p>
        </p:txBody>
      </p:sp>
    </p:spTree>
    <p:extLst>
      <p:ext uri="{BB962C8B-B14F-4D97-AF65-F5344CB8AC3E}">
        <p14:creationId xmlns:p14="http://schemas.microsoft.com/office/powerpoint/2010/main" val="12384519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2786A6-3737-4D59-9DC4-F2262244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67E8F-6B43-4CA2-8AD2-92C9CC71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Retrieval-Augmented Generation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45B3B-6D32-4FCC-9231-0D56536D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087FF-E02D-4184-A645-D9937C4A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FOUR CONNECTED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5CA63-74AF-484B-8BB4-BB95E36C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How the concept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D8D99-145A-405E-9E0B-AF472344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F8D96-E8D9-4A12-85D4-BA0D5178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DE0FB-A9B3-4C8B-9DE2-4EBFE78E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document processing and chunking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021B5-46CE-4FB1-9A08-6065A7D2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CEB71-CCEE-460B-B4AF-68B4967C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D6FC9-D952-46E5-9371-37386CA2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10F31-2ED5-4FFD-A691-4C6AC88D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embeddings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82FC0E-67DE-4C55-A17E-D21D4C85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E876D-DF46-4291-8728-61FE2DDE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D109F-E1C9-4AC2-B36C-C738336A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751633-F702-488E-B19F-6F477A2A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vector 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EBC089-2DBA-4E0C-A21D-92F1D5F0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F6E67-7D2E-46EA-8B65-0B1C4770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9636E6-2C80-42F2-AFA3-76CBF5AC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7DC783-61DB-45FC-A6E5-1083BD48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grounded generation and citations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04D510-EA5A-4B23-B6E4-896A7553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9D8E4"/>
                </a:solidFill>
              </a:defRPr>
            </a:pPr>
            <a:r>
              <a:rPr sz="1575">
                <a:solidFill>
                  <a:srgbClr val="C9D8E4"/>
                </a:solidFill>
              </a:rPr>
              <a:t>cos(a,b)=(a·b)/(||a||||b||); retrieve similar chunks, assemble context, then generate only from that context.</a:t>
            </a:r>
          </a:p>
        </p:txBody>
      </p:sp>
    </p:spTree>
    <p:extLst>
      <p:ext uri="{BB962C8B-B14F-4D97-AF65-F5344CB8AC3E}">
        <p14:creationId xmlns:p14="http://schemas.microsoft.com/office/powerpoint/2010/main" val="14176155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13921B-1F9B-4590-AE1A-74BFF4D6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7D4AA-0379-4458-90B9-0D35625E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Retrieval-Augmented Generation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BCBB3-10DE-4697-8FBC-08715C59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37D06-562A-4151-8F62-7638749C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B3BB6-8B1A-4EE0-8A35-9C309EE3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Read every part of the mechanism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E6050-36A1-4D01-8EEA-1DE04D0D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F5FA8-8666-46C3-B7E1-715802C7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cos(a,b)=(a·b)/(||a||||b||); retrieve similar chunks, assemble context, then generate only from that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781E1-C829-411E-ADB5-D1ED2EB0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DBF07D-7BA6-480F-96FD-C845BB24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chunk: A retrievable passage plus metadata.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72BB8F-3896-4852-83F0-A2F75439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72825-675B-4872-B3D3-724D3AAF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embedding: A semantic vector.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087A3-6EDB-4B65-B612-4017BA99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0ECEB-116B-4828-AC6C-5A73565E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citation: A reference connecting a claim to evidence.</a:t>
            </a:r>
          </a:p>
        </p:txBody>
      </p:sp>
    </p:spTree>
    <p:extLst>
      <p:ext uri="{BB962C8B-B14F-4D97-AF65-F5344CB8AC3E}">
        <p14:creationId xmlns:p14="http://schemas.microsoft.com/office/powerpoint/2010/main" val="380766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A6A648-0B0A-464C-B284-8D7E87EF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5F938-18B7-43CA-9690-E6ADCFEE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Retrieval-Augmented Generation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9EA05-6877-4BB2-9D70-750F2401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11E41-6BC1-4FBB-8E18-4CBF5242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WORKED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A4B78-C327-44B6-9FFD-07E176ED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Worked example by hand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DA354-CA19-4B45-8AA3-6A6C044D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0382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220"/>
                </a:solidFill>
              </a:defRPr>
            </a:pPr>
            <a:r>
              <a:rPr sz="2325" b="1">
                <a:solidFill>
                  <a:srgbClr val="0B1220"/>
                </a:solidFill>
              </a:rPr>
              <a:t>For vectors [1,0] and [0.8,0.6], cosine similarity is 0.8; rank it above [0,1], whose score is 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E635B-BBD8-4E67-AC27-65F30DAC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5A931-8F48-4EEA-B067-00FDE499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66A1E8-BDFB-4802-A061-23445D8A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Known 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EF3B8-46FA-4182-97CF-85E83BDC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2A04F-711A-4739-9C35-10A4BB3C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2EE261-908E-42C1-B40E-BA296248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Apply the mechanism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A01487-6C46-489C-9900-86626995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06B5F"/>
                </a:solidFill>
              </a:defRPr>
            </a:pPr>
            <a:r>
              <a:rPr sz="1200" b="1">
                <a:solidFill>
                  <a:srgbClr val="F06B5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A58C08-40AF-45A5-A8AF-22E01A71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BE2F54-EA39-4B83-8B42-F63F5AE1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Interpret the result</a:t>
            </a:r>
          </a:p>
        </p:txBody>
      </p:sp>
    </p:spTree>
    <p:extLst>
      <p:ext uri="{BB962C8B-B14F-4D97-AF65-F5344CB8AC3E}">
        <p14:creationId xmlns:p14="http://schemas.microsoft.com/office/powerpoint/2010/main" val="2909983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EA3B3-984E-4A90-AEC6-4DCCC2C2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4E422-C13C-400C-9134-36937B89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Retrieval-Augmented Generation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F9EC7-348C-4D17-97A6-8C5656FA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0783E-7033-40CD-82DD-E9C55B09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A4D4D-79F0-4FB7-8492-77542227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Map the concept to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5157F-D14A-4EA9-9F41-D15DD679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F50B8-5244-4E94-908B-114913B7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C61A6-A91C-47A0-A44C-F59BE9F6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0FA52-3AAC-4715-B452-E16AC425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D1648-8292-4CBF-A2EB-6EDC511A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97A56-24DE-4BA6-BBC3-50E969FE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import numpy as np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a, b = np.array([1, 0]), np.array([0.8, 0.6])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score = a @ b / (np.linalg.norm(a) * np.linalg.norm(b))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print(score)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928974-F026-47D0-AB05-412DF6A5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3A5A31-3334-431D-8277-632E9F5E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DD3EF7-1724-4C6E-B815-84DB8D60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0.8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BB75D6-24D8-4635-9D7A-9CB98D48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9DEB1-B2F8-4201-83C3-D493CFE8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Each line corresponds to a concept already explained.</a:t>
            </a:r>
          </a:p>
        </p:txBody>
      </p:sp>
    </p:spTree>
    <p:extLst>
      <p:ext uri="{BB962C8B-B14F-4D97-AF65-F5344CB8AC3E}">
        <p14:creationId xmlns:p14="http://schemas.microsoft.com/office/powerpoint/2010/main" val="18212472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8893FF-1C60-434A-9B56-D1D2847C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A692F-4FB6-4BB7-B0F9-E7336878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Retrieval-Augmented Generation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C5741-44DB-4A40-BC18-7192F4CE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DDFED-CE81-42BB-8151-1D9F99A4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6B9D3-8EE4-4155-A89E-9FCD6760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Build the complete mental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26CD4-951F-4235-8207-515FFC73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00679-9995-4D57-88BC-FB0DED3C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6F3AB-11B2-4D99-90D5-9C7B10EC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Chunk around meaningful document structure and retain source, page, section, and access metadata.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660C2-9F05-4539-934E-8CE36BBC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A1671-F4EA-4D02-887E-0E871878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58814-7A11-4375-A84D-11FF87F3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949A8-A675-4D3D-9430-4181E181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Embed both chunks and queries into the same vector space before similarity comparison.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2648BC-52FA-4EC8-9A6B-03DB7593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C82BE-1647-4EA7-B6DF-F20131DC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6B191-565C-40ED-9CEA-B123CD01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48A5E4-F645-49CC-B902-ECDED98A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Retrieval selects evidence; generation must remain constrained to that supplied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189C4-EFBF-41B1-84DF-8E648211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B83677-7CAE-4818-B466-FA6829D7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876B88-5B07-4FA1-9C31-840217CC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E3F5E6-AE9D-490D-AA06-EBB53EDC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Refuse or state insufficient evidence when no retrieved passage supports an answer.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C6892F-59E3-4BA1-999F-E0F5FAF9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745455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F144D2-E4AF-4AE6-9D26-8CED2847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1523B-8283-41B0-B712-05039A2A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Retrieval-Augmented Generation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CCC9D-BDC8-4340-9A9C-0E9C66FA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360EC-FD29-41B8-8661-1E834A89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FOUR CONNECTED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42099-CE03-4635-A453-EDFB8F93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Notebook readiness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BC7C2-90D9-46B8-B1B2-8CA7D00D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0FD52-9A7F-44AA-A9C9-BB00C931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28BD0-0881-4B51-9224-DB63EF0A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document processing and chunking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9E947-1A62-46FA-98EA-0331B8AE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D0729-3C43-42F7-8355-B5EA81F6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F2435B-824E-4C94-A19D-E360D6A3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C0171-D110-4244-910C-64877567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embeddings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5A57E-0691-49F2-9F7A-1B5CB93D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372F85-6067-4944-9FFF-DF4B44A8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310D64-7C3F-4B8B-919F-EA9EC772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3615E-9AA9-41D9-B5D5-48D441AD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vector 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213AB3-B5CE-4513-A6C5-1E4C882B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4E3F5D-024B-49B7-9C7D-75CB8EEE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A27693-8716-4625-A0A4-CDFAF517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2E6AA2-DFC0-4E87-8990-6B654440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grounded generation and citations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057C76-36CB-48FF-8945-BDD54667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9D8E4"/>
                </a:solidFill>
              </a:defRPr>
            </a:pPr>
            <a:r>
              <a:rPr sz="1575">
                <a:solidFill>
                  <a:srgbClr val="C9D8E4"/>
                </a:solidFill>
              </a:rPr>
              <a:t>Use the concepts from this lesson to read and complete https://github.com/curiousily/AI-Bootcamp/blob/master/17.rag-from-scratch.ipynb.</a:t>
            </a:r>
          </a:p>
        </p:txBody>
      </p:sp>
    </p:spTree>
    <p:extLst>
      <p:ext uri="{BB962C8B-B14F-4D97-AF65-F5344CB8AC3E}">
        <p14:creationId xmlns:p14="http://schemas.microsoft.com/office/powerpoint/2010/main" val="10182584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9249E-2F56-46F1-9B06-224138C0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6C2CC-A8D0-426D-9B07-55FF820C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Retrieval-Augmented Generation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867A7-FCE1-4CBF-B16A-F4674857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6CB45-6181-4BCC-A600-2DC6B357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RISK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5FD1F-DC99-4B4F-A0D5-83B00F8D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Common beginner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E945A-43B0-4DBD-8F56-50328E6C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DE2AA-97E7-4F01-82F0-534023A0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ED975-23B1-4693-A811-2BB4D69A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907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Choosing chunk sizes without inspecting document structure.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D0298A-F6D8-421F-A4B3-25D0E593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670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75884-67D4-480E-B2A7-9BBE5AD0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847AF-7828-427C-94A4-B9A7B31E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Accepting a fluent answer that has no supporting retrieved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531F2-2138-49CB-A7CB-538CDD41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67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760948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48FB31-8602-42F6-8D23-F94061EA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E412D-A75F-4128-863B-EF6B7795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Retrieval-Augmented Generation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88C9B-D428-4ECF-BBCC-A1C651B8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98BB7-E089-4455-B846-8360386F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GUIDED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E43D45-74C7-4274-B1B9-69963C7C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Parse a document, create chunks and embeddings, retrieve evidence, and produce a cited answer or refusal.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2A080-996F-47B3-A432-75A12BB8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96281-CAC4-473D-8B04-83AEB51B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492BD-3DDE-456C-B984-627A888F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Predict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6750E-6E74-4044-9D18-0763B6AB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D0DB4-DA78-4C38-B60B-0E8A48DD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D13FA-B25B-4404-BBBF-4DD8B44F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6E621-43F8-43B4-AE81-FBB4F642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F3C3C-1194-4BF7-970C-1816BF26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0C498B-E27C-4DC7-BBF7-939B46EB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Inspect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157DEF-56D5-417C-8BCA-4113692D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F8634-9A09-46DC-AEE9-0098BC48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CA50E-692B-4AFC-8EBB-9F4B2592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Explain</a:t>
            </a:r>
          </a:p>
        </p:txBody>
      </p:sp>
    </p:spTree>
    <p:extLst>
      <p:ext uri="{BB962C8B-B14F-4D97-AF65-F5344CB8AC3E}">
        <p14:creationId xmlns:p14="http://schemas.microsoft.com/office/powerpoint/2010/main" val="20185077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31EC46-3F24-4CD2-AA6A-3B8363EE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M15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4D444-8D8D-4256-8A88-FC00C495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Retrieval-Augmented Generation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D5215-9451-4BC0-AAC1-99C5C8E3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55009-8AAB-4665-A022-B3DB0DA2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SESSION SYNTHESIS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FEB3D-8414-4FAB-9061-3A82BA74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Keep the system, not isolated definitions.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8EA18-1776-43B9-ADDE-944B345A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664C7-3813-48F3-BD2B-517A0C57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860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Explain document processing and chunking in plain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8B043-BDB8-48C1-8FE5-037863BB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C3ABB-37E5-4F28-9D5D-226FAEDF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05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Use embeddings in a small worked example.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FDA77-DEAB-4270-BC80-C0AD4AF2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D469E-5E24-452D-9923-CB846766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243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Complete the guided lab and verify grounded generation and citations.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8681E-E099-416A-B716-AFE5BB85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06B5F"/>
                </a:solidFill>
              </a:defRPr>
            </a:pPr>
            <a:r>
              <a:rPr sz="900" b="1">
                <a:solidFill>
                  <a:srgbClr val="F06B5F"/>
                </a:solidFill>
              </a:rPr>
              <a:t>NEXT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9D45D-0325-425E-AC99-1A3925AC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4095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 from-scratch RAG notebook with inspectable chunks, similarity scores, citations, and unanswerable tests.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0e0382e9e42c8"/>
          <a:stretch xmlns:a="http://schemas.openxmlformats.org/drawingml/2006/main"/>
        </p:blipFill>
        <p:spPr>
          <a:xfrm xmlns:a="http://schemas.openxmlformats.org/drawingml/2006/main">
            <a:off x="9791700" y="5905500"/>
            <a:ext cx="13716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2974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2026-07-28T16:53:19.7110000Z</dcterms:created>
  <dcterms:modified xsi:type="dcterms:W3CDTF">2026-07-28T16:53:19.7110000Z</dcterms:modified>
</coreProperties>
</file>