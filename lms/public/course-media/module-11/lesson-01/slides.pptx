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69f7991123471a" /><Relationship Type="http://schemas.openxmlformats.org/officeDocument/2006/relationships/extended-properties" Target="/docProps/app.xml" Id="Rd0b143dbe3244808" /><Relationship Type="http://schemas.openxmlformats.org/officeDocument/2006/relationships/officeDocument" Target="/ppt/presentation.xml" Id="R7d7661ef010b4f73" /></Relationships>
</file>

<file path=ppt/presentation.xml><?xml version="1.0" encoding="utf-8"?>
<p:presentation xmlns:p="http://schemas.openxmlformats.org/presentationml/2006/main">
  <p:sldMasterIdLst>
    <p:sldMasterId xmlns:r="http://schemas.openxmlformats.org/officeDocument/2006/relationships" id="2147483648" r:id="Ra5d8dc3587a6464c"/>
  </p:sldMasterIdLst>
  <p:notesMasterIdLst>
    <p:notesMasterId xmlns:r="http://schemas.openxmlformats.org/officeDocument/2006/relationships" r:id="R5ad92be2841e4968"/>
  </p:notesMasterIdLst>
  <p:sldIdLst>
    <p:sldId xmlns:r="http://schemas.openxmlformats.org/officeDocument/2006/relationships" id="256" r:id="Rde5ddf67b6de4235"/>
    <p:sldId xmlns:r="http://schemas.openxmlformats.org/officeDocument/2006/relationships" id="257" r:id="R3ea9996446d94c6b"/>
    <p:sldId xmlns:r="http://schemas.openxmlformats.org/officeDocument/2006/relationships" id="258" r:id="R5725c785ae1f404b"/>
    <p:sldId xmlns:r="http://schemas.openxmlformats.org/officeDocument/2006/relationships" id="259" r:id="Rb37fa67938b54e9f"/>
    <p:sldId xmlns:r="http://schemas.openxmlformats.org/officeDocument/2006/relationships" id="260" r:id="Rc1ec156f44824160"/>
    <p:sldId xmlns:r="http://schemas.openxmlformats.org/officeDocument/2006/relationships" id="261" r:id="Rb7e979cc318b48d3"/>
    <p:sldId xmlns:r="http://schemas.openxmlformats.org/officeDocument/2006/relationships" id="262" r:id="Ra3e8a6dd454643e1"/>
    <p:sldId xmlns:r="http://schemas.openxmlformats.org/officeDocument/2006/relationships" id="263" r:id="Rb8c3c1d626d84d55"/>
    <p:sldId xmlns:r="http://schemas.openxmlformats.org/officeDocument/2006/relationships" id="264" r:id="Rdee608ccf59b4ef9"/>
    <p:sldId xmlns:r="http://schemas.openxmlformats.org/officeDocument/2006/relationships" id="265" r:id="Rc5a79cfac4ae46ab"/>
    <p:sldId xmlns:r="http://schemas.openxmlformats.org/officeDocument/2006/relationships" id="266" r:id="R1356d3c260ab4dcf"/>
    <p:sldId xmlns:r="http://schemas.openxmlformats.org/officeDocument/2006/relationships" id="267" r:id="Ra1fcca333e5742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49a6f8c6ad4c5b" /><Relationship Type="http://schemas.openxmlformats.org/officeDocument/2006/relationships/slideMaster" Target="/ppt/slideMasters/slideMaster1.xml" Id="Ra5d8dc3587a6464c" /><Relationship Type="http://schemas.openxmlformats.org/officeDocument/2006/relationships/notesMaster" Target="/ppt/notesMasters/notesMaster1.xml" Id="R5ad92be2841e4968" /><Relationship Type="http://schemas.openxmlformats.org/officeDocument/2006/relationships/presProps" Target="/ppt/presProps.xml" Id="Rad03d27b417a4ce2" /><Relationship Type="http://schemas.openxmlformats.org/officeDocument/2006/relationships/tableStyles" Target="/ppt/tableStyles.xml" Id="Ra9b9c64de7f4473f" /><Relationship Type="http://schemas.openxmlformats.org/officeDocument/2006/relationships/slide" Target="/ppt/slides/slide1.xml" Id="Rde5ddf67b6de4235" /><Relationship Type="http://schemas.openxmlformats.org/officeDocument/2006/relationships/slide" Target="/ppt/slides/slide2.xml" Id="R3ea9996446d94c6b" /><Relationship Type="http://schemas.openxmlformats.org/officeDocument/2006/relationships/slide" Target="/ppt/slides/slide3.xml" Id="R5725c785ae1f404b" /><Relationship Type="http://schemas.openxmlformats.org/officeDocument/2006/relationships/slide" Target="/ppt/slides/slide4.xml" Id="Rb37fa67938b54e9f" /><Relationship Type="http://schemas.openxmlformats.org/officeDocument/2006/relationships/slide" Target="/ppt/slides/slide5.xml" Id="Rc1ec156f44824160" /><Relationship Type="http://schemas.openxmlformats.org/officeDocument/2006/relationships/slide" Target="/ppt/slides/slide6.xml" Id="Rb7e979cc318b48d3" /><Relationship Type="http://schemas.openxmlformats.org/officeDocument/2006/relationships/slide" Target="/ppt/slides/slide7.xml" Id="Ra3e8a6dd454643e1" /><Relationship Type="http://schemas.openxmlformats.org/officeDocument/2006/relationships/slide" Target="/ppt/slides/slide8.xml" Id="Rb8c3c1d626d84d55" /><Relationship Type="http://schemas.openxmlformats.org/officeDocument/2006/relationships/slide" Target="/ppt/slides/slide9.xml" Id="Rdee608ccf59b4ef9" /><Relationship Type="http://schemas.openxmlformats.org/officeDocument/2006/relationships/slide" Target="/ppt/slides/slide10.xml" Id="Rc5a79cfac4ae46ab" /><Relationship Type="http://schemas.openxmlformats.org/officeDocument/2006/relationships/slide" Target="/ppt/slides/slide11.xml" Id="R1356d3c260ab4dcf" /><Relationship Type="http://schemas.openxmlformats.org/officeDocument/2006/relationships/slide" Target="/ppt/slides/slide12.xml" Id="Ra1fcca333e5742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3b34e1362441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0e656084384bb6" /><Relationship Type="http://schemas.openxmlformats.org/officeDocument/2006/relationships/notesMaster" Target="/ppt/notesMasters/notesMaster1.xml" Id="R44073a7729f540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ffced2dd554dbb" /><Relationship Type="http://schemas.openxmlformats.org/officeDocument/2006/relationships/notesMaster" Target="/ppt/notesMasters/notesMaster1.xml" Id="R59253101a2d04c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ffa8db658d4a51" /><Relationship Type="http://schemas.openxmlformats.org/officeDocument/2006/relationships/notesMaster" Target="/ppt/notesMasters/notesMaster1.xml" Id="R6b69d0e4f56c47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33ab9f279b4ccc" /><Relationship Type="http://schemas.openxmlformats.org/officeDocument/2006/relationships/notesMaster" Target="/ppt/notesMasters/notesMaster1.xml" Id="R81772394323448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2fc53e4e864ae3" /><Relationship Type="http://schemas.openxmlformats.org/officeDocument/2006/relationships/notesMaster" Target="/ppt/notesMasters/notesMaster1.xml" Id="R6fd96ea97acc4b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67baa8458445b4" /><Relationship Type="http://schemas.openxmlformats.org/officeDocument/2006/relationships/notesMaster" Target="/ppt/notesMasters/notesMaster1.xml" Id="Rda31502ef5cb4e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b1497d199e45e3" /><Relationship Type="http://schemas.openxmlformats.org/officeDocument/2006/relationships/notesMaster" Target="/ppt/notesMasters/notesMaster1.xml" Id="R4357d5020a5841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221e0dc934471a" /><Relationship Type="http://schemas.openxmlformats.org/officeDocument/2006/relationships/notesMaster" Target="/ppt/notesMasters/notesMaster1.xml" Id="R3af4d7d8fc7644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728d8163f64e7f" /><Relationship Type="http://schemas.openxmlformats.org/officeDocument/2006/relationships/notesMaster" Target="/ppt/notesMasters/notesMaster1.xml" Id="Re93ce6e2c68d40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d55b21f6f744a9" /><Relationship Type="http://schemas.openxmlformats.org/officeDocument/2006/relationships/notesMaster" Target="/ppt/notesMasters/notesMaster1.xml" Id="Rcb5e6f00fcbd4b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51149cbd134ca9" /><Relationship Type="http://schemas.openxmlformats.org/officeDocument/2006/relationships/notesMaster" Target="/ppt/notesMasters/notesMaster1.xml" Id="R5b13b040306b42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604a5ed7064bbd" /><Relationship Type="http://schemas.openxmlformats.org/officeDocument/2006/relationships/notesMaster" Target="/ppt/notesMasters/notesMaster1.xml" Id="Re90557a604084a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Serving and Deploying Models. Turn a fitted model into a validated network service and run it safely in the cloud.</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required starting point is python functions, dictionaries, validation, fitted pipelines, and inference. By the end, you will explain http and json in plain language.</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language before using it: HTTP and JSON, FastAPI contracts, Docker containers, AWS operations.</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Client → HTTP request → validated schema → model inference → JSON response; a container fixes the runtime environment.</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symbol or component has a job. endpoint: A network address and HTTP method. schema: Required fields and types. container: A packaged application runtime.</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values before running code. Send age=30 and income=50000 to `/predict`; validate types; return prediction and model version.</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hand-worked mechanism to Python. The observed output is {"prediction": 0.72, "model_version": "1"}</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Validate request fields before inference and return structured 4xx errors for invalid client input. Package the same fitted preprocessing pipeline used during training to prevent serving skew. Use immutable container tags or digests, scoped IAM roles, and secrets outside source code. Deploy behind a health check with logs, budgets, resource limits, and documented rollback.</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concepts from this lesson to read and complete https://github.com/curiousily/AI-Bootcamp/blob/master/README.md. Predict what each section does before executing it.</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Accepting malformed input and passing it to the model. Opening cloud ports broadly or omitting cost limits.</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run, inspect, and explain. Expose a model through FastAPI, containerize it, add health checks, and document a minimal free-tier EC2 deployment.</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connection between HTTP and JSON, FastAPI contracts, Docker containers, AWS operations. Verification evidence: Test valid, invalid, missing, and extreme inputs plus container health and a cold restart.</a:t>
            </a:r>
          </a:p>
          <a:p xmlns:a="http://schemas.openxmlformats.org/drawingml/2006/main">
            <a:r>
              <a:t/>
            </a:r>
          </a:p>
          <a:p xmlns:a="http://schemas.openxmlformats.org/drawingml/2006/main">
            <a:r>
              <a:t>[Sources]</a:t>
            </a:r>
          </a:p>
          <a:p xmlns:a="http://schemas.openxmlformats.org/drawingml/2006/main">
            <a:r>
              <a:t>- https://github.com/curiousily/AI-Bootcamp/blob/master/README.md</a:t>
            </a:r>
          </a:p>
          <a:p xmlns:a="http://schemas.openxmlformats.org/drawingml/2006/main">
            <a:r>
              <a:t>- https://fastapi.tiangolo.com/</a:t>
            </a:r>
          </a:p>
          <a:p xmlns:a="http://schemas.openxmlformats.org/drawingml/2006/main">
            <a:r>
              <a:t>- https://docs.docker.com/</a:t>
            </a:r>
          </a:p>
          <a:p xmlns:a="http://schemas.openxmlformats.org/drawingml/2006/main">
            <a:r>
              <a:t>- https://docs.aws.amazon.com/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cfdbbb83c549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c339b871ec410b" /><Relationship Type="http://schemas.openxmlformats.org/officeDocument/2006/relationships/slideLayout" Target="/ppt/slideLayouts/slideLayout1.xml" Id="R2a117aa792d34e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117aa792d34e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2651ddd720427d" /><Relationship Type="http://schemas.openxmlformats.org/officeDocument/2006/relationships/image" Target="/ppt/media/image.png" Id="R11c5a8cae55547ae" /><Relationship Type="http://schemas.openxmlformats.org/officeDocument/2006/relationships/image" Target="/ppt/media/image2.png" Id="R2d830859bb0140cb" /><Relationship Type="http://schemas.openxmlformats.org/officeDocument/2006/relationships/notesSlide" Target="/ppt/notesSlides/notesSlide1.xml" Id="R3e395c03c9f948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452b496033467b" /><Relationship Type="http://schemas.openxmlformats.org/officeDocument/2006/relationships/notesSlide" Target="/ppt/notesSlides/notesSlide2.xml" Id="Rc4f24e07930442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56fcdf3e034871" /><Relationship Type="http://schemas.openxmlformats.org/officeDocument/2006/relationships/notesSlide" Target="/ppt/notesSlides/notesSlide3.xml" Id="R2cad723abe854c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365ae7a3eb4286" /><Relationship Type="http://schemas.openxmlformats.org/officeDocument/2006/relationships/notesSlide" Target="/ppt/notesSlides/notesSlide4.xml" Id="Rdd24056d838c43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174f9a32d84c9a" /><Relationship Type="http://schemas.openxmlformats.org/officeDocument/2006/relationships/notesSlide" Target="/ppt/notesSlides/notesSlide5.xml" Id="R82cd68ad463143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d0016cb5044d98" /><Relationship Type="http://schemas.openxmlformats.org/officeDocument/2006/relationships/notesSlide" Target="/ppt/notesSlides/notesSlide6.xml" Id="R42672edaba9743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21bed3fab54804" /><Relationship Type="http://schemas.openxmlformats.org/officeDocument/2006/relationships/notesSlide" Target="/ppt/notesSlides/notesSlide7.xml" Id="R03015d02c08247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347dc39a864ef4" /><Relationship Type="http://schemas.openxmlformats.org/officeDocument/2006/relationships/notesSlide" Target="/ppt/notesSlides/notesSlide8.xml" Id="Rcfad6b1733bb4a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48f78bdbe4410e" /><Relationship Type="http://schemas.openxmlformats.org/officeDocument/2006/relationships/notesSlide" Target="/ppt/notesSlides/notesSlide9.xml" Id="R2899514178a049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0f302ab99b4dc7" /><Relationship Type="http://schemas.openxmlformats.org/officeDocument/2006/relationships/notesSlide" Target="/ppt/notesSlides/notesSlide10.xml" Id="Rd795adc6d22648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8c178fe3db489c" /><Relationship Type="http://schemas.openxmlformats.org/officeDocument/2006/relationships/notesSlide" Target="/ppt/notesSlides/notesSlide11.xml" Id="Ra8086bfaedad46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475ef7ff4543aa" /><Relationship Type="http://schemas.openxmlformats.org/officeDocument/2006/relationships/image" Target="/ppt/media/image3.png" Id="Re088f988dcf647b6" /><Relationship Type="http://schemas.openxmlformats.org/officeDocument/2006/relationships/notesSlide" Target="/ppt/notesSlides/notesSlide12.xml" Id="R3d018d10c67747dd"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320EBC-98C4-40D7-BDA3-8357A89377C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1c5a8cae55547ae"/>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E1615D2-93DD-4A5E-A010-4B024BA9D71B}"/>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984BC1-5A52-4AE9-9A8E-0ACBB554179C}"/>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11  /  LESSON 01</a:t>
            </a:r>
          </a:p>
        </p:txBody>
      </p:sp>
      <p:sp>
        <p:nvSpPr>
          <p:cNvPr id="5" name="">
            <a:extLst xmlns:a="http://schemas.openxmlformats.org/drawingml/2006/main">
              <a:ext uri="{FF2B5EF4-FFF2-40B4-BE49-F238E27FC236}">
                <a16:creationId xmlns:a16="http://schemas.microsoft.com/office/drawing/2014/main" id="{A25A0368-F811-47CF-90DA-7A4C84B7F911}"/>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Serving and Deploying Models</a:t>
            </a:r>
          </a:p>
        </p:txBody>
      </p:sp>
      <p:sp>
        <p:nvSpPr>
          <p:cNvPr id="6" name="">
            <a:extLst xmlns:a="http://schemas.openxmlformats.org/drawingml/2006/main">
              <a:ext uri="{FF2B5EF4-FFF2-40B4-BE49-F238E27FC236}">
                <a16:creationId xmlns:a16="http://schemas.microsoft.com/office/drawing/2014/main" id="{7D5B730D-94A3-49F6-BEB9-F34E68958697}"/>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78FD65-29EE-417C-BE97-85654B0E9715}"/>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Turn a fitted model into a validated network service and run it safely in the cloud.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d830859bb0140cb"/>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10893753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8FC4C92-A4CB-4BDE-8110-A2A25885645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26F7ED8C-D06F-465C-B137-49CABCC705B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and Deploying Models</a:t>
            </a:r>
          </a:p>
        </p:txBody>
      </p:sp>
      <p:sp>
        <p:nvSpPr>
          <p:cNvPr id="3" name="">
            <a:extLst xmlns:a="http://schemas.openxmlformats.org/drawingml/2006/main">
              <a:ext uri="{FF2B5EF4-FFF2-40B4-BE49-F238E27FC236}">
                <a16:creationId xmlns:a16="http://schemas.microsoft.com/office/drawing/2014/main" id="{C77AD39A-E4E8-47A7-9A7C-BBBF0996B40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E13E8D35-B401-43FC-82FF-6690350EE128}"/>
              </a:ext>
            </a:extLst>
          </p:cNvPr>
          <p:cNvSpPr>
            <a:spLocks xmlns:a="http://schemas.openxmlformats.org/drawingml/2006/main" noGrp="1"/>
          </p:cNvSpPr>
          <p:nvPr/>
        </p:nvSpPr>
        <p:spPr>
          <a:xfrm xmlns:a="http://schemas.openxmlformats.org/drawingml/2006/main">
            <a:off x="609600" y="8953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WHY THIS MATTERS</a:t>
            </a:r>
          </a:p>
        </p:txBody>
      </p:sp>
      <p:sp>
        <p:nvSpPr>
          <p:cNvPr id="5" name="">
            <a:extLst xmlns:a="http://schemas.openxmlformats.org/drawingml/2006/main">
              <a:ext uri="{FF2B5EF4-FFF2-40B4-BE49-F238E27FC236}">
                <a16:creationId xmlns:a16="http://schemas.microsoft.com/office/drawing/2014/main" id="{4ADE4296-26BF-4731-B4D7-F9CCAB8FF33F}"/>
              </a:ext>
            </a:extLst>
          </p:cNvPr>
          <p:cNvSpPr>
            <a:spLocks xmlns:a="http://schemas.openxmlformats.org/drawingml/2006/main" noGrp="1"/>
          </p:cNvSpPr>
          <p:nvPr/>
        </p:nvSpPr>
        <p:spPr>
          <a:xfrm xmlns:a="http://schemas.openxmlformats.org/drawingml/2006/main">
            <a:off x="609600" y="1390650"/>
            <a:ext cx="104775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2F21C6-20AF-4EDA-A6F9-5D6DFF9683D2}"/>
              </a:ext>
            </a:extLst>
          </p:cNvPr>
          <p:cNvSpPr>
            <a:spLocks xmlns:a="http://schemas.openxmlformats.org/drawingml/2006/main" noGrp="1"/>
          </p:cNvSpPr>
          <p:nvPr/>
        </p:nvSpPr>
        <p:spPr>
          <a:xfrm xmlns:a="http://schemas.openxmlformats.org/drawingml/2006/main">
            <a:off x="609600" y="169545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Start from what you already know</a:t>
            </a:r>
          </a:p>
        </p:txBody>
      </p:sp>
      <p:sp>
        <p:nvSpPr>
          <p:cNvPr id="7" name="">
            <a:extLst xmlns:a="http://schemas.openxmlformats.org/drawingml/2006/main">
              <a:ext uri="{FF2B5EF4-FFF2-40B4-BE49-F238E27FC236}">
                <a16:creationId xmlns:a16="http://schemas.microsoft.com/office/drawing/2014/main" id="{3D6EF4DC-6C8D-4626-ABA6-628B7C7072D1}"/>
              </a:ext>
            </a:extLst>
          </p:cNvPr>
          <p:cNvSpPr>
            <a:spLocks xmlns:a="http://schemas.openxmlformats.org/drawingml/2006/main" noGrp="1"/>
          </p:cNvSpPr>
          <p:nvPr/>
        </p:nvSpPr>
        <p:spPr>
          <a:xfrm xmlns:a="http://schemas.openxmlformats.org/drawingml/2006/main">
            <a:off x="609600" y="2609850"/>
            <a:ext cx="971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6BDB"/>
                </a:solidFill>
              </a:defRPr>
            </a:pPr>
            <a:r>
              <a:rPr sz="2025" b="1">
                <a:solidFill>
                  <a:srgbClr val="176BDB"/>
                </a:solidFill>
              </a:rPr>
              <a:t>Python functions, dictionaries, validation, fitted pipelines, and inference</a:t>
            </a:r>
          </a:p>
        </p:txBody>
      </p:sp>
      <p:sp>
        <p:nvSpPr>
          <p:cNvPr id="8" name="">
            <a:extLst xmlns:a="http://schemas.openxmlformats.org/drawingml/2006/main">
              <a:ext uri="{FF2B5EF4-FFF2-40B4-BE49-F238E27FC236}">
                <a16:creationId xmlns:a16="http://schemas.microsoft.com/office/drawing/2014/main" id="{307D08AC-75BC-4455-8D48-C79EA56B36F0}"/>
              </a:ext>
            </a:extLst>
          </p:cNvPr>
          <p:cNvSpPr>
            <a:spLocks xmlns:a="http://schemas.openxmlformats.org/drawingml/2006/main" noGrp="1"/>
          </p:cNvSpPr>
          <p:nvPr/>
        </p:nvSpPr>
        <p:spPr>
          <a:xfrm xmlns:a="http://schemas.openxmlformats.org/drawingml/2006/main">
            <a:off x="628650" y="35623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9" name="">
            <a:extLst xmlns:a="http://schemas.openxmlformats.org/drawingml/2006/main">
              <a:ext uri="{FF2B5EF4-FFF2-40B4-BE49-F238E27FC236}">
                <a16:creationId xmlns:a16="http://schemas.microsoft.com/office/drawing/2014/main" id="{5C81CF42-7FB4-4CDA-9053-D9468F8EEEC9}"/>
              </a:ext>
            </a:extLst>
          </p:cNvPr>
          <p:cNvSpPr>
            <a:spLocks xmlns:a="http://schemas.openxmlformats.org/drawingml/2006/main" noGrp="1"/>
          </p:cNvSpPr>
          <p:nvPr/>
        </p:nvSpPr>
        <p:spPr>
          <a:xfrm xmlns:a="http://schemas.openxmlformats.org/drawingml/2006/main">
            <a:off x="1371600" y="35052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Explain HTTP and JSON in plain language.</a:t>
            </a:r>
          </a:p>
        </p:txBody>
      </p:sp>
      <p:sp>
        <p:nvSpPr>
          <p:cNvPr id="10" name="">
            <a:extLst xmlns:a="http://schemas.openxmlformats.org/drawingml/2006/main">
              <a:ext uri="{FF2B5EF4-FFF2-40B4-BE49-F238E27FC236}">
                <a16:creationId xmlns:a16="http://schemas.microsoft.com/office/drawing/2014/main" id="{B13C8BA8-1F40-483B-AA56-0517DC1CF52D}"/>
              </a:ext>
            </a:extLst>
          </p:cNvPr>
          <p:cNvSpPr>
            <a:spLocks xmlns:a="http://schemas.openxmlformats.org/drawingml/2006/main" noGrp="1"/>
          </p:cNvSpPr>
          <p:nvPr/>
        </p:nvSpPr>
        <p:spPr>
          <a:xfrm xmlns:a="http://schemas.openxmlformats.org/drawingml/2006/main">
            <a:off x="628650" y="42481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AE5A8B1A-B86C-49B7-9CC8-D9FC226CE387}"/>
              </a:ext>
            </a:extLst>
          </p:cNvPr>
          <p:cNvSpPr>
            <a:spLocks xmlns:a="http://schemas.openxmlformats.org/drawingml/2006/main" noGrp="1"/>
          </p:cNvSpPr>
          <p:nvPr/>
        </p:nvSpPr>
        <p:spPr>
          <a:xfrm xmlns:a="http://schemas.openxmlformats.org/drawingml/2006/main">
            <a:off x="1371600" y="41910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Use FastAPI contracts in a small worked example.</a:t>
            </a:r>
          </a:p>
        </p:txBody>
      </p:sp>
      <p:sp>
        <p:nvSpPr>
          <p:cNvPr id="12" name="">
            <a:extLst xmlns:a="http://schemas.openxmlformats.org/drawingml/2006/main">
              <a:ext uri="{FF2B5EF4-FFF2-40B4-BE49-F238E27FC236}">
                <a16:creationId xmlns:a16="http://schemas.microsoft.com/office/drawing/2014/main" id="{1585B62E-C318-41CF-B9B4-35F086DCCBC0}"/>
              </a:ext>
            </a:extLst>
          </p:cNvPr>
          <p:cNvSpPr>
            <a:spLocks xmlns:a="http://schemas.openxmlformats.org/drawingml/2006/main" noGrp="1"/>
          </p:cNvSpPr>
          <p:nvPr/>
        </p:nvSpPr>
        <p:spPr>
          <a:xfrm xmlns:a="http://schemas.openxmlformats.org/drawingml/2006/main">
            <a:off x="628650" y="49339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03</a:t>
            </a:r>
          </a:p>
        </p:txBody>
      </p:sp>
      <p:sp>
        <p:nvSpPr>
          <p:cNvPr id="13" name="">
            <a:extLst xmlns:a="http://schemas.openxmlformats.org/drawingml/2006/main">
              <a:ext uri="{FF2B5EF4-FFF2-40B4-BE49-F238E27FC236}">
                <a16:creationId xmlns:a16="http://schemas.microsoft.com/office/drawing/2014/main" id="{4BF5CC4A-DEE0-4352-B42E-0BE7DEE5BE76}"/>
              </a:ext>
            </a:extLst>
          </p:cNvPr>
          <p:cNvSpPr>
            <a:spLocks xmlns:a="http://schemas.openxmlformats.org/drawingml/2006/main" noGrp="1"/>
          </p:cNvSpPr>
          <p:nvPr/>
        </p:nvSpPr>
        <p:spPr>
          <a:xfrm xmlns:a="http://schemas.openxmlformats.org/drawingml/2006/main">
            <a:off x="1371600" y="48768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Complete the guided lab and verify AWS operations.</a:t>
            </a:r>
          </a:p>
        </p:txBody>
      </p:sp>
      <p:sp>
        <p:nvSpPr>
          <p:cNvPr id="14" name="">
            <a:extLst xmlns:a="http://schemas.openxmlformats.org/drawingml/2006/main">
              <a:ext uri="{FF2B5EF4-FFF2-40B4-BE49-F238E27FC236}">
                <a16:creationId xmlns:a16="http://schemas.microsoft.com/office/drawing/2014/main" id="{266FD01D-795D-44B5-804B-D923967B17EC}"/>
              </a:ext>
            </a:extLst>
          </p:cNvPr>
          <p:cNvSpPr>
            <a:spLocks xmlns:a="http://schemas.openxmlformats.org/drawingml/2006/main" noGrp="1"/>
          </p:cNvSpPr>
          <p:nvPr/>
        </p:nvSpPr>
        <p:spPr>
          <a:xfrm xmlns:a="http://schemas.openxmlformats.org/drawingml/2006/main">
            <a:off x="10915650" y="1219200"/>
            <a:ext cx="609600" cy="453390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5E6009-7C68-482A-9530-6DEE06921B9E}"/>
              </a:ext>
            </a:extLst>
          </p:cNvPr>
          <p:cNvSpPr>
            <a:spLocks xmlns:a="http://schemas.openxmlformats.org/drawingml/2006/main" noGrp="1"/>
          </p:cNvSpPr>
          <p:nvPr/>
        </p:nvSpPr>
        <p:spPr>
          <a:xfrm xmlns:a="http://schemas.openxmlformats.org/drawingml/2006/main">
            <a:off x="11106150" y="2095500"/>
            <a:ext cx="228600" cy="20002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Tree>
    <p:extLst>
      <p:ext uri="{BB962C8B-B14F-4D97-AF65-F5344CB8AC3E}">
        <p14:creationId xmlns:p14="http://schemas.microsoft.com/office/powerpoint/2010/main" val="12729144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97CEB1-E272-44A6-AE13-BC02BEF2D747}"/>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DE271CB3-99A4-419E-83C0-C208EAA02CCD}"/>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and Deploying Models</a:t>
            </a:r>
          </a:p>
        </p:txBody>
      </p:sp>
      <p:sp>
        <p:nvSpPr>
          <p:cNvPr id="3" name="">
            <a:extLst xmlns:a="http://schemas.openxmlformats.org/drawingml/2006/main">
              <a:ext uri="{FF2B5EF4-FFF2-40B4-BE49-F238E27FC236}">
                <a16:creationId xmlns:a16="http://schemas.microsoft.com/office/drawing/2014/main" id="{66F4A6C2-D1D6-44DC-B30E-52EA579A005E}"/>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8D4A063A-1D56-490F-B041-52CEAE7039D9}"/>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5CFB16C5-36C7-4F73-B153-55687D162E96}"/>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The vocabulary of this topic</a:t>
            </a:r>
          </a:p>
        </p:txBody>
      </p:sp>
      <p:sp>
        <p:nvSpPr>
          <p:cNvPr id="6" name="">
            <a:extLst xmlns:a="http://schemas.openxmlformats.org/drawingml/2006/main">
              <a:ext uri="{FF2B5EF4-FFF2-40B4-BE49-F238E27FC236}">
                <a16:creationId xmlns:a16="http://schemas.microsoft.com/office/drawing/2014/main" id="{849033E1-670C-4A8E-873C-5A4982269525}"/>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DFC2C2E-36D7-405A-8AC1-446F278D5DCE}"/>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Turn a fitted model into a validated network service and run it safely in the cloud.</a:t>
            </a:r>
          </a:p>
        </p:txBody>
      </p:sp>
      <p:sp>
        <p:nvSpPr>
          <p:cNvPr id="8" name="">
            <a:extLst xmlns:a="http://schemas.openxmlformats.org/drawingml/2006/main">
              <a:ext uri="{FF2B5EF4-FFF2-40B4-BE49-F238E27FC236}">
                <a16:creationId xmlns:a16="http://schemas.microsoft.com/office/drawing/2014/main" id="{0354BF6C-3D14-46CF-B37E-21C890A27205}"/>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7A80C0-DF72-4408-B1AE-D396AFFAB3D7}"/>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HTTP and JSON: HTTP defines request and response exchange; JSON represents structured values in the message body.</a:t>
            </a:r>
          </a:p>
        </p:txBody>
      </p:sp>
      <p:sp>
        <p:nvSpPr>
          <p:cNvPr id="10" name="">
            <a:extLst xmlns:a="http://schemas.openxmlformats.org/drawingml/2006/main">
              <a:ext uri="{FF2B5EF4-FFF2-40B4-BE49-F238E27FC236}">
                <a16:creationId xmlns:a16="http://schemas.microsoft.com/office/drawing/2014/main" id="{B57426BF-0C60-44E5-900B-A0262A00E06F}"/>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EC002FA-3AD3-4EA1-841B-9272D2E784C6}"/>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FastAPI contracts: A FastAPI contract declares an endpoint's method, typed request, response, and error behavior.</a:t>
            </a:r>
          </a:p>
        </p:txBody>
      </p:sp>
      <p:sp>
        <p:nvSpPr>
          <p:cNvPr id="12" name="">
            <a:extLst xmlns:a="http://schemas.openxmlformats.org/drawingml/2006/main">
              <a:ext uri="{FF2B5EF4-FFF2-40B4-BE49-F238E27FC236}">
                <a16:creationId xmlns:a16="http://schemas.microsoft.com/office/drawing/2014/main" id="{A584ACD2-718E-41E2-8764-65073A1A7A66}"/>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4562682-E502-4896-A611-CFDEBE924FFE}"/>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Docker containers: A Docker container runs an application inside the filesystem and dependencies fixed by its image.</a:t>
            </a:r>
          </a:p>
        </p:txBody>
      </p:sp>
      <p:sp>
        <p:nvSpPr>
          <p:cNvPr id="14" name="">
            <a:extLst xmlns:a="http://schemas.openxmlformats.org/drawingml/2006/main">
              <a:ext uri="{FF2B5EF4-FFF2-40B4-BE49-F238E27FC236}">
                <a16:creationId xmlns:a16="http://schemas.microsoft.com/office/drawing/2014/main" id="{1B11CB26-95D6-4A3B-B78C-000E88F3F91D}"/>
              </a:ext>
            </a:extLst>
          </p:cNvPr>
          <p:cNvSpPr>
            <a:spLocks xmlns:a="http://schemas.openxmlformats.org/drawingml/2006/main" noGrp="1"/>
          </p:cNvSpPr>
          <p:nvPr/>
        </p:nvSpPr>
        <p:spPr>
          <a:xfrm xmlns:a="http://schemas.openxmlformats.org/drawingml/2006/main">
            <a:off x="607695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B45D99A-1F04-4EB7-9863-DCD321384E63}"/>
              </a:ext>
            </a:extLst>
          </p:cNvPr>
          <p:cNvSpPr>
            <a:spLocks xmlns:a="http://schemas.openxmlformats.org/drawingml/2006/main" noGrp="1"/>
          </p:cNvSpPr>
          <p:nvPr/>
        </p:nvSpPr>
        <p:spPr>
          <a:xfrm xmlns:a="http://schemas.openxmlformats.org/drawingml/2006/main">
            <a:off x="626745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AWS operations: AWS operations cover scoped identity, networking, compute, logs, health, budgets, and controlled rollback.</a:t>
            </a:r>
          </a:p>
        </p:txBody>
      </p:sp>
    </p:spTree>
    <p:extLst>
      <p:ext uri="{BB962C8B-B14F-4D97-AF65-F5344CB8AC3E}">
        <p14:creationId xmlns:p14="http://schemas.microsoft.com/office/powerpoint/2010/main" val="569556401"/>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DE23F7C-E9C9-4AD2-8D5E-B42AD18C5B67}"/>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B4EB4F61-2F52-422C-93E5-7168E063477A}"/>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and Deploying Models</a:t>
            </a:r>
          </a:p>
        </p:txBody>
      </p:sp>
      <p:sp>
        <p:nvSpPr>
          <p:cNvPr id="3" name="">
            <a:extLst xmlns:a="http://schemas.openxmlformats.org/drawingml/2006/main">
              <a:ext uri="{FF2B5EF4-FFF2-40B4-BE49-F238E27FC236}">
                <a16:creationId xmlns:a16="http://schemas.microsoft.com/office/drawing/2014/main" id="{21112623-9D4B-4752-85D1-8C66F3A610FF}"/>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A715BA38-F997-4811-BB05-69453A7F8354}"/>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AED438D2-C1F3-4E17-8A28-8E9FC533E321}"/>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How the concept works</a:t>
            </a:r>
          </a:p>
        </p:txBody>
      </p:sp>
      <p:sp>
        <p:nvSpPr>
          <p:cNvPr id="6" name="">
            <a:extLst xmlns:a="http://schemas.openxmlformats.org/drawingml/2006/main">
              <a:ext uri="{FF2B5EF4-FFF2-40B4-BE49-F238E27FC236}">
                <a16:creationId xmlns:a16="http://schemas.microsoft.com/office/drawing/2014/main" id="{6400803C-B8C3-4639-89B2-1E359FEABE83}"/>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08251C13-9918-439E-85C3-4FE91E783789}"/>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71F3EB-3FD9-4228-8BE4-6504732C6DDE}"/>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HTTP and JSON</a:t>
            </a:r>
          </a:p>
        </p:txBody>
      </p:sp>
      <p:sp>
        <p:nvSpPr>
          <p:cNvPr id="9" name="">
            <a:extLst xmlns:a="http://schemas.openxmlformats.org/drawingml/2006/main">
              <a:ext uri="{FF2B5EF4-FFF2-40B4-BE49-F238E27FC236}">
                <a16:creationId xmlns:a16="http://schemas.microsoft.com/office/drawing/2014/main" id="{7C409D25-B306-46FB-A5BC-4F52D716957E}"/>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13F0DDE5-8AAF-4041-9E23-20BFF71C12FF}"/>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0A70C7BB-3EF6-4161-B1CC-EDE2E6ADC8B3}"/>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3A8AAA-659F-4ADA-B2DE-74DB57040E3B}"/>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FastAPI contracts</a:t>
            </a:r>
          </a:p>
        </p:txBody>
      </p:sp>
      <p:sp>
        <p:nvSpPr>
          <p:cNvPr id="13" name="">
            <a:extLst xmlns:a="http://schemas.openxmlformats.org/drawingml/2006/main">
              <a:ext uri="{FF2B5EF4-FFF2-40B4-BE49-F238E27FC236}">
                <a16:creationId xmlns:a16="http://schemas.microsoft.com/office/drawing/2014/main" id="{1F5A9FE7-04EA-4ADB-AA73-88F7EDC9C632}"/>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5723CCD7-2D56-4750-9078-98331B43C7E5}"/>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B9E5C318-E68B-4168-B3A4-B065181C0ED9}"/>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A7B1B14-4389-43C2-BA65-E8D93B68B854}"/>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Docker containers</a:t>
            </a:r>
          </a:p>
        </p:txBody>
      </p:sp>
      <p:sp>
        <p:nvSpPr>
          <p:cNvPr id="17" name="">
            <a:extLst xmlns:a="http://schemas.openxmlformats.org/drawingml/2006/main">
              <a:ext uri="{FF2B5EF4-FFF2-40B4-BE49-F238E27FC236}">
                <a16:creationId xmlns:a16="http://schemas.microsoft.com/office/drawing/2014/main" id="{E41F9782-DF08-4A30-92B8-706E80140932}"/>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52BA3996-BDE7-4633-9F4B-284030B55884}"/>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F9D2C5D6-C2E7-4E3D-BEAB-D50A3C6BB5E7}"/>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96B2167-C50A-4355-BE19-50775E73591B}"/>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AWS operations</a:t>
            </a:r>
          </a:p>
        </p:txBody>
      </p:sp>
      <p:sp>
        <p:nvSpPr>
          <p:cNvPr id="21" name="">
            <a:extLst xmlns:a="http://schemas.openxmlformats.org/drawingml/2006/main">
              <a:ext uri="{FF2B5EF4-FFF2-40B4-BE49-F238E27FC236}">
                <a16:creationId xmlns:a16="http://schemas.microsoft.com/office/drawing/2014/main" id="{00650DF3-A249-48FE-9C72-BBEDB28C7643}"/>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Client → HTTP request → validated schema → model inference → JSON response; a container fixes the runtime environment.</a:t>
            </a:r>
          </a:p>
        </p:txBody>
      </p:sp>
    </p:spTree>
    <p:extLst>
      <p:ext uri="{BB962C8B-B14F-4D97-AF65-F5344CB8AC3E}">
        <p14:creationId xmlns:p14="http://schemas.microsoft.com/office/powerpoint/2010/main" val="10487571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2D8330-A575-4734-9E78-00E0622DDA04}"/>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D1F963CB-A548-4169-A066-8B633A644B05}"/>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and Deploying Models</a:t>
            </a:r>
          </a:p>
        </p:txBody>
      </p:sp>
      <p:sp>
        <p:nvSpPr>
          <p:cNvPr id="3" name="">
            <a:extLst xmlns:a="http://schemas.openxmlformats.org/drawingml/2006/main">
              <a:ext uri="{FF2B5EF4-FFF2-40B4-BE49-F238E27FC236}">
                <a16:creationId xmlns:a16="http://schemas.microsoft.com/office/drawing/2014/main" id="{826E885E-3E8C-4971-8D8F-7DAC915D0651}"/>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05</a:t>
            </a:r>
          </a:p>
        </p:txBody>
      </p:sp>
      <p:sp>
        <p:nvSpPr>
          <p:cNvPr id="4" name="">
            <a:extLst xmlns:a="http://schemas.openxmlformats.org/drawingml/2006/main">
              <a:ext uri="{FF2B5EF4-FFF2-40B4-BE49-F238E27FC236}">
                <a16:creationId xmlns:a16="http://schemas.microsoft.com/office/drawing/2014/main" id="{D379E46F-7DED-4EC8-91E2-C8BD59B1D952}"/>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09F5B2C8-5AB6-4543-8672-1BE44E1CB893}"/>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Read every part of the mechanism</a:t>
            </a:r>
          </a:p>
        </p:txBody>
      </p:sp>
      <p:sp>
        <p:nvSpPr>
          <p:cNvPr id="6" name="">
            <a:extLst xmlns:a="http://schemas.openxmlformats.org/drawingml/2006/main">
              <a:ext uri="{FF2B5EF4-FFF2-40B4-BE49-F238E27FC236}">
                <a16:creationId xmlns:a16="http://schemas.microsoft.com/office/drawing/2014/main" id="{D491266B-56E1-4354-B844-69298C2A25F1}"/>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39130F3-77FE-49AE-B1EE-1C7371E1AE71}"/>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Client → HTTP request → validated schema → model inference → JSON response; a container fixes the runtime environment.</a:t>
            </a:r>
          </a:p>
        </p:txBody>
      </p:sp>
      <p:sp>
        <p:nvSpPr>
          <p:cNvPr id="8" name="">
            <a:extLst xmlns:a="http://schemas.openxmlformats.org/drawingml/2006/main">
              <a:ext uri="{FF2B5EF4-FFF2-40B4-BE49-F238E27FC236}">
                <a16:creationId xmlns:a16="http://schemas.microsoft.com/office/drawing/2014/main" id="{D6904E9B-4895-452A-9C92-CD46CD0AA360}"/>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6FB06E9-7CC3-4E86-9D4C-E369CA0E2811}"/>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endpoint: A network address and HTTP method.</a:t>
            </a:r>
          </a:p>
        </p:txBody>
      </p:sp>
      <p:sp>
        <p:nvSpPr>
          <p:cNvPr id="10" name="">
            <a:extLst xmlns:a="http://schemas.openxmlformats.org/drawingml/2006/main">
              <a:ext uri="{FF2B5EF4-FFF2-40B4-BE49-F238E27FC236}">
                <a16:creationId xmlns:a16="http://schemas.microsoft.com/office/drawing/2014/main" id="{F2EB80E2-57E9-47EF-92C7-6C27CED0BF20}"/>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596AD7B-7446-4D61-9012-DA1602470E38}"/>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schema: Required fields and types.</a:t>
            </a:r>
          </a:p>
        </p:txBody>
      </p:sp>
      <p:sp>
        <p:nvSpPr>
          <p:cNvPr id="12" name="">
            <a:extLst xmlns:a="http://schemas.openxmlformats.org/drawingml/2006/main">
              <a:ext uri="{FF2B5EF4-FFF2-40B4-BE49-F238E27FC236}">
                <a16:creationId xmlns:a16="http://schemas.microsoft.com/office/drawing/2014/main" id="{7418F4B8-8CF4-43DA-98D2-CD5C4ECC5F79}"/>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923AC02-EBAF-4DA7-8B09-4C8F4991CD8A}"/>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container: A packaged application runtime.</a:t>
            </a:r>
          </a:p>
        </p:txBody>
      </p:sp>
    </p:spTree>
    <p:extLst>
      <p:ext uri="{BB962C8B-B14F-4D97-AF65-F5344CB8AC3E}">
        <p14:creationId xmlns:p14="http://schemas.microsoft.com/office/powerpoint/2010/main" val="16955313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954372-9E70-40E2-8775-9F74FA806121}"/>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FAA3F872-6B7A-42CC-80DD-F8CD4A80A75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and Deploying Models</a:t>
            </a:r>
          </a:p>
        </p:txBody>
      </p:sp>
      <p:sp>
        <p:nvSpPr>
          <p:cNvPr id="3" name="">
            <a:extLst xmlns:a="http://schemas.openxmlformats.org/drawingml/2006/main">
              <a:ext uri="{FF2B5EF4-FFF2-40B4-BE49-F238E27FC236}">
                <a16:creationId xmlns:a16="http://schemas.microsoft.com/office/drawing/2014/main" id="{2B09A17D-A920-4CF6-B8FA-E5CFB77BCFF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BE051BEF-B155-49D2-A671-ABF9B8303800}"/>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WORKED EXAMPLE</a:t>
            </a:r>
          </a:p>
        </p:txBody>
      </p:sp>
      <p:sp>
        <p:nvSpPr>
          <p:cNvPr id="5" name="">
            <a:extLst xmlns:a="http://schemas.openxmlformats.org/drawingml/2006/main">
              <a:ext uri="{FF2B5EF4-FFF2-40B4-BE49-F238E27FC236}">
                <a16:creationId xmlns:a16="http://schemas.microsoft.com/office/drawing/2014/main" id="{BC43EE7F-8D10-42A2-A5C6-7FE1BBE8282F}"/>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Worked example by hand</a:t>
            </a:r>
          </a:p>
        </p:txBody>
      </p:sp>
      <p:sp>
        <p:nvSpPr>
          <p:cNvPr id="6" name="">
            <a:extLst xmlns:a="http://schemas.openxmlformats.org/drawingml/2006/main">
              <a:ext uri="{FF2B5EF4-FFF2-40B4-BE49-F238E27FC236}">
                <a16:creationId xmlns:a16="http://schemas.microsoft.com/office/drawing/2014/main" id="{D2ECBEB8-DC8C-4265-A13C-788CC8292429}"/>
              </a:ext>
            </a:extLst>
          </p:cNvPr>
          <p:cNvSpPr>
            <a:spLocks xmlns:a="http://schemas.openxmlformats.org/drawingml/2006/main" noGrp="1"/>
          </p:cNvSpPr>
          <p:nvPr/>
        </p:nvSpPr>
        <p:spPr>
          <a:xfrm xmlns:a="http://schemas.openxmlformats.org/drawingml/2006/main">
            <a:off x="628650" y="1714500"/>
            <a:ext cx="10382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0B1220"/>
                </a:solidFill>
              </a:defRPr>
            </a:pPr>
            <a:r>
              <a:rPr sz="2325" b="1">
                <a:solidFill>
                  <a:srgbClr val="0B1220"/>
                </a:solidFill>
              </a:rPr>
              <a:t>Send age=30 and income=50000 to `/predict`; validate types; return prediction and model version.</a:t>
            </a:r>
          </a:p>
        </p:txBody>
      </p:sp>
      <p:sp>
        <p:nvSpPr>
          <p:cNvPr id="7" name="">
            <a:extLst xmlns:a="http://schemas.openxmlformats.org/drawingml/2006/main">
              <a:ext uri="{FF2B5EF4-FFF2-40B4-BE49-F238E27FC236}">
                <a16:creationId xmlns:a16="http://schemas.microsoft.com/office/drawing/2014/main" id="{D12B6813-BC6A-424A-8591-2018684D6140}"/>
              </a:ext>
            </a:extLst>
          </p:cNvPr>
          <p:cNvSpPr>
            <a:spLocks xmlns:a="http://schemas.openxmlformats.org/drawingml/2006/main" noGrp="1"/>
          </p:cNvSpPr>
          <p:nvPr/>
        </p:nvSpPr>
        <p:spPr>
          <a:xfrm xmlns:a="http://schemas.openxmlformats.org/drawingml/2006/main">
            <a:off x="6286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01</a:t>
            </a:r>
          </a:p>
        </p:txBody>
      </p:sp>
      <p:sp>
        <p:nvSpPr>
          <p:cNvPr id="8" name="">
            <a:extLst xmlns:a="http://schemas.openxmlformats.org/drawingml/2006/main">
              <a:ext uri="{FF2B5EF4-FFF2-40B4-BE49-F238E27FC236}">
                <a16:creationId xmlns:a16="http://schemas.microsoft.com/office/drawing/2014/main" id="{9A571C89-4107-41C4-9098-B5AA0E9B0086}"/>
              </a:ext>
            </a:extLst>
          </p:cNvPr>
          <p:cNvSpPr>
            <a:spLocks xmlns:a="http://schemas.openxmlformats.org/drawingml/2006/main" noGrp="1"/>
          </p:cNvSpPr>
          <p:nvPr/>
        </p:nvSpPr>
        <p:spPr>
          <a:xfrm xmlns:a="http://schemas.openxmlformats.org/drawingml/2006/main">
            <a:off x="6286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F2D075A-F1E1-42F9-8A60-99D4BFFE8286}"/>
              </a:ext>
            </a:extLst>
          </p:cNvPr>
          <p:cNvSpPr>
            <a:spLocks xmlns:a="http://schemas.openxmlformats.org/drawingml/2006/main" noGrp="1"/>
          </p:cNvSpPr>
          <p:nvPr/>
        </p:nvSpPr>
        <p:spPr>
          <a:xfrm xmlns:a="http://schemas.openxmlformats.org/drawingml/2006/main">
            <a:off x="6286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Known values</a:t>
            </a:r>
          </a:p>
        </p:txBody>
      </p:sp>
      <p:sp>
        <p:nvSpPr>
          <p:cNvPr id="10" name="">
            <a:extLst xmlns:a="http://schemas.openxmlformats.org/drawingml/2006/main">
              <a:ext uri="{FF2B5EF4-FFF2-40B4-BE49-F238E27FC236}">
                <a16:creationId xmlns:a16="http://schemas.microsoft.com/office/drawing/2014/main" id="{99436D0C-96E0-45B3-8F79-EBA8668C608C}"/>
              </a:ext>
            </a:extLst>
          </p:cNvPr>
          <p:cNvSpPr>
            <a:spLocks xmlns:a="http://schemas.openxmlformats.org/drawingml/2006/main" noGrp="1"/>
          </p:cNvSpPr>
          <p:nvPr/>
        </p:nvSpPr>
        <p:spPr>
          <a:xfrm xmlns:a="http://schemas.openxmlformats.org/drawingml/2006/main">
            <a:off x="42862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02</a:t>
            </a:r>
          </a:p>
        </p:txBody>
      </p:sp>
      <p:sp>
        <p:nvSpPr>
          <p:cNvPr id="11" name="">
            <a:extLst xmlns:a="http://schemas.openxmlformats.org/drawingml/2006/main">
              <a:ext uri="{FF2B5EF4-FFF2-40B4-BE49-F238E27FC236}">
                <a16:creationId xmlns:a16="http://schemas.microsoft.com/office/drawing/2014/main" id="{CED8B653-DEB4-405D-A312-D4228FE1360A}"/>
              </a:ext>
            </a:extLst>
          </p:cNvPr>
          <p:cNvSpPr>
            <a:spLocks xmlns:a="http://schemas.openxmlformats.org/drawingml/2006/main" noGrp="1"/>
          </p:cNvSpPr>
          <p:nvPr/>
        </p:nvSpPr>
        <p:spPr>
          <a:xfrm xmlns:a="http://schemas.openxmlformats.org/drawingml/2006/main">
            <a:off x="42862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4D59A7B-9571-4369-A610-4F0BCC4A26E4}"/>
              </a:ext>
            </a:extLst>
          </p:cNvPr>
          <p:cNvSpPr>
            <a:spLocks xmlns:a="http://schemas.openxmlformats.org/drawingml/2006/main" noGrp="1"/>
          </p:cNvSpPr>
          <p:nvPr/>
        </p:nvSpPr>
        <p:spPr>
          <a:xfrm xmlns:a="http://schemas.openxmlformats.org/drawingml/2006/main">
            <a:off x="42862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Apply the mechanism</a:t>
            </a:r>
          </a:p>
        </p:txBody>
      </p:sp>
      <p:sp>
        <p:nvSpPr>
          <p:cNvPr id="13" name="">
            <a:extLst xmlns:a="http://schemas.openxmlformats.org/drawingml/2006/main">
              <a:ext uri="{FF2B5EF4-FFF2-40B4-BE49-F238E27FC236}">
                <a16:creationId xmlns:a16="http://schemas.microsoft.com/office/drawing/2014/main" id="{1712B5C7-58A7-4A5F-8441-7FD61574F1BD}"/>
              </a:ext>
            </a:extLst>
          </p:cNvPr>
          <p:cNvSpPr>
            <a:spLocks xmlns:a="http://schemas.openxmlformats.org/drawingml/2006/main" noGrp="1"/>
          </p:cNvSpPr>
          <p:nvPr/>
        </p:nvSpPr>
        <p:spPr>
          <a:xfrm xmlns:a="http://schemas.openxmlformats.org/drawingml/2006/main">
            <a:off x="79438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06B5F"/>
                </a:solidFill>
              </a:defRPr>
            </a:pPr>
            <a:r>
              <a:rPr sz="1200" b="1">
                <a:solidFill>
                  <a:srgbClr val="F06B5F"/>
                </a:solidFill>
              </a:rPr>
              <a:t>03</a:t>
            </a:r>
          </a:p>
        </p:txBody>
      </p:sp>
      <p:sp>
        <p:nvSpPr>
          <p:cNvPr id="14" name="">
            <a:extLst xmlns:a="http://schemas.openxmlformats.org/drawingml/2006/main">
              <a:ext uri="{FF2B5EF4-FFF2-40B4-BE49-F238E27FC236}">
                <a16:creationId xmlns:a16="http://schemas.microsoft.com/office/drawing/2014/main" id="{CB52FDD4-CEFA-4AB5-9F82-D7E2BE33B042}"/>
              </a:ext>
            </a:extLst>
          </p:cNvPr>
          <p:cNvSpPr>
            <a:spLocks xmlns:a="http://schemas.openxmlformats.org/drawingml/2006/main" noGrp="1"/>
          </p:cNvSpPr>
          <p:nvPr/>
        </p:nvSpPr>
        <p:spPr>
          <a:xfrm xmlns:a="http://schemas.openxmlformats.org/drawingml/2006/main">
            <a:off x="7943850" y="4324350"/>
            <a:ext cx="30099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A56AC3F-BE77-491F-AE77-85CB8DCF2AC2}"/>
              </a:ext>
            </a:extLst>
          </p:cNvPr>
          <p:cNvSpPr>
            <a:spLocks xmlns:a="http://schemas.openxmlformats.org/drawingml/2006/main" noGrp="1"/>
          </p:cNvSpPr>
          <p:nvPr/>
        </p:nvSpPr>
        <p:spPr>
          <a:xfrm xmlns:a="http://schemas.openxmlformats.org/drawingml/2006/main">
            <a:off x="79438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Interpret the result</a:t>
            </a:r>
          </a:p>
        </p:txBody>
      </p:sp>
    </p:spTree>
    <p:extLst>
      <p:ext uri="{BB962C8B-B14F-4D97-AF65-F5344CB8AC3E}">
        <p14:creationId xmlns:p14="http://schemas.microsoft.com/office/powerpoint/2010/main" val="1775201140"/>
      </p:ext>
    </p:extLst>
  </p:cSld>
</p:sld>
</file>

<file path=ppt/slides/slide7.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6A5E4AA-0143-45E0-BAA3-91F8BB48D20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C5EF8485-1D7A-4C3B-93A0-E33EAE5CDC85}"/>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and Deploying Models</a:t>
            </a:r>
          </a:p>
        </p:txBody>
      </p:sp>
      <p:sp>
        <p:nvSpPr>
          <p:cNvPr id="3" name="">
            <a:extLst xmlns:a="http://schemas.openxmlformats.org/drawingml/2006/main">
              <a:ext uri="{FF2B5EF4-FFF2-40B4-BE49-F238E27FC236}">
                <a16:creationId xmlns:a16="http://schemas.microsoft.com/office/drawing/2014/main" id="{142F4674-F5BF-4D46-8E33-2C00C09827F4}"/>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07</a:t>
            </a:r>
          </a:p>
        </p:txBody>
      </p:sp>
      <p:sp>
        <p:nvSpPr>
          <p:cNvPr id="4" name="">
            <a:extLst xmlns:a="http://schemas.openxmlformats.org/drawingml/2006/main">
              <a:ext uri="{FF2B5EF4-FFF2-40B4-BE49-F238E27FC236}">
                <a16:creationId xmlns:a16="http://schemas.microsoft.com/office/drawing/2014/main" id="{C477BA1C-0105-4AAD-A5BD-1C12FF0C6ED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214DCAA9-525A-4E22-852E-2EE3728D955E}"/>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Map the concept to Python</a:t>
            </a:r>
          </a:p>
        </p:txBody>
      </p:sp>
      <p:sp>
        <p:nvSpPr>
          <p:cNvPr id="6" name="">
            <a:extLst xmlns:a="http://schemas.openxmlformats.org/drawingml/2006/main">
              <a:ext uri="{FF2B5EF4-FFF2-40B4-BE49-F238E27FC236}">
                <a16:creationId xmlns:a16="http://schemas.microsoft.com/office/drawing/2014/main" id="{384CA36F-DB49-4749-8FCE-7EC7B50E69DA}"/>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5362E81-532D-4FC2-9B96-CBDDDB0BF25E}"/>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95A9210-DB4A-4572-9D2B-ED01CA1BCFBE}"/>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4C0BE23-010E-41EC-A0EB-51F3F84CA2C8}"/>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46B889-ED52-43BC-B565-1D2DF49FE662}"/>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EC783B9-E7F1-49F8-A174-98A45DDF9CFD}"/>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@app.post("/predict")</a:t>
            </a:r>
          </a:p>
          <a:p xmlns:a="http://schemas.openxmlformats.org/drawingml/2006/main">
            <a:pPr>
              <a:defRPr sz="1125">
                <a:solidFill>
                  <a:srgbClr val="E8F1F7"/>
                </a:solidFill>
              </a:defRPr>
            </a:pPr>
            <a:r>
              <a:rPr sz="1125">
                <a:solidFill>
                  <a:srgbClr val="E8F1F7"/>
                </a:solidFill>
              </a:rPr>
              <a:t>def predict(request: PredictionRequest):</a:t>
            </a:r>
          </a:p>
          <a:p xmlns:a="http://schemas.openxmlformats.org/drawingml/2006/main">
            <a:pPr>
              <a:defRPr sz="1125">
                <a:solidFill>
                  <a:srgbClr val="E8F1F7"/>
                </a:solidFill>
              </a:defRPr>
            </a:pPr>
            <a:r>
              <a:rPr sz="1125">
                <a:solidFill>
                  <a:srgbClr val="E8F1F7"/>
                </a:solidFill>
              </a:rPr>
              <a:t>    value = model.predict([request.model_dump().values()])[0]</a:t>
            </a:r>
          </a:p>
          <a:p xmlns:a="http://schemas.openxmlformats.org/drawingml/2006/main">
            <a:pPr>
              <a:defRPr sz="1125">
                <a:solidFill>
                  <a:srgbClr val="E8F1F7"/>
                </a:solidFill>
              </a:defRPr>
            </a:pPr>
            <a:r>
              <a:rPr sz="1125">
                <a:solidFill>
                  <a:srgbClr val="E8F1F7"/>
                </a:solidFill>
              </a:rPr>
              <a:t>    return {"prediction": float(value), "model_version": "1"}</a:t>
            </a:r>
          </a:p>
        </p:txBody>
      </p:sp>
      <p:sp>
        <p:nvSpPr>
          <p:cNvPr id="12" name="">
            <a:extLst xmlns:a="http://schemas.openxmlformats.org/drawingml/2006/main">
              <a:ext uri="{FF2B5EF4-FFF2-40B4-BE49-F238E27FC236}">
                <a16:creationId xmlns:a16="http://schemas.microsoft.com/office/drawing/2014/main" id="{C072C369-A55F-4857-812A-155CA0C17657}"/>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04533867-E826-458C-A6CA-AC0C46DB4D46}"/>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4650332C-2235-4E88-97F9-CF18DE8B4A11}"/>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{"prediction": 0.72, "model_version": "1"}</a:t>
            </a:r>
          </a:p>
        </p:txBody>
      </p:sp>
      <p:sp>
        <p:nvSpPr>
          <p:cNvPr id="15" name="">
            <a:extLst xmlns:a="http://schemas.openxmlformats.org/drawingml/2006/main">
              <a:ext uri="{FF2B5EF4-FFF2-40B4-BE49-F238E27FC236}">
                <a16:creationId xmlns:a16="http://schemas.microsoft.com/office/drawing/2014/main" id="{FD9EFBD2-2A49-48ED-84F9-BA48CEB589CA}"/>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767721-0427-4D9F-9874-B89B84C762AF}"/>
              </a:ext>
            </a:extLst>
          </p:cNvPr>
          <p:cNvSpPr>
            <a:spLocks xmlns:a="http://schemas.openxmlformats.org/drawingml/2006/main" noGrp="1"/>
          </p:cNvSpPr>
          <p:nvPr/>
        </p:nvSpPr>
        <p:spPr>
          <a:xfrm xmlns:a="http://schemas.openxmlformats.org/drawingml/2006/main">
            <a:off x="723900" y="5886450"/>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Each line corresponds to a concept already explained.</a:t>
            </a:r>
          </a:p>
        </p:txBody>
      </p:sp>
    </p:spTree>
    <p:extLst>
      <p:ext uri="{BB962C8B-B14F-4D97-AF65-F5344CB8AC3E}">
        <p14:creationId xmlns:p14="http://schemas.microsoft.com/office/powerpoint/2010/main" val="11963774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DBB3D06-BA67-4980-9768-1D7AF6EFDAA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B3677F78-9B37-424B-BBFE-06A446F8BAB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and Deploying Models</a:t>
            </a:r>
          </a:p>
        </p:txBody>
      </p:sp>
      <p:sp>
        <p:nvSpPr>
          <p:cNvPr id="3" name="">
            <a:extLst xmlns:a="http://schemas.openxmlformats.org/drawingml/2006/main">
              <a:ext uri="{FF2B5EF4-FFF2-40B4-BE49-F238E27FC236}">
                <a16:creationId xmlns:a16="http://schemas.microsoft.com/office/drawing/2014/main" id="{0EB358C4-7746-4F0D-89A3-88CCD44DC9E9}"/>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08</a:t>
            </a:r>
          </a:p>
        </p:txBody>
      </p:sp>
      <p:sp>
        <p:nvSpPr>
          <p:cNvPr id="4" name="">
            <a:extLst xmlns:a="http://schemas.openxmlformats.org/drawingml/2006/main">
              <a:ext uri="{FF2B5EF4-FFF2-40B4-BE49-F238E27FC236}">
                <a16:creationId xmlns:a16="http://schemas.microsoft.com/office/drawing/2014/main" id="{453CE0DE-8CDF-4BFC-80AB-ABCAE2B9E911}"/>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42C81868-1211-4601-919B-AE2B89F16EC4}"/>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Build the complete mental model</a:t>
            </a:r>
          </a:p>
        </p:txBody>
      </p:sp>
      <p:sp>
        <p:nvSpPr>
          <p:cNvPr id="6" name="">
            <a:extLst xmlns:a="http://schemas.openxmlformats.org/drawingml/2006/main">
              <a:ext uri="{FF2B5EF4-FFF2-40B4-BE49-F238E27FC236}">
                <a16:creationId xmlns:a16="http://schemas.microsoft.com/office/drawing/2014/main" id="{638AABDE-EF2D-481C-9C2F-980DF1A6B486}"/>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4564C77B-5891-4E38-9BD5-BA8D7DED45CF}"/>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FFBE5459-13BD-4B10-9C56-86CA266678BB}"/>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Validate request fields before inference and return structured 4xx errors for invalid client input.</a:t>
            </a:r>
          </a:p>
        </p:txBody>
      </p:sp>
      <p:sp>
        <p:nvSpPr>
          <p:cNvPr id="9" name="">
            <a:extLst xmlns:a="http://schemas.openxmlformats.org/drawingml/2006/main">
              <a:ext uri="{FF2B5EF4-FFF2-40B4-BE49-F238E27FC236}">
                <a16:creationId xmlns:a16="http://schemas.microsoft.com/office/drawing/2014/main" id="{C0B2210F-AF66-4E8E-9223-9D29A0760E72}"/>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1235879-8461-4F25-BA16-28517AED25DB}"/>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BDE701EC-5D09-4E95-850A-4070B36F7A6E}"/>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15E08865-3CB8-4C9F-8E8F-D24DEE1E069E}"/>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Package the same fitted preprocessing pipeline used during training to prevent serving skew.</a:t>
            </a:r>
          </a:p>
        </p:txBody>
      </p:sp>
      <p:sp>
        <p:nvSpPr>
          <p:cNvPr id="13" name="">
            <a:extLst xmlns:a="http://schemas.openxmlformats.org/drawingml/2006/main">
              <a:ext uri="{FF2B5EF4-FFF2-40B4-BE49-F238E27FC236}">
                <a16:creationId xmlns:a16="http://schemas.microsoft.com/office/drawing/2014/main" id="{CEFA2A9E-5AB0-4F92-BBDD-8FE793179602}"/>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1B47FA-EAE1-4227-8B71-F6386CB13613}"/>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DF87D007-0D70-4D9B-98F9-CBFEA118DC81}"/>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EC5CC054-6254-4383-8222-D8B05C293A81}"/>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Use immutable container tags or digests, scoped IAM roles, and secrets outside source code.</a:t>
            </a:r>
          </a:p>
        </p:txBody>
      </p:sp>
      <p:sp>
        <p:nvSpPr>
          <p:cNvPr id="17" name="">
            <a:extLst xmlns:a="http://schemas.openxmlformats.org/drawingml/2006/main">
              <a:ext uri="{FF2B5EF4-FFF2-40B4-BE49-F238E27FC236}">
                <a16:creationId xmlns:a16="http://schemas.microsoft.com/office/drawing/2014/main" id="{789577E7-105C-463D-AF2F-E779BDBF57B3}"/>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C4DB165-5B7A-4DE0-B92B-4620C9F1A1DD}"/>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A43E4A87-1692-4460-B5E2-B12EC18A0D11}"/>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8611DDB5-74CD-42FA-83EB-BFB36F227A6B}"/>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Deploy behind a health check with logs, budgets, resource limits, and documented rollback.</a:t>
            </a:r>
          </a:p>
        </p:txBody>
      </p:sp>
      <p:sp>
        <p:nvSpPr>
          <p:cNvPr id="21" name="">
            <a:extLst xmlns:a="http://schemas.openxmlformats.org/drawingml/2006/main">
              <a:ext uri="{FF2B5EF4-FFF2-40B4-BE49-F238E27FC236}">
                <a16:creationId xmlns:a16="http://schemas.microsoft.com/office/drawing/2014/main" id="{B9642596-FBAD-4E73-B7D0-38DE67818166}"/>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398268461"/>
      </p:ext>
    </p:extLst>
  </p:cSld>
</p:sld>
</file>

<file path=ppt/slides/slide9.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89A7B0E-4900-49BA-BFFD-85D9CDB4263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A53D15E3-3E9C-4EBD-96EB-BE44989CC766}"/>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and Deploying Models</a:t>
            </a:r>
          </a:p>
        </p:txBody>
      </p:sp>
      <p:sp>
        <p:nvSpPr>
          <p:cNvPr id="3" name="">
            <a:extLst xmlns:a="http://schemas.openxmlformats.org/drawingml/2006/main">
              <a:ext uri="{FF2B5EF4-FFF2-40B4-BE49-F238E27FC236}">
                <a16:creationId xmlns:a16="http://schemas.microsoft.com/office/drawing/2014/main" id="{174D6144-878F-46A7-B3DC-104D43CF9966}"/>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09</a:t>
            </a:r>
          </a:p>
        </p:txBody>
      </p:sp>
      <p:sp>
        <p:nvSpPr>
          <p:cNvPr id="4" name="">
            <a:extLst xmlns:a="http://schemas.openxmlformats.org/drawingml/2006/main">
              <a:ext uri="{FF2B5EF4-FFF2-40B4-BE49-F238E27FC236}">
                <a16:creationId xmlns:a16="http://schemas.microsoft.com/office/drawing/2014/main" id="{18DE2193-69C5-4412-AB3E-5E89FEFB5FA8}"/>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0B2076C8-1180-4CB0-B5F3-F77F05639AFD}"/>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Notebook readiness map</a:t>
            </a:r>
          </a:p>
        </p:txBody>
      </p:sp>
      <p:sp>
        <p:nvSpPr>
          <p:cNvPr id="6" name="">
            <a:extLst xmlns:a="http://schemas.openxmlformats.org/drawingml/2006/main">
              <a:ext uri="{FF2B5EF4-FFF2-40B4-BE49-F238E27FC236}">
                <a16:creationId xmlns:a16="http://schemas.microsoft.com/office/drawing/2014/main" id="{AA772947-475E-4FEB-B78F-0B7E5F541CAF}"/>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006EF81C-5A4F-4554-B792-602256A44A87}"/>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C9EFDB-4CB6-4BE7-BE00-00B25EDD8044}"/>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HTTP and JSON</a:t>
            </a:r>
          </a:p>
        </p:txBody>
      </p:sp>
      <p:sp>
        <p:nvSpPr>
          <p:cNvPr id="9" name="">
            <a:extLst xmlns:a="http://schemas.openxmlformats.org/drawingml/2006/main">
              <a:ext uri="{FF2B5EF4-FFF2-40B4-BE49-F238E27FC236}">
                <a16:creationId xmlns:a16="http://schemas.microsoft.com/office/drawing/2014/main" id="{D0932E88-F308-40DA-BBBA-A5641A030F0E}"/>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C22BF101-D68F-49B4-BDDA-EA3566A2F2E3}"/>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FECB9228-1793-40E4-9A34-688A87578C1D}"/>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AFF7630-43A7-48B2-A8DD-72A8CB0B7FE9}"/>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FastAPI contracts</a:t>
            </a:r>
          </a:p>
        </p:txBody>
      </p:sp>
      <p:sp>
        <p:nvSpPr>
          <p:cNvPr id="13" name="">
            <a:extLst xmlns:a="http://schemas.openxmlformats.org/drawingml/2006/main">
              <a:ext uri="{FF2B5EF4-FFF2-40B4-BE49-F238E27FC236}">
                <a16:creationId xmlns:a16="http://schemas.microsoft.com/office/drawing/2014/main" id="{929FF296-8A4C-42C2-AD18-42E4A14BE544}"/>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8DFFFBFA-0CE7-40C3-B5F2-6E796F07176F}"/>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CB36B59B-E1C4-4CC9-A3DA-CBEE31BAE940}"/>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336CB19-C83F-42E9-A41F-06A83DA0D961}"/>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Docker containers</a:t>
            </a:r>
          </a:p>
        </p:txBody>
      </p:sp>
      <p:sp>
        <p:nvSpPr>
          <p:cNvPr id="17" name="">
            <a:extLst xmlns:a="http://schemas.openxmlformats.org/drawingml/2006/main">
              <a:ext uri="{FF2B5EF4-FFF2-40B4-BE49-F238E27FC236}">
                <a16:creationId xmlns:a16="http://schemas.microsoft.com/office/drawing/2014/main" id="{9A4CA21E-4D3F-46E9-8F2E-D7A62D7A6196}"/>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C6FE9BD1-0422-4405-BC25-00437D369304}"/>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ADC71649-0C1C-462C-9305-0B4CD73FEF46}"/>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3C448B9-5FEC-4A87-ACFD-00BA045CE9D4}"/>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AWS operations</a:t>
            </a:r>
          </a:p>
        </p:txBody>
      </p:sp>
      <p:sp>
        <p:nvSpPr>
          <p:cNvPr id="21" name="">
            <a:extLst xmlns:a="http://schemas.openxmlformats.org/drawingml/2006/main">
              <a:ext uri="{FF2B5EF4-FFF2-40B4-BE49-F238E27FC236}">
                <a16:creationId xmlns:a16="http://schemas.microsoft.com/office/drawing/2014/main" id="{FABBE6F5-24EE-4668-8FD7-D7FA587BC067}"/>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Use the concepts from this lesson to read and complete https://github.com/curiousily/AI-Bootcamp/blob/master/README.md.</a:t>
            </a:r>
          </a:p>
        </p:txBody>
      </p:sp>
    </p:spTree>
    <p:extLst>
      <p:ext uri="{BB962C8B-B14F-4D97-AF65-F5344CB8AC3E}">
        <p14:creationId xmlns:p14="http://schemas.microsoft.com/office/powerpoint/2010/main" val="1200495736"/>
      </p:ext>
    </p:extLst>
  </p:cSld>
</p:sld>
</file>

<file path=ppt/slides/slide10.xml><?xml version="1.0" encoding="utf-8"?>
<p:sld xmlns:p="http://schemas.openxmlformats.org/presentationml/2006/main">
  <p:cSld>
    <p:bg>
      <p:bgPr>
        <a:solidFill xmlns:a="http://schemas.openxmlformats.org/drawingml/2006/main">
          <a:srgbClr val="FF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55D9F9-09D7-43F7-9007-EEFC0692196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M11 / L01</a:t>
            </a:r>
          </a:p>
        </p:txBody>
      </p:sp>
      <p:sp>
        <p:nvSpPr>
          <p:cNvPr id="2" name="">
            <a:extLst xmlns:a="http://schemas.openxmlformats.org/drawingml/2006/main">
              <a:ext uri="{FF2B5EF4-FFF2-40B4-BE49-F238E27FC236}">
                <a16:creationId xmlns:a16="http://schemas.microsoft.com/office/drawing/2014/main" id="{7909DEB0-9813-4652-BF8F-9E74E440C396}"/>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Serving and Deploying Models</a:t>
            </a:r>
          </a:p>
        </p:txBody>
      </p:sp>
      <p:sp>
        <p:nvSpPr>
          <p:cNvPr id="3" name="">
            <a:extLst xmlns:a="http://schemas.openxmlformats.org/drawingml/2006/main">
              <a:ext uri="{FF2B5EF4-FFF2-40B4-BE49-F238E27FC236}">
                <a16:creationId xmlns:a16="http://schemas.microsoft.com/office/drawing/2014/main" id="{21E2B9C4-2496-453A-A659-DE88DCCC76A0}"/>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52964F62-CDB7-460B-B08E-CD4C90A83691}"/>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RISK REVIEW</a:t>
            </a:r>
          </a:p>
        </p:txBody>
      </p:sp>
      <p:sp>
        <p:nvSpPr>
          <p:cNvPr id="5" name="">
            <a:extLst xmlns:a="http://schemas.openxmlformats.org/drawingml/2006/main">
              <a:ext uri="{FF2B5EF4-FFF2-40B4-BE49-F238E27FC236}">
                <a16:creationId xmlns:a16="http://schemas.microsoft.com/office/drawing/2014/main" id="{9C41622A-9407-4E89-96B7-419D927037B6}"/>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Common beginner mistakes</a:t>
            </a:r>
          </a:p>
        </p:txBody>
      </p:sp>
      <p:sp>
        <p:nvSpPr>
          <p:cNvPr id="6" name="">
            <a:extLst xmlns:a="http://schemas.openxmlformats.org/drawingml/2006/main">
              <a:ext uri="{FF2B5EF4-FFF2-40B4-BE49-F238E27FC236}">
                <a16:creationId xmlns:a16="http://schemas.microsoft.com/office/drawing/2014/main" id="{8087C34F-D672-4D0D-9E09-E8902A55CB0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956B24-17AA-4A89-98BF-2348632777A3}"/>
              </a:ext>
            </a:extLst>
          </p:cNvPr>
          <p:cNvSpPr>
            <a:spLocks xmlns:a="http://schemas.openxmlformats.org/drawingml/2006/main" noGrp="1"/>
          </p:cNvSpPr>
          <p:nvPr/>
        </p:nvSpPr>
        <p:spPr>
          <a:xfrm xmlns:a="http://schemas.openxmlformats.org/drawingml/2006/main">
            <a:off x="704850" y="18669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01</a:t>
            </a:r>
          </a:p>
        </p:txBody>
      </p:sp>
      <p:sp>
        <p:nvSpPr>
          <p:cNvPr id="8" name="">
            <a:extLst xmlns:a="http://schemas.openxmlformats.org/drawingml/2006/main">
              <a:ext uri="{FF2B5EF4-FFF2-40B4-BE49-F238E27FC236}">
                <a16:creationId xmlns:a16="http://schemas.microsoft.com/office/drawing/2014/main" id="{6AA00457-36FE-4773-A5EF-77CF60B6C7C7}"/>
              </a:ext>
            </a:extLst>
          </p:cNvPr>
          <p:cNvSpPr>
            <a:spLocks xmlns:a="http://schemas.openxmlformats.org/drawingml/2006/main" noGrp="1"/>
          </p:cNvSpPr>
          <p:nvPr/>
        </p:nvSpPr>
        <p:spPr>
          <a:xfrm xmlns:a="http://schemas.openxmlformats.org/drawingml/2006/main">
            <a:off x="1809750" y="17907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Accepting malformed input and passing it to the model.</a:t>
            </a:r>
          </a:p>
        </p:txBody>
      </p:sp>
      <p:sp>
        <p:nvSpPr>
          <p:cNvPr id="9" name="">
            <a:extLst xmlns:a="http://schemas.openxmlformats.org/drawingml/2006/main">
              <a:ext uri="{FF2B5EF4-FFF2-40B4-BE49-F238E27FC236}">
                <a16:creationId xmlns:a16="http://schemas.microsoft.com/office/drawing/2014/main" id="{291509B5-02F1-4A08-9893-B6A7CAAE1DEF}"/>
              </a:ext>
            </a:extLst>
          </p:cNvPr>
          <p:cNvSpPr>
            <a:spLocks xmlns:a="http://schemas.openxmlformats.org/drawingml/2006/main" noGrp="1"/>
          </p:cNvSpPr>
          <p:nvPr/>
        </p:nvSpPr>
        <p:spPr>
          <a:xfrm xmlns:a="http://schemas.openxmlformats.org/drawingml/2006/main">
            <a:off x="704850" y="28670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607E48-CB85-46D4-B2FD-139166CE0589}"/>
              </a:ext>
            </a:extLst>
          </p:cNvPr>
          <p:cNvSpPr>
            <a:spLocks xmlns:a="http://schemas.openxmlformats.org/drawingml/2006/main" noGrp="1"/>
          </p:cNvSpPr>
          <p:nvPr/>
        </p:nvSpPr>
        <p:spPr>
          <a:xfrm xmlns:a="http://schemas.openxmlformats.org/drawingml/2006/main">
            <a:off x="704850" y="32766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02</a:t>
            </a:r>
          </a:p>
        </p:txBody>
      </p:sp>
      <p:sp>
        <p:nvSpPr>
          <p:cNvPr id="11" name="">
            <a:extLst xmlns:a="http://schemas.openxmlformats.org/drawingml/2006/main">
              <a:ext uri="{FF2B5EF4-FFF2-40B4-BE49-F238E27FC236}">
                <a16:creationId xmlns:a16="http://schemas.microsoft.com/office/drawing/2014/main" id="{E437E4B2-69CB-4AEE-A095-BDA868A88A6F}"/>
              </a:ext>
            </a:extLst>
          </p:cNvPr>
          <p:cNvSpPr>
            <a:spLocks xmlns:a="http://schemas.openxmlformats.org/drawingml/2006/main" noGrp="1"/>
          </p:cNvSpPr>
          <p:nvPr/>
        </p:nvSpPr>
        <p:spPr>
          <a:xfrm xmlns:a="http://schemas.openxmlformats.org/drawingml/2006/main">
            <a:off x="1809750" y="32004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Opening cloud ports broadly or omitting cost limits.</a:t>
            </a:r>
          </a:p>
        </p:txBody>
      </p:sp>
      <p:sp>
        <p:nvSpPr>
          <p:cNvPr id="12" name="">
            <a:extLst xmlns:a="http://schemas.openxmlformats.org/drawingml/2006/main">
              <a:ext uri="{FF2B5EF4-FFF2-40B4-BE49-F238E27FC236}">
                <a16:creationId xmlns:a16="http://schemas.microsoft.com/office/drawing/2014/main" id="{8EA59AF1-4F72-4A05-BB41-39C388CA642B}"/>
              </a:ext>
            </a:extLst>
          </p:cNvPr>
          <p:cNvSpPr>
            <a:spLocks xmlns:a="http://schemas.openxmlformats.org/drawingml/2006/main" noGrp="1"/>
          </p:cNvSpPr>
          <p:nvPr/>
        </p:nvSpPr>
        <p:spPr>
          <a:xfrm xmlns:a="http://schemas.openxmlformats.org/drawingml/2006/main">
            <a:off x="704850" y="42767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Tree>
    <p:extLst>
      <p:ext uri="{BB962C8B-B14F-4D97-AF65-F5344CB8AC3E}">
        <p14:creationId xmlns:p14="http://schemas.microsoft.com/office/powerpoint/2010/main" val="570061477"/>
      </p:ext>
    </p:extLst>
  </p:cSld>
</p:sld>
</file>

<file path=ppt/slides/slide1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658530F-D871-45F2-A60E-E9469EA43D2E}"/>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1AC1E03C-87B6-4882-BDC2-034761A11C4D}"/>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and Deploying Models</a:t>
            </a:r>
          </a:p>
        </p:txBody>
      </p:sp>
      <p:sp>
        <p:nvSpPr>
          <p:cNvPr id="3" name="">
            <a:extLst xmlns:a="http://schemas.openxmlformats.org/drawingml/2006/main">
              <a:ext uri="{FF2B5EF4-FFF2-40B4-BE49-F238E27FC236}">
                <a16:creationId xmlns:a16="http://schemas.microsoft.com/office/drawing/2014/main" id="{A4830779-2969-4195-B598-419F1804CF61}"/>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11</a:t>
            </a:r>
          </a:p>
        </p:txBody>
      </p:sp>
      <p:sp>
        <p:nvSpPr>
          <p:cNvPr id="4" name="">
            <a:extLst xmlns:a="http://schemas.openxmlformats.org/drawingml/2006/main">
              <a:ext uri="{FF2B5EF4-FFF2-40B4-BE49-F238E27FC236}">
                <a16:creationId xmlns:a16="http://schemas.microsoft.com/office/drawing/2014/main" id="{DCF3935A-9B6B-4664-A6D9-BAF8A74CA439}"/>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A316096E-4704-4FBC-A3FA-D0351B81239A}"/>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75" b="1">
                <a:solidFill>
                  <a:srgbClr val="FFFFFF"/>
                </a:solidFill>
              </a:defRPr>
            </a:pPr>
            <a:r>
              <a:rPr sz="2775" b="1">
                <a:solidFill>
                  <a:srgbClr val="FFFFFF"/>
                </a:solidFill>
              </a:rPr>
              <a:t>Expose a model through FastAPI, containerize it, add health checks, and document a minimal free-tier EC2 deployment.</a:t>
            </a:r>
          </a:p>
        </p:txBody>
      </p:sp>
      <p:sp>
        <p:nvSpPr>
          <p:cNvPr id="6" name="">
            <a:extLst xmlns:a="http://schemas.openxmlformats.org/drawingml/2006/main">
              <a:ext uri="{FF2B5EF4-FFF2-40B4-BE49-F238E27FC236}">
                <a16:creationId xmlns:a16="http://schemas.microsoft.com/office/drawing/2014/main" id="{41DDFE38-9BCD-4556-B7E8-44F21FD0D92B}"/>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97F60238-BF79-479D-AB7F-E47CFD6885F0}"/>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F783EE9-3BA2-41A7-BC8B-467856B96172}"/>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Predict</a:t>
            </a:r>
          </a:p>
        </p:txBody>
      </p:sp>
      <p:sp>
        <p:nvSpPr>
          <p:cNvPr id="9" name="">
            <a:extLst xmlns:a="http://schemas.openxmlformats.org/drawingml/2006/main">
              <a:ext uri="{FF2B5EF4-FFF2-40B4-BE49-F238E27FC236}">
                <a16:creationId xmlns:a16="http://schemas.microsoft.com/office/drawing/2014/main" id="{8EFABC20-FEBB-4E23-9E3F-6F32C287FF79}"/>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D1178144-8F9F-4B53-997E-98419A3ADA24}"/>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6780C55-4280-490B-BEEA-817A27707973}"/>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Run</a:t>
            </a:r>
          </a:p>
        </p:txBody>
      </p:sp>
      <p:sp>
        <p:nvSpPr>
          <p:cNvPr id="12" name="">
            <a:extLst xmlns:a="http://schemas.openxmlformats.org/drawingml/2006/main">
              <a:ext uri="{FF2B5EF4-FFF2-40B4-BE49-F238E27FC236}">
                <a16:creationId xmlns:a16="http://schemas.microsoft.com/office/drawing/2014/main" id="{62AD1C70-28E5-4DE5-94B3-FE9CC9C6D4C6}"/>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13F309B4-3BD7-4334-BB7E-6ADB7194DC77}"/>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5363366-09F6-4B19-B42C-55FD3FA92DD9}"/>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Inspect</a:t>
            </a:r>
          </a:p>
        </p:txBody>
      </p:sp>
      <p:sp>
        <p:nvSpPr>
          <p:cNvPr id="15" name="">
            <a:extLst xmlns:a="http://schemas.openxmlformats.org/drawingml/2006/main">
              <a:ext uri="{FF2B5EF4-FFF2-40B4-BE49-F238E27FC236}">
                <a16:creationId xmlns:a16="http://schemas.microsoft.com/office/drawing/2014/main" id="{B58C5FDA-9A5B-4857-9205-8267A0200254}"/>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4F7263C1-35E3-4F1F-AF09-6370F14EF871}"/>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98AF852-47BE-4D2C-8EDC-ACB58060C716}"/>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Explain</a:t>
            </a:r>
          </a:p>
        </p:txBody>
      </p:sp>
    </p:spTree>
    <p:extLst>
      <p:ext uri="{BB962C8B-B14F-4D97-AF65-F5344CB8AC3E}">
        <p14:creationId xmlns:p14="http://schemas.microsoft.com/office/powerpoint/2010/main" val="374791816"/>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C401B32-BBB7-4599-84EA-5124DA34C8AE}"/>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M11 / L01</a:t>
            </a:r>
          </a:p>
        </p:txBody>
      </p:sp>
      <p:sp>
        <p:nvSpPr>
          <p:cNvPr id="2" name="">
            <a:extLst xmlns:a="http://schemas.openxmlformats.org/drawingml/2006/main">
              <a:ext uri="{FF2B5EF4-FFF2-40B4-BE49-F238E27FC236}">
                <a16:creationId xmlns:a16="http://schemas.microsoft.com/office/drawing/2014/main" id="{7FEB96EE-53B0-40CB-8CA8-A65A33F8243F}"/>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Serving and Deploying Models</a:t>
            </a:r>
          </a:p>
        </p:txBody>
      </p:sp>
      <p:sp>
        <p:nvSpPr>
          <p:cNvPr id="3" name="">
            <a:extLst xmlns:a="http://schemas.openxmlformats.org/drawingml/2006/main">
              <a:ext uri="{FF2B5EF4-FFF2-40B4-BE49-F238E27FC236}">
                <a16:creationId xmlns:a16="http://schemas.microsoft.com/office/drawing/2014/main" id="{79F349F8-D588-4887-8734-B373AC44E1B1}"/>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9C02E284-2B69-4DD5-B805-3D75F0907221}"/>
              </a:ext>
            </a:extLst>
          </p:cNvPr>
          <p:cNvSpPr>
            <a:spLocks xmlns:a="http://schemas.openxmlformats.org/drawingml/2006/main" noGrp="1"/>
          </p:cNvSpPr>
          <p:nvPr/>
        </p:nvSpPr>
        <p:spPr>
          <a:xfrm xmlns:a="http://schemas.openxmlformats.org/drawingml/2006/main">
            <a:off x="609600" y="8382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SESSION SYNTHESIS</a:t>
            </a:r>
          </a:p>
        </p:txBody>
      </p:sp>
      <p:sp>
        <p:nvSpPr>
          <p:cNvPr id="5" name="">
            <a:extLst xmlns:a="http://schemas.openxmlformats.org/drawingml/2006/main">
              <a:ext uri="{FF2B5EF4-FFF2-40B4-BE49-F238E27FC236}">
                <a16:creationId xmlns:a16="http://schemas.microsoft.com/office/drawing/2014/main" id="{A8E4D8EF-D9E3-440E-A0F1-DEE50CD9CFE3}"/>
              </a:ext>
            </a:extLst>
          </p:cNvPr>
          <p:cNvSpPr>
            <a:spLocks xmlns:a="http://schemas.openxmlformats.org/drawingml/2006/main" noGrp="1"/>
          </p:cNvSpPr>
          <p:nvPr/>
        </p:nvSpPr>
        <p:spPr>
          <a:xfrm xmlns:a="http://schemas.openxmlformats.org/drawingml/2006/main">
            <a:off x="609600" y="12954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Keep the system, not isolated definitions.</a:t>
            </a:r>
          </a:p>
        </p:txBody>
      </p:sp>
      <p:sp>
        <p:nvSpPr>
          <p:cNvPr id="6" name="">
            <a:extLst xmlns:a="http://schemas.openxmlformats.org/drawingml/2006/main">
              <a:ext uri="{FF2B5EF4-FFF2-40B4-BE49-F238E27FC236}">
                <a16:creationId xmlns:a16="http://schemas.microsoft.com/office/drawing/2014/main" id="{4082AB87-3788-4B49-B946-40460FD75F2C}"/>
              </a:ext>
            </a:extLst>
          </p:cNvPr>
          <p:cNvSpPr>
            <a:spLocks xmlns:a="http://schemas.openxmlformats.org/drawingml/2006/main" noGrp="1"/>
          </p:cNvSpPr>
          <p:nvPr/>
        </p:nvSpPr>
        <p:spPr>
          <a:xfrm xmlns:a="http://schemas.openxmlformats.org/drawingml/2006/main">
            <a:off x="628650" y="25336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4D510A2A-E42F-4B0B-8EC2-C6E632BFD50C}"/>
              </a:ext>
            </a:extLst>
          </p:cNvPr>
          <p:cNvSpPr>
            <a:spLocks xmlns:a="http://schemas.openxmlformats.org/drawingml/2006/main" noGrp="1"/>
          </p:cNvSpPr>
          <p:nvPr/>
        </p:nvSpPr>
        <p:spPr>
          <a:xfrm xmlns:a="http://schemas.openxmlformats.org/drawingml/2006/main">
            <a:off x="1409700" y="24860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Explain HTTP and JSON in plain language.</a:t>
            </a:r>
          </a:p>
        </p:txBody>
      </p:sp>
      <p:sp>
        <p:nvSpPr>
          <p:cNvPr id="8" name="">
            <a:extLst xmlns:a="http://schemas.openxmlformats.org/drawingml/2006/main">
              <a:ext uri="{FF2B5EF4-FFF2-40B4-BE49-F238E27FC236}">
                <a16:creationId xmlns:a16="http://schemas.microsoft.com/office/drawing/2014/main" id="{58B9A9DB-0D42-4949-BDAC-7E87AFD729CE}"/>
              </a:ext>
            </a:extLst>
          </p:cNvPr>
          <p:cNvSpPr>
            <a:spLocks xmlns:a="http://schemas.openxmlformats.org/drawingml/2006/main" noGrp="1"/>
          </p:cNvSpPr>
          <p:nvPr/>
        </p:nvSpPr>
        <p:spPr>
          <a:xfrm xmlns:a="http://schemas.openxmlformats.org/drawingml/2006/main">
            <a:off x="628650" y="33528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9" name="">
            <a:extLst xmlns:a="http://schemas.openxmlformats.org/drawingml/2006/main">
              <a:ext uri="{FF2B5EF4-FFF2-40B4-BE49-F238E27FC236}">
                <a16:creationId xmlns:a16="http://schemas.microsoft.com/office/drawing/2014/main" id="{A2B26D77-8693-425F-A7B7-40CD21451695}"/>
              </a:ext>
            </a:extLst>
          </p:cNvPr>
          <p:cNvSpPr>
            <a:spLocks xmlns:a="http://schemas.openxmlformats.org/drawingml/2006/main" noGrp="1"/>
          </p:cNvSpPr>
          <p:nvPr/>
        </p:nvSpPr>
        <p:spPr>
          <a:xfrm xmlns:a="http://schemas.openxmlformats.org/drawingml/2006/main">
            <a:off x="1409700" y="330517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Use FastAPI contracts in a small worked example.</a:t>
            </a:r>
          </a:p>
        </p:txBody>
      </p:sp>
      <p:sp>
        <p:nvSpPr>
          <p:cNvPr id="10" name="">
            <a:extLst xmlns:a="http://schemas.openxmlformats.org/drawingml/2006/main">
              <a:ext uri="{FF2B5EF4-FFF2-40B4-BE49-F238E27FC236}">
                <a16:creationId xmlns:a16="http://schemas.microsoft.com/office/drawing/2014/main" id="{AC4EC2F3-109F-4D93-BBA5-A3E85CFF0EDE}"/>
              </a:ext>
            </a:extLst>
          </p:cNvPr>
          <p:cNvSpPr>
            <a:spLocks xmlns:a="http://schemas.openxmlformats.org/drawingml/2006/main" noGrp="1"/>
          </p:cNvSpPr>
          <p:nvPr/>
        </p:nvSpPr>
        <p:spPr>
          <a:xfrm xmlns:a="http://schemas.openxmlformats.org/drawingml/2006/main">
            <a:off x="628650" y="4171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1" name="">
            <a:extLst xmlns:a="http://schemas.openxmlformats.org/drawingml/2006/main">
              <a:ext uri="{FF2B5EF4-FFF2-40B4-BE49-F238E27FC236}">
                <a16:creationId xmlns:a16="http://schemas.microsoft.com/office/drawing/2014/main" id="{CD4E37EC-6D8D-45EC-A7D6-3D7D97FFE63C}"/>
              </a:ext>
            </a:extLst>
          </p:cNvPr>
          <p:cNvSpPr>
            <a:spLocks xmlns:a="http://schemas.openxmlformats.org/drawingml/2006/main" noGrp="1"/>
          </p:cNvSpPr>
          <p:nvPr/>
        </p:nvSpPr>
        <p:spPr>
          <a:xfrm xmlns:a="http://schemas.openxmlformats.org/drawingml/2006/main">
            <a:off x="1409700" y="41243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Complete the guided lab and verify AWS operations.</a:t>
            </a:r>
          </a:p>
        </p:txBody>
      </p:sp>
      <p:sp>
        <p:nvSpPr>
          <p:cNvPr id="12" name="">
            <a:extLst xmlns:a="http://schemas.openxmlformats.org/drawingml/2006/main">
              <a:ext uri="{FF2B5EF4-FFF2-40B4-BE49-F238E27FC236}">
                <a16:creationId xmlns:a16="http://schemas.microsoft.com/office/drawing/2014/main" id="{B33B6EB9-4360-4A0C-9D1D-A6BA82B257F9}"/>
              </a:ext>
            </a:extLst>
          </p:cNvPr>
          <p:cNvSpPr>
            <a:spLocks xmlns:a="http://schemas.openxmlformats.org/drawingml/2006/main" noGrp="1"/>
          </p:cNvSpPr>
          <p:nvPr/>
        </p:nvSpPr>
        <p:spPr>
          <a:xfrm xmlns:a="http://schemas.openxmlformats.org/drawingml/2006/main">
            <a:off x="7239000" y="2724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06B5F"/>
                </a:solidFill>
              </a:defRPr>
            </a:pPr>
            <a:r>
              <a:rPr sz="900" b="1">
                <a:solidFill>
                  <a:srgbClr val="F06B5F"/>
                </a:solidFill>
              </a:rPr>
              <a:t>NEXT EVIDENCE</a:t>
            </a:r>
          </a:p>
        </p:txBody>
      </p:sp>
      <p:sp>
        <p:nvSpPr>
          <p:cNvPr id="13" name="">
            <a:extLst xmlns:a="http://schemas.openxmlformats.org/drawingml/2006/main">
              <a:ext uri="{FF2B5EF4-FFF2-40B4-BE49-F238E27FC236}">
                <a16:creationId xmlns:a16="http://schemas.microsoft.com/office/drawing/2014/main" id="{1F9B8391-12BE-456E-A504-29C53BA448A3}"/>
              </a:ext>
            </a:extLst>
          </p:cNvPr>
          <p:cNvSpPr>
            <a:spLocks xmlns:a="http://schemas.openxmlformats.org/drawingml/2006/main" noGrp="1"/>
          </p:cNvSpPr>
          <p:nvPr/>
        </p:nvSpPr>
        <p:spPr>
          <a:xfrm xmlns:a="http://schemas.openxmlformats.org/drawingml/2006/main">
            <a:off x="7239000" y="3200400"/>
            <a:ext cx="4095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A tested API, Docker image, deployment runbook, health endpoint, logs, budget alert, and rollback steps.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088f988dcf647b6"/>
          <a:stretch xmlns:a="http://schemas.openxmlformats.org/drawingml/2006/main"/>
        </p:blipFill>
        <p:spPr>
          <a:xfrm xmlns:a="http://schemas.openxmlformats.org/drawingml/2006/main">
            <a:off x="9791700" y="5905500"/>
            <a:ext cx="1371600" cy="457200"/>
          </a:xfrm>
          <a:prstGeom xmlns:a="http://schemas.openxmlformats.org/drawingml/2006/main" prst="rect">
            <a:avLst/>
          </a:prstGeom>
        </p:spPr>
      </p:pic>
    </p:spTree>
    <p:extLst>
      <p:ext uri="{BB962C8B-B14F-4D97-AF65-F5344CB8AC3E}">
        <p14:creationId xmlns:p14="http://schemas.microsoft.com/office/powerpoint/2010/main" val="6456810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2026-07-28T16:53:16.9480000Z</dcterms:created>
  <dcterms:modified xsi:type="dcterms:W3CDTF">2026-07-28T16:53:16.9480000Z</dcterms:modified>
</coreProperties>
</file>