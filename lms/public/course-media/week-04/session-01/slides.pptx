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ced412781b4b99" /><Relationship Type="http://schemas.openxmlformats.org/officeDocument/2006/relationships/extended-properties" Target="/docProps/app.xml" Id="R2d1c3ead44984345" /><Relationship Type="http://schemas.openxmlformats.org/officeDocument/2006/relationships/officeDocument" Target="/ppt/presentation.xml" Id="R2be80f939ed347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be64e5f721421c"/>
  </p:sldMasterIdLst>
  <p:notesMasterIdLst>
    <p:notesMasterId xmlns:r="http://schemas.openxmlformats.org/officeDocument/2006/relationships" r:id="Rdd27e03c64314a17"/>
  </p:notesMasterIdLst>
  <p:sldIdLst>
    <p:sldId xmlns:r="http://schemas.openxmlformats.org/officeDocument/2006/relationships" id="256" r:id="R11eab804a6234fa2"/>
    <p:sldId xmlns:r="http://schemas.openxmlformats.org/officeDocument/2006/relationships" id="257" r:id="R4d72d8d71f9d43f7"/>
    <p:sldId xmlns:r="http://schemas.openxmlformats.org/officeDocument/2006/relationships" id="258" r:id="Rcd5f4af57de94c0b"/>
    <p:sldId xmlns:r="http://schemas.openxmlformats.org/officeDocument/2006/relationships" id="259" r:id="R55f10b02a6304cba"/>
    <p:sldId xmlns:r="http://schemas.openxmlformats.org/officeDocument/2006/relationships" id="260" r:id="R20747bc0e9654e69"/>
    <p:sldId xmlns:r="http://schemas.openxmlformats.org/officeDocument/2006/relationships" id="261" r:id="R6a3e1c2c10be4a44"/>
    <p:sldId xmlns:r="http://schemas.openxmlformats.org/officeDocument/2006/relationships" id="262" r:id="R9ebab528c89d4f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9d660138bc4589" /><Relationship Type="http://schemas.openxmlformats.org/officeDocument/2006/relationships/slideMaster" Target="/ppt/slideMasters/slideMaster1.xml" Id="Rf3be64e5f721421c" /><Relationship Type="http://schemas.openxmlformats.org/officeDocument/2006/relationships/notesMaster" Target="/ppt/notesMasters/notesMaster1.xml" Id="Rdd27e03c64314a17" /><Relationship Type="http://schemas.openxmlformats.org/officeDocument/2006/relationships/presProps" Target="/ppt/presProps.xml" Id="R4e38b31bdac645b5" /><Relationship Type="http://schemas.openxmlformats.org/officeDocument/2006/relationships/tableStyles" Target="/ppt/tableStyles.xml" Id="Re6060e4f9e074650" /><Relationship Type="http://schemas.openxmlformats.org/officeDocument/2006/relationships/slide" Target="/ppt/slides/slide1.xml" Id="R11eab804a6234fa2" /><Relationship Type="http://schemas.openxmlformats.org/officeDocument/2006/relationships/slide" Target="/ppt/slides/slide2.xml" Id="R4d72d8d71f9d43f7" /><Relationship Type="http://schemas.openxmlformats.org/officeDocument/2006/relationships/slide" Target="/ppt/slides/slide3.xml" Id="Rcd5f4af57de94c0b" /><Relationship Type="http://schemas.openxmlformats.org/officeDocument/2006/relationships/slide" Target="/ppt/slides/slide4.xml" Id="R55f10b02a6304cba" /><Relationship Type="http://schemas.openxmlformats.org/officeDocument/2006/relationships/slide" Target="/ppt/slides/slide5.xml" Id="R20747bc0e9654e69" /><Relationship Type="http://schemas.openxmlformats.org/officeDocument/2006/relationships/slide" Target="/ppt/slides/slide6.xml" Id="R6a3e1c2c10be4a44" /><Relationship Type="http://schemas.openxmlformats.org/officeDocument/2006/relationships/slide" Target="/ppt/slides/slide7.xml" Id="R9ebab528c89d4f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a10da9d7ed49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e4f1e29b0d4f69" /><Relationship Type="http://schemas.openxmlformats.org/officeDocument/2006/relationships/notesMaster" Target="/ppt/notesMasters/notesMaster1.xml" Id="Rbe11fa47489a4a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bec695cac24d8c" /><Relationship Type="http://schemas.openxmlformats.org/officeDocument/2006/relationships/notesMaster" Target="/ppt/notesMasters/notesMaster1.xml" Id="R96133f23e4864a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6691b76b1546af" /><Relationship Type="http://schemas.openxmlformats.org/officeDocument/2006/relationships/notesMaster" Target="/ppt/notesMasters/notesMaster1.xml" Id="Rd358f9138a3a43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139d89dc464f06" /><Relationship Type="http://schemas.openxmlformats.org/officeDocument/2006/relationships/notesMaster" Target="/ppt/notesMasters/notesMaster1.xml" Id="R17c8bc4ac54b42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2dd56708d54640" /><Relationship Type="http://schemas.openxmlformats.org/officeDocument/2006/relationships/notesMaster" Target="/ppt/notesMasters/notesMaster1.xml" Id="R1013c6d4513843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447e7ffe9f4e35" /><Relationship Type="http://schemas.openxmlformats.org/officeDocument/2006/relationships/notesMaster" Target="/ppt/notesMasters/notesMaster1.xml" Id="R2603ef773a0f49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089bc0dd1d448c" /><Relationship Type="http://schemas.openxmlformats.org/officeDocument/2006/relationships/notesMaster" Target="/ppt/notesMasters/notesMaster1.xml" Id="Rf735ae9dec294c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feature is a claim about information available when prediction occurs. We check timestamps and process boundaries so the model cannot learn from the future.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4, session 1: Feature Engineering by Data Type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Transform numeric, categorical, temporal, and text fields. Recognize target leakage. Compare engineered features against a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Feature Engineering by Data Type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encoding, scaling, time features, leakage.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Feature Engineering by Data Type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Feature Engineering by Data Type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Feature Engineering by Data Type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feature dictionary with rationale and leakage review.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feature is a claim about information available when prediction occurs. We check timestamps and process boundaries so the model cannot learn from the future.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Feature Engineering by Data Type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72df7182044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a25ef23c154e44" /><Relationship Type="http://schemas.openxmlformats.org/officeDocument/2006/relationships/slideLayout" Target="/ppt/slideLayouts/slideLayout1.xml" Id="Rbbb110939e6e4a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b110939e6e4a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249bcdf324b73" /><Relationship Type="http://schemas.openxmlformats.org/officeDocument/2006/relationships/image" Target="/ppt/media/image.png" Id="Ra4cf86cd22884c2c" /><Relationship Type="http://schemas.openxmlformats.org/officeDocument/2006/relationships/image" Target="/ppt/media/image2.png" Id="Rad475246efe9458b" /><Relationship Type="http://schemas.openxmlformats.org/officeDocument/2006/relationships/notesSlide" Target="/ppt/notesSlides/notesSlide1.xml" Id="R9ac3ea717a4343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68f2a99c046ab" /><Relationship Type="http://schemas.openxmlformats.org/officeDocument/2006/relationships/notesSlide" Target="/ppt/notesSlides/notesSlide2.xml" Id="R3118c287117545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badb0c3554613" /><Relationship Type="http://schemas.openxmlformats.org/officeDocument/2006/relationships/notesSlide" Target="/ppt/notesSlides/notesSlide3.xml" Id="R1e47c70201204d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fa97a81c34b15" /><Relationship Type="http://schemas.openxmlformats.org/officeDocument/2006/relationships/notesSlide" Target="/ppt/notesSlides/notesSlide4.xml" Id="R36b032fa1b9745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9af5942fb4501" /><Relationship Type="http://schemas.openxmlformats.org/officeDocument/2006/relationships/notesSlide" Target="/ppt/notesSlides/notesSlide5.xml" Id="Rf34982213e2941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99c90e8624607" /><Relationship Type="http://schemas.openxmlformats.org/officeDocument/2006/relationships/notesSlide" Target="/ppt/notesSlides/notesSlide6.xml" Id="R983ec5b36f4c4a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e0150d7ec421d" /><Relationship Type="http://schemas.openxmlformats.org/officeDocument/2006/relationships/notesSlide" Target="/ppt/notesSlides/notesSlide7.xml" Id="Rd151c0a7325e43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257FA-1885-49B8-BCA2-A1540BCE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2EF02-97D6-4BE5-97E9-E4B88C4B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f86cd22884c2c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C07F8-518D-43F9-9273-BA76CF4D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04  ·  SESSION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9F1C4-4B8A-4B7D-8243-2D4C4508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Feature Engineering by Data 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050FB-9886-43F2-B7ED-926E62F7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21C6E-AEAA-4432-8AE2-EEFFCE9D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Encode domain knowledge without leaking information across model boundaries.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75246efe9458b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6056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27D18C-DCA2-44A5-95F5-00EABF1F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528E3-3F07-4E88-BC1F-842DDBE8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04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AEBBA-D54D-4671-B238-690163FD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6A5FB-E396-4BB6-A38B-DD14DA9C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51E09-F97D-4F6C-9A92-6F2E8ABF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5A9F4-7A2F-4BFC-810F-371BC510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5B07D-C9D1-4656-87FC-C3E9FC46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63E34-D112-41F9-9E58-0377E08F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Transform numeric, categorical, temporal, and text fields.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078B2-B5AA-4D2B-9BEF-77FF74A4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14987-CF01-477E-AD82-B780B98B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8D182-05DA-4095-A772-96D5F6B3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Recognize target leakage.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23CB4-D803-42CA-943D-748B95B8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391D2-AABB-4144-B304-95B6A3B5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8925C-269A-4D1C-A20B-B073ACB9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Compare engineered features against a baseline.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8226E-05AC-4962-9CFD-B28978AA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FCB3D-93ED-4623-A7C3-776547D4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839715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CF9EC7-8E57-48E4-BFCF-FCA45B48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8101E-D46E-45CF-B1EE-19BB6A1E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04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CF446-61EC-4B51-9AE1-606F1D7C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16721-4A87-4CD4-B830-8FA50FC6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5A319-E5E2-48E2-AC83-41F9D844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08A43-E546-4952-8C6E-E1A08998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3CAF6-9FFB-44C1-8229-743811DD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C4283-9C43-4AC0-A7B4-BBA42587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D7E10-5303-48BE-952F-2EE19397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encoding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15083-7BC5-4451-AFB7-1056D52F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44F7B-DF81-4524-8F3C-31B23E03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B6DB1-988B-484C-90C7-F0D73D0A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5D1BD-20F5-4271-980A-019B2155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scaling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CBE60-C87D-4CE7-90CF-C8540E2B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95261-034B-4537-960B-7FE47327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664D9-5079-4159-B68A-EFC9DE0C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62477-8856-4DEF-BF2C-0E7AA817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time 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D8AF3C-714D-468F-A66E-26898F64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D8E77-FC3F-48AF-A96D-490F1522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7B2E1-87E9-45DB-88ED-84754518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EEE4C-F77B-4075-BB40-CA322125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leakage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94BF1-33A0-440D-A04F-D5257888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E01E78-02E2-465E-8802-089610EC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68101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8087D-8F34-4B91-961D-C00C9601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1B612-8BF3-48BA-A0C2-B0EF33A9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21969-5362-471F-AFEA-E1D32E72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CAE4F-034D-4E05-A91E-0AD6F1DF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51990-62C6-4E19-BD33-ECB55F96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B10DE-91DF-44E9-948B-9D721647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A65C3-8869-4970-AC02-BDC285A7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CE819-60E0-42F2-9594-EA1072D2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AB710-F4D7-4AF8-943E-FA81F7ED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3F6C5-31A1-4A85-B5C9-B7FA875A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3E280-CC33-4240-B357-96FEACCC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7E081-4563-4990-A128-B409E94B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1ADA6-9DC5-451D-A80F-4B85E2B4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FEA75-36EF-414A-9C19-EA669D0C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2379F-3979-418B-B9DA-BBCAC0F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62792-727E-4478-A1B2-BDC46E41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25362-D5E4-49AA-AC63-D5240D73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2832D-5BE7-479E-8D31-BA2E581C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Engineer behavioral features for a churn prediction problem.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47641-D5F0-43F1-BBED-DD8ABF45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2483495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4F42E2-72E7-40F1-81AF-4A3873A5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43A51-D8CC-434C-A38A-D806BC4F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04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8E38D-148C-41F9-88E5-806ADD3E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7D7CD-6B37-4E68-A182-5894716F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D2C26-BC7E-4B83-8D0E-D6B8934E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88358-D467-41F4-864D-62957896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A8015-19BC-4016-85F1-626A0B83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76998-2B26-432D-BB41-BD19F189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Engineer behavioral features for a churn prediction problem.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58040-D87B-4E66-BB76-73DCC2B6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23DFF-8AF7-485B-BD8E-1821DC77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80E3F-2C6B-4C9B-A31A-ABDA7F67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6E953-F97A-4D41-A7C7-29D55A4A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04E36-291C-4C0A-9A26-C195724A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79FB0-7AF2-4AC7-B356-6E517DF4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21A05-3965-46E9-B358-C6CE0077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3ECB89-956F-4FFA-9362-3E3D53CD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7FEBE-3D83-4592-90E5-4A6F4DA6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A8A40-5F6A-40BA-BA35-4058433F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18E5E-DAE0-4B4D-B601-BBED2119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FF68FB-A621-4960-8A63-AC835040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95E7F-8B9F-47D4-828B-93252855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758149-32DE-43AA-95EB-2CE42087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E9E8E6-5351-4FFE-99DC-DC50B9E7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B69678-DC73-426E-B84A-F036DFE5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4A3B7F-A745-49DB-802B-65F8D091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44EA0A-26D7-4EC6-9BCD-D791BD38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809649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7DB3C-E48C-47B8-8DD4-F09371CC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C396D-AD3F-41F0-87EE-3606D49C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04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61A3F-C26C-4763-B6E0-4AB2AD64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DB2B3-216E-4BA9-8EA9-A8F4B020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EF116-027A-4A99-9B33-0F8167C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5C441-97A2-45EF-AFA4-D0B7C247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feature dictionary with rationale and leakage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680A6-5877-40DE-8881-277C7FD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2D61C-3E70-49FC-BA5B-2B0996D6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A4EC6-6446-4169-A275-75DA4287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9D2F43-3C41-4DE4-8BE9-A1BF2C24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E2CE8-BFCE-4A5B-B38B-1EF33C7E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9F78E-15C5-4B78-80F9-5E5C897C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16FF4-2685-4729-8CB2-3399EBDF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A4638-643F-4A9D-99CF-C6BFBC15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27F1B-ACC4-4F09-9214-FE96FA73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55463-AA7C-40DB-B1C4-5E21E002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Leakage-Safe Feature Pipeline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7025D-6F29-41C7-BA7B-643F5D8F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Boundary correctness 35%, rationale 25%, reproducibility 20%, tests 10%, explanation 10%.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83CA1D-A97C-4526-8579-6CD7D896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8559D2-E4FB-40DB-9141-D0765125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303007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0106B-AD67-46AB-AC7C-BBA06A25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E72A6-5315-4C1A-92D7-18A0D32C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23D9B-E918-4DC3-9A56-284662D3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EB359-1450-4650-A6A9-40FFA38C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04273-E2BF-400C-9DEC-CA42B2F5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encoding + scaling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05ED5-1AD0-487D-97BD-58381131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1917A-AF5F-4B7B-A021-922A172B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FA0A2-0ED7-4DBC-B91C-1CBB2929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Engineer behavioral features for a churn prediction problem.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180D17-DD30-4A93-B6FE-23A0B185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15310-F9D8-4228-A55B-F2A66A05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CEE3C-0BBF-4F07-A8A5-5FE3D8C6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feature dictionary with rationale and leakage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3AC23-0D10-46E5-979E-639EEEA5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AFA63-E66F-44F7-BCDC-19E6061C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9D09E-C6A7-4E00-8BC4-029AB9B1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B4C4C-52DD-4DBD-B41E-30FA6A90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16366198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2026-07-27T08:01:03.1230000Z</dcterms:created>
  <dcterms:modified xsi:type="dcterms:W3CDTF">2026-07-27T08:01:03.1230000Z</dcterms:modified>
</coreProperties>
</file>