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e87a77dbda4b76" /><Relationship Type="http://schemas.openxmlformats.org/officeDocument/2006/relationships/extended-properties" Target="/docProps/app.xml" Id="R14dba097fcff4644" /><Relationship Type="http://schemas.openxmlformats.org/officeDocument/2006/relationships/officeDocument" Target="/ppt/presentation.xml" Id="Rc066cea061ee41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ad0bb28c2544d5"/>
  </p:sldMasterIdLst>
  <p:notesMasterIdLst>
    <p:notesMasterId xmlns:r="http://schemas.openxmlformats.org/officeDocument/2006/relationships" r:id="R1ad986ad756548ea"/>
  </p:notesMasterIdLst>
  <p:sldIdLst>
    <p:sldId xmlns:r="http://schemas.openxmlformats.org/officeDocument/2006/relationships" id="256" r:id="Raecfa75fea4f48e3"/>
    <p:sldId xmlns:r="http://schemas.openxmlformats.org/officeDocument/2006/relationships" id="257" r:id="Ra9f9005e905d497a"/>
    <p:sldId xmlns:r="http://schemas.openxmlformats.org/officeDocument/2006/relationships" id="258" r:id="R0175041b8a2a4c29"/>
    <p:sldId xmlns:r="http://schemas.openxmlformats.org/officeDocument/2006/relationships" id="259" r:id="Rdfed3e0ce273436b"/>
    <p:sldId xmlns:r="http://schemas.openxmlformats.org/officeDocument/2006/relationships" id="260" r:id="Reb2ae714817e4a1d"/>
    <p:sldId xmlns:r="http://schemas.openxmlformats.org/officeDocument/2006/relationships" id="261" r:id="Rbf3ff681248745ac"/>
    <p:sldId xmlns:r="http://schemas.openxmlformats.org/officeDocument/2006/relationships" id="262" r:id="Red42eca5fb0e42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47613276f7484f" /><Relationship Type="http://schemas.openxmlformats.org/officeDocument/2006/relationships/slideMaster" Target="/ppt/slideMasters/slideMaster1.xml" Id="Ra3ad0bb28c2544d5" /><Relationship Type="http://schemas.openxmlformats.org/officeDocument/2006/relationships/notesMaster" Target="/ppt/notesMasters/notesMaster1.xml" Id="R1ad986ad756548ea" /><Relationship Type="http://schemas.openxmlformats.org/officeDocument/2006/relationships/presProps" Target="/ppt/presProps.xml" Id="Rbe42e3aa3326404a" /><Relationship Type="http://schemas.openxmlformats.org/officeDocument/2006/relationships/tableStyles" Target="/ppt/tableStyles.xml" Id="R9dd1c11afd1f4012" /><Relationship Type="http://schemas.openxmlformats.org/officeDocument/2006/relationships/slide" Target="/ppt/slides/slide1.xml" Id="Raecfa75fea4f48e3" /><Relationship Type="http://schemas.openxmlformats.org/officeDocument/2006/relationships/slide" Target="/ppt/slides/slide2.xml" Id="Ra9f9005e905d497a" /><Relationship Type="http://schemas.openxmlformats.org/officeDocument/2006/relationships/slide" Target="/ppt/slides/slide3.xml" Id="R0175041b8a2a4c29" /><Relationship Type="http://schemas.openxmlformats.org/officeDocument/2006/relationships/slide" Target="/ppt/slides/slide4.xml" Id="Rdfed3e0ce273436b" /><Relationship Type="http://schemas.openxmlformats.org/officeDocument/2006/relationships/slide" Target="/ppt/slides/slide5.xml" Id="Reb2ae714817e4a1d" /><Relationship Type="http://schemas.openxmlformats.org/officeDocument/2006/relationships/slide" Target="/ppt/slides/slide6.xml" Id="Rbf3ff681248745ac" /><Relationship Type="http://schemas.openxmlformats.org/officeDocument/2006/relationships/slide" Target="/ppt/slides/slide7.xml" Id="Red42eca5fb0e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6b55407a7e42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535d121e6d4e9e" /><Relationship Type="http://schemas.openxmlformats.org/officeDocument/2006/relationships/notesMaster" Target="/ppt/notesMasters/notesMaster1.xml" Id="R6dc7c3f6792e47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922ed9000d4120" /><Relationship Type="http://schemas.openxmlformats.org/officeDocument/2006/relationships/notesMaster" Target="/ppt/notesMasters/notesMaster1.xml" Id="Rd43e5581c0f84b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3812268e7e4ed8" /><Relationship Type="http://schemas.openxmlformats.org/officeDocument/2006/relationships/notesMaster" Target="/ppt/notesMasters/notesMaster1.xml" Id="Rc93c4ff641494a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49a72447794990" /><Relationship Type="http://schemas.openxmlformats.org/officeDocument/2006/relationships/notesMaster" Target="/ppt/notesMasters/notesMaster1.xml" Id="Rb1848e553eaa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3f6022e4f14363" /><Relationship Type="http://schemas.openxmlformats.org/officeDocument/2006/relationships/notesMaster" Target="/ppt/notesMasters/notesMaster1.xml" Id="Rc4117bbb37fc41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d0c352d8494313" /><Relationship Type="http://schemas.openxmlformats.org/officeDocument/2006/relationships/notesMaster" Target="/ppt/notesMasters/notesMaster1.xml" Id="Rd5fd4fb54c6645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cb6f8bcf8e48bd" /><Relationship Type="http://schemas.openxmlformats.org/officeDocument/2006/relationships/notesMaster" Target="/ppt/notesMasters/notesMaster1.xml" Id="R4a05517feead4f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metric matters when its errors connect to real consequences. We translate error types into costs, inspect important groups, and include uncertainty in the release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Week 6, session 2: Metrics, Error Analysis and Responsible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By the end of this session, learners should be able to Map metrics to operational costs. Analyze meaningful data segments. Report uncertainty and failure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Learning outcomes for Metrics, Error Analysis and Responsible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four concepts as a system rather than isolated vocabulary: metric choice, confidence, segments, failure modes.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Core concepts for Metrics, Error Analysis and Responsible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Apply the session content through a four-stage reasoning loop: define the question, transform deliberately, validate assumptions, and communicate the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DS Academy teaching framework applied to Metrics, Error Analysis and Responsible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learners through the lab without completing the reasoning for them. Ask for an explicit frame, a minimal implementation, boundary tests, and an evidence note.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Guided lab for Metrics, Error Analysis and Responsible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deliverable is A decision memo with metrics, slices, and a release recommendation. Use the weekly assessment rubric as a quality gate, not as an after-the-fact scoring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Portfolio deliverable and assessment rubric for week 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metric matters when its errors connect to real consequences. We translate error types into costs, inspect important groups, and include uncertainty in the release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DS Academy curriculum manifest: Session summary for Metrics, Error Analysis and Responsible Evaluation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decfbd262441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46cf5692e146a7" /><Relationship Type="http://schemas.openxmlformats.org/officeDocument/2006/relationships/slideLayout" Target="/ppt/slideLayouts/slideLayout1.xml" Id="R8587bfc22c074e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87bfc22c074e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ae03ac2d64bca" /><Relationship Type="http://schemas.openxmlformats.org/officeDocument/2006/relationships/image" Target="/ppt/media/image.png" Id="R38aea3b3c8164a47" /><Relationship Type="http://schemas.openxmlformats.org/officeDocument/2006/relationships/image" Target="/ppt/media/image2.png" Id="Rf0efb3c3823d4da4" /><Relationship Type="http://schemas.openxmlformats.org/officeDocument/2006/relationships/notesSlide" Target="/ppt/notesSlides/notesSlide1.xml" Id="Rddd5f5656c124b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92bf0dac5480f" /><Relationship Type="http://schemas.openxmlformats.org/officeDocument/2006/relationships/notesSlide" Target="/ppt/notesSlides/notesSlide2.xml" Id="R4ada881cdca24c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6ffff67194ecb" /><Relationship Type="http://schemas.openxmlformats.org/officeDocument/2006/relationships/notesSlide" Target="/ppt/notesSlides/notesSlide3.xml" Id="R47f8cbdf338a41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c4b2c32cb48ac" /><Relationship Type="http://schemas.openxmlformats.org/officeDocument/2006/relationships/notesSlide" Target="/ppt/notesSlides/notesSlide4.xml" Id="Rf25a6b31773645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f8b5289594a96" /><Relationship Type="http://schemas.openxmlformats.org/officeDocument/2006/relationships/notesSlide" Target="/ppt/notesSlides/notesSlide5.xml" Id="R8e5022764b3542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2af8bffa845a3" /><Relationship Type="http://schemas.openxmlformats.org/officeDocument/2006/relationships/notesSlide" Target="/ppt/notesSlides/notesSlide6.xml" Id="R5512c063a0eb40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6b64816a345d7" /><Relationship Type="http://schemas.openxmlformats.org/officeDocument/2006/relationships/notesSlide" Target="/ppt/notesSlides/notesSlide7.xml" Id="Rba04d04e808d46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633AA-2C2B-489B-B042-3626E7CE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145AA-8768-4F15-8E18-5D62C797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ea3b3c8164a47"/>
          <a:srcRect xmlns:a="http://schemas.openxmlformats.org/drawingml/2006/main" l="23736" t="0" r="237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0"/>
            <a:ext cx="64008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5587B-1C31-4F80-9C5F-79B2AF4F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6BDB"/>
                </a:solidFill>
              </a:defRPr>
            </a:pPr>
            <a:r>
              <a:rPr sz="1050" b="1">
                <a:solidFill>
                  <a:srgbClr val="176BDB"/>
                </a:solidFill>
              </a:rPr>
              <a:t>WEEK 06  ·  SESSION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A244D-5464-4CAB-986D-CFA253F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5148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72033"/>
                </a:solidFill>
              </a:defRPr>
            </a:pPr>
            <a:r>
              <a:rPr sz="3675" b="1">
                <a:solidFill>
                  <a:srgbClr val="172033"/>
                </a:solidFill>
              </a:rPr>
              <a:t>Metrics, Error Analysis and Responsible Evaluation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4AF8A-6625-43DD-9111-34ACC7E2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5E87C-E6D2-433F-B142-086A5E9F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8657A"/>
                </a:solidFill>
              </a:defRPr>
            </a:pPr>
            <a:r>
              <a:rPr sz="1575">
                <a:solidFill>
                  <a:srgbClr val="58657A"/>
                </a:solidFill>
              </a:rPr>
              <a:t>Make model decisions with valid boundaries and decision-aware metrics.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fb3c3823d4da4"/>
          <a:stretch xmlns:a="http://schemas.openxmlformats.org/drawingml/2006/main"/>
        </p:blipFill>
        <p:spPr>
          <a:xfrm xmlns:a="http://schemas.openxmlformats.org/drawingml/2006/main">
            <a:off x="666750" y="5810250"/>
            <a:ext cx="1714500" cy="57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5610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D2D76-828E-4B57-871A-A1BC6983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D1691-3F28-4184-89ED-9932EF14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BC8AF-29CC-417E-AB30-CED4236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Learning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78A81-553C-41EE-9F56-74A4699E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B4754D-3BB9-4E41-83C1-C89F3984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094B8-FCAA-4A76-A64D-9175FF45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592A8-8AE8-4E8C-8F7C-B07571E1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8097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F7A55-B521-46DE-8681-62B582B6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5335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Map metrics to operational costs.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97C2F-DBD7-4E36-8805-F6EBCC4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A7C9"/>
                </a:solidFill>
              </a:defRPr>
            </a:pPr>
            <a:r>
              <a:rPr sz="2700" b="1">
                <a:solidFill>
                  <a:srgbClr val="08A7C9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BBD257-9858-4F28-ACEA-C4A97129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23850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87798-C5E3-4E0F-A81A-8474DD61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622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Analyze meaningful data segments.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6D5C2-4769-4961-AACF-D80CE44A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800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6BDB"/>
                </a:solidFill>
              </a:defRPr>
            </a:pPr>
            <a:r>
              <a:rPr sz="2700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4891B-5292-4BBD-B2E1-3951098B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672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EEB5F-6502-434E-B2A5-1A46AC1A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39102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Report uncertainty and failure modes.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3A8D7-BA61-4819-83E3-23A5A098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633445-D0CE-4926-AA99-26375893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670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D8CDC-6AF6-41EA-9FD1-AEFEB7D2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44CC-4B8D-4E4B-81B8-F29AC2F4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9B008-3888-4976-AF94-8A553976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The concept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5FFD3-796D-4F10-9C35-A9A8D927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C5732-38A4-425F-8274-18506BFC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BC5B3-93EB-4649-A815-AC795B55D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99944-EB28-434E-9BC6-93077867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523A1-81E7-495E-B64B-CED6FD8E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21FE3-F104-45AC-B902-8B7E2866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metric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00BC31-3FD7-4CDB-963E-E86D5B3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9CF02-7617-42B9-B14E-A727611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3355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1E6F9-865F-458D-8354-169BD51B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7167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73126-C92E-455F-8285-E6229973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D8AFA-94D4-48F2-B35C-CE79274A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0A89D-C784-4FAE-8F2B-72A45EAE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747AC8-1AE9-4420-A6C9-1E046217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89780-8C6F-4999-9C92-2F6C8546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segments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55BCF-1324-40D8-9EB6-8CDC62AD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4762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34AF8-8E3E-423D-9FE7-22A7CF67C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00500"/>
            <a:ext cx="95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CA99E-3790-4B48-9BF6-60C651B8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657A"/>
                </a:solidFill>
              </a:defRPr>
            </a:pPr>
            <a:r>
              <a:rPr sz="1050" b="1">
                <a:solidFill>
                  <a:srgbClr val="58657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E6C82-6C50-4AAF-A2D1-5C7036DB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57725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failure modes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F780A-F622-45F6-93C9-A38E13E5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D239D2-386F-4417-82B9-33FDB5DE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2219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225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7B904-E8B4-4620-989D-C4D6AAD9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8A7C9"/>
                </a:solidFill>
              </a:defRPr>
            </a:pPr>
            <a:r>
              <a:rPr sz="975" b="1">
                <a:solidFill>
                  <a:srgbClr val="08A7C9"/>
                </a:solidFill>
              </a:rPr>
              <a:t>FROM QUESTION TO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C9A0D-BAC8-4491-BDFF-2C331273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 repeatable reasoning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0BC0A-47F0-4947-9CFA-CAFC097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76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E84D2-57E9-4BA9-B1A2-2D81CCAC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551C1-E1B6-4E68-AD97-8841A991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Define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836C9-2218-44AE-A1FF-9BAE5130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758E4-980A-44DF-A026-ADD81F92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4EF17-CE59-4D54-A8E1-74663EDF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E8EC8B-45D0-44FF-90B3-C8347750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7711-E7FB-415E-AB9D-F2854CEB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26288-6EF3-4839-8852-B9A79F94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7DAF2-38E8-4786-BE37-1DC272D7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8657A"/>
                </a:solidFill>
              </a:defRPr>
            </a:pPr>
            <a:r>
              <a:rPr sz="975" b="1">
                <a:solidFill>
                  <a:srgbClr val="58657A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CA0D29-F075-4417-BACB-ADABC977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Validate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86051-DA59-4F57-9A92-8991BCC8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67050"/>
            <a:ext cx="400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044F9-6148-4DFB-8394-F583448E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2479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9F39D-271B-4AAE-9E65-B789BDA3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860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FBD4B-B817-4A94-AEA2-738D97F5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385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Communicate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D71D7-B9F8-46C8-A811-8D99E72C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Write an evaluation memo for a high-impact prediction workflow.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E17DF-5AEC-4D9A-B1A4-4C883D1C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FC4D9"/>
                </a:solidFill>
              </a:defRPr>
            </a:pPr>
            <a:r>
              <a:rPr sz="750" b="1">
                <a:solidFill>
                  <a:srgbClr val="AFC4D9"/>
                </a:solidFill>
              </a:rPr>
              <a:t>DS ACADEMY  ·  PRACTICAL REASONING</a:t>
            </a:r>
          </a:p>
        </p:txBody>
      </p:sp>
    </p:spTree>
    <p:extLst>
      <p:ext uri="{BB962C8B-B14F-4D97-AF65-F5344CB8AC3E}">
        <p14:creationId xmlns:p14="http://schemas.microsoft.com/office/powerpoint/2010/main" val="13558189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5D6CF-D8AF-48D5-B03F-6B0842F7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182CF-7240-4950-8EE1-BB7525A0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CE82B-FFE8-4D4B-8A4E-B25A6BBE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Guided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5AA86-A003-48AC-9504-82D9FAF6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4CC77-02E8-4648-8302-70CCA89A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D2716-21E6-4394-820C-6ADA73BC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48577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225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FA4B40-810E-4BFB-9949-9BAA4B28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LAB 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DF725-794C-4ACD-9BE6-D05C1CBD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3962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Write an evaluation memo for a high-impact prediction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11B5F5-1E33-4AE4-B316-AD7FF695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720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AFC4D9"/>
                </a:solidFill>
              </a:defRPr>
            </a:pPr>
            <a:r>
              <a:rPr sz="975">
                <a:solidFill>
                  <a:srgbClr val="AFC4D9"/>
                </a:solidFill>
              </a:rPr>
              <a:t>workbook  /  tests  / 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7B50D7-4A19-42F9-B28B-FA2E0B1D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A8D89-03CB-40C7-BCC7-ADCF5E8C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Frame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6AC90-9442-4393-B7F5-8FDE108C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Define inputs, outputs, and success criteria.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C87E5-44F5-462D-9B96-71BDAA4C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95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86249-5027-44BE-B031-D7192BD4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28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18D0DE-10A5-45AF-AE19-BE1451F5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03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Build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11EFF-2A78-4007-A77E-FB343CB7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Implement the smallest correct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13A32-5659-42CE-A956-BF60D8D2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6710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C9712B-62B2-4741-B482-A77A91C3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45F9D-EF11-4CF5-ABAA-D36032B1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C23246-7D06-4168-B2BE-FB586D04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243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Test normal, boundary, and failure cases.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A7924-62AC-478B-8535-96DC37CA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C44D7-EB1B-4495-AF60-0EC190A3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5720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F7768"/>
                </a:solidFill>
              </a:defRPr>
            </a:pPr>
            <a:r>
              <a:rPr sz="975" b="1">
                <a:solidFill>
                  <a:srgbClr val="EF776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C74BB-1618-480B-84A2-F70B94F5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434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033"/>
                </a:solidFill>
              </a:defRPr>
            </a:pPr>
            <a:r>
              <a:rPr sz="1575" b="1">
                <a:solidFill>
                  <a:srgbClr val="172033"/>
                </a:solidFill>
              </a:rPr>
              <a:t>Explain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011A74-CDBF-48EA-9483-9553EACA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958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Record the evidence and remaining limits.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FC7B9A-8E92-448B-AD56-0E124439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B119C7-9BDD-4C0A-8175-522F0DA6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023368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021C7-D46A-42DE-B47D-9E685292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F6740-3EB1-4E87-B600-E5245943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 06  /  SESSION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B8B0F-2612-4E61-95A4-9F97BA87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Portfolio deliverable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F929F-E374-4956-96A0-BCCD8BAB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2385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236DFA-ACAC-4D43-B24D-76254ED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1220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BE68C-C9B3-4D65-8FAF-1A39A2B8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</a:defRPr>
            </a:pPr>
            <a:r>
              <a:rPr sz="2325" b="1">
                <a:solidFill>
                  <a:srgbClr val="172033"/>
                </a:solidFill>
              </a:rPr>
              <a:t>A decision memo with metrics, slices, and a release recommendation.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27145-4751-4CF1-A6A4-69077087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8276D-BC4E-4A05-92D6-FCA886B4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D50EB-A98B-4084-8044-2C16993C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Reproducible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7BD56D-207D-4051-8AA2-A256A149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95775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23A21-8D65-4BFB-BE0C-B39459CF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6405A4-5153-4E2A-81F4-59711F5D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F77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BEC6C0-42CD-401C-A39F-D10135A9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Decision-relevant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2410D-E6A2-4213-AB8F-2D217B72F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143250" cy="40576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69681B-E433-4172-AB1D-0FE9DDCE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621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WEEKLY ASSESSMENT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710A0-DF34-49A1-AF1D-D57AC641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381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Evaluation Decision Memo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C8471-ACA4-43F4-A06B-6127B8C7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8657A"/>
                </a:solidFill>
              </a:defRPr>
            </a:pPr>
            <a:r>
              <a:rPr sz="1200">
                <a:solidFill>
                  <a:srgbClr val="58657A"/>
                </a:solidFill>
              </a:rPr>
              <a:t>Validity 35%, metric reasoning 25%, error analysis 20%, uncertainty 10%, communication 10%.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6BEFF-685B-4665-A9B6-A4BD2BB3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8657A"/>
                </a:solidFill>
              </a:defRPr>
            </a:pPr>
            <a:r>
              <a:rPr sz="750">
                <a:solidFill>
                  <a:srgbClr val="58657A"/>
                </a:solidFill>
              </a:rPr>
              <a:t>End-to-End Data Science &amp;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590A3-8678-4906-931C-12089AB3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77000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76BDB"/>
                </a:solidFill>
              </a:defRPr>
            </a:pPr>
            <a:r>
              <a:rPr sz="750" b="1">
                <a:solidFill>
                  <a:srgbClr val="176BD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838170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6792E-5876-4580-983B-C9126821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09A93-8337-4E92-904D-5A63F390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DB"/>
                </a:solidFill>
              </a:defRPr>
            </a:pPr>
            <a:r>
              <a:rPr sz="975" b="1">
                <a:solidFill>
                  <a:srgbClr val="176BDB"/>
                </a:solidFill>
              </a:rPr>
              <a:t>SESSION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BF95F-2957-4FE5-9C86-049599E8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76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033"/>
                </a:solidFill>
              </a:defRPr>
            </a:pPr>
            <a:r>
              <a:rPr sz="2850" b="1">
                <a:solidFill>
                  <a:srgbClr val="172033"/>
                </a:solidFill>
              </a:rPr>
              <a:t>What should remain after the lesson?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AA8E5-5536-4278-AE6E-71F78570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DCA8B-5E34-4F83-88FB-4908734D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257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metric choice + confidence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A3A81-2D2D-4371-BBEA-8CA05AC1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E7607-2AF9-4376-B3D3-6971359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A7C9"/>
                </a:solidFill>
              </a:defRPr>
            </a:pPr>
            <a:r>
              <a:rPr sz="900" b="1">
                <a:solidFill>
                  <a:srgbClr val="08A7C9"/>
                </a:solidFill>
              </a:rPr>
              <a:t>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E30E2-2782-49E1-A8BF-3FC859E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Write an evaluation memo for a high-impact prediction workflow.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DA622-B65F-4AB4-920E-0B22FD7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7F709-67AD-40B1-A484-F9B4EE91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EF7768"/>
                </a:solidFill>
              </a:defRPr>
            </a:pPr>
            <a:r>
              <a:rPr sz="900" b="1">
                <a:solidFill>
                  <a:srgbClr val="EF7768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020A43-7296-438C-A795-803F36BD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43425"/>
            <a:ext cx="838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 decision memo with metrics, slices, and a release recommendation.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0C7B4-9D68-44B1-9704-DF0B9A4E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172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FC6A3D-F2A0-4573-AE10-10071096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290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6BDB"/>
                </a:solidFill>
              </a:defRPr>
            </a:pPr>
            <a:r>
              <a:rPr sz="1125" b="1">
                <a:solidFill>
                  <a:srgbClr val="176BDB"/>
                </a:solidFill>
              </a:rPr>
              <a:t>Narration available in English 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333EF9-BB64-4AD1-8299-4F12517E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531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6BDB"/>
                </a:solidFill>
              </a:defRPr>
            </a:pPr>
            <a:r>
              <a:rPr sz="1200" b="1">
                <a:solidFill>
                  <a:srgbClr val="176BDB"/>
                </a:solidFill>
              </a:rPr>
              <a:t>සිංහල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DEF8C-C5C7-40AA-BEB4-3428E5A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8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8657A"/>
                </a:solidFill>
              </a:defRPr>
            </a:pPr>
            <a:r>
              <a:rPr sz="900" b="1">
                <a:solidFill>
                  <a:srgbClr val="58657A"/>
                </a:solidFill>
              </a:rPr>
              <a:t>DS ACADEMY</a:t>
            </a:r>
          </a:p>
        </p:txBody>
      </p:sp>
    </p:spTree>
    <p:extLst>
      <p:ext uri="{BB962C8B-B14F-4D97-AF65-F5344CB8AC3E}">
        <p14:creationId xmlns:p14="http://schemas.microsoft.com/office/powerpoint/2010/main" val="2050095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2026-07-27T08:01:06.3060000Z</dcterms:created>
  <dcterms:modified xsi:type="dcterms:W3CDTF">2026-07-27T08:01:06.3060000Z</dcterms:modified>
</coreProperties>
</file>