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bde012fd148e7" /><Relationship Type="http://schemas.openxmlformats.org/officeDocument/2006/relationships/extended-properties" Target="/docProps/app.xml" Id="R8845df8e33564fe8" /><Relationship Type="http://schemas.openxmlformats.org/officeDocument/2006/relationships/officeDocument" Target="/ppt/presentation.xml" Id="Ra14a33854f2347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af48ffe1642f7"/>
  </p:sldMasterIdLst>
  <p:notesMasterIdLst>
    <p:notesMasterId xmlns:r="http://schemas.openxmlformats.org/officeDocument/2006/relationships" r:id="R992b07fbad544065"/>
  </p:notesMasterIdLst>
  <p:sldIdLst>
    <p:sldId xmlns:r="http://schemas.openxmlformats.org/officeDocument/2006/relationships" id="256" r:id="R69205bd71e054431"/>
    <p:sldId xmlns:r="http://schemas.openxmlformats.org/officeDocument/2006/relationships" id="257" r:id="Rff0aca4eaa924260"/>
    <p:sldId xmlns:r="http://schemas.openxmlformats.org/officeDocument/2006/relationships" id="258" r:id="Rb8c47c9e20fa4808"/>
    <p:sldId xmlns:r="http://schemas.openxmlformats.org/officeDocument/2006/relationships" id="259" r:id="Rca20b74314b04d05"/>
    <p:sldId xmlns:r="http://schemas.openxmlformats.org/officeDocument/2006/relationships" id="260" r:id="Rf902aee7b26f46a8"/>
    <p:sldId xmlns:r="http://schemas.openxmlformats.org/officeDocument/2006/relationships" id="261" r:id="R6cb2924e521340ee"/>
    <p:sldId xmlns:r="http://schemas.openxmlformats.org/officeDocument/2006/relationships" id="262" r:id="Rbf3be3050764402d"/>
    <p:sldId xmlns:r="http://schemas.openxmlformats.org/officeDocument/2006/relationships" id="263" r:id="R67768394531c47a8"/>
    <p:sldId xmlns:r="http://schemas.openxmlformats.org/officeDocument/2006/relationships" id="264" r:id="R29df45fdd4dd408c"/>
    <p:sldId xmlns:r="http://schemas.openxmlformats.org/officeDocument/2006/relationships" id="265" r:id="R10cce4b549364348"/>
    <p:sldId xmlns:r="http://schemas.openxmlformats.org/officeDocument/2006/relationships" id="266" r:id="R681f0c35f8bb48fb"/>
    <p:sldId xmlns:r="http://schemas.openxmlformats.org/officeDocument/2006/relationships" id="267" r:id="Rfb523125b0e542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3498014d67474a" /><Relationship Type="http://schemas.openxmlformats.org/officeDocument/2006/relationships/slideMaster" Target="/ppt/slideMasters/slideMaster1.xml" Id="Ra4caf48ffe1642f7" /><Relationship Type="http://schemas.openxmlformats.org/officeDocument/2006/relationships/notesMaster" Target="/ppt/notesMasters/notesMaster1.xml" Id="R992b07fbad544065" /><Relationship Type="http://schemas.openxmlformats.org/officeDocument/2006/relationships/presProps" Target="/ppt/presProps.xml" Id="Rf569e10613474135" /><Relationship Type="http://schemas.openxmlformats.org/officeDocument/2006/relationships/tableStyles" Target="/ppt/tableStyles.xml" Id="R5174b604757b4de1" /><Relationship Type="http://schemas.openxmlformats.org/officeDocument/2006/relationships/slide" Target="/ppt/slides/slide1.xml" Id="R69205bd71e054431" /><Relationship Type="http://schemas.openxmlformats.org/officeDocument/2006/relationships/slide" Target="/ppt/slides/slide2.xml" Id="Rff0aca4eaa924260" /><Relationship Type="http://schemas.openxmlformats.org/officeDocument/2006/relationships/slide" Target="/ppt/slides/slide3.xml" Id="Rb8c47c9e20fa4808" /><Relationship Type="http://schemas.openxmlformats.org/officeDocument/2006/relationships/slide" Target="/ppt/slides/slide4.xml" Id="Rca20b74314b04d05" /><Relationship Type="http://schemas.openxmlformats.org/officeDocument/2006/relationships/slide" Target="/ppt/slides/slide5.xml" Id="Rf902aee7b26f46a8" /><Relationship Type="http://schemas.openxmlformats.org/officeDocument/2006/relationships/slide" Target="/ppt/slides/slide6.xml" Id="R6cb2924e521340ee" /><Relationship Type="http://schemas.openxmlformats.org/officeDocument/2006/relationships/slide" Target="/ppt/slides/slide7.xml" Id="Rbf3be3050764402d" /><Relationship Type="http://schemas.openxmlformats.org/officeDocument/2006/relationships/slide" Target="/ppt/slides/slide8.xml" Id="R67768394531c47a8" /><Relationship Type="http://schemas.openxmlformats.org/officeDocument/2006/relationships/slide" Target="/ppt/slides/slide9.xml" Id="R29df45fdd4dd408c" /><Relationship Type="http://schemas.openxmlformats.org/officeDocument/2006/relationships/slide" Target="/ppt/slides/slide10.xml" Id="R10cce4b549364348" /><Relationship Type="http://schemas.openxmlformats.org/officeDocument/2006/relationships/slide" Target="/ppt/slides/slide11.xml" Id="R681f0c35f8bb48fb" /><Relationship Type="http://schemas.openxmlformats.org/officeDocument/2006/relationships/slide" Target="/ppt/slides/slide12.xml" Id="Rfb523125b0e542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8c23b5fa14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3740bff8fa4224" /><Relationship Type="http://schemas.openxmlformats.org/officeDocument/2006/relationships/notesMaster" Target="/ppt/notesMasters/notesMaster1.xml" Id="R9630e448340344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5319b78e94b53" /><Relationship Type="http://schemas.openxmlformats.org/officeDocument/2006/relationships/notesMaster" Target="/ppt/notesMasters/notesMaster1.xml" Id="R2458c631a9e041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5d026ac98644b9" /><Relationship Type="http://schemas.openxmlformats.org/officeDocument/2006/relationships/notesMaster" Target="/ppt/notesMasters/notesMaster1.xml" Id="R84edb6db97cc4b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b3b2ca53a64489" /><Relationship Type="http://schemas.openxmlformats.org/officeDocument/2006/relationships/notesMaster" Target="/ppt/notesMasters/notesMaster1.xml" Id="Rc7e7c386101344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5730bbe0e4de6" /><Relationship Type="http://schemas.openxmlformats.org/officeDocument/2006/relationships/notesMaster" Target="/ppt/notesMasters/notesMaster1.xml" Id="Rf8f458b5575a44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d46d183d624dee" /><Relationship Type="http://schemas.openxmlformats.org/officeDocument/2006/relationships/notesMaster" Target="/ppt/notesMasters/notesMaster1.xml" Id="Rfff8c53fd45e4a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c499b5693d4564" /><Relationship Type="http://schemas.openxmlformats.org/officeDocument/2006/relationships/notesMaster" Target="/ppt/notesMasters/notesMaster1.xml" Id="Rc95e6ed2e85a4f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77b906615b424f" /><Relationship Type="http://schemas.openxmlformats.org/officeDocument/2006/relationships/notesMaster" Target="/ppt/notesMasters/notesMaster1.xml" Id="R4c86068f19c0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5824949b37469b" /><Relationship Type="http://schemas.openxmlformats.org/officeDocument/2006/relationships/notesMaster" Target="/ppt/notesMasters/notesMaster1.xml" Id="Rd558117b9d624a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7682a47caa43f8" /><Relationship Type="http://schemas.openxmlformats.org/officeDocument/2006/relationships/notesMaster" Target="/ppt/notesMasters/notesMaster1.xml" Id="Rf579ceba7a3449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74fa86abb44eda" /><Relationship Type="http://schemas.openxmlformats.org/officeDocument/2006/relationships/notesMaster" Target="/ppt/notesMasters/notesMaster1.xml" Id="Refe4ea56db8643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6b5dc1c3474db6" /><Relationship Type="http://schemas.openxmlformats.org/officeDocument/2006/relationships/notesMaster" Target="/ppt/notesMasters/notesMaster1.xml" Id="R9c2b560e270d44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Linear Regression. Learn how regression predicts a continuous value with a fitted weighted sum.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regression versus classification, vectors, averages, loss, training, and testing. By the end, you will explain continuous targets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continuous targets, linear equation, residuals and RMSE, regularization.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ŷ = β₀ + β₁x₁ + … + βₙxₙ; training chooses coefficients that minimize squared residuals.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ŷ: Predicted continuous value. β₀: Intercept. βⱼ: Coefficient for feature j. xⱼ: Feature value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For hours=3, β₀=40 and β₁=10, predict 70; with actual 76, residual=6 and squared error=36.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70 6 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Ordinary least squares chooses coefficients that minimize the sum of squared residuals. Closed-form solvers and gradient descent optimize the same objective through different procedures. Check linearity, residual independence, roughly constant variance, and influential outliers. Compare with a mean baseline; Ridge shrinks coefficients and Lasso can set some to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https://github.com/curiousily/AI-Bootcamp/blob/master/03.model-development.ipynb.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Calling RMSE an accuracy percentage even though it is an error measured in target units. Interpreting a coefficient causally or without considering feature scaling.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Fit a baseline and linear regression, interpret coefficients, calculate RMSE, and inspect residuals.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continuous targets, linear equation, residuals and RMSE, regularization. Verification evidence: Beat a mean baseline on held-out data and check residuals for systematic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a01341c9e42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141f729a94fdf" /><Relationship Type="http://schemas.openxmlformats.org/officeDocument/2006/relationships/slideLayout" Target="/ppt/slideLayouts/slideLayout1.xml" Id="Rd3fbb1ab366b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bb1ab366b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b355172044902" /><Relationship Type="http://schemas.openxmlformats.org/officeDocument/2006/relationships/image" Target="/ppt/media/image.png" Id="R266bbbbb47ca45d3" /><Relationship Type="http://schemas.openxmlformats.org/officeDocument/2006/relationships/image" Target="/ppt/media/image2.png" Id="R1cdce49cd30542ae" /><Relationship Type="http://schemas.openxmlformats.org/officeDocument/2006/relationships/notesSlide" Target="/ppt/notesSlides/notesSlide1.xml" Id="Rcf96ceafc20d47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db1ecf10e4d03" /><Relationship Type="http://schemas.openxmlformats.org/officeDocument/2006/relationships/notesSlide" Target="/ppt/notesSlides/notesSlide2.xml" Id="Rbc48f16bc3f7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cb88cd25d46e4" /><Relationship Type="http://schemas.openxmlformats.org/officeDocument/2006/relationships/notesSlide" Target="/ppt/notesSlides/notesSlide3.xml" Id="R4d65968b79c6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52eaa6a5a4056" /><Relationship Type="http://schemas.openxmlformats.org/officeDocument/2006/relationships/notesSlide" Target="/ppt/notesSlides/notesSlide4.xml" Id="Rc784bf8fe19641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64d1b2bec489b" /><Relationship Type="http://schemas.openxmlformats.org/officeDocument/2006/relationships/notesSlide" Target="/ppt/notesSlides/notesSlide5.xml" Id="Rd086b0268d784c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05b4176f747f4" /><Relationship Type="http://schemas.openxmlformats.org/officeDocument/2006/relationships/notesSlide" Target="/ppt/notesSlides/notesSlide6.xml" Id="Rf2bc1ea19dc04e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13742567b4b2a" /><Relationship Type="http://schemas.openxmlformats.org/officeDocument/2006/relationships/notesSlide" Target="/ppt/notesSlides/notesSlide7.xml" Id="R0bcbf1cf67a34e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2cf2292514a71" /><Relationship Type="http://schemas.openxmlformats.org/officeDocument/2006/relationships/notesSlide" Target="/ppt/notesSlides/notesSlide8.xml" Id="R3d6e0eedfe4949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2a23d5b4a45b3" /><Relationship Type="http://schemas.openxmlformats.org/officeDocument/2006/relationships/notesSlide" Target="/ppt/notesSlides/notesSlide9.xml" Id="R5976767d346b4a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ac12b96a94a3c" /><Relationship Type="http://schemas.openxmlformats.org/officeDocument/2006/relationships/notesSlide" Target="/ppt/notesSlides/notesSlide10.xml" Id="R276ad9ac054a4e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c9da5b8e94694" /><Relationship Type="http://schemas.openxmlformats.org/officeDocument/2006/relationships/notesSlide" Target="/ppt/notesSlides/notesSlide11.xml" Id="Rf5eb3abed4524a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ea728722a4793" /><Relationship Type="http://schemas.openxmlformats.org/officeDocument/2006/relationships/image" Target="/ppt/media/image3.png" Id="R44ec994839eb4410" /><Relationship Type="http://schemas.openxmlformats.org/officeDocument/2006/relationships/notesSlide" Target="/ppt/notesSlides/notesSlide12.xml" Id="R202714c24a744e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F0084-CB52-46A2-841C-081EE225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bbbbb47ca45d3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50270-180E-48B3-B9C8-0502C46B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05BC1-ED11-44E5-AC35-EE88F67B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07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F441-5F0B-42FB-A32C-83EA6299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F056C-E310-4D6B-8036-564B26D7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DD9FD-B149-4717-BD5E-333AF650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Learn how regression predicts a continuous value with a fitted weighted sum.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ce49cd30542ae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09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2D6E4-E472-4470-B742-091FF137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0F9C1-4D4B-4683-976F-9789A68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B0C6C-DDBA-4407-82FA-9E68F173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262AC-7560-444F-BE8F-6CF31A61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113F0-395E-4A1C-93A0-FBDB846B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3C2DA-34C9-4C2F-B8A3-0D5CB941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41CCB-429F-46D0-B967-C5B6CF72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Regression versus classification, vectors, averages, loss, training, and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D24F7-337B-4A01-851A-C09D5A3A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470DD-8844-4F73-9F7B-6D8D1750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continuous targets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636BB-3D3A-460A-9E74-82DFE451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A051E-DC1E-484A-8204-2ABED8D9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linear equation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2BFB0-C530-4479-A2F7-9933AA76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E5E62-BCCF-4C1D-846D-B76F4B7A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regularization.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0FFC9-0533-4B5E-859E-73FE0CE8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961A7-6633-468D-A167-A3ED882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7923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97502-4FAB-499D-831F-D21A6F3D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F09B0-ED07-4173-9E24-8EAB7767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63670-65DE-47DB-A372-63E65DAC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9F21E-94B5-4EA1-96F5-BF54B408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511C1-A527-4BCC-BD1D-24CEC839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4EE9F-BE80-4D25-8923-7FA1BB56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72FF6-581A-48E0-B5BF-EEE722C2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Learn how regression predicts a continuous value with a fitted weighted sum.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294AB-4377-46E7-8C4B-EEB05E9D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26F68-561F-4F87-B939-7285D4D3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continuous targets: A continuous target can take numerical values across an interval, such as price, temperature, or body-fat percentage.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0DD77-4709-4687-9506-265E2FD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24469-08E9-456C-8C3E-D7A19239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linear equation: A linear prediction adds an intercept to feature values multiplied by learned coefficients.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0AF3E-E366-4B09-BCE8-0FF7577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75AE2-C145-472D-9959-4311176D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residuals and RMSE: A residual is actual minus predicted; RMSE summarizes squared residuals in the target's original units.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2928B-E909-48AB-B3AE-F3D537ED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3BDCC-027A-4475-B6BC-032C00FD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regularization: Regularization penalizes complexity to improve stability and reduce sensitivity to noise.</a:t>
            </a:r>
          </a:p>
        </p:txBody>
      </p:sp>
    </p:spTree>
    <p:extLst>
      <p:ext uri="{BB962C8B-B14F-4D97-AF65-F5344CB8AC3E}">
        <p14:creationId xmlns:p14="http://schemas.microsoft.com/office/powerpoint/2010/main" val="1493444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7827F-7B3F-4123-915D-D3280D2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0D9E0-968E-4F31-BBFB-13BCC061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076A0-7B81-41C8-B8F8-2A9458BF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E7EAE-8140-47E5-8F5F-15407D94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FF06F-AEF2-4C97-90E8-20F55845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C9B9E-35BF-4DAA-8B66-3F115F2B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DAC74-13A6-4552-8888-C73BDE56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2D7F-A6F4-498A-B06D-7822CF40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continuous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E3EAC-C1F5-464F-8CB7-508C54E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FE550-862B-449A-A470-3C1BE5E6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EC6AE-0386-4499-B389-54D8402C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F6B74-8EA1-42A8-A24F-6E865145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linear equation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B6CD3-51FC-402A-BAF6-3DD5B700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69A25-FCAC-4039-B859-1E163111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F2323-28BC-4892-A8C0-E472F638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ECF71-97DC-4DA8-BF25-21BF7C0B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residuals and 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793FC-4824-4C9E-8B59-A98DD52A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76BD4-8EA0-4D77-9BBC-1EF2912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D46FC-E70C-47AE-B0F3-DDEDF5BD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A6036-074A-4EDF-A264-DEDF4C0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regularization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747BE-07AA-4936-A719-903DA933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ŷ = β₀ + β₁x₁ + … + βₙxₙ; training chooses coefficients that minimize squared residuals.</a:t>
            </a:r>
          </a:p>
        </p:txBody>
      </p:sp>
    </p:spTree>
    <p:extLst>
      <p:ext uri="{BB962C8B-B14F-4D97-AF65-F5344CB8AC3E}">
        <p14:creationId xmlns:p14="http://schemas.microsoft.com/office/powerpoint/2010/main" val="1486596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C07CC-54FA-4F36-A9B0-F0F34945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95A94-29F5-4C23-A382-BA76F37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59FCE-6561-45CA-B0C7-6799E964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56EF3-EC7E-4B8D-B72B-2902273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30D9B-F3E0-4BE5-8DAD-76F20A46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5133A-4B68-4C26-9E38-4715C6D8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13D35-C38D-4599-9393-0FFE1A97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ŷ = β₀ + β₁x₁ + … + βₙxₙ; training chooses coefficients that minimize squared residuals.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01318-6A1B-4AB9-ACAC-BDE6318C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36A3B-3613-48BC-88FC-1416881E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ŷ: Predicted continuous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4B393-7528-472C-A6CE-B4E34701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FE964-F3A4-4E81-8A5F-F627B60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β₀: Intercept.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7C5FB-7E92-4657-B788-75FFF109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F80B7-C569-4C71-909E-6EFDE8A9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βⱼ: Coefficient for feature j.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0DFE5-0ACE-4C3B-BD54-80660597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6412E-392C-457B-AFED-B38BD1BB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xⱼ: Feature value j.</a:t>
            </a:r>
          </a:p>
        </p:txBody>
      </p:sp>
    </p:spTree>
    <p:extLst>
      <p:ext uri="{BB962C8B-B14F-4D97-AF65-F5344CB8AC3E}">
        <p14:creationId xmlns:p14="http://schemas.microsoft.com/office/powerpoint/2010/main" val="1913036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88EE9-8B69-43D2-B55F-2298E811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8A964-0765-44F4-AD74-4C297837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FC0BD-72A8-4011-8945-BFE2B77D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7BF6B-1266-4720-A4C0-3D324C0A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F423D-13F8-4E61-B855-A717A061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68C97-074D-48EB-8412-6C9A939E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For hours=3, β₀=40 and β₁=10, predict 70; with actual 76, residual=6 and squared error=36.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C84EE-D658-499D-B3AF-6A80BF80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4E32C-FD27-4CF6-8DDE-A60AB1E1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CE78B-68C4-4FD2-907C-CFD967E6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2A3BC-9671-4634-A583-45A5A516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A74B1-A7D6-4AE6-A061-DDEDE9A2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98FF1-F24C-49B3-ACF0-49E4164A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CAD6A-2B64-4013-A360-A7B32D0C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95A48-6745-44A6-8839-F5B6D393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7D204-E4B5-4AF1-9C5F-8560E06E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1542878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60DA3-1490-487A-8E32-9C8EB5F0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4C7EF-67CD-4152-89C9-6C787F28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EC72E-1C0D-408F-9014-3D31520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AF97F-8D66-4356-9CDF-86240859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40E9C-3042-41E1-B2F9-2A54AFE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78C1D-3ECD-499B-B8A0-BA2D835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4F031-6098-44A8-B771-6A302F2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75F7D-8591-45EE-95AF-D7064C0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31D94-9B65-43EA-ACEB-99671F3B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13AA0-2D96-4459-8136-F3A1AD7F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01B91-8E96-4A22-8D5E-83D92EFD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intercept, coefficient, hours = 40, 10, 3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prediction = intercept + coefficient * hours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residual = 76 - prediction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print(prediction, residual, residual**2)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C8E98-83E9-4C12-B14F-4407A11B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EDE99-B3E3-4BB5-9F19-A93B94AA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6428A-5DAA-422D-9330-D90C9FDD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70 6 36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DCF11-D5A7-446B-873C-5363CF08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EDB90-4EDF-45E9-8BF5-8A915B60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390571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DC2AC-9584-4769-94DC-79DCCBCD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B941A-3C88-490C-BFE7-694D53C4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325A6-0C2B-4425-A049-A63D4856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14949-EBF7-4F3A-A9E8-BA43B4CE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6BB60-8776-4C61-9FEA-A9EA00C0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06E82-CDCC-4D6C-8534-1E4C9EA9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63A87-768A-451C-82C7-C27C2753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F058E-A259-488C-938E-0185B44A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Ordinary least squares chooses coefficients that minimize the sum of squared residuals.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00CF8-B196-4DEA-AA64-824FD4AE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A6E4E-6FF9-4641-B9D3-98ADE1AB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9FE06-1EEE-403C-8ADE-920B9FAB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1E3EF-E621-449F-8EC7-2553733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Closed-form solvers and gradient descent optimize the same objective through different procedures.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2F1AF-03EE-4278-B286-1BB7C266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68AB4-74DD-439D-993D-4FFE19C0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80562-43BE-4D42-A7AE-3C33EBBD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56926-6DBB-428C-95E1-333C0BAA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Check linearity, residual independence, roughly constant variance, and influential outliers.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25B8B-73CA-48A6-B969-4E738E00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315A3-7695-4951-B3E0-1162818A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337D8-A75F-4412-BBF0-0C6EB2AC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03421-AAB6-49AC-817F-46C6EDED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Compare with a mean baseline; Ridge shrinks coefficients and Lasso can set some to zero.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3B7D1-95C5-4BD7-985A-57C453D7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8746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AB1CB-26BE-42CD-902D-0092A809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8C09B-9529-4EEC-9EAF-BBDDFD3D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9DFDC-C2C7-464F-8C95-B6579F1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E6C5C-D551-43EE-8DE4-CC414C2C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F96F3-718C-4611-956F-5F8E286A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453D3-DC8E-478F-B347-6EE5BCF4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07E07-5FC4-491F-B4D4-3E308E92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9A324-B14F-4E7E-B573-7D3AEA42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continuous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CB5F3-D75F-4E40-B45F-4A85107C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B75E7-EF92-41B8-9C6D-1C87F4A4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8D4FE-A1AF-425B-B9B9-938E9A87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FF7AF-49F3-4B1A-B126-13AD0213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linear equation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57568-A9B3-43D4-AA07-FB3226EF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349EF-3C6F-4AAC-9A19-5E2EED36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BC65A-D62C-4F4C-AF58-B0865644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07649-2BB6-4F69-BCB2-BF5B9D2C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residuals and 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31049-5932-438A-8CE1-D6E9F55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2E0EB-BBD1-499B-B8AA-63A316B8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8BE1-AEFC-42F6-95E3-58FBBFFB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86299-7301-4C1B-885B-5ED3B23C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regularization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25A85-A3B3-41E5-9F91-72B9782C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https://github.com/curiousily/AI-Bootcamp/blob/master/03.model-development.ipynb.</a:t>
            </a:r>
          </a:p>
        </p:txBody>
      </p:sp>
    </p:spTree>
    <p:extLst>
      <p:ext uri="{BB962C8B-B14F-4D97-AF65-F5344CB8AC3E}">
        <p14:creationId xmlns:p14="http://schemas.microsoft.com/office/powerpoint/2010/main" val="592296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3C4E0-6489-441D-BE7E-2AA9C480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78D7C-B2F0-43E9-9AE3-54884C54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E3B25-57EC-4036-9236-DF784B8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20DB4-D3E5-4C4E-98E2-971ADA4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C5D8E-1321-4CD7-A650-778646D7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1B1D7-6EB3-4EBA-9729-F2625F0D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6CBB8-7E9C-478B-AE95-AD639B70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37310-CC3D-48A3-9B5E-57C916D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Calling RMSE an accuracy percentage even though it is an error measured in target units.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C5B87-21C0-47DA-AE6C-07865492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A71A2-76D1-449F-B2C9-2D490284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529EF-5E6F-40FC-9AD0-F375F685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Interpreting a coefficient causally or without considering feature scaling.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6ADBC-EA48-4C5E-8033-9C155261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4430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19D63-2EDF-4D0D-9CFB-DA725821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A32B7-5D33-4128-9F21-5F2970A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F7014-5DFC-495F-B935-17583281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CAE0F-B617-4EBF-BEE7-F5654AD6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78478-B44F-43B9-9C35-3D0865D0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Fit a baseline and linear regression, interpret coefficients, calculate RMSE, and inspect residuals.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0CA06-0E4B-4C64-9581-CC074A4B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6FA80-8AA8-4DC0-B3C9-0B599098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F0D7C-5624-4C6B-AE30-C52C9AE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6BA08-FE70-4411-8D03-BC9080CC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1878A-AA5C-4D73-A1F5-1939B8A2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FE2FD-9A17-45B0-9558-E8C58EEC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D2EE2-A1FF-4900-BBF5-7FF59F8A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5F27E-CF7F-4815-865B-221CB71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3BFAC-E0AB-4691-981A-0F0107BB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770C2-2AC7-4DBD-9480-062562F6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689F9-0C87-4730-B3EA-26FDB575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D44A9-B69D-4245-9552-4AF51B4E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0927568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41345-6462-4D34-A417-C8FAB956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M07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E80DE-3D24-492C-89D5-DA8CC9A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192B-FFBA-4A99-AFE7-8A4A2EAA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A9CDF-7FB3-40C7-A805-38DAE87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F4067-C8D3-4DDE-8F96-C8A75A9E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90CE6-0E5A-44A0-AF50-13FE877F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C8AAF-D584-4F67-8537-03B36482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continuous targets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D0483-882A-4E3C-B2A0-1DD1ED9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B6EB-0F85-4AAB-9C71-4669059C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linear equation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2F8E4-B662-429A-93AE-D36C29B8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4A18F-885F-4A1D-BAE3-4046A8A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regularization.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4B0FC-D9B3-455C-AE0D-7683A850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0054E-128F-47FB-8ACA-31512A2A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fitted regression pipeline with equation explanation, baseline comparison, diagnostics, and saved artifact.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c994839eb4410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4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2026-07-28T16:53:14.1710000Z</dcterms:created>
  <dcterms:modified xsi:type="dcterms:W3CDTF">2026-07-28T16:53:14.1710000Z</dcterms:modified>
</coreProperties>
</file>