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477f03f6a9480f" /><Relationship Type="http://schemas.openxmlformats.org/officeDocument/2006/relationships/extended-properties" Target="/docProps/app.xml" Id="R232356c177e94f93" /><Relationship Type="http://schemas.openxmlformats.org/officeDocument/2006/relationships/officeDocument" Target="/ppt/presentation.xml" Id="Rd6b84dceaab543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b025998287404d"/>
  </p:sldMasterIdLst>
  <p:notesMasterIdLst>
    <p:notesMasterId xmlns:r="http://schemas.openxmlformats.org/officeDocument/2006/relationships" r:id="Redb8ac6d2fd94ed1"/>
  </p:notesMasterIdLst>
  <p:sldIdLst>
    <p:sldId xmlns:r="http://schemas.openxmlformats.org/officeDocument/2006/relationships" id="256" r:id="Rfc2972cdf4264b00"/>
    <p:sldId xmlns:r="http://schemas.openxmlformats.org/officeDocument/2006/relationships" id="257" r:id="R63a721b4e5bc4278"/>
    <p:sldId xmlns:r="http://schemas.openxmlformats.org/officeDocument/2006/relationships" id="258" r:id="R6cf4821c09bb4019"/>
    <p:sldId xmlns:r="http://schemas.openxmlformats.org/officeDocument/2006/relationships" id="259" r:id="Rebaec7756ba64707"/>
    <p:sldId xmlns:r="http://schemas.openxmlformats.org/officeDocument/2006/relationships" id="260" r:id="R9a27c829c47b476c"/>
    <p:sldId xmlns:r="http://schemas.openxmlformats.org/officeDocument/2006/relationships" id="261" r:id="Rf9b2e3271e0b4680"/>
    <p:sldId xmlns:r="http://schemas.openxmlformats.org/officeDocument/2006/relationships" id="262" r:id="Rff8c575cd2f34b4f"/>
    <p:sldId xmlns:r="http://schemas.openxmlformats.org/officeDocument/2006/relationships" id="263" r:id="R1146f18f297747e2"/>
    <p:sldId xmlns:r="http://schemas.openxmlformats.org/officeDocument/2006/relationships" id="264" r:id="R2ae2a6bfbb94424c"/>
    <p:sldId xmlns:r="http://schemas.openxmlformats.org/officeDocument/2006/relationships" id="265" r:id="R91723483e28f4d66"/>
    <p:sldId xmlns:r="http://schemas.openxmlformats.org/officeDocument/2006/relationships" id="266" r:id="R5062086ff8174c3f"/>
    <p:sldId xmlns:r="http://schemas.openxmlformats.org/officeDocument/2006/relationships" id="267" r:id="R09ea710208434b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df250b803b4c5e" /><Relationship Type="http://schemas.openxmlformats.org/officeDocument/2006/relationships/slideMaster" Target="/ppt/slideMasters/slideMaster1.xml" Id="Rc4b025998287404d" /><Relationship Type="http://schemas.openxmlformats.org/officeDocument/2006/relationships/notesMaster" Target="/ppt/notesMasters/notesMaster1.xml" Id="Redb8ac6d2fd94ed1" /><Relationship Type="http://schemas.openxmlformats.org/officeDocument/2006/relationships/presProps" Target="/ppt/presProps.xml" Id="Rcc6b0b10d8fa4fe4" /><Relationship Type="http://schemas.openxmlformats.org/officeDocument/2006/relationships/tableStyles" Target="/ppt/tableStyles.xml" Id="Rf6c703709b504085" /><Relationship Type="http://schemas.openxmlformats.org/officeDocument/2006/relationships/slide" Target="/ppt/slides/slide1.xml" Id="Rfc2972cdf4264b00" /><Relationship Type="http://schemas.openxmlformats.org/officeDocument/2006/relationships/slide" Target="/ppt/slides/slide2.xml" Id="R63a721b4e5bc4278" /><Relationship Type="http://schemas.openxmlformats.org/officeDocument/2006/relationships/slide" Target="/ppt/slides/slide3.xml" Id="R6cf4821c09bb4019" /><Relationship Type="http://schemas.openxmlformats.org/officeDocument/2006/relationships/slide" Target="/ppt/slides/slide4.xml" Id="Rebaec7756ba64707" /><Relationship Type="http://schemas.openxmlformats.org/officeDocument/2006/relationships/slide" Target="/ppt/slides/slide5.xml" Id="R9a27c829c47b476c" /><Relationship Type="http://schemas.openxmlformats.org/officeDocument/2006/relationships/slide" Target="/ppt/slides/slide6.xml" Id="Rf9b2e3271e0b4680" /><Relationship Type="http://schemas.openxmlformats.org/officeDocument/2006/relationships/slide" Target="/ppt/slides/slide7.xml" Id="Rff8c575cd2f34b4f" /><Relationship Type="http://schemas.openxmlformats.org/officeDocument/2006/relationships/slide" Target="/ppt/slides/slide8.xml" Id="R1146f18f297747e2" /><Relationship Type="http://schemas.openxmlformats.org/officeDocument/2006/relationships/slide" Target="/ppt/slides/slide9.xml" Id="R2ae2a6bfbb94424c" /><Relationship Type="http://schemas.openxmlformats.org/officeDocument/2006/relationships/slide" Target="/ppt/slides/slide10.xml" Id="R91723483e28f4d66" /><Relationship Type="http://schemas.openxmlformats.org/officeDocument/2006/relationships/slide" Target="/ppt/slides/slide11.xml" Id="R5062086ff8174c3f" /><Relationship Type="http://schemas.openxmlformats.org/officeDocument/2006/relationships/slide" Target="/ppt/slides/slide12.xml" Id="R09ea710208434b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9196411e9d4a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63b358b3ef4fa4" /><Relationship Type="http://schemas.openxmlformats.org/officeDocument/2006/relationships/notesMaster" Target="/ppt/notesMasters/notesMaster1.xml" Id="Rcd369f3751c449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51de78c5fc44ae" /><Relationship Type="http://schemas.openxmlformats.org/officeDocument/2006/relationships/notesMaster" Target="/ppt/notesMasters/notesMaster1.xml" Id="Rc3135826a8c141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669602e2db4904" /><Relationship Type="http://schemas.openxmlformats.org/officeDocument/2006/relationships/notesMaster" Target="/ppt/notesMasters/notesMaster1.xml" Id="R5ec9128da1f5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a8c17fc34f4f55" /><Relationship Type="http://schemas.openxmlformats.org/officeDocument/2006/relationships/notesMaster" Target="/ppt/notesMasters/notesMaster1.xml" Id="R558a94e7d00a4e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b0a9ba0ae643cf" /><Relationship Type="http://schemas.openxmlformats.org/officeDocument/2006/relationships/notesMaster" Target="/ppt/notesMasters/notesMaster1.xml" Id="R25888ff8c53b4b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31b30ddcdc4bd6" /><Relationship Type="http://schemas.openxmlformats.org/officeDocument/2006/relationships/notesMaster" Target="/ppt/notesMasters/notesMaster1.xml" Id="Rce1f4a6173ed4d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69e143142b4c45" /><Relationship Type="http://schemas.openxmlformats.org/officeDocument/2006/relationships/notesMaster" Target="/ppt/notesMasters/notesMaster1.xml" Id="R979856602f924b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3e4e25089d41fb" /><Relationship Type="http://schemas.openxmlformats.org/officeDocument/2006/relationships/notesMaster" Target="/ppt/notesMasters/notesMaster1.xml" Id="R63588d1070eb47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0d0a0a1a1243a0" /><Relationship Type="http://schemas.openxmlformats.org/officeDocument/2006/relationships/notesMaster" Target="/ppt/notesMasters/notesMaster1.xml" Id="R2538398b35b04d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1fda7164a24fba" /><Relationship Type="http://schemas.openxmlformats.org/officeDocument/2006/relationships/notesMaster" Target="/ppt/notesMasters/notesMaster1.xml" Id="Ra2e8e15495b646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d0aa15bdc448d1" /><Relationship Type="http://schemas.openxmlformats.org/officeDocument/2006/relationships/notesMaster" Target="/ppt/notesMasters/notesMaster1.xml" Id="R5adada9bca854e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00fca60c1e460a" /><Relationship Type="http://schemas.openxmlformats.org/officeDocument/2006/relationships/notesMaster" Target="/ppt/notesMasters/notesMaster1.xml" Id="R84b86465178241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Engineering LLM Applications. Build a reliable application boundary around model providers, frameworks, tools, and traces.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required starting point is http, json, schemas, llm messages, structured output, and tool calling. By the end, you will explain provider apis in plain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language before using it: provider APIs, streaming and retries, LangChain components, Model Context Protocol.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→ provider adapter → model; tools remain application-controlled; traces record prompts, calls, latency, and usage.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symbol or component has a job. provider: A hosted or local inference service. stream: Incremental response events. MCP: A standard protocol for model-facing capabilities.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 through the values before running code. Call two providers through one interface, require the same schema, and fall back only on retryable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hand-worked mechanism to Python. The observed output is {"status":"ready"}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Normalize provider differences behind an application-owned interface and capability checks. Retry only transient errors with exponential backoff, jitter, and a total attempt limit. Trace model, prompt version, tool calls, tokens, latency, errors, and cost for every request. MCP tools perform actions while resources expose context; both require least-privilege access.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concepts from this lesson to read and complete https://github.com/curiousily/AI-Bootcamp/blob/master/26.multiple-llm-providers-with-litellm.ipynb. Predict what each section does before executing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Retrying every error and multiplying cost. Granting an MCP server broader filesystem or network access than the task requires.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run, inspect, and explain. Build one traced application that streams output, validates a response, and invokes a scoped external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the connection between provider APIs, streaming and retries, LangChain components, Model Context Protocol. Verification evidence: Simulate timeout, rate limit, malformed output, and denied tool access while confirming bounded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https://github.com/curiousily/AI-Bootcamp/blob/master/26.multiple-llm-providers-with-litellm.ipynb</a:t>
            </a:r>
          </a:p>
          <a:p xmlns:a="http://schemas.openxmlformats.org/drawingml/2006/main">
            <a:r>
              <a:t>- https://github.com/curiousily/AI-Bootcamp/blob/master/27.langchain-foundations.ipynb</a:t>
            </a:r>
          </a:p>
          <a:p xmlns:a="http://schemas.openxmlformats.org/drawingml/2006/main">
            <a:r>
              <a:t>- https://docs.langchain.com/oss/python/langchain/overview</a:t>
            </a:r>
          </a:p>
          <a:p xmlns:a="http://schemas.openxmlformats.org/drawingml/2006/main">
            <a:r>
              <a:t>- https://modelcontextprotocol.io/docs/getting-started/intro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330068ffe42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99c2892c7349aa" /><Relationship Type="http://schemas.openxmlformats.org/officeDocument/2006/relationships/slideLayout" Target="/ppt/slideLayouts/slideLayout1.xml" Id="Rcdb45f2188404a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b45f2188404a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258f0fa4947fc" /><Relationship Type="http://schemas.openxmlformats.org/officeDocument/2006/relationships/image" Target="/ppt/media/image.png" Id="R1f737a30bf4d43cf" /><Relationship Type="http://schemas.openxmlformats.org/officeDocument/2006/relationships/image" Target="/ppt/media/image2.png" Id="Re79052c98b054891" /><Relationship Type="http://schemas.openxmlformats.org/officeDocument/2006/relationships/notesSlide" Target="/ppt/notesSlides/notesSlide1.xml" Id="R4569e655c01c4a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07f35235a4977" /><Relationship Type="http://schemas.openxmlformats.org/officeDocument/2006/relationships/notesSlide" Target="/ppt/notesSlides/notesSlide2.xml" Id="R899e9063966d42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82bfb0d804bcc" /><Relationship Type="http://schemas.openxmlformats.org/officeDocument/2006/relationships/notesSlide" Target="/ppt/notesSlides/notesSlide3.xml" Id="R667ea43747d84e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148ad53c74ff7" /><Relationship Type="http://schemas.openxmlformats.org/officeDocument/2006/relationships/notesSlide" Target="/ppt/notesSlides/notesSlide4.xml" Id="Rbbafceb5ba7c46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62ee4ba68469c" /><Relationship Type="http://schemas.openxmlformats.org/officeDocument/2006/relationships/notesSlide" Target="/ppt/notesSlides/notesSlide5.xml" Id="Rc615bb3a3a5840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e2446b6c74db3" /><Relationship Type="http://schemas.openxmlformats.org/officeDocument/2006/relationships/notesSlide" Target="/ppt/notesSlides/notesSlide6.xml" Id="Reda8f76999e84e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0806b545f4c03" /><Relationship Type="http://schemas.openxmlformats.org/officeDocument/2006/relationships/notesSlide" Target="/ppt/notesSlides/notesSlide7.xml" Id="R860acc1147ab4c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5c89652e641ca" /><Relationship Type="http://schemas.openxmlformats.org/officeDocument/2006/relationships/notesSlide" Target="/ppt/notesSlides/notesSlide8.xml" Id="Ra2ad51a19ca645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1bb8a312b4ae2" /><Relationship Type="http://schemas.openxmlformats.org/officeDocument/2006/relationships/notesSlide" Target="/ppt/notesSlides/notesSlide9.xml" Id="R62ee79685d2944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d9825ad464819" /><Relationship Type="http://schemas.openxmlformats.org/officeDocument/2006/relationships/notesSlide" Target="/ppt/notesSlides/notesSlide10.xml" Id="Re86a7d690c1042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b2ab529e84caa" /><Relationship Type="http://schemas.openxmlformats.org/officeDocument/2006/relationships/notesSlide" Target="/ppt/notesSlides/notesSlide11.xml" Id="Rb1b88f52fb6b42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acaa8c33d4bdb" /><Relationship Type="http://schemas.openxmlformats.org/officeDocument/2006/relationships/image" Target="/ppt/media/image3.png" Id="Rb0ad2cb9449a4ed5" /><Relationship Type="http://schemas.openxmlformats.org/officeDocument/2006/relationships/notesSlide" Target="/ppt/notesSlides/notesSlide12.xml" Id="Rd64d8e0fd40140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ECD2A-896F-4424-B7F6-0961900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37a30bf4d43cf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890B8-94E4-4DA6-A385-2D8CD326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2379F-6A50-4F27-BE9F-EFF335B1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14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B801C-28C5-48B5-83D1-0CFEE9A5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Engineering LLM Applications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AD316-EC0A-4820-AC88-CD6CD06B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F75D2-1918-4942-91EE-7818DA2E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Build a reliable application boundary around model providers, frameworks, tools, and traces.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052c98b054891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94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5B9F3-306D-4A76-BF48-58BBC831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411D1-6355-4CCE-B3D1-6D8D2807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Engineering LLM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8A4B7-8FDF-4CBC-A4D6-A97F4470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C9ACD-B5ED-4666-924F-E620ECBA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1E393-E6A1-42DB-81E0-3448F0EF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3CFE1-FC68-4476-B3BE-276A5CEB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Start from what you already know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7938E-469D-45BF-99B8-FF4AA333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971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6BDB"/>
                </a:solidFill>
              </a:defRPr>
            </a:pPr>
            <a:r>
              <a:rPr sz="2025" b="1">
                <a:solidFill>
                  <a:srgbClr val="176BDB"/>
                </a:solidFill>
              </a:rPr>
              <a:t>HTTP, JSON, schemas, LLM messages, structured output, and tool calling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6C896F-6461-4248-A80D-C77AE28E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87383-4C1A-4288-B398-23FE077D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052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Explain provider APIs in plain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16446-165A-41F0-8F9E-A6069F5D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935EA-5FBC-47B5-8366-BE5E6442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91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Use streaming and retries in a small worked example.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2E353-3252-4C77-A669-0FA3CB18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A7AF1-705E-4AE7-9A6F-B0DD5046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Complete the guided lab and verify Model Context Protocol.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0A0F9-5A0A-4F4E-8E96-2EDE60C8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219200"/>
            <a:ext cx="60960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15267-8B00-4639-A24F-9C6B5DC9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095500"/>
            <a:ext cx="2286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4667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421DE-CA23-4F72-95C6-D4A11752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0097F-641B-47AE-A983-4036669A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Engineering LLM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029CF-B057-4D8C-9D20-F1C7FA0A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51401-BEC6-4B2F-BE1C-09ADF72B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22CBA-3290-437D-9878-17AFB187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The vocabulary of this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DCD05-7862-4B9F-B542-6025C8D1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131D8-CC98-4E9D-8604-7081049A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Build a reliable application boundary around model providers, frameworks, tools, and traces.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BF340-DCBB-49B6-9A00-1195377F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151B4-59B9-457D-BF0A-CD5B8A9A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provider APIs: Provider APIs expose model inference through differing names, message formats, capabilities, limits, and usage metadata.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CCF80-BBA7-42A2-BC4F-52694DDB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48B7A-0C93-4C04-AB60-67B39ABC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streaming and retries: Streaming returns partial events; retries repeat only transient failures under explicit count and time limits.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03A81-881C-4D3C-811A-BA810C31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C3D2E-0F1B-4099-A9D5-492BDAD8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LangChain components: LangChain components connect model calls, prompts, retrieval, tools, parsers, and traces behind explicit interfaces.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FF63A-A289-43FF-91C9-0042ABA3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E47A0-456B-4C34-8059-8ECBBF3B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Model Context Protocol: MCP standardizes how applications expose scoped tools and resources to model clients.</a:t>
            </a:r>
          </a:p>
        </p:txBody>
      </p:sp>
    </p:spTree>
    <p:extLst>
      <p:ext uri="{BB962C8B-B14F-4D97-AF65-F5344CB8AC3E}">
        <p14:creationId xmlns:p14="http://schemas.microsoft.com/office/powerpoint/2010/main" val="8740422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493113-5EA4-4389-B8A2-FE934739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08E93-93E0-4FEE-A907-57B2FA45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Engineering LLM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130B3-F92F-4F5D-BE91-04B59520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94371-9AC4-403A-A87F-52FD11F3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7FDAA-502F-4F48-9151-0E4AD0B3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How the concept 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CCC7C-DFB2-4683-A122-81838CF6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BC64F-0218-4AB1-AF2C-DD24BC84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84D49-00D5-46FC-ACC1-F8782C30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provider APIs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E9895C-26DC-452B-91B3-0719A720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2B291-0BFA-4C84-BEAA-73D7C436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190C7-09B5-4C32-BA3A-31413A90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20244-B575-42B1-97BD-AB282D04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streaming and retries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B02C2-E66B-48CF-931A-5BC384C7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E0092-8DB4-4344-83DA-4F1FA348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F7597-347D-4B05-89C6-894000D0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CE28E-1936-44FA-9D49-3E8DD33A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LangChain components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E245D-8283-4D45-BB0B-4AB8792A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05EEF-631B-489E-8B12-CB5779BA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3B4FD2-D6D9-418F-ADD1-9746332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70C2A2-6CA4-439D-8256-C92B5B50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Model Context Protocol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F998F-156C-48B9-8C9E-58850B26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Application → provider adapter → model; tools remain application-controlled; traces record prompts, calls, latency, and usage.</a:t>
            </a:r>
          </a:p>
        </p:txBody>
      </p:sp>
    </p:spTree>
    <p:extLst>
      <p:ext uri="{BB962C8B-B14F-4D97-AF65-F5344CB8AC3E}">
        <p14:creationId xmlns:p14="http://schemas.microsoft.com/office/powerpoint/2010/main" val="7887656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9E57F-9648-47DE-AF20-ACBF200F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91180-AC20-44D3-A287-7137472B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Engineering LLM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5B371-12CF-4EEE-AECA-C4661E19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4DC31-C789-41AF-8228-61484D60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2A0C0-CB79-4A16-BC94-BC166E3A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Read every part of the 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45520-972E-4F4C-A1BD-382F9291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4E0A5-A56B-4200-A1AF-F8A9FE08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Application → provider adapter → model; tools remain application-controlled; traces record prompts, calls, latency, and usage.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FF1D7-E47F-4988-8B9C-405875ED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DCE4E-934C-46C6-91A4-C3E20044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provider: A hosted or local inference service.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C0BA5-DD55-4A1C-A282-00D51C67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BCB0B-73E9-4524-84DE-6DA4E304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623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stream: Incremental response events.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D9191-2D87-41F4-BCCC-C4E93F1D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43356-078E-429F-AB04-74F1C954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244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MCP: A standard protocol for model-facing capabilities.</a:t>
            </a:r>
          </a:p>
        </p:txBody>
      </p:sp>
    </p:spTree>
    <p:extLst>
      <p:ext uri="{BB962C8B-B14F-4D97-AF65-F5344CB8AC3E}">
        <p14:creationId xmlns:p14="http://schemas.microsoft.com/office/powerpoint/2010/main" val="1825450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91711-2A98-4ED7-8DC7-6A4A6664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21174-1B22-4960-99FE-4ACAFBC5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Engineering LLM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A4F89-761B-4910-BC21-9B0AC835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1BA88-7D39-4C7F-AA8A-199278AD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WORKED EXAMPLE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2ADAD-3DBA-485F-897F-BC10C932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Worked example by hand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F0C53-8A42-408F-9382-11C5F3CF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382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220"/>
                </a:solidFill>
              </a:defRPr>
            </a:pPr>
            <a:r>
              <a:rPr sz="2325" b="1">
                <a:solidFill>
                  <a:srgbClr val="0B1220"/>
                </a:solidFill>
              </a:rPr>
              <a:t>Call two providers through one interface, require the same schema, and fall back only on retryable errors.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C29D0-8733-4709-9B4A-9FF6A863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C88C2-E099-462C-8C80-F69A888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BC4D5-C270-4290-BC6F-B3B7AD2A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Known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E7A3F-FE5B-4EDC-8750-182262DD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10788-DF57-4A09-8B65-6A61F0F5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8D2F5-19E6-42EA-B92B-EEEC54D6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Apply the mechanism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C23D0D-C577-46BD-9701-ADF1391D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1000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6B5F"/>
                </a:solidFill>
              </a:defRPr>
            </a:pPr>
            <a:r>
              <a:rPr sz="1200" b="1">
                <a:solidFill>
                  <a:srgbClr val="F06B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9664F-7D82-4069-A52B-1CE32192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3009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38941-149F-4BC6-93AF-83D3B0BB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Interpret the result</a:t>
            </a:r>
          </a:p>
        </p:txBody>
      </p:sp>
    </p:spTree>
    <p:extLst>
      <p:ext uri="{BB962C8B-B14F-4D97-AF65-F5344CB8AC3E}">
        <p14:creationId xmlns:p14="http://schemas.microsoft.com/office/powerpoint/2010/main" val="6003397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6492A-5F18-4FFD-944E-E5AAEB7D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A0DEF-1B7D-4F16-9512-9BA74B4E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Engineering LLM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40AED-44C6-4427-A548-36BC4915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E6BD2-3939-4AD9-AF9F-304E4999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0010EC-303D-441F-B47D-5E67B9F0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Map the concept to 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F51E3-B4D6-4C44-A1BD-CACD1E50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92312-CD27-43CC-AB50-4D461AE2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5BB5B-DCFB-4528-B3B9-7BE0640F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B23A7-459D-43E3-A7F1-25FAF82A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BB9CE-961D-4A2F-9670-A0508423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8C3BD-6168-4710-A5E8-900E7E0B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response = completion(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model="ollama/llama3.2",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messages=[{"role": "user", "content": "Return one JSON status"}],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print(response.choices[0].message.content)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3CBB6-3BB1-4D88-81E0-8CF78917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A9573-9DE2-41FE-9775-F9F4B4B5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FFE6C-4B23-4E68-A00C-6FFE571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{"status":"ready"}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B586A-B2C5-4CF5-BB48-C9A8D2E9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1A2F8-339F-4510-9CBF-3788CD4F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Each line corresponds to a concept already explained.</a:t>
            </a:r>
          </a:p>
        </p:txBody>
      </p:sp>
    </p:spTree>
    <p:extLst>
      <p:ext uri="{BB962C8B-B14F-4D97-AF65-F5344CB8AC3E}">
        <p14:creationId xmlns:p14="http://schemas.microsoft.com/office/powerpoint/2010/main" val="9624171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9B99D-79A9-4E14-ABF7-73BC5651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650C1-86EE-45A3-B2BE-CB4D3F18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Engineering LLM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949AF-6D1F-47DD-9E41-6173B7A2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D97D8-BE0B-40A8-A97E-65786D87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583CC-5FFE-43E5-AD78-40443F08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Build the complete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8E7AE-DF0F-4940-945E-E8426519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0BE9C-60EA-4718-A314-47B4CE25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B318C-61BE-4E76-8776-AA1A12D7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Normalize provider differences behind an application-owned interface and capability checks.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A9BA2-A2AC-4667-8B62-21CDE4E3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DA10C-D8D9-4B9E-A43F-3C6DFB37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CF104-091B-43A5-8928-A807733E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4EE93-791F-419B-B80B-86C033BA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Retry only transient errors with exponential backoff, jitter, and a total attempt limit.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FDBF8-8BB1-414C-8A36-DE322CE4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30BD8-8D7B-450C-9DC6-9321FAD7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FA92D-413D-4129-96CF-4C1D3FA5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E0A42-F99A-4CC3-8E23-98F4AE00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Trace model, prompt version, tool calls, tokens, latency, errors, and cost for every request.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5D832-BF8B-4BB0-9798-608EBFA5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FD6F2-2842-4218-B462-E36F46C4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3990B-28FC-42EE-89DC-8713A791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6F33B-C6CA-4C00-9F1C-007B0EE4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MCP tools perform actions while resources expose context; both require least-privilege access.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D4A1A-A7B3-47E5-A649-2F47EF9D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144582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C802D-AB34-4CCA-A203-87DE811B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1068D-F628-429B-AC3F-90943A5C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Engineering LLM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06DC5-78B7-4D51-851A-B7CA5481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13614-3E38-4AA8-8726-D0B49D11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FOUR CONNECTED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382EA-5807-484D-92ED-D9E3E821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Notebook readiness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2B7E1-1E49-40BE-B4BC-97F595D6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D2A6E4-5968-4006-835F-0E1D3AC8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9E619-CCA1-49C6-ABF9-DA1DFAC3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provider APIs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787BA-6B8B-458F-80A7-E3427448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B1410-EED4-45D5-A5CA-2545B32A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5F944-29BF-4B38-925B-0B69F616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A942FC-D338-4A23-A084-AE808B15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streaming and retries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4A6E7-8070-4EC1-A602-4D5A59BE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E8064-BC23-41D7-A73B-531F08AD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935D6-EB79-473A-B085-CF408B52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FA3062-FBA4-4B4E-A888-7EFCFD59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LangChain components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BD7B7-B3B0-41F4-96F8-59D4E227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400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8BA2B6"/>
                </a:solidFill>
              </a:defRPr>
            </a:pPr>
            <a:r>
              <a:rPr sz="2325" b="1">
                <a:solidFill>
                  <a:srgbClr val="8BA2B6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EDCD4A-A0DC-4FDD-8C0F-B2773479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FD900-20C1-4B50-9367-C7F5C2A0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3595E-C076-4447-8D3B-E4743DDE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Model Context Protocol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A4B5C-E05F-45C0-BAEF-0E2FB23E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9D8E4"/>
                </a:solidFill>
              </a:defRPr>
            </a:pPr>
            <a:r>
              <a:rPr sz="1575">
                <a:solidFill>
                  <a:srgbClr val="C9D8E4"/>
                </a:solidFill>
              </a:rPr>
              <a:t>Use the concepts from this lesson to read and complete https://github.com/curiousily/AI-Bootcamp/blob/master/26.multiple-llm-providers-with-litellm.ipynb.</a:t>
            </a:r>
          </a:p>
        </p:txBody>
      </p:sp>
    </p:spTree>
    <p:extLst>
      <p:ext uri="{BB962C8B-B14F-4D97-AF65-F5344CB8AC3E}">
        <p14:creationId xmlns:p14="http://schemas.microsoft.com/office/powerpoint/2010/main" val="890754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DEFD6-B4EE-4FB2-9732-A11FEC29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E61AF-A39D-43F8-A6FB-A35A5297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Engineering LLM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0F39C-F642-4D9F-8A3E-A83C6227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055A7-9EFB-4D7E-975F-07018499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5FA71-09DA-470E-87C1-D42707A6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Common beginner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4C4AA-1233-4600-BD33-D0E81F5D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A216B-FE2B-46A5-AAC0-D12A946E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5C756-128F-4A63-87ED-AB7638B2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907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Retrying every error and multiplying cost.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2E6BE-9C49-4F85-855A-BB35F878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F73D4-81C6-4511-A59E-22D2278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74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06B5F"/>
                </a:solidFill>
              </a:defRPr>
            </a:pPr>
            <a:r>
              <a:rPr sz="1350" b="1">
                <a:solidFill>
                  <a:srgbClr val="F06B5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75E26-7442-4CE0-8A33-3DC5BBE6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220"/>
                </a:solidFill>
              </a:defRPr>
            </a:pPr>
            <a:r>
              <a:rPr sz="1875" b="1">
                <a:solidFill>
                  <a:srgbClr val="0B1220"/>
                </a:solidFill>
              </a:rPr>
              <a:t>Granting an MCP server broader filesystem or network access than the task requires.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8228A-E17C-4FF2-9A8D-6740BB2F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76725"/>
            <a:ext cx="9982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C9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83442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ADE20-BB3C-4BD5-95AD-D6250B9F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411EA-5426-4A36-A402-54AE240D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Engineering LLM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1C670-9D80-400C-9E88-02623B23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639C8-1A9C-476A-9F40-A696FA6C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469E5-DBA2-4F7E-BA33-8BDC50A1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Build one traced application that streams output, validates a response, and invokes a scoped external capability.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F59EE-EAC1-46FF-A3F3-205DC319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2069E-826C-4A3D-BE94-3CC32467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5951C-8563-47EA-A72C-DD3D2072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Predict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9FC3E-F5A6-4881-988F-8EF2C922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4AA9F-7F8F-46F2-87E4-D318550C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DB9CE-79F3-48E5-B6AE-DA562DE3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A5972-E9FC-45FF-8B3E-3901B6FC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B546D-EF74-4EA0-9ED4-C4D4090D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8F161-FC20-4BF2-B48C-F86EDACF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915AD-1866-4531-B381-B3732983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A54BD-7B81-4C71-BEC2-DA14244C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FD6A6-4CED-477B-A408-9F4694E1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18525655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5DCC0-B698-41FA-A5E1-1F8607E7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M14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E5122-7AD8-4EE9-8BF2-45CCA363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Engineering LLM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E39F0-5D12-4582-B4DE-9BEFEDCE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977F2-C2CA-47A7-A104-F796E451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SESSION SYNTHESIS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3D669-4B08-4A8F-A391-384C1BD2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Keep the system, not isolated definitions.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9121D-BF9D-4007-86CF-5C80FA31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BF8BE-D16A-4D84-AA74-B0454201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860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Explain provider APIs in plain language.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333A5-B441-4C9B-AD9B-8BEFD120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E1002-D31A-4A66-B98F-D98B4233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05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Use streaming and retries in a small worked example.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4D4F2-99E5-4B5C-B0EB-CBE5965C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FC289-3872-4275-AB58-F716228E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243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Complete the guided lab and verify Model Context Protocol.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75082-FB8A-45B0-A3C0-96A99627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06B5F"/>
                </a:solidFill>
              </a:defRPr>
            </a:pPr>
            <a:r>
              <a:rPr sz="900" b="1">
                <a:solidFill>
                  <a:srgbClr val="F06B5F"/>
                </a:solidFill>
              </a:rPr>
              <a:t>NEXT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1D051-4745-4166-847C-534AA535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409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An LLM service with provider configuration, structured output, tool boundaries, traces, retry limits, and usage reporting.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d2cb9449a4ed5"/>
          <a:stretch xmlns:a="http://schemas.openxmlformats.org/drawingml/2006/main"/>
        </p:blipFill>
        <p:spPr>
          <a:xfrm xmlns:a="http://schemas.openxmlformats.org/drawingml/2006/main">
            <a:off x="9791700" y="5905500"/>
            <a:ext cx="13716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57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2026-07-28T16:53:19.0090000Z</dcterms:created>
  <dcterms:modified xsi:type="dcterms:W3CDTF">2026-07-28T16:53:19.0090000Z</dcterms:modified>
</coreProperties>
</file>