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e81078a26154df8" /><Relationship Type="http://schemas.openxmlformats.org/officeDocument/2006/relationships/extended-properties" Target="/docProps/app.xml" Id="R0752496660a74388" /><Relationship Type="http://schemas.openxmlformats.org/officeDocument/2006/relationships/officeDocument" Target="/ppt/presentation.xml" Id="R5c04b9e523b94dd3" /></Relationships>
</file>

<file path=ppt/presentation.xml><?xml version="1.0" encoding="utf-8"?>
<p:presentation xmlns:p="http://schemas.openxmlformats.org/presentationml/2006/main">
  <p:sldMasterIdLst>
    <p:sldMasterId xmlns:r="http://schemas.openxmlformats.org/officeDocument/2006/relationships" id="2147483648" r:id="Rc679983010b34872"/>
  </p:sldMasterIdLst>
  <p:notesMasterIdLst>
    <p:notesMasterId xmlns:r="http://schemas.openxmlformats.org/officeDocument/2006/relationships" r:id="R35a254a046834586"/>
  </p:notesMasterIdLst>
  <p:sldIdLst>
    <p:sldId xmlns:r="http://schemas.openxmlformats.org/officeDocument/2006/relationships" id="256" r:id="Rb67f041e75e549de"/>
    <p:sldId xmlns:r="http://schemas.openxmlformats.org/officeDocument/2006/relationships" id="257" r:id="Raaae507572b14d98"/>
    <p:sldId xmlns:r="http://schemas.openxmlformats.org/officeDocument/2006/relationships" id="258" r:id="Rb8ac622bdd0943a2"/>
    <p:sldId xmlns:r="http://schemas.openxmlformats.org/officeDocument/2006/relationships" id="259" r:id="R661c866656744dd1"/>
    <p:sldId xmlns:r="http://schemas.openxmlformats.org/officeDocument/2006/relationships" id="260" r:id="R178efbebaa96417b"/>
    <p:sldId xmlns:r="http://schemas.openxmlformats.org/officeDocument/2006/relationships" id="261" r:id="R196994c84f6d40a0"/>
    <p:sldId xmlns:r="http://schemas.openxmlformats.org/officeDocument/2006/relationships" id="262" r:id="R7c0a2ea72adf44e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852df6ece0b4cc9" /><Relationship Type="http://schemas.openxmlformats.org/officeDocument/2006/relationships/slideMaster" Target="/ppt/slideMasters/slideMaster1.xml" Id="Rc679983010b34872" /><Relationship Type="http://schemas.openxmlformats.org/officeDocument/2006/relationships/notesMaster" Target="/ppt/notesMasters/notesMaster1.xml" Id="R35a254a046834586" /><Relationship Type="http://schemas.openxmlformats.org/officeDocument/2006/relationships/presProps" Target="/ppt/presProps.xml" Id="Ra853fcfa924842bd" /><Relationship Type="http://schemas.openxmlformats.org/officeDocument/2006/relationships/tableStyles" Target="/ppt/tableStyles.xml" Id="R42c936b91e004927" /><Relationship Type="http://schemas.openxmlformats.org/officeDocument/2006/relationships/slide" Target="/ppt/slides/slide1.xml" Id="Rb67f041e75e549de" /><Relationship Type="http://schemas.openxmlformats.org/officeDocument/2006/relationships/slide" Target="/ppt/slides/slide2.xml" Id="Raaae507572b14d98" /><Relationship Type="http://schemas.openxmlformats.org/officeDocument/2006/relationships/slide" Target="/ppt/slides/slide3.xml" Id="Rb8ac622bdd0943a2" /><Relationship Type="http://schemas.openxmlformats.org/officeDocument/2006/relationships/slide" Target="/ppt/slides/slide4.xml" Id="R661c866656744dd1" /><Relationship Type="http://schemas.openxmlformats.org/officeDocument/2006/relationships/slide" Target="/ppt/slides/slide5.xml" Id="R178efbebaa96417b" /><Relationship Type="http://schemas.openxmlformats.org/officeDocument/2006/relationships/slide" Target="/ppt/slides/slide6.xml" Id="R196994c84f6d40a0" /><Relationship Type="http://schemas.openxmlformats.org/officeDocument/2006/relationships/slide" Target="/ppt/slides/slide7.xml" Id="R7c0a2ea72adf44e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63d0c71b48f4b4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064b7d4319447eb" /><Relationship Type="http://schemas.openxmlformats.org/officeDocument/2006/relationships/notesMaster" Target="/ppt/notesMasters/notesMaster1.xml" Id="Re905f18e4dd547cd" /></Relationships>
</file>

<file path=ppt/notesSlides/_rels/notesSlide2.xml.rels>&#65279;<?xml version="1.0" encoding="utf-8"?><Relationships xmlns="http://schemas.openxmlformats.org/package/2006/relationships"><Relationship Type="http://schemas.openxmlformats.org/officeDocument/2006/relationships/slide" Target="/ppt/slides/slide2.xml" Id="R7d87f8179bd9464e" /><Relationship Type="http://schemas.openxmlformats.org/officeDocument/2006/relationships/notesMaster" Target="/ppt/notesMasters/notesMaster1.xml" Id="R67814f6fa3da47f7" /></Relationships>
</file>

<file path=ppt/notesSlides/_rels/notesSlide3.xml.rels>&#65279;<?xml version="1.0" encoding="utf-8"?><Relationships xmlns="http://schemas.openxmlformats.org/package/2006/relationships"><Relationship Type="http://schemas.openxmlformats.org/officeDocument/2006/relationships/slide" Target="/ppt/slides/slide3.xml" Id="Rffb03b8f96b749df" /><Relationship Type="http://schemas.openxmlformats.org/officeDocument/2006/relationships/notesMaster" Target="/ppt/notesMasters/notesMaster1.xml" Id="R56b549ddeeb743da" /></Relationships>
</file>

<file path=ppt/notesSlides/_rels/notesSlide4.xml.rels>&#65279;<?xml version="1.0" encoding="utf-8"?><Relationships xmlns="http://schemas.openxmlformats.org/package/2006/relationships"><Relationship Type="http://schemas.openxmlformats.org/officeDocument/2006/relationships/slide" Target="/ppt/slides/slide4.xml" Id="R9f005a93f1bd4bd4" /><Relationship Type="http://schemas.openxmlformats.org/officeDocument/2006/relationships/notesMaster" Target="/ppt/notesMasters/notesMaster1.xml" Id="Rfaf777f8dee7422e" /></Relationships>
</file>

<file path=ppt/notesSlides/_rels/notesSlide5.xml.rels>&#65279;<?xml version="1.0" encoding="utf-8"?><Relationships xmlns="http://schemas.openxmlformats.org/package/2006/relationships"><Relationship Type="http://schemas.openxmlformats.org/officeDocument/2006/relationships/slide" Target="/ppt/slides/slide5.xml" Id="R2c3ea640581d4fdd" /><Relationship Type="http://schemas.openxmlformats.org/officeDocument/2006/relationships/notesMaster" Target="/ppt/notesMasters/notesMaster1.xml" Id="R84fce545c9f8486f" /></Relationships>
</file>

<file path=ppt/notesSlides/_rels/notesSlide6.xml.rels>&#65279;<?xml version="1.0" encoding="utf-8"?><Relationships xmlns="http://schemas.openxmlformats.org/package/2006/relationships"><Relationship Type="http://schemas.openxmlformats.org/officeDocument/2006/relationships/slide" Target="/ppt/slides/slide6.xml" Id="Rd7dccc1e716c4f79" /><Relationship Type="http://schemas.openxmlformats.org/officeDocument/2006/relationships/notesMaster" Target="/ppt/notesMasters/notesMaster1.xml" Id="Rbe595250e74e4a94" /></Relationships>
</file>

<file path=ppt/notesSlides/_rels/notesSlide7.xml.rels>&#65279;<?xml version="1.0" encoding="utf-8"?><Relationships xmlns="http://schemas.openxmlformats.org/package/2006/relationships"><Relationship Type="http://schemas.openxmlformats.org/officeDocument/2006/relationships/slide" Target="/ppt/slides/slide7.xml" Id="R31ba8a41544b4b70" /><Relationship Type="http://schemas.openxmlformats.org/officeDocument/2006/relationships/notesMaster" Target="/ppt/notesMasters/notesMaster1.xml" Id="Raa4e5817ae754c4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Python becomes useful for data work when every transformation is explicit. We move from collections to small testable functions and treat error messages as evidence.</a:t>
            </a:r>
          </a:p>
          <a:p xmlns:a="http://schemas.openxmlformats.org/drawingml/2006/main">
            <a:r>
              <a:t/>
            </a:r>
          </a:p>
          <a:p xmlns:a="http://schemas.openxmlformats.org/drawingml/2006/main">
            <a:r>
              <a:t>[Sources]</a:t>
            </a:r>
          </a:p>
          <a:p xmlns:a="http://schemas.openxmlformats.org/drawingml/2006/main">
            <a:r>
              <a:t>- DS Academy curriculum manifest: Week 1, session 1: Python for Data Science I</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By the end of this session, learners should be able to Use core Python types and control flow intentionally. Write small functions with explicit inputs and outputs. Debug type, scope, and indexing errors.</a:t>
            </a:r>
          </a:p>
          <a:p xmlns:a="http://schemas.openxmlformats.org/drawingml/2006/main">
            <a:r>
              <a:t/>
            </a:r>
          </a:p>
          <a:p xmlns:a="http://schemas.openxmlformats.org/drawingml/2006/main">
            <a:r>
              <a:t>[Sources]</a:t>
            </a:r>
          </a:p>
          <a:p xmlns:a="http://schemas.openxmlformats.org/drawingml/2006/main">
            <a:r>
              <a:t>- DS Academy curriculum manifest: Learning outcomes for Python for Data Science I</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four concepts as a system rather than isolated vocabulary: data types, control flow, functions, exceptions.</a:t>
            </a:r>
          </a:p>
          <a:p xmlns:a="http://schemas.openxmlformats.org/drawingml/2006/main">
            <a:r>
              <a:t/>
            </a:r>
          </a:p>
          <a:p xmlns:a="http://schemas.openxmlformats.org/drawingml/2006/main">
            <a:r>
              <a:t>[Sources]</a:t>
            </a:r>
          </a:p>
          <a:p xmlns:a="http://schemas.openxmlformats.org/drawingml/2006/main">
            <a:r>
              <a:t>- DS Academy curriculum manifest: Core concepts for Python for Data Science I</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Apply the session content through a four-stage reasoning loop: define the question, transform deliberately, validate assumptions, and communicate the evidence.</a:t>
            </a:r>
          </a:p>
          <a:p xmlns:a="http://schemas.openxmlformats.org/drawingml/2006/main">
            <a:r>
              <a:t/>
            </a:r>
          </a:p>
          <a:p xmlns:a="http://schemas.openxmlformats.org/drawingml/2006/main">
            <a:r>
              <a:t>[Sources]</a:t>
            </a:r>
          </a:p>
          <a:p xmlns:a="http://schemas.openxmlformats.org/drawingml/2006/main">
            <a:r>
              <a:t>- DS Academy curriculum manifest: DS Academy teaching framework applied to Python for Data Science I</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Guide learners through the lab without completing the reasoning for them. Ask for an explicit frame, a minimal implementation, boundary tests, and an evidence note.</a:t>
            </a:r>
          </a:p>
          <a:p xmlns:a="http://schemas.openxmlformats.org/drawingml/2006/main">
            <a:r>
              <a:t/>
            </a:r>
          </a:p>
          <a:p xmlns:a="http://schemas.openxmlformats.org/drawingml/2006/main">
            <a:r>
              <a:t>[Sources]</a:t>
            </a:r>
          </a:p>
          <a:p xmlns:a="http://schemas.openxmlformats.org/drawingml/2006/main">
            <a:r>
              <a:t>- DS Academy curriculum manifest: Guided lab for Python for Data Science I</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deliverable is A tested Python module and concise debugging log. Use the weekly assessment rubric as a quality gate, not as an after-the-fact scoring checklist.</a:t>
            </a:r>
          </a:p>
          <a:p xmlns:a="http://schemas.openxmlformats.org/drawingml/2006/main">
            <a:r>
              <a:t/>
            </a:r>
          </a:p>
          <a:p xmlns:a="http://schemas.openxmlformats.org/drawingml/2006/main">
            <a:r>
              <a:t>[Sources]</a:t>
            </a:r>
          </a:p>
          <a:p xmlns:a="http://schemas.openxmlformats.org/drawingml/2006/main">
            <a:r>
              <a:t>- DS Academy curriculum manifest: Portfolio deliverable and assessment rubric for week 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Python becomes useful for data work when every transformation is explicit. We move from collections to small testable functions and treat error messages as evidence.</a:t>
            </a:r>
          </a:p>
          <a:p xmlns:a="http://schemas.openxmlformats.org/drawingml/2006/main">
            <a:r>
              <a:t/>
            </a:r>
          </a:p>
          <a:p xmlns:a="http://schemas.openxmlformats.org/drawingml/2006/main">
            <a:r>
              <a:t>[Sources]</a:t>
            </a:r>
          </a:p>
          <a:p xmlns:a="http://schemas.openxmlformats.org/drawingml/2006/main">
            <a:r>
              <a:t>- DS Academy curriculum manifest: Session summary for Python for Data Science I</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26f6e6f684f4e0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0a6a91440f54e8d" /><Relationship Type="http://schemas.openxmlformats.org/officeDocument/2006/relationships/slideLayout" Target="/ppt/slideLayouts/slideLayout1.xml" Id="Rf8601235adeb49f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8601235adeb49f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4ff15c4a9564738" /><Relationship Type="http://schemas.openxmlformats.org/officeDocument/2006/relationships/image" Target="/ppt/media/image.png" Id="R22dd14b9c4ef45ec" /><Relationship Type="http://schemas.openxmlformats.org/officeDocument/2006/relationships/image" Target="/ppt/media/image2.png" Id="R4afffea1a6ec47e2" /><Relationship Type="http://schemas.openxmlformats.org/officeDocument/2006/relationships/notesSlide" Target="/ppt/notesSlides/notesSlide1.xml" Id="R785d50aa0e2b4c5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c1f338f398749b9" /><Relationship Type="http://schemas.openxmlformats.org/officeDocument/2006/relationships/notesSlide" Target="/ppt/notesSlides/notesSlide2.xml" Id="R61b9ecfc9f034eb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0e826efe5334082" /><Relationship Type="http://schemas.openxmlformats.org/officeDocument/2006/relationships/notesSlide" Target="/ppt/notesSlides/notesSlide3.xml" Id="R9b0f323d24ec45b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ab10b8e0d1a4614" /><Relationship Type="http://schemas.openxmlformats.org/officeDocument/2006/relationships/notesSlide" Target="/ppt/notesSlides/notesSlide4.xml" Id="R53163d2fdfaa4fd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2af1dcc2a894b15" /><Relationship Type="http://schemas.openxmlformats.org/officeDocument/2006/relationships/notesSlide" Target="/ppt/notesSlides/notesSlide5.xml" Id="R32c472ea96a249b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aa150c008fe441e" /><Relationship Type="http://schemas.openxmlformats.org/officeDocument/2006/relationships/notesSlide" Target="/ppt/notesSlides/notesSlide6.xml" Id="R4a05678936ef4b7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840b021d0de4dc6" /><Relationship Type="http://schemas.openxmlformats.org/officeDocument/2006/relationships/notesSlide" Target="/ppt/notesSlides/notesSlide7.xml" Id="R58ddfb56952c466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269162E-7F9F-4602-AF49-826AFFA94FA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8A7C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820644E-49E1-4988-AA99-74F66AFDC156}"/>
              </a:ext>
            </a:extLst>
          </p:cNvPr>
          <p:cNvSpPr>
            <a:spLocks xmlns:a="http://schemas.openxmlformats.org/drawingml/2006/main" noGrp="1"/>
          </p:cNvSpPr>
          <p:nvPr/>
        </p:nvSpPr>
        <p:spPr>
          <a:xfrm xmlns:a="http://schemas.openxmlformats.org/drawingml/2006/main">
            <a:off x="171450" y="0"/>
            <a:ext cx="561975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22dd14b9c4ef45ec"/>
          <a:srcRect xmlns:a="http://schemas.openxmlformats.org/drawingml/2006/main" l="23736" t="0" r="23736" b="0"/>
          <a:stretch xmlns:a="http://schemas.openxmlformats.org/drawingml/2006/main">
            <a:fillRect l="0" t="0" r="0" b="0"/>
          </a:stretch>
        </p:blipFill>
        <p:spPr>
          <a:xfrm xmlns:a="http://schemas.openxmlformats.org/drawingml/2006/main">
            <a:off x="5791200" y="0"/>
            <a:ext cx="6400800" cy="6858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EFAC89D-BDAA-402A-81E1-D17937D1393D}"/>
              </a:ext>
            </a:extLst>
          </p:cNvPr>
          <p:cNvSpPr>
            <a:spLocks xmlns:a="http://schemas.openxmlformats.org/drawingml/2006/main" noGrp="1"/>
          </p:cNvSpPr>
          <p:nvPr/>
        </p:nvSpPr>
        <p:spPr>
          <a:xfrm xmlns:a="http://schemas.openxmlformats.org/drawingml/2006/main">
            <a:off x="666750" y="762000"/>
            <a:ext cx="390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176BDB"/>
                </a:solidFill>
              </a:defRPr>
            </a:pPr>
            <a:r>
              <a:rPr sz="1050" b="1">
                <a:solidFill>
                  <a:srgbClr val="176BDB"/>
                </a:solidFill>
              </a:rPr>
              <a:t>WEEK 01  ·  SESSION 1</a:t>
            </a:r>
          </a:p>
        </p:txBody>
      </p:sp>
      <p:sp>
        <p:nvSpPr>
          <p:cNvPr id="5" name="">
            <a:extLst xmlns:a="http://schemas.openxmlformats.org/drawingml/2006/main">
              <a:ext uri="{FF2B5EF4-FFF2-40B4-BE49-F238E27FC236}">
                <a16:creationId xmlns:a16="http://schemas.microsoft.com/office/drawing/2014/main" id="{2B4AA966-ACAA-4AC1-8D10-1FBC1C91492C}"/>
              </a:ext>
            </a:extLst>
          </p:cNvPr>
          <p:cNvSpPr>
            <a:spLocks xmlns:a="http://schemas.openxmlformats.org/drawingml/2006/main" noGrp="1"/>
          </p:cNvSpPr>
          <p:nvPr/>
        </p:nvSpPr>
        <p:spPr>
          <a:xfrm xmlns:a="http://schemas.openxmlformats.org/drawingml/2006/main">
            <a:off x="666750" y="1485900"/>
            <a:ext cx="4514850" cy="1790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675" b="1">
                <a:solidFill>
                  <a:srgbClr val="172033"/>
                </a:solidFill>
              </a:defRPr>
            </a:pPr>
            <a:r>
              <a:rPr sz="3675" b="1">
                <a:solidFill>
                  <a:srgbClr val="172033"/>
                </a:solidFill>
              </a:rPr>
              <a:t>Python for Data Science I</a:t>
            </a:r>
          </a:p>
        </p:txBody>
      </p:sp>
      <p:sp>
        <p:nvSpPr>
          <p:cNvPr id="6" name="">
            <a:extLst xmlns:a="http://schemas.openxmlformats.org/drawingml/2006/main">
              <a:ext uri="{FF2B5EF4-FFF2-40B4-BE49-F238E27FC236}">
                <a16:creationId xmlns:a16="http://schemas.microsoft.com/office/drawing/2014/main" id="{B908B8A8-7761-411C-874C-652D3F5A7766}"/>
              </a:ext>
            </a:extLst>
          </p:cNvPr>
          <p:cNvSpPr>
            <a:spLocks xmlns:a="http://schemas.openxmlformats.org/drawingml/2006/main" noGrp="1"/>
          </p:cNvSpPr>
          <p:nvPr/>
        </p:nvSpPr>
        <p:spPr>
          <a:xfrm xmlns:a="http://schemas.openxmlformats.org/drawingml/2006/main">
            <a:off x="666750" y="3524250"/>
            <a:ext cx="704850" cy="57150"/>
          </a:xfrm>
          <a:prstGeom xmlns:a="http://schemas.openxmlformats.org/drawingml/2006/main" prst="rect">
            <a:avLst/>
          </a:prstGeom>
          <a:solidFill xmlns:a="http://schemas.openxmlformats.org/drawingml/2006/main">
            <a:srgbClr val="EF776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FD55575-A6D9-43C9-B387-9D23FADD2302}"/>
              </a:ext>
            </a:extLst>
          </p:cNvPr>
          <p:cNvSpPr>
            <a:spLocks xmlns:a="http://schemas.openxmlformats.org/drawingml/2006/main" noGrp="1"/>
          </p:cNvSpPr>
          <p:nvPr/>
        </p:nvSpPr>
        <p:spPr>
          <a:xfrm xmlns:a="http://schemas.openxmlformats.org/drawingml/2006/main">
            <a:off x="666750" y="3886200"/>
            <a:ext cx="44386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58657A"/>
                </a:solidFill>
              </a:defRPr>
            </a:pPr>
            <a:r>
              <a:rPr sz="1575">
                <a:solidFill>
                  <a:srgbClr val="58657A"/>
                </a:solidFill>
              </a:rPr>
              <a:t>Write clear, testable Python and reason about data transformations.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4afffea1a6ec47e2"/>
          <a:stretch xmlns:a="http://schemas.openxmlformats.org/drawingml/2006/main"/>
        </p:blipFill>
        <p:spPr>
          <a:xfrm xmlns:a="http://schemas.openxmlformats.org/drawingml/2006/main">
            <a:off x="666750" y="5810250"/>
            <a:ext cx="1714500" cy="571500"/>
          </a:xfrm>
          <a:prstGeom xmlns:a="http://schemas.openxmlformats.org/drawingml/2006/main" prst="rect">
            <a:avLst/>
          </a:prstGeom>
        </p:spPr>
      </p:pic>
    </p:spTree>
    <p:extLst>
      <p:ext uri="{BB962C8B-B14F-4D97-AF65-F5344CB8AC3E}">
        <p14:creationId xmlns:p14="http://schemas.microsoft.com/office/powerpoint/2010/main" val="8620924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A9F2C17-2B6C-4E34-8AB1-65F2E9395C6F}"/>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8A7C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51AE7A2-3A7C-4A92-8261-95F62E03ABB4}"/>
              </a:ext>
            </a:extLst>
          </p:cNvPr>
          <p:cNvSpPr>
            <a:spLocks xmlns:a="http://schemas.openxmlformats.org/drawingml/2006/main" noGrp="1"/>
          </p:cNvSpPr>
          <p:nvPr/>
        </p:nvSpPr>
        <p:spPr>
          <a:xfrm xmlns:a="http://schemas.openxmlformats.org/drawingml/2006/main">
            <a:off x="495300" y="26670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WEEK 01  /  SESSION 01</a:t>
            </a:r>
          </a:p>
        </p:txBody>
      </p:sp>
      <p:sp>
        <p:nvSpPr>
          <p:cNvPr id="3" name="">
            <a:extLst xmlns:a="http://schemas.openxmlformats.org/drawingml/2006/main">
              <a:ext uri="{FF2B5EF4-FFF2-40B4-BE49-F238E27FC236}">
                <a16:creationId xmlns:a16="http://schemas.microsoft.com/office/drawing/2014/main" id="{1CA36085-EE5D-442A-ACAD-6759E2222021}"/>
              </a:ext>
            </a:extLst>
          </p:cNvPr>
          <p:cNvSpPr>
            <a:spLocks xmlns:a="http://schemas.openxmlformats.org/drawingml/2006/main" noGrp="1"/>
          </p:cNvSpPr>
          <p:nvPr/>
        </p:nvSpPr>
        <p:spPr>
          <a:xfrm xmlns:a="http://schemas.openxmlformats.org/drawingml/2006/main">
            <a:off x="495300" y="542925"/>
            <a:ext cx="876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172033"/>
                </a:solidFill>
              </a:defRPr>
            </a:pPr>
            <a:r>
              <a:rPr sz="2550" b="1">
                <a:solidFill>
                  <a:srgbClr val="172033"/>
                </a:solidFill>
              </a:rPr>
              <a:t>Learning outcomes</a:t>
            </a:r>
          </a:p>
        </p:txBody>
      </p:sp>
      <p:sp>
        <p:nvSpPr>
          <p:cNvPr id="4" name="">
            <a:extLst xmlns:a="http://schemas.openxmlformats.org/drawingml/2006/main">
              <a:ext uri="{FF2B5EF4-FFF2-40B4-BE49-F238E27FC236}">
                <a16:creationId xmlns:a16="http://schemas.microsoft.com/office/drawing/2014/main" id="{5FB44D1F-13E7-48F4-981F-512DCDA38CB4}"/>
              </a:ext>
            </a:extLst>
          </p:cNvPr>
          <p:cNvSpPr>
            <a:spLocks xmlns:a="http://schemas.openxmlformats.org/drawingml/2006/main" noGrp="1"/>
          </p:cNvSpPr>
          <p:nvPr/>
        </p:nvSpPr>
        <p:spPr>
          <a:xfrm xmlns:a="http://schemas.openxmlformats.org/drawingml/2006/main">
            <a:off x="10334625" y="323850"/>
            <a:ext cx="1381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58657A"/>
                </a:solidFill>
              </a:defRPr>
            </a:pPr>
            <a:r>
              <a:rPr sz="900" b="1">
                <a:solidFill>
                  <a:srgbClr val="58657A"/>
                </a:solidFill>
              </a:rPr>
              <a:t>DS ACADEMY</a:t>
            </a:r>
          </a:p>
        </p:txBody>
      </p:sp>
      <p:sp>
        <p:nvSpPr>
          <p:cNvPr id="5" name="">
            <a:extLst xmlns:a="http://schemas.openxmlformats.org/drawingml/2006/main">
              <a:ext uri="{FF2B5EF4-FFF2-40B4-BE49-F238E27FC236}">
                <a16:creationId xmlns:a16="http://schemas.microsoft.com/office/drawing/2014/main" id="{F4C803E8-25F4-4E7F-8C5A-EFE85CE7CF13}"/>
              </a:ext>
            </a:extLst>
          </p:cNvPr>
          <p:cNvSpPr>
            <a:spLocks xmlns:a="http://schemas.openxmlformats.org/drawingml/2006/main" noGrp="1"/>
          </p:cNvSpPr>
          <p:nvPr/>
        </p:nvSpPr>
        <p:spPr>
          <a:xfrm xmlns:a="http://schemas.openxmlformats.org/drawingml/2006/main">
            <a:off x="495300" y="1181100"/>
            <a:ext cx="11220450" cy="19050"/>
          </a:xfrm>
          <a:prstGeom xmlns:a="http://schemas.openxmlformats.org/drawingml/2006/main" prst="rect">
            <a:avLst/>
          </a:prstGeom>
          <a:solidFill xmlns:a="http://schemas.openxmlformats.org/drawingml/2006/main">
            <a:srgbClr val="D7E2E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B471EB7-211D-4769-BF4A-AEAD03016B9D}"/>
              </a:ext>
            </a:extLst>
          </p:cNvPr>
          <p:cNvSpPr>
            <a:spLocks xmlns:a="http://schemas.openxmlformats.org/drawingml/2006/main" noGrp="1"/>
          </p:cNvSpPr>
          <p:nvPr/>
        </p:nvSpPr>
        <p:spPr>
          <a:xfrm xmlns:a="http://schemas.openxmlformats.org/drawingml/2006/main">
            <a:off x="628650" y="1562100"/>
            <a:ext cx="800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700" b="1">
                <a:solidFill>
                  <a:srgbClr val="176BDB"/>
                </a:solidFill>
              </a:defRPr>
            </a:pPr>
            <a:r>
              <a:rPr sz="2700" b="1">
                <a:solidFill>
                  <a:srgbClr val="176BDB"/>
                </a:solidFill>
              </a:rPr>
              <a:t>01</a:t>
            </a:r>
          </a:p>
        </p:txBody>
      </p:sp>
      <p:sp>
        <p:nvSpPr>
          <p:cNvPr id="7" name="">
            <a:extLst xmlns:a="http://schemas.openxmlformats.org/drawingml/2006/main">
              <a:ext uri="{FF2B5EF4-FFF2-40B4-BE49-F238E27FC236}">
                <a16:creationId xmlns:a16="http://schemas.microsoft.com/office/drawing/2014/main" id="{7F7B6171-A506-43B3-8501-89D21AAD477D}"/>
              </a:ext>
            </a:extLst>
          </p:cNvPr>
          <p:cNvSpPr>
            <a:spLocks xmlns:a="http://schemas.openxmlformats.org/drawingml/2006/main" noGrp="1"/>
          </p:cNvSpPr>
          <p:nvPr/>
        </p:nvSpPr>
        <p:spPr>
          <a:xfrm xmlns:a="http://schemas.openxmlformats.org/drawingml/2006/main">
            <a:off x="1552575" y="1809750"/>
            <a:ext cx="800100" cy="38100"/>
          </a:xfrm>
          <a:prstGeom xmlns:a="http://schemas.openxmlformats.org/drawingml/2006/main" prst="rect">
            <a:avLst/>
          </a:prstGeom>
          <a:solidFill xmlns:a="http://schemas.openxmlformats.org/drawingml/2006/main">
            <a:srgbClr val="D7E2E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3C839DE-19E5-4A51-A7DE-FF1212E5123E}"/>
              </a:ext>
            </a:extLst>
          </p:cNvPr>
          <p:cNvSpPr>
            <a:spLocks xmlns:a="http://schemas.openxmlformats.org/drawingml/2006/main" noGrp="1"/>
          </p:cNvSpPr>
          <p:nvPr/>
        </p:nvSpPr>
        <p:spPr>
          <a:xfrm xmlns:a="http://schemas.openxmlformats.org/drawingml/2006/main">
            <a:off x="2628900" y="1533525"/>
            <a:ext cx="8096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172033"/>
                </a:solidFill>
              </a:defRPr>
            </a:pPr>
            <a:r>
              <a:rPr sz="1875" b="1">
                <a:solidFill>
                  <a:srgbClr val="172033"/>
                </a:solidFill>
              </a:rPr>
              <a:t>Use core Python types and control flow intentionally.</a:t>
            </a:r>
          </a:p>
        </p:txBody>
      </p:sp>
      <p:sp>
        <p:nvSpPr>
          <p:cNvPr id="9" name="">
            <a:extLst xmlns:a="http://schemas.openxmlformats.org/drawingml/2006/main">
              <a:ext uri="{FF2B5EF4-FFF2-40B4-BE49-F238E27FC236}">
                <a16:creationId xmlns:a16="http://schemas.microsoft.com/office/drawing/2014/main" id="{E7E760C4-EFD1-4429-BFF5-A531D0231630}"/>
              </a:ext>
            </a:extLst>
          </p:cNvPr>
          <p:cNvSpPr>
            <a:spLocks xmlns:a="http://schemas.openxmlformats.org/drawingml/2006/main" noGrp="1"/>
          </p:cNvSpPr>
          <p:nvPr/>
        </p:nvSpPr>
        <p:spPr>
          <a:xfrm xmlns:a="http://schemas.openxmlformats.org/drawingml/2006/main">
            <a:off x="628650" y="2990850"/>
            <a:ext cx="800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700" b="1">
                <a:solidFill>
                  <a:srgbClr val="08A7C9"/>
                </a:solidFill>
              </a:defRPr>
            </a:pPr>
            <a:r>
              <a:rPr sz="2700" b="1">
                <a:solidFill>
                  <a:srgbClr val="08A7C9"/>
                </a:solidFill>
              </a:rPr>
              <a:t>02</a:t>
            </a:r>
          </a:p>
        </p:txBody>
      </p:sp>
      <p:sp>
        <p:nvSpPr>
          <p:cNvPr id="10" name="">
            <a:extLst xmlns:a="http://schemas.openxmlformats.org/drawingml/2006/main">
              <a:ext uri="{FF2B5EF4-FFF2-40B4-BE49-F238E27FC236}">
                <a16:creationId xmlns:a16="http://schemas.microsoft.com/office/drawing/2014/main" id="{47C26E2F-A894-4E07-9CA0-33AFE3A90519}"/>
              </a:ext>
            </a:extLst>
          </p:cNvPr>
          <p:cNvSpPr>
            <a:spLocks xmlns:a="http://schemas.openxmlformats.org/drawingml/2006/main" noGrp="1"/>
          </p:cNvSpPr>
          <p:nvPr/>
        </p:nvSpPr>
        <p:spPr>
          <a:xfrm xmlns:a="http://schemas.openxmlformats.org/drawingml/2006/main">
            <a:off x="1552575" y="3238500"/>
            <a:ext cx="800100" cy="38100"/>
          </a:xfrm>
          <a:prstGeom xmlns:a="http://schemas.openxmlformats.org/drawingml/2006/main" prst="rect">
            <a:avLst/>
          </a:prstGeom>
          <a:solidFill xmlns:a="http://schemas.openxmlformats.org/drawingml/2006/main">
            <a:srgbClr val="D7E2E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E7939D5-A2B0-4A95-B480-02CC0CDC5F63}"/>
              </a:ext>
            </a:extLst>
          </p:cNvPr>
          <p:cNvSpPr>
            <a:spLocks xmlns:a="http://schemas.openxmlformats.org/drawingml/2006/main" noGrp="1"/>
          </p:cNvSpPr>
          <p:nvPr/>
        </p:nvSpPr>
        <p:spPr>
          <a:xfrm xmlns:a="http://schemas.openxmlformats.org/drawingml/2006/main">
            <a:off x="2628900" y="2962275"/>
            <a:ext cx="8096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172033"/>
                </a:solidFill>
              </a:defRPr>
            </a:pPr>
            <a:r>
              <a:rPr sz="1875" b="1">
                <a:solidFill>
                  <a:srgbClr val="172033"/>
                </a:solidFill>
              </a:rPr>
              <a:t>Write small functions with explicit inputs and outputs.</a:t>
            </a:r>
          </a:p>
        </p:txBody>
      </p:sp>
      <p:sp>
        <p:nvSpPr>
          <p:cNvPr id="12" name="">
            <a:extLst xmlns:a="http://schemas.openxmlformats.org/drawingml/2006/main">
              <a:ext uri="{FF2B5EF4-FFF2-40B4-BE49-F238E27FC236}">
                <a16:creationId xmlns:a16="http://schemas.microsoft.com/office/drawing/2014/main" id="{6F8C9DE6-F81B-425F-8E1A-F8C96FCF1F88}"/>
              </a:ext>
            </a:extLst>
          </p:cNvPr>
          <p:cNvSpPr>
            <a:spLocks xmlns:a="http://schemas.openxmlformats.org/drawingml/2006/main" noGrp="1"/>
          </p:cNvSpPr>
          <p:nvPr/>
        </p:nvSpPr>
        <p:spPr>
          <a:xfrm xmlns:a="http://schemas.openxmlformats.org/drawingml/2006/main">
            <a:off x="628650" y="4419600"/>
            <a:ext cx="800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700" b="1">
                <a:solidFill>
                  <a:srgbClr val="176BDB"/>
                </a:solidFill>
              </a:defRPr>
            </a:pPr>
            <a:r>
              <a:rPr sz="2700" b="1">
                <a:solidFill>
                  <a:srgbClr val="176BDB"/>
                </a:solidFill>
              </a:rPr>
              <a:t>03</a:t>
            </a:r>
          </a:p>
        </p:txBody>
      </p:sp>
      <p:sp>
        <p:nvSpPr>
          <p:cNvPr id="13" name="">
            <a:extLst xmlns:a="http://schemas.openxmlformats.org/drawingml/2006/main">
              <a:ext uri="{FF2B5EF4-FFF2-40B4-BE49-F238E27FC236}">
                <a16:creationId xmlns:a16="http://schemas.microsoft.com/office/drawing/2014/main" id="{DA895F12-AC08-4E26-8638-A4D109A53504}"/>
              </a:ext>
            </a:extLst>
          </p:cNvPr>
          <p:cNvSpPr>
            <a:spLocks xmlns:a="http://schemas.openxmlformats.org/drawingml/2006/main" noGrp="1"/>
          </p:cNvSpPr>
          <p:nvPr/>
        </p:nvSpPr>
        <p:spPr>
          <a:xfrm xmlns:a="http://schemas.openxmlformats.org/drawingml/2006/main">
            <a:off x="1552575" y="4667250"/>
            <a:ext cx="800100" cy="38100"/>
          </a:xfrm>
          <a:prstGeom xmlns:a="http://schemas.openxmlformats.org/drawingml/2006/main" prst="rect">
            <a:avLst/>
          </a:prstGeom>
          <a:solidFill xmlns:a="http://schemas.openxmlformats.org/drawingml/2006/main">
            <a:srgbClr val="EF776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F4ECA0F-D13F-46E4-8D56-D80A197BA25A}"/>
              </a:ext>
            </a:extLst>
          </p:cNvPr>
          <p:cNvSpPr>
            <a:spLocks xmlns:a="http://schemas.openxmlformats.org/drawingml/2006/main" noGrp="1"/>
          </p:cNvSpPr>
          <p:nvPr/>
        </p:nvSpPr>
        <p:spPr>
          <a:xfrm xmlns:a="http://schemas.openxmlformats.org/drawingml/2006/main">
            <a:off x="2628900" y="4391025"/>
            <a:ext cx="8096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172033"/>
                </a:solidFill>
              </a:defRPr>
            </a:pPr>
            <a:r>
              <a:rPr sz="1875" b="1">
                <a:solidFill>
                  <a:srgbClr val="172033"/>
                </a:solidFill>
              </a:rPr>
              <a:t>Debug type, scope, and indexing errors.</a:t>
            </a:r>
          </a:p>
        </p:txBody>
      </p:sp>
      <p:sp>
        <p:nvSpPr>
          <p:cNvPr id="15" name="">
            <a:extLst xmlns:a="http://schemas.openxmlformats.org/drawingml/2006/main">
              <a:ext uri="{FF2B5EF4-FFF2-40B4-BE49-F238E27FC236}">
                <a16:creationId xmlns:a16="http://schemas.microsoft.com/office/drawing/2014/main" id="{0C15CDD5-1606-4842-B6F6-ED94DFA5C566}"/>
              </a:ext>
            </a:extLst>
          </p:cNvPr>
          <p:cNvSpPr>
            <a:spLocks xmlns:a="http://schemas.openxmlformats.org/drawingml/2006/main" noGrp="1"/>
          </p:cNvSpPr>
          <p:nvPr/>
        </p:nvSpPr>
        <p:spPr>
          <a:xfrm xmlns:a="http://schemas.openxmlformats.org/drawingml/2006/main">
            <a:off x="495300" y="64770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58657A"/>
                </a:solidFill>
              </a:defRPr>
            </a:pPr>
            <a:r>
              <a:rPr sz="750">
                <a:solidFill>
                  <a:srgbClr val="58657A"/>
                </a:solidFill>
              </a:rPr>
              <a:t>End-to-End Data Science &amp; AI</a:t>
            </a:r>
          </a:p>
        </p:txBody>
      </p:sp>
      <p:sp>
        <p:nvSpPr>
          <p:cNvPr id="16" name="">
            <a:extLst xmlns:a="http://schemas.openxmlformats.org/drawingml/2006/main">
              <a:ext uri="{FF2B5EF4-FFF2-40B4-BE49-F238E27FC236}">
                <a16:creationId xmlns:a16="http://schemas.microsoft.com/office/drawing/2014/main" id="{DCD59318-45F9-4D68-8B8A-E93D006FE332}"/>
              </a:ext>
            </a:extLst>
          </p:cNvPr>
          <p:cNvSpPr>
            <a:spLocks xmlns:a="http://schemas.openxmlformats.org/drawingml/2006/main" noGrp="1"/>
          </p:cNvSpPr>
          <p:nvPr/>
        </p:nvSpPr>
        <p:spPr>
          <a:xfrm xmlns:a="http://schemas.openxmlformats.org/drawingml/2006/main">
            <a:off x="11277600" y="6477000"/>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1">
                <a:solidFill>
                  <a:srgbClr val="176BDB"/>
                </a:solidFill>
              </a:defRPr>
            </a:pPr>
            <a:r>
              <a:rPr sz="750" b="1">
                <a:solidFill>
                  <a:srgbClr val="176BDB"/>
                </a:solidFill>
              </a:rPr>
              <a:t>02</a:t>
            </a:r>
          </a:p>
        </p:txBody>
      </p:sp>
    </p:spTree>
    <p:extLst>
      <p:ext uri="{BB962C8B-B14F-4D97-AF65-F5344CB8AC3E}">
        <p14:creationId xmlns:p14="http://schemas.microsoft.com/office/powerpoint/2010/main" val="615644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3BEBF91B-450D-417C-B0FE-967E273F5234}"/>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8A7C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2B8132B-7860-47F3-A5AB-78A0D022551F}"/>
              </a:ext>
            </a:extLst>
          </p:cNvPr>
          <p:cNvSpPr>
            <a:spLocks xmlns:a="http://schemas.openxmlformats.org/drawingml/2006/main" noGrp="1"/>
          </p:cNvSpPr>
          <p:nvPr/>
        </p:nvSpPr>
        <p:spPr>
          <a:xfrm xmlns:a="http://schemas.openxmlformats.org/drawingml/2006/main">
            <a:off x="495300" y="26670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WEEK 01  /  SESSION 01</a:t>
            </a:r>
          </a:p>
        </p:txBody>
      </p:sp>
      <p:sp>
        <p:nvSpPr>
          <p:cNvPr id="3" name="">
            <a:extLst xmlns:a="http://schemas.openxmlformats.org/drawingml/2006/main">
              <a:ext uri="{FF2B5EF4-FFF2-40B4-BE49-F238E27FC236}">
                <a16:creationId xmlns:a16="http://schemas.microsoft.com/office/drawing/2014/main" id="{450D2167-D0D1-4A4B-B37E-51A3008A2445}"/>
              </a:ext>
            </a:extLst>
          </p:cNvPr>
          <p:cNvSpPr>
            <a:spLocks xmlns:a="http://schemas.openxmlformats.org/drawingml/2006/main" noGrp="1"/>
          </p:cNvSpPr>
          <p:nvPr/>
        </p:nvSpPr>
        <p:spPr>
          <a:xfrm xmlns:a="http://schemas.openxmlformats.org/drawingml/2006/main">
            <a:off x="495300" y="542925"/>
            <a:ext cx="876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172033"/>
                </a:solidFill>
              </a:defRPr>
            </a:pPr>
            <a:r>
              <a:rPr sz="2550" b="1">
                <a:solidFill>
                  <a:srgbClr val="172033"/>
                </a:solidFill>
              </a:rPr>
              <a:t>The concept system</a:t>
            </a:r>
          </a:p>
        </p:txBody>
      </p:sp>
      <p:sp>
        <p:nvSpPr>
          <p:cNvPr id="4" name="">
            <a:extLst xmlns:a="http://schemas.openxmlformats.org/drawingml/2006/main">
              <a:ext uri="{FF2B5EF4-FFF2-40B4-BE49-F238E27FC236}">
                <a16:creationId xmlns:a16="http://schemas.microsoft.com/office/drawing/2014/main" id="{14714D6D-D6CB-4E93-83A4-E11149247EDB}"/>
              </a:ext>
            </a:extLst>
          </p:cNvPr>
          <p:cNvSpPr>
            <a:spLocks xmlns:a="http://schemas.openxmlformats.org/drawingml/2006/main" noGrp="1"/>
          </p:cNvSpPr>
          <p:nvPr/>
        </p:nvSpPr>
        <p:spPr>
          <a:xfrm xmlns:a="http://schemas.openxmlformats.org/drawingml/2006/main">
            <a:off x="10334625" y="323850"/>
            <a:ext cx="1381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58657A"/>
                </a:solidFill>
              </a:defRPr>
            </a:pPr>
            <a:r>
              <a:rPr sz="900" b="1">
                <a:solidFill>
                  <a:srgbClr val="58657A"/>
                </a:solidFill>
              </a:rPr>
              <a:t>DS ACADEMY</a:t>
            </a:r>
          </a:p>
        </p:txBody>
      </p:sp>
      <p:sp>
        <p:nvSpPr>
          <p:cNvPr id="5" name="">
            <a:extLst xmlns:a="http://schemas.openxmlformats.org/drawingml/2006/main">
              <a:ext uri="{FF2B5EF4-FFF2-40B4-BE49-F238E27FC236}">
                <a16:creationId xmlns:a16="http://schemas.microsoft.com/office/drawing/2014/main" id="{6B3B5D61-7631-4317-A65B-0E0CAE3FFFA3}"/>
              </a:ext>
            </a:extLst>
          </p:cNvPr>
          <p:cNvSpPr>
            <a:spLocks xmlns:a="http://schemas.openxmlformats.org/drawingml/2006/main" noGrp="1"/>
          </p:cNvSpPr>
          <p:nvPr/>
        </p:nvSpPr>
        <p:spPr>
          <a:xfrm xmlns:a="http://schemas.openxmlformats.org/drawingml/2006/main">
            <a:off x="495300" y="1181100"/>
            <a:ext cx="11220450" cy="19050"/>
          </a:xfrm>
          <a:prstGeom xmlns:a="http://schemas.openxmlformats.org/drawingml/2006/main" prst="rect">
            <a:avLst/>
          </a:prstGeom>
          <a:solidFill xmlns:a="http://schemas.openxmlformats.org/drawingml/2006/main">
            <a:srgbClr val="D7E2E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934BFDD-706C-49D1-80BD-DAD334EC465E}"/>
              </a:ext>
            </a:extLst>
          </p:cNvPr>
          <p:cNvSpPr>
            <a:spLocks xmlns:a="http://schemas.openxmlformats.org/drawingml/2006/main" noGrp="1"/>
          </p:cNvSpPr>
          <p:nvPr/>
        </p:nvSpPr>
        <p:spPr>
          <a:xfrm xmlns:a="http://schemas.openxmlformats.org/drawingml/2006/main">
            <a:off x="723900" y="1733550"/>
            <a:ext cx="4762500" cy="1619250"/>
          </a:xfrm>
          <a:prstGeom xmlns:a="http://schemas.openxmlformats.org/drawingml/2006/main" prst="roundRect">
            <a:avLst>
              <a:gd name="adj" fmla="val 4706"/>
            </a:avLst>
          </a:prstGeom>
          <a:solidFill xmlns:a="http://schemas.openxmlformats.org/drawingml/2006/main">
            <a:srgbClr val="EDF4F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A7682D8-E19F-472C-AFC7-7B81F58F0846}"/>
              </a:ext>
            </a:extLst>
          </p:cNvPr>
          <p:cNvSpPr>
            <a:spLocks xmlns:a="http://schemas.openxmlformats.org/drawingml/2006/main" noGrp="1"/>
          </p:cNvSpPr>
          <p:nvPr/>
        </p:nvSpPr>
        <p:spPr>
          <a:xfrm xmlns:a="http://schemas.openxmlformats.org/drawingml/2006/main">
            <a:off x="723900" y="1733550"/>
            <a:ext cx="95250" cy="1619250"/>
          </a:xfrm>
          <a:prstGeom xmlns:a="http://schemas.openxmlformats.org/drawingml/2006/main" prst="rect">
            <a:avLst/>
          </a:prstGeom>
          <a:solidFill xmlns:a="http://schemas.openxmlformats.org/drawingml/2006/main">
            <a:srgbClr val="176BD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FE5BE06-2FA8-4DF4-AE98-219CBBD48C41}"/>
              </a:ext>
            </a:extLst>
          </p:cNvPr>
          <p:cNvSpPr>
            <a:spLocks xmlns:a="http://schemas.openxmlformats.org/drawingml/2006/main" noGrp="1"/>
          </p:cNvSpPr>
          <p:nvPr/>
        </p:nvSpPr>
        <p:spPr>
          <a:xfrm xmlns:a="http://schemas.openxmlformats.org/drawingml/2006/main">
            <a:off x="1047750" y="1971675"/>
            <a:ext cx="552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8657A"/>
                </a:solidFill>
              </a:defRPr>
            </a:pPr>
            <a:r>
              <a:rPr sz="1050" b="1">
                <a:solidFill>
                  <a:srgbClr val="58657A"/>
                </a:solidFill>
              </a:rPr>
              <a:t>01</a:t>
            </a:r>
          </a:p>
        </p:txBody>
      </p:sp>
      <p:sp>
        <p:nvSpPr>
          <p:cNvPr id="9" name="">
            <a:extLst xmlns:a="http://schemas.openxmlformats.org/drawingml/2006/main">
              <a:ext uri="{FF2B5EF4-FFF2-40B4-BE49-F238E27FC236}">
                <a16:creationId xmlns:a16="http://schemas.microsoft.com/office/drawing/2014/main" id="{4F6D9135-FB20-42D6-89B9-BAA5333AE942}"/>
              </a:ext>
            </a:extLst>
          </p:cNvPr>
          <p:cNvSpPr>
            <a:spLocks xmlns:a="http://schemas.openxmlformats.org/drawingml/2006/main" noGrp="1"/>
          </p:cNvSpPr>
          <p:nvPr/>
        </p:nvSpPr>
        <p:spPr>
          <a:xfrm xmlns:a="http://schemas.openxmlformats.org/drawingml/2006/main">
            <a:off x="1047750" y="2390775"/>
            <a:ext cx="4000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172033"/>
                </a:solidFill>
              </a:defRPr>
            </a:pPr>
            <a:r>
              <a:rPr sz="2025" b="1">
                <a:solidFill>
                  <a:srgbClr val="172033"/>
                </a:solidFill>
              </a:rPr>
              <a:t>data types</a:t>
            </a:r>
          </a:p>
        </p:txBody>
      </p:sp>
      <p:sp>
        <p:nvSpPr>
          <p:cNvPr id="10" name="">
            <a:extLst xmlns:a="http://schemas.openxmlformats.org/drawingml/2006/main">
              <a:ext uri="{FF2B5EF4-FFF2-40B4-BE49-F238E27FC236}">
                <a16:creationId xmlns:a16="http://schemas.microsoft.com/office/drawing/2014/main" id="{3FD5ADA4-4A60-4AFE-AE19-4B27DB22FD72}"/>
              </a:ext>
            </a:extLst>
          </p:cNvPr>
          <p:cNvSpPr>
            <a:spLocks xmlns:a="http://schemas.openxmlformats.org/drawingml/2006/main" noGrp="1"/>
          </p:cNvSpPr>
          <p:nvPr/>
        </p:nvSpPr>
        <p:spPr>
          <a:xfrm xmlns:a="http://schemas.openxmlformats.org/drawingml/2006/main">
            <a:off x="6229350" y="1733550"/>
            <a:ext cx="4762500" cy="1619250"/>
          </a:xfrm>
          <a:prstGeom xmlns:a="http://schemas.openxmlformats.org/drawingml/2006/main" prst="roundRect">
            <a:avLst>
              <a:gd name="adj" fmla="val 4706"/>
            </a:avLst>
          </a:prstGeom>
          <a:solidFill xmlns:a="http://schemas.openxmlformats.org/drawingml/2006/main">
            <a:srgbClr val="FFFFFF"/>
          </a:solidFill>
          <a:ln xmlns:a="http://schemas.openxmlformats.org/drawingml/2006/main" w="9525">
            <a:solidFill>
              <a:srgbClr val="D7E2EC"/>
            </a:solidFill>
            <a:prstDash val="solid"/>
          </a:ln>
        </p:spPr>
      </p:sp>
      <p:sp>
        <p:nvSpPr>
          <p:cNvPr id="11" name="">
            <a:extLst xmlns:a="http://schemas.openxmlformats.org/drawingml/2006/main">
              <a:ext uri="{FF2B5EF4-FFF2-40B4-BE49-F238E27FC236}">
                <a16:creationId xmlns:a16="http://schemas.microsoft.com/office/drawing/2014/main" id="{89D96EAB-D4EB-4699-B0F9-8C39802EEE35}"/>
              </a:ext>
            </a:extLst>
          </p:cNvPr>
          <p:cNvSpPr>
            <a:spLocks xmlns:a="http://schemas.openxmlformats.org/drawingml/2006/main" noGrp="1"/>
          </p:cNvSpPr>
          <p:nvPr/>
        </p:nvSpPr>
        <p:spPr>
          <a:xfrm xmlns:a="http://schemas.openxmlformats.org/drawingml/2006/main">
            <a:off x="6229350" y="1733550"/>
            <a:ext cx="95250" cy="1619250"/>
          </a:xfrm>
          <a:prstGeom xmlns:a="http://schemas.openxmlformats.org/drawingml/2006/main" prst="rect">
            <a:avLst/>
          </a:prstGeom>
          <a:solidFill xmlns:a="http://schemas.openxmlformats.org/drawingml/2006/main">
            <a:srgbClr val="08A7C9"/>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444F629-27D5-4771-B530-F28DFA11BBD4}"/>
              </a:ext>
            </a:extLst>
          </p:cNvPr>
          <p:cNvSpPr>
            <a:spLocks xmlns:a="http://schemas.openxmlformats.org/drawingml/2006/main" noGrp="1"/>
          </p:cNvSpPr>
          <p:nvPr/>
        </p:nvSpPr>
        <p:spPr>
          <a:xfrm xmlns:a="http://schemas.openxmlformats.org/drawingml/2006/main">
            <a:off x="6553200" y="1971675"/>
            <a:ext cx="552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8657A"/>
                </a:solidFill>
              </a:defRPr>
            </a:pPr>
            <a:r>
              <a:rPr sz="1050" b="1">
                <a:solidFill>
                  <a:srgbClr val="58657A"/>
                </a:solidFill>
              </a:rPr>
              <a:t>02</a:t>
            </a:r>
          </a:p>
        </p:txBody>
      </p:sp>
      <p:sp>
        <p:nvSpPr>
          <p:cNvPr id="13" name="">
            <a:extLst xmlns:a="http://schemas.openxmlformats.org/drawingml/2006/main">
              <a:ext uri="{FF2B5EF4-FFF2-40B4-BE49-F238E27FC236}">
                <a16:creationId xmlns:a16="http://schemas.microsoft.com/office/drawing/2014/main" id="{4F00A67A-9DA0-4B07-85D0-FBC27A154DA7}"/>
              </a:ext>
            </a:extLst>
          </p:cNvPr>
          <p:cNvSpPr>
            <a:spLocks xmlns:a="http://schemas.openxmlformats.org/drawingml/2006/main" noGrp="1"/>
          </p:cNvSpPr>
          <p:nvPr/>
        </p:nvSpPr>
        <p:spPr>
          <a:xfrm xmlns:a="http://schemas.openxmlformats.org/drawingml/2006/main">
            <a:off x="6553200" y="2390775"/>
            <a:ext cx="4000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172033"/>
                </a:solidFill>
              </a:defRPr>
            </a:pPr>
            <a:r>
              <a:rPr sz="2025" b="1">
                <a:solidFill>
                  <a:srgbClr val="172033"/>
                </a:solidFill>
              </a:rPr>
              <a:t>control flow</a:t>
            </a:r>
          </a:p>
        </p:txBody>
      </p:sp>
      <p:sp>
        <p:nvSpPr>
          <p:cNvPr id="14" name="">
            <a:extLst xmlns:a="http://schemas.openxmlformats.org/drawingml/2006/main">
              <a:ext uri="{FF2B5EF4-FFF2-40B4-BE49-F238E27FC236}">
                <a16:creationId xmlns:a16="http://schemas.microsoft.com/office/drawing/2014/main" id="{C4A9A0E9-326F-482E-8CDB-79EE4C57011F}"/>
              </a:ext>
            </a:extLst>
          </p:cNvPr>
          <p:cNvSpPr>
            <a:spLocks xmlns:a="http://schemas.openxmlformats.org/drawingml/2006/main" noGrp="1"/>
          </p:cNvSpPr>
          <p:nvPr/>
        </p:nvSpPr>
        <p:spPr>
          <a:xfrm xmlns:a="http://schemas.openxmlformats.org/drawingml/2006/main">
            <a:off x="723900" y="4000500"/>
            <a:ext cx="4762500" cy="1619250"/>
          </a:xfrm>
          <a:prstGeom xmlns:a="http://schemas.openxmlformats.org/drawingml/2006/main" prst="roundRect">
            <a:avLst>
              <a:gd name="adj" fmla="val 4706"/>
            </a:avLst>
          </a:prstGeom>
          <a:solidFill xmlns:a="http://schemas.openxmlformats.org/drawingml/2006/main">
            <a:srgbClr val="EDF4F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335D236-055E-47AE-BCB6-4A43DE46F828}"/>
              </a:ext>
            </a:extLst>
          </p:cNvPr>
          <p:cNvSpPr>
            <a:spLocks xmlns:a="http://schemas.openxmlformats.org/drawingml/2006/main" noGrp="1"/>
          </p:cNvSpPr>
          <p:nvPr/>
        </p:nvSpPr>
        <p:spPr>
          <a:xfrm xmlns:a="http://schemas.openxmlformats.org/drawingml/2006/main">
            <a:off x="723900" y="4000500"/>
            <a:ext cx="95250" cy="1619250"/>
          </a:xfrm>
          <a:prstGeom xmlns:a="http://schemas.openxmlformats.org/drawingml/2006/main" prst="rect">
            <a:avLst/>
          </a:prstGeom>
          <a:solidFill xmlns:a="http://schemas.openxmlformats.org/drawingml/2006/main">
            <a:srgbClr val="176BDB"/>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CBC8E5E-F7EB-46B8-B0F5-7F50E3976DBD}"/>
              </a:ext>
            </a:extLst>
          </p:cNvPr>
          <p:cNvSpPr>
            <a:spLocks xmlns:a="http://schemas.openxmlformats.org/drawingml/2006/main" noGrp="1"/>
          </p:cNvSpPr>
          <p:nvPr/>
        </p:nvSpPr>
        <p:spPr>
          <a:xfrm xmlns:a="http://schemas.openxmlformats.org/drawingml/2006/main">
            <a:off x="1047750" y="4238625"/>
            <a:ext cx="552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8657A"/>
                </a:solidFill>
              </a:defRPr>
            </a:pPr>
            <a:r>
              <a:rPr sz="1050" b="1">
                <a:solidFill>
                  <a:srgbClr val="58657A"/>
                </a:solidFill>
              </a:rPr>
              <a:t>03</a:t>
            </a:r>
          </a:p>
        </p:txBody>
      </p:sp>
      <p:sp>
        <p:nvSpPr>
          <p:cNvPr id="17" name="">
            <a:extLst xmlns:a="http://schemas.openxmlformats.org/drawingml/2006/main">
              <a:ext uri="{FF2B5EF4-FFF2-40B4-BE49-F238E27FC236}">
                <a16:creationId xmlns:a16="http://schemas.microsoft.com/office/drawing/2014/main" id="{FF9BBA72-460F-4A84-A2AE-223B7961AEDB}"/>
              </a:ext>
            </a:extLst>
          </p:cNvPr>
          <p:cNvSpPr>
            <a:spLocks xmlns:a="http://schemas.openxmlformats.org/drawingml/2006/main" noGrp="1"/>
          </p:cNvSpPr>
          <p:nvPr/>
        </p:nvSpPr>
        <p:spPr>
          <a:xfrm xmlns:a="http://schemas.openxmlformats.org/drawingml/2006/main">
            <a:off x="1047750" y="4657725"/>
            <a:ext cx="4000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172033"/>
                </a:solidFill>
              </a:defRPr>
            </a:pPr>
            <a:r>
              <a:rPr sz="2025" b="1">
                <a:solidFill>
                  <a:srgbClr val="172033"/>
                </a:solidFill>
              </a:rPr>
              <a:t>functions</a:t>
            </a:r>
          </a:p>
        </p:txBody>
      </p:sp>
      <p:sp>
        <p:nvSpPr>
          <p:cNvPr id="18" name="">
            <a:extLst xmlns:a="http://schemas.openxmlformats.org/drawingml/2006/main">
              <a:ext uri="{FF2B5EF4-FFF2-40B4-BE49-F238E27FC236}">
                <a16:creationId xmlns:a16="http://schemas.microsoft.com/office/drawing/2014/main" id="{CA2746DB-D3AC-4BE7-B408-074C6E068B36}"/>
              </a:ext>
            </a:extLst>
          </p:cNvPr>
          <p:cNvSpPr>
            <a:spLocks xmlns:a="http://schemas.openxmlformats.org/drawingml/2006/main" noGrp="1"/>
          </p:cNvSpPr>
          <p:nvPr/>
        </p:nvSpPr>
        <p:spPr>
          <a:xfrm xmlns:a="http://schemas.openxmlformats.org/drawingml/2006/main">
            <a:off x="6229350" y="4000500"/>
            <a:ext cx="4762500" cy="1619250"/>
          </a:xfrm>
          <a:prstGeom xmlns:a="http://schemas.openxmlformats.org/drawingml/2006/main" prst="roundRect">
            <a:avLst>
              <a:gd name="adj" fmla="val 4706"/>
            </a:avLst>
          </a:prstGeom>
          <a:solidFill xmlns:a="http://schemas.openxmlformats.org/drawingml/2006/main">
            <a:srgbClr val="FFFFFF"/>
          </a:solidFill>
          <a:ln xmlns:a="http://schemas.openxmlformats.org/drawingml/2006/main" w="9525">
            <a:solidFill>
              <a:srgbClr val="D7E2EC"/>
            </a:solidFill>
            <a:prstDash val="solid"/>
          </a:ln>
        </p:spPr>
      </p:sp>
      <p:sp>
        <p:nvSpPr>
          <p:cNvPr id="19" name="">
            <a:extLst xmlns:a="http://schemas.openxmlformats.org/drawingml/2006/main">
              <a:ext uri="{FF2B5EF4-FFF2-40B4-BE49-F238E27FC236}">
                <a16:creationId xmlns:a16="http://schemas.microsoft.com/office/drawing/2014/main" id="{20A729A5-7288-4FBF-90EB-E2CDB5CD3519}"/>
              </a:ext>
            </a:extLst>
          </p:cNvPr>
          <p:cNvSpPr>
            <a:spLocks xmlns:a="http://schemas.openxmlformats.org/drawingml/2006/main" noGrp="1"/>
          </p:cNvSpPr>
          <p:nvPr/>
        </p:nvSpPr>
        <p:spPr>
          <a:xfrm xmlns:a="http://schemas.openxmlformats.org/drawingml/2006/main">
            <a:off x="6229350" y="4000500"/>
            <a:ext cx="95250" cy="1619250"/>
          </a:xfrm>
          <a:prstGeom xmlns:a="http://schemas.openxmlformats.org/drawingml/2006/main" prst="rect">
            <a:avLst/>
          </a:prstGeom>
          <a:solidFill xmlns:a="http://schemas.openxmlformats.org/drawingml/2006/main">
            <a:srgbClr val="EF776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D2E2DEA-63F7-47C8-9E0C-9314BF4B1BA2}"/>
              </a:ext>
            </a:extLst>
          </p:cNvPr>
          <p:cNvSpPr>
            <a:spLocks xmlns:a="http://schemas.openxmlformats.org/drawingml/2006/main" noGrp="1"/>
          </p:cNvSpPr>
          <p:nvPr/>
        </p:nvSpPr>
        <p:spPr>
          <a:xfrm xmlns:a="http://schemas.openxmlformats.org/drawingml/2006/main">
            <a:off x="6553200" y="4238625"/>
            <a:ext cx="552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58657A"/>
                </a:solidFill>
              </a:defRPr>
            </a:pPr>
            <a:r>
              <a:rPr sz="1050" b="1">
                <a:solidFill>
                  <a:srgbClr val="58657A"/>
                </a:solidFill>
              </a:rPr>
              <a:t>04</a:t>
            </a:r>
          </a:p>
        </p:txBody>
      </p:sp>
      <p:sp>
        <p:nvSpPr>
          <p:cNvPr id="21" name="">
            <a:extLst xmlns:a="http://schemas.openxmlformats.org/drawingml/2006/main">
              <a:ext uri="{FF2B5EF4-FFF2-40B4-BE49-F238E27FC236}">
                <a16:creationId xmlns:a16="http://schemas.microsoft.com/office/drawing/2014/main" id="{8656E8A8-1938-4A68-9B58-93C7A1C114B2}"/>
              </a:ext>
            </a:extLst>
          </p:cNvPr>
          <p:cNvSpPr>
            <a:spLocks xmlns:a="http://schemas.openxmlformats.org/drawingml/2006/main" noGrp="1"/>
          </p:cNvSpPr>
          <p:nvPr/>
        </p:nvSpPr>
        <p:spPr>
          <a:xfrm xmlns:a="http://schemas.openxmlformats.org/drawingml/2006/main">
            <a:off x="6553200" y="4657725"/>
            <a:ext cx="4000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172033"/>
                </a:solidFill>
              </a:defRPr>
            </a:pPr>
            <a:r>
              <a:rPr sz="2025" b="1">
                <a:solidFill>
                  <a:srgbClr val="172033"/>
                </a:solidFill>
              </a:rPr>
              <a:t>exceptions</a:t>
            </a:r>
          </a:p>
        </p:txBody>
      </p:sp>
      <p:sp>
        <p:nvSpPr>
          <p:cNvPr id="22" name="">
            <a:extLst xmlns:a="http://schemas.openxmlformats.org/drawingml/2006/main">
              <a:ext uri="{FF2B5EF4-FFF2-40B4-BE49-F238E27FC236}">
                <a16:creationId xmlns:a16="http://schemas.microsoft.com/office/drawing/2014/main" id="{9261E5A7-8377-4E81-8731-8F2067B2023D}"/>
              </a:ext>
            </a:extLst>
          </p:cNvPr>
          <p:cNvSpPr>
            <a:spLocks xmlns:a="http://schemas.openxmlformats.org/drawingml/2006/main" noGrp="1"/>
          </p:cNvSpPr>
          <p:nvPr/>
        </p:nvSpPr>
        <p:spPr>
          <a:xfrm xmlns:a="http://schemas.openxmlformats.org/drawingml/2006/main">
            <a:off x="495300" y="64770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58657A"/>
                </a:solidFill>
              </a:defRPr>
            </a:pPr>
            <a:r>
              <a:rPr sz="750">
                <a:solidFill>
                  <a:srgbClr val="58657A"/>
                </a:solidFill>
              </a:rPr>
              <a:t>End-to-End Data Science &amp; AI</a:t>
            </a:r>
          </a:p>
        </p:txBody>
      </p:sp>
      <p:sp>
        <p:nvSpPr>
          <p:cNvPr id="23" name="">
            <a:extLst xmlns:a="http://schemas.openxmlformats.org/drawingml/2006/main">
              <a:ext uri="{FF2B5EF4-FFF2-40B4-BE49-F238E27FC236}">
                <a16:creationId xmlns:a16="http://schemas.microsoft.com/office/drawing/2014/main" id="{3FE14430-A3DE-466C-9D8D-32150FEDCE7E}"/>
              </a:ext>
            </a:extLst>
          </p:cNvPr>
          <p:cNvSpPr>
            <a:spLocks xmlns:a="http://schemas.openxmlformats.org/drawingml/2006/main" noGrp="1"/>
          </p:cNvSpPr>
          <p:nvPr/>
        </p:nvSpPr>
        <p:spPr>
          <a:xfrm xmlns:a="http://schemas.openxmlformats.org/drawingml/2006/main">
            <a:off x="11277600" y="6477000"/>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1">
                <a:solidFill>
                  <a:srgbClr val="176BDB"/>
                </a:solidFill>
              </a:defRPr>
            </a:pPr>
            <a:r>
              <a:rPr sz="750" b="1">
                <a:solidFill>
                  <a:srgbClr val="176BDB"/>
                </a:solidFill>
              </a:rPr>
              <a:t>03</a:t>
            </a:r>
          </a:p>
        </p:txBody>
      </p:sp>
    </p:spTree>
    <p:extLst>
      <p:ext uri="{BB962C8B-B14F-4D97-AF65-F5344CB8AC3E}">
        <p14:creationId xmlns:p14="http://schemas.microsoft.com/office/powerpoint/2010/main" val="443714241"/>
      </p:ext>
    </p:extLst>
  </p:cSld>
</p:sld>
</file>

<file path=ppt/slides/slide4.xml><?xml version="1.0" encoding="utf-8"?>
<p:sld xmlns:p="http://schemas.openxmlformats.org/presentationml/2006/main">
  <p:cSld>
    <p:bg>
      <p:bgPr>
        <a:solidFill xmlns:a="http://schemas.openxmlformats.org/drawingml/2006/main">
          <a:srgbClr val="12253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05C05D6-517D-4BF7-93ED-13C7D2A78117}"/>
              </a:ext>
            </a:extLst>
          </p:cNvPr>
          <p:cNvSpPr>
            <a:spLocks xmlns:a="http://schemas.openxmlformats.org/drawingml/2006/main" noGrp="1"/>
          </p:cNvSpPr>
          <p:nvPr/>
        </p:nvSpPr>
        <p:spPr>
          <a:xfrm xmlns:a="http://schemas.openxmlformats.org/drawingml/2006/main">
            <a:off x="609600" y="476250"/>
            <a:ext cx="3905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8A7C9"/>
                </a:solidFill>
              </a:defRPr>
            </a:pPr>
            <a:r>
              <a:rPr sz="975" b="1">
                <a:solidFill>
                  <a:srgbClr val="08A7C9"/>
                </a:solidFill>
              </a:rPr>
              <a:t>FROM QUESTION TO EVIDENCE</a:t>
            </a:r>
          </a:p>
        </p:txBody>
      </p:sp>
      <p:sp>
        <p:nvSpPr>
          <p:cNvPr id="2" name="">
            <a:extLst xmlns:a="http://schemas.openxmlformats.org/drawingml/2006/main">
              <a:ext uri="{FF2B5EF4-FFF2-40B4-BE49-F238E27FC236}">
                <a16:creationId xmlns:a16="http://schemas.microsoft.com/office/drawing/2014/main" id="{C1917590-E802-4550-95E5-999C3E803E8B}"/>
              </a:ext>
            </a:extLst>
          </p:cNvPr>
          <p:cNvSpPr>
            <a:spLocks xmlns:a="http://schemas.openxmlformats.org/drawingml/2006/main" noGrp="1"/>
          </p:cNvSpPr>
          <p:nvPr/>
        </p:nvSpPr>
        <p:spPr>
          <a:xfrm xmlns:a="http://schemas.openxmlformats.org/drawingml/2006/main">
            <a:off x="609600" y="876300"/>
            <a:ext cx="685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FFFFFF"/>
                </a:solidFill>
              </a:defRPr>
            </a:pPr>
            <a:r>
              <a:rPr sz="2850" b="1">
                <a:solidFill>
                  <a:srgbClr val="FFFFFF"/>
                </a:solidFill>
              </a:rPr>
              <a:t>A repeatable reasoning loop</a:t>
            </a:r>
          </a:p>
        </p:txBody>
      </p:sp>
      <p:sp>
        <p:nvSpPr>
          <p:cNvPr id="3" name="">
            <a:extLst xmlns:a="http://schemas.openxmlformats.org/drawingml/2006/main">
              <a:ext uri="{FF2B5EF4-FFF2-40B4-BE49-F238E27FC236}">
                <a16:creationId xmlns:a16="http://schemas.microsoft.com/office/drawing/2014/main" id="{CAC0E852-2C27-432B-B325-3A42848DA9F2}"/>
              </a:ext>
            </a:extLst>
          </p:cNvPr>
          <p:cNvSpPr>
            <a:spLocks xmlns:a="http://schemas.openxmlformats.org/drawingml/2006/main" noGrp="1"/>
          </p:cNvSpPr>
          <p:nvPr/>
        </p:nvSpPr>
        <p:spPr>
          <a:xfrm xmlns:a="http://schemas.openxmlformats.org/drawingml/2006/main">
            <a:off x="609600" y="2476500"/>
            <a:ext cx="2247900" cy="1600200"/>
          </a:xfrm>
          <a:prstGeom xmlns:a="http://schemas.openxmlformats.org/drawingml/2006/main" prst="roundRect">
            <a:avLst>
              <a:gd name="adj" fmla="val 4762"/>
            </a:avLst>
          </a:prstGeom>
          <a:solidFill xmlns:a="http://schemas.openxmlformats.org/drawingml/2006/main">
            <a:srgbClr val="176BD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02F00A5-5F85-430D-A9DA-44AC12215DF3}"/>
              </a:ext>
            </a:extLst>
          </p:cNvPr>
          <p:cNvSpPr>
            <a:spLocks xmlns:a="http://schemas.openxmlformats.org/drawingml/2006/main" noGrp="1"/>
          </p:cNvSpPr>
          <p:nvPr/>
        </p:nvSpPr>
        <p:spPr>
          <a:xfrm xmlns:a="http://schemas.openxmlformats.org/drawingml/2006/main">
            <a:off x="819150" y="26860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01</a:t>
            </a:r>
          </a:p>
        </p:txBody>
      </p:sp>
      <p:sp>
        <p:nvSpPr>
          <p:cNvPr id="5" name="">
            <a:extLst xmlns:a="http://schemas.openxmlformats.org/drawingml/2006/main">
              <a:ext uri="{FF2B5EF4-FFF2-40B4-BE49-F238E27FC236}">
                <a16:creationId xmlns:a16="http://schemas.microsoft.com/office/drawing/2014/main" id="{8A493CCB-AEAB-4141-9B56-167D45994B77}"/>
              </a:ext>
            </a:extLst>
          </p:cNvPr>
          <p:cNvSpPr>
            <a:spLocks xmlns:a="http://schemas.openxmlformats.org/drawingml/2006/main" noGrp="1"/>
          </p:cNvSpPr>
          <p:nvPr/>
        </p:nvSpPr>
        <p:spPr>
          <a:xfrm xmlns:a="http://schemas.openxmlformats.org/drawingml/2006/main">
            <a:off x="819150" y="3238500"/>
            <a:ext cx="180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FFFFFF"/>
                </a:solidFill>
              </a:defRPr>
            </a:pPr>
            <a:r>
              <a:rPr sz="1875" b="1">
                <a:solidFill>
                  <a:srgbClr val="FFFFFF"/>
                </a:solidFill>
              </a:rPr>
              <a:t>Define</a:t>
            </a:r>
          </a:p>
        </p:txBody>
      </p:sp>
      <p:sp>
        <p:nvSpPr>
          <p:cNvPr id="6" name="">
            <a:extLst xmlns:a="http://schemas.openxmlformats.org/drawingml/2006/main">
              <a:ext uri="{FF2B5EF4-FFF2-40B4-BE49-F238E27FC236}">
                <a16:creationId xmlns:a16="http://schemas.microsoft.com/office/drawing/2014/main" id="{91115562-F259-40CD-B6CF-48E67FDAEF8E}"/>
              </a:ext>
            </a:extLst>
          </p:cNvPr>
          <p:cNvSpPr>
            <a:spLocks xmlns:a="http://schemas.openxmlformats.org/drawingml/2006/main" noGrp="1"/>
          </p:cNvSpPr>
          <p:nvPr/>
        </p:nvSpPr>
        <p:spPr>
          <a:xfrm xmlns:a="http://schemas.openxmlformats.org/drawingml/2006/main">
            <a:off x="2952750" y="306705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250" b="1">
                <a:solidFill>
                  <a:srgbClr val="FFFFFF"/>
                </a:solidFill>
              </a:defRPr>
            </a:pPr>
            <a:r>
              <a:rPr sz="2250" b="1">
                <a:solidFill>
                  <a:srgbClr val="FFFFFF"/>
                </a:solidFill>
              </a:rPr>
              <a:t>→</a:t>
            </a:r>
          </a:p>
        </p:txBody>
      </p:sp>
      <p:sp>
        <p:nvSpPr>
          <p:cNvPr id="7" name="">
            <a:extLst xmlns:a="http://schemas.openxmlformats.org/drawingml/2006/main">
              <a:ext uri="{FF2B5EF4-FFF2-40B4-BE49-F238E27FC236}">
                <a16:creationId xmlns:a16="http://schemas.microsoft.com/office/drawing/2014/main" id="{DD26647B-D808-4B55-B9F4-89015FD4A19F}"/>
              </a:ext>
            </a:extLst>
          </p:cNvPr>
          <p:cNvSpPr>
            <a:spLocks xmlns:a="http://schemas.openxmlformats.org/drawingml/2006/main" noGrp="1"/>
          </p:cNvSpPr>
          <p:nvPr/>
        </p:nvSpPr>
        <p:spPr>
          <a:xfrm xmlns:a="http://schemas.openxmlformats.org/drawingml/2006/main">
            <a:off x="3409950" y="2476500"/>
            <a:ext cx="2247900" cy="1600200"/>
          </a:xfrm>
          <a:prstGeom xmlns:a="http://schemas.openxmlformats.org/drawingml/2006/main" prst="roundRect">
            <a:avLst>
              <a:gd name="adj" fmla="val 4762"/>
            </a:avLst>
          </a:prstGeom>
          <a:solidFill xmlns:a="http://schemas.openxmlformats.org/drawingml/2006/main">
            <a:srgbClr val="08A7C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204B332-5C6A-467C-8754-1DB3D9897735}"/>
              </a:ext>
            </a:extLst>
          </p:cNvPr>
          <p:cNvSpPr>
            <a:spLocks xmlns:a="http://schemas.openxmlformats.org/drawingml/2006/main" noGrp="1"/>
          </p:cNvSpPr>
          <p:nvPr/>
        </p:nvSpPr>
        <p:spPr>
          <a:xfrm xmlns:a="http://schemas.openxmlformats.org/drawingml/2006/main">
            <a:off x="3619500" y="26860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02</a:t>
            </a:r>
          </a:p>
        </p:txBody>
      </p:sp>
      <p:sp>
        <p:nvSpPr>
          <p:cNvPr id="9" name="">
            <a:extLst xmlns:a="http://schemas.openxmlformats.org/drawingml/2006/main">
              <a:ext uri="{FF2B5EF4-FFF2-40B4-BE49-F238E27FC236}">
                <a16:creationId xmlns:a16="http://schemas.microsoft.com/office/drawing/2014/main" id="{7D0B9964-2835-44B5-ABF5-14CAFE2E283E}"/>
              </a:ext>
            </a:extLst>
          </p:cNvPr>
          <p:cNvSpPr>
            <a:spLocks xmlns:a="http://schemas.openxmlformats.org/drawingml/2006/main" noGrp="1"/>
          </p:cNvSpPr>
          <p:nvPr/>
        </p:nvSpPr>
        <p:spPr>
          <a:xfrm xmlns:a="http://schemas.openxmlformats.org/drawingml/2006/main">
            <a:off x="3619500" y="3238500"/>
            <a:ext cx="180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FFFFFF"/>
                </a:solidFill>
              </a:defRPr>
            </a:pPr>
            <a:r>
              <a:rPr sz="1875" b="1">
                <a:solidFill>
                  <a:srgbClr val="FFFFFF"/>
                </a:solidFill>
              </a:rPr>
              <a:t>Transform</a:t>
            </a:r>
          </a:p>
        </p:txBody>
      </p:sp>
      <p:sp>
        <p:nvSpPr>
          <p:cNvPr id="10" name="">
            <a:extLst xmlns:a="http://schemas.openxmlformats.org/drawingml/2006/main">
              <a:ext uri="{FF2B5EF4-FFF2-40B4-BE49-F238E27FC236}">
                <a16:creationId xmlns:a16="http://schemas.microsoft.com/office/drawing/2014/main" id="{5630FE79-3AAF-4E7A-B878-3C89892053A7}"/>
              </a:ext>
            </a:extLst>
          </p:cNvPr>
          <p:cNvSpPr>
            <a:spLocks xmlns:a="http://schemas.openxmlformats.org/drawingml/2006/main" noGrp="1"/>
          </p:cNvSpPr>
          <p:nvPr/>
        </p:nvSpPr>
        <p:spPr>
          <a:xfrm xmlns:a="http://schemas.openxmlformats.org/drawingml/2006/main">
            <a:off x="5753100" y="306705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250" b="1">
                <a:solidFill>
                  <a:srgbClr val="FFFFFF"/>
                </a:solidFill>
              </a:defRPr>
            </a:pPr>
            <a:r>
              <a:rPr sz="2250" b="1">
                <a:solidFill>
                  <a:srgbClr val="FFFFFF"/>
                </a:solidFill>
              </a:rPr>
              <a:t>→</a:t>
            </a:r>
          </a:p>
        </p:txBody>
      </p:sp>
      <p:sp>
        <p:nvSpPr>
          <p:cNvPr id="11" name="">
            <a:extLst xmlns:a="http://schemas.openxmlformats.org/drawingml/2006/main">
              <a:ext uri="{FF2B5EF4-FFF2-40B4-BE49-F238E27FC236}">
                <a16:creationId xmlns:a16="http://schemas.microsoft.com/office/drawing/2014/main" id="{0827FE07-BCBB-49DE-A7AF-C6E6E55A77A4}"/>
              </a:ext>
            </a:extLst>
          </p:cNvPr>
          <p:cNvSpPr>
            <a:spLocks xmlns:a="http://schemas.openxmlformats.org/drawingml/2006/main" noGrp="1"/>
          </p:cNvSpPr>
          <p:nvPr/>
        </p:nvSpPr>
        <p:spPr>
          <a:xfrm xmlns:a="http://schemas.openxmlformats.org/drawingml/2006/main">
            <a:off x="6210300" y="2476500"/>
            <a:ext cx="2247900" cy="1600200"/>
          </a:xfrm>
          <a:prstGeom xmlns:a="http://schemas.openxmlformats.org/drawingml/2006/main" prst="roundRect">
            <a:avLst>
              <a:gd name="adj" fmla="val 4762"/>
            </a:avLst>
          </a:prstGeom>
          <a:solidFill xmlns:a="http://schemas.openxmlformats.org/drawingml/2006/main">
            <a:srgbClr val="FFFF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06430BE-0033-43BA-9A19-89A638ED5F48}"/>
              </a:ext>
            </a:extLst>
          </p:cNvPr>
          <p:cNvSpPr>
            <a:spLocks xmlns:a="http://schemas.openxmlformats.org/drawingml/2006/main" noGrp="1"/>
          </p:cNvSpPr>
          <p:nvPr/>
        </p:nvSpPr>
        <p:spPr>
          <a:xfrm xmlns:a="http://schemas.openxmlformats.org/drawingml/2006/main">
            <a:off x="6419850" y="26860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58657A"/>
                </a:solidFill>
              </a:defRPr>
            </a:pPr>
            <a:r>
              <a:rPr sz="975" b="1">
                <a:solidFill>
                  <a:srgbClr val="58657A"/>
                </a:solidFill>
              </a:rPr>
              <a:t>03</a:t>
            </a:r>
          </a:p>
        </p:txBody>
      </p:sp>
      <p:sp>
        <p:nvSpPr>
          <p:cNvPr id="13" name="">
            <a:extLst xmlns:a="http://schemas.openxmlformats.org/drawingml/2006/main">
              <a:ext uri="{FF2B5EF4-FFF2-40B4-BE49-F238E27FC236}">
                <a16:creationId xmlns:a16="http://schemas.microsoft.com/office/drawing/2014/main" id="{39708CB6-68B3-417F-B9B6-FC0ED2E3F42C}"/>
              </a:ext>
            </a:extLst>
          </p:cNvPr>
          <p:cNvSpPr>
            <a:spLocks xmlns:a="http://schemas.openxmlformats.org/drawingml/2006/main" noGrp="1"/>
          </p:cNvSpPr>
          <p:nvPr/>
        </p:nvSpPr>
        <p:spPr>
          <a:xfrm xmlns:a="http://schemas.openxmlformats.org/drawingml/2006/main">
            <a:off x="6419850" y="3238500"/>
            <a:ext cx="180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172033"/>
                </a:solidFill>
              </a:defRPr>
            </a:pPr>
            <a:r>
              <a:rPr sz="1875" b="1">
                <a:solidFill>
                  <a:srgbClr val="172033"/>
                </a:solidFill>
              </a:rPr>
              <a:t>Validate</a:t>
            </a:r>
          </a:p>
        </p:txBody>
      </p:sp>
      <p:sp>
        <p:nvSpPr>
          <p:cNvPr id="14" name="">
            <a:extLst xmlns:a="http://schemas.openxmlformats.org/drawingml/2006/main">
              <a:ext uri="{FF2B5EF4-FFF2-40B4-BE49-F238E27FC236}">
                <a16:creationId xmlns:a16="http://schemas.microsoft.com/office/drawing/2014/main" id="{5A27521F-CA0B-47BB-9EAF-283D8E7D619D}"/>
              </a:ext>
            </a:extLst>
          </p:cNvPr>
          <p:cNvSpPr>
            <a:spLocks xmlns:a="http://schemas.openxmlformats.org/drawingml/2006/main" noGrp="1"/>
          </p:cNvSpPr>
          <p:nvPr/>
        </p:nvSpPr>
        <p:spPr>
          <a:xfrm xmlns:a="http://schemas.openxmlformats.org/drawingml/2006/main">
            <a:off x="8553450" y="306705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250" b="1">
                <a:solidFill>
                  <a:srgbClr val="FFFFFF"/>
                </a:solidFill>
              </a:defRPr>
            </a:pPr>
            <a:r>
              <a:rPr sz="2250" b="1">
                <a:solidFill>
                  <a:srgbClr val="FFFFFF"/>
                </a:solidFill>
              </a:rPr>
              <a:t>→</a:t>
            </a:r>
          </a:p>
        </p:txBody>
      </p:sp>
      <p:sp>
        <p:nvSpPr>
          <p:cNvPr id="15" name="">
            <a:extLst xmlns:a="http://schemas.openxmlformats.org/drawingml/2006/main">
              <a:ext uri="{FF2B5EF4-FFF2-40B4-BE49-F238E27FC236}">
                <a16:creationId xmlns:a16="http://schemas.microsoft.com/office/drawing/2014/main" id="{47957C98-2781-492F-AB26-5DEDC103C847}"/>
              </a:ext>
            </a:extLst>
          </p:cNvPr>
          <p:cNvSpPr>
            <a:spLocks xmlns:a="http://schemas.openxmlformats.org/drawingml/2006/main" noGrp="1"/>
          </p:cNvSpPr>
          <p:nvPr/>
        </p:nvSpPr>
        <p:spPr>
          <a:xfrm xmlns:a="http://schemas.openxmlformats.org/drawingml/2006/main">
            <a:off x="9010650" y="2476500"/>
            <a:ext cx="2247900" cy="1600200"/>
          </a:xfrm>
          <a:prstGeom xmlns:a="http://schemas.openxmlformats.org/drawingml/2006/main" prst="roundRect">
            <a:avLst>
              <a:gd name="adj" fmla="val 4762"/>
            </a:avLst>
          </a:prstGeom>
          <a:solidFill xmlns:a="http://schemas.openxmlformats.org/drawingml/2006/main">
            <a:srgbClr val="EF776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CFD1301-5C1C-4CCF-AFA3-C3148E01D346}"/>
              </a:ext>
            </a:extLst>
          </p:cNvPr>
          <p:cNvSpPr>
            <a:spLocks xmlns:a="http://schemas.openxmlformats.org/drawingml/2006/main" noGrp="1"/>
          </p:cNvSpPr>
          <p:nvPr/>
        </p:nvSpPr>
        <p:spPr>
          <a:xfrm xmlns:a="http://schemas.openxmlformats.org/drawingml/2006/main">
            <a:off x="9220200" y="268605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04</a:t>
            </a:r>
          </a:p>
        </p:txBody>
      </p:sp>
      <p:sp>
        <p:nvSpPr>
          <p:cNvPr id="17" name="">
            <a:extLst xmlns:a="http://schemas.openxmlformats.org/drawingml/2006/main">
              <a:ext uri="{FF2B5EF4-FFF2-40B4-BE49-F238E27FC236}">
                <a16:creationId xmlns:a16="http://schemas.microsoft.com/office/drawing/2014/main" id="{501775E3-A2ED-48E2-9A72-07FCA801AE02}"/>
              </a:ext>
            </a:extLst>
          </p:cNvPr>
          <p:cNvSpPr>
            <a:spLocks xmlns:a="http://schemas.openxmlformats.org/drawingml/2006/main" noGrp="1"/>
          </p:cNvSpPr>
          <p:nvPr/>
        </p:nvSpPr>
        <p:spPr>
          <a:xfrm xmlns:a="http://schemas.openxmlformats.org/drawingml/2006/main">
            <a:off x="9220200" y="3238500"/>
            <a:ext cx="180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FFFFFF"/>
                </a:solidFill>
              </a:defRPr>
            </a:pPr>
            <a:r>
              <a:rPr sz="1875" b="1">
                <a:solidFill>
                  <a:srgbClr val="FFFFFF"/>
                </a:solidFill>
              </a:rPr>
              <a:t>Communicate</a:t>
            </a:r>
          </a:p>
        </p:txBody>
      </p:sp>
      <p:sp>
        <p:nvSpPr>
          <p:cNvPr id="18" name="">
            <a:extLst xmlns:a="http://schemas.openxmlformats.org/drawingml/2006/main">
              <a:ext uri="{FF2B5EF4-FFF2-40B4-BE49-F238E27FC236}">
                <a16:creationId xmlns:a16="http://schemas.microsoft.com/office/drawing/2014/main" id="{A6C35713-7211-4AE3-8754-8267761AE6F7}"/>
              </a:ext>
            </a:extLst>
          </p:cNvPr>
          <p:cNvSpPr>
            <a:spLocks xmlns:a="http://schemas.openxmlformats.org/drawingml/2006/main" noGrp="1"/>
          </p:cNvSpPr>
          <p:nvPr/>
        </p:nvSpPr>
        <p:spPr>
          <a:xfrm xmlns:a="http://schemas.openxmlformats.org/drawingml/2006/main">
            <a:off x="609600" y="48958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a:solidFill>
                  <a:srgbClr val="FFFFFF"/>
                </a:solidFill>
              </a:defRPr>
            </a:pPr>
            <a:r>
              <a:rPr sz="1650">
                <a:solidFill>
                  <a:srgbClr val="FFFFFF"/>
                </a:solidFill>
              </a:rPr>
              <a:t>Build a reusable profiler for a list of transaction records.</a:t>
            </a:r>
          </a:p>
        </p:txBody>
      </p:sp>
      <p:sp>
        <p:nvSpPr>
          <p:cNvPr id="19" name="">
            <a:extLst xmlns:a="http://schemas.openxmlformats.org/drawingml/2006/main">
              <a:ext uri="{FF2B5EF4-FFF2-40B4-BE49-F238E27FC236}">
                <a16:creationId xmlns:a16="http://schemas.microsoft.com/office/drawing/2014/main" id="{D95ECBFB-3BF9-4398-8466-E5AE80A40C7E}"/>
              </a:ext>
            </a:extLst>
          </p:cNvPr>
          <p:cNvSpPr>
            <a:spLocks xmlns:a="http://schemas.openxmlformats.org/drawingml/2006/main" noGrp="1"/>
          </p:cNvSpPr>
          <p:nvPr/>
        </p:nvSpPr>
        <p:spPr>
          <a:xfrm xmlns:a="http://schemas.openxmlformats.org/drawingml/2006/main">
            <a:off x="609600" y="6334125"/>
            <a:ext cx="381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1">
                <a:solidFill>
                  <a:srgbClr val="AFC4D9"/>
                </a:solidFill>
              </a:defRPr>
            </a:pPr>
            <a:r>
              <a:rPr sz="750" b="1">
                <a:solidFill>
                  <a:srgbClr val="AFC4D9"/>
                </a:solidFill>
              </a:rPr>
              <a:t>DS ACADEMY  ·  PRACTICAL REASONING</a:t>
            </a:r>
          </a:p>
        </p:txBody>
      </p:sp>
    </p:spTree>
    <p:extLst>
      <p:ext uri="{BB962C8B-B14F-4D97-AF65-F5344CB8AC3E}">
        <p14:creationId xmlns:p14="http://schemas.microsoft.com/office/powerpoint/2010/main" val="127761345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F8057296-5CA0-4444-92D6-E9154EF76D0B}"/>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8A7C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2FCE770-F71B-4D01-A7BF-D7C7AA5DD46D}"/>
              </a:ext>
            </a:extLst>
          </p:cNvPr>
          <p:cNvSpPr>
            <a:spLocks xmlns:a="http://schemas.openxmlformats.org/drawingml/2006/main" noGrp="1"/>
          </p:cNvSpPr>
          <p:nvPr/>
        </p:nvSpPr>
        <p:spPr>
          <a:xfrm xmlns:a="http://schemas.openxmlformats.org/drawingml/2006/main">
            <a:off x="495300" y="26670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WEEK 01  /  SESSION 01</a:t>
            </a:r>
          </a:p>
        </p:txBody>
      </p:sp>
      <p:sp>
        <p:nvSpPr>
          <p:cNvPr id="3" name="">
            <a:extLst xmlns:a="http://schemas.openxmlformats.org/drawingml/2006/main">
              <a:ext uri="{FF2B5EF4-FFF2-40B4-BE49-F238E27FC236}">
                <a16:creationId xmlns:a16="http://schemas.microsoft.com/office/drawing/2014/main" id="{08A92398-809A-4150-BC78-1A6F379F0E29}"/>
              </a:ext>
            </a:extLst>
          </p:cNvPr>
          <p:cNvSpPr>
            <a:spLocks xmlns:a="http://schemas.openxmlformats.org/drawingml/2006/main" noGrp="1"/>
          </p:cNvSpPr>
          <p:nvPr/>
        </p:nvSpPr>
        <p:spPr>
          <a:xfrm xmlns:a="http://schemas.openxmlformats.org/drawingml/2006/main">
            <a:off x="495300" y="542925"/>
            <a:ext cx="876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172033"/>
                </a:solidFill>
              </a:defRPr>
            </a:pPr>
            <a:r>
              <a:rPr sz="2550" b="1">
                <a:solidFill>
                  <a:srgbClr val="172033"/>
                </a:solidFill>
              </a:rPr>
              <a:t>Guided lab</a:t>
            </a:r>
          </a:p>
        </p:txBody>
      </p:sp>
      <p:sp>
        <p:nvSpPr>
          <p:cNvPr id="4" name="">
            <a:extLst xmlns:a="http://schemas.openxmlformats.org/drawingml/2006/main">
              <a:ext uri="{FF2B5EF4-FFF2-40B4-BE49-F238E27FC236}">
                <a16:creationId xmlns:a16="http://schemas.microsoft.com/office/drawing/2014/main" id="{A306EF7C-EBFF-411D-8854-AF74E3C01C73}"/>
              </a:ext>
            </a:extLst>
          </p:cNvPr>
          <p:cNvSpPr>
            <a:spLocks xmlns:a="http://schemas.openxmlformats.org/drawingml/2006/main" noGrp="1"/>
          </p:cNvSpPr>
          <p:nvPr/>
        </p:nvSpPr>
        <p:spPr>
          <a:xfrm xmlns:a="http://schemas.openxmlformats.org/drawingml/2006/main">
            <a:off x="10334625" y="323850"/>
            <a:ext cx="1381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58657A"/>
                </a:solidFill>
              </a:defRPr>
            </a:pPr>
            <a:r>
              <a:rPr sz="900" b="1">
                <a:solidFill>
                  <a:srgbClr val="58657A"/>
                </a:solidFill>
              </a:rPr>
              <a:t>DS ACADEMY</a:t>
            </a:r>
          </a:p>
        </p:txBody>
      </p:sp>
      <p:sp>
        <p:nvSpPr>
          <p:cNvPr id="5" name="">
            <a:extLst xmlns:a="http://schemas.openxmlformats.org/drawingml/2006/main">
              <a:ext uri="{FF2B5EF4-FFF2-40B4-BE49-F238E27FC236}">
                <a16:creationId xmlns:a16="http://schemas.microsoft.com/office/drawing/2014/main" id="{703C546C-51AD-4A22-B752-B5DC398D3D62}"/>
              </a:ext>
            </a:extLst>
          </p:cNvPr>
          <p:cNvSpPr>
            <a:spLocks xmlns:a="http://schemas.openxmlformats.org/drawingml/2006/main" noGrp="1"/>
          </p:cNvSpPr>
          <p:nvPr/>
        </p:nvSpPr>
        <p:spPr>
          <a:xfrm xmlns:a="http://schemas.openxmlformats.org/drawingml/2006/main">
            <a:off x="495300" y="1181100"/>
            <a:ext cx="11220450" cy="19050"/>
          </a:xfrm>
          <a:prstGeom xmlns:a="http://schemas.openxmlformats.org/drawingml/2006/main" prst="rect">
            <a:avLst/>
          </a:prstGeom>
          <a:solidFill xmlns:a="http://schemas.openxmlformats.org/drawingml/2006/main">
            <a:srgbClr val="D7E2E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E0039D2-5339-4592-9F4A-CFCC8D8B1661}"/>
              </a:ext>
            </a:extLst>
          </p:cNvPr>
          <p:cNvSpPr>
            <a:spLocks xmlns:a="http://schemas.openxmlformats.org/drawingml/2006/main" noGrp="1"/>
          </p:cNvSpPr>
          <p:nvPr/>
        </p:nvSpPr>
        <p:spPr>
          <a:xfrm xmlns:a="http://schemas.openxmlformats.org/drawingml/2006/main">
            <a:off x="666750" y="1619250"/>
            <a:ext cx="4857750" cy="4000500"/>
          </a:xfrm>
          <a:prstGeom xmlns:a="http://schemas.openxmlformats.org/drawingml/2006/main" prst="roundRect">
            <a:avLst>
              <a:gd name="adj" fmla="val 1905"/>
            </a:avLst>
          </a:prstGeom>
          <a:solidFill xmlns:a="http://schemas.openxmlformats.org/drawingml/2006/main">
            <a:srgbClr val="12253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8072C42-327B-4C90-A6DD-524A1EE7D5FD}"/>
              </a:ext>
            </a:extLst>
          </p:cNvPr>
          <p:cNvSpPr>
            <a:spLocks xmlns:a="http://schemas.openxmlformats.org/drawingml/2006/main" noGrp="1"/>
          </p:cNvSpPr>
          <p:nvPr/>
        </p:nvSpPr>
        <p:spPr>
          <a:xfrm xmlns:a="http://schemas.openxmlformats.org/drawingml/2006/main">
            <a:off x="990600" y="1962150"/>
            <a:ext cx="171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8A7C9"/>
                </a:solidFill>
              </a:defRPr>
            </a:pPr>
            <a:r>
              <a:rPr sz="900" b="1">
                <a:solidFill>
                  <a:srgbClr val="08A7C9"/>
                </a:solidFill>
              </a:rPr>
              <a:t>LAB BRIEF</a:t>
            </a:r>
          </a:p>
        </p:txBody>
      </p:sp>
      <p:sp>
        <p:nvSpPr>
          <p:cNvPr id="8" name="">
            <a:extLst xmlns:a="http://schemas.openxmlformats.org/drawingml/2006/main">
              <a:ext uri="{FF2B5EF4-FFF2-40B4-BE49-F238E27FC236}">
                <a16:creationId xmlns:a16="http://schemas.microsoft.com/office/drawing/2014/main" id="{AA781290-EA73-4DDC-8742-1D094BB71637}"/>
              </a:ext>
            </a:extLst>
          </p:cNvPr>
          <p:cNvSpPr>
            <a:spLocks xmlns:a="http://schemas.openxmlformats.org/drawingml/2006/main" noGrp="1"/>
          </p:cNvSpPr>
          <p:nvPr/>
        </p:nvSpPr>
        <p:spPr>
          <a:xfrm xmlns:a="http://schemas.openxmlformats.org/drawingml/2006/main">
            <a:off x="990600" y="2514600"/>
            <a:ext cx="39624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FFFFFF"/>
                </a:solidFill>
              </a:defRPr>
            </a:pPr>
            <a:r>
              <a:rPr sz="2025" b="1">
                <a:solidFill>
                  <a:srgbClr val="FFFFFF"/>
                </a:solidFill>
              </a:rPr>
              <a:t>Build a reusable profiler for a list of transaction records.</a:t>
            </a:r>
          </a:p>
        </p:txBody>
      </p:sp>
      <p:sp>
        <p:nvSpPr>
          <p:cNvPr id="9" name="">
            <a:extLst xmlns:a="http://schemas.openxmlformats.org/drawingml/2006/main">
              <a:ext uri="{FF2B5EF4-FFF2-40B4-BE49-F238E27FC236}">
                <a16:creationId xmlns:a16="http://schemas.microsoft.com/office/drawing/2014/main" id="{0CBA79B4-BC30-44F5-AB57-D454A5674784}"/>
              </a:ext>
            </a:extLst>
          </p:cNvPr>
          <p:cNvSpPr>
            <a:spLocks xmlns:a="http://schemas.openxmlformats.org/drawingml/2006/main" noGrp="1"/>
          </p:cNvSpPr>
          <p:nvPr/>
        </p:nvSpPr>
        <p:spPr>
          <a:xfrm xmlns:a="http://schemas.openxmlformats.org/drawingml/2006/main">
            <a:off x="990600" y="4972050"/>
            <a:ext cx="3619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AFC4D9"/>
                </a:solidFill>
              </a:defRPr>
            </a:pPr>
            <a:r>
              <a:rPr sz="975">
                <a:solidFill>
                  <a:srgbClr val="AFC4D9"/>
                </a:solidFill>
              </a:rPr>
              <a:t>workbook  /  tests  /  evidence</a:t>
            </a:r>
          </a:p>
        </p:txBody>
      </p:sp>
      <p:sp>
        <p:nvSpPr>
          <p:cNvPr id="10" name="">
            <a:extLst xmlns:a="http://schemas.openxmlformats.org/drawingml/2006/main">
              <a:ext uri="{FF2B5EF4-FFF2-40B4-BE49-F238E27FC236}">
                <a16:creationId xmlns:a16="http://schemas.microsoft.com/office/drawing/2014/main" id="{924C9278-9B5B-411A-8726-5852354C353F}"/>
              </a:ext>
            </a:extLst>
          </p:cNvPr>
          <p:cNvSpPr>
            <a:spLocks xmlns:a="http://schemas.openxmlformats.org/drawingml/2006/main" noGrp="1"/>
          </p:cNvSpPr>
          <p:nvPr/>
        </p:nvSpPr>
        <p:spPr>
          <a:xfrm xmlns:a="http://schemas.openxmlformats.org/drawingml/2006/main">
            <a:off x="6153150" y="165735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176BDB"/>
                </a:solidFill>
              </a:defRPr>
            </a:pPr>
            <a:r>
              <a:rPr sz="975" b="1">
                <a:solidFill>
                  <a:srgbClr val="176BDB"/>
                </a:solidFill>
              </a:rPr>
              <a:t>01</a:t>
            </a:r>
          </a:p>
        </p:txBody>
      </p:sp>
      <p:sp>
        <p:nvSpPr>
          <p:cNvPr id="11" name="">
            <a:extLst xmlns:a="http://schemas.openxmlformats.org/drawingml/2006/main">
              <a:ext uri="{FF2B5EF4-FFF2-40B4-BE49-F238E27FC236}">
                <a16:creationId xmlns:a16="http://schemas.microsoft.com/office/drawing/2014/main" id="{EA0865E6-E0C1-40EF-9106-C72A0045D16E}"/>
              </a:ext>
            </a:extLst>
          </p:cNvPr>
          <p:cNvSpPr>
            <a:spLocks xmlns:a="http://schemas.openxmlformats.org/drawingml/2006/main" noGrp="1"/>
          </p:cNvSpPr>
          <p:nvPr/>
        </p:nvSpPr>
        <p:spPr>
          <a:xfrm xmlns:a="http://schemas.openxmlformats.org/drawingml/2006/main">
            <a:off x="6762750" y="1628775"/>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172033"/>
                </a:solidFill>
              </a:defRPr>
            </a:pPr>
            <a:r>
              <a:rPr sz="1575" b="1">
                <a:solidFill>
                  <a:srgbClr val="172033"/>
                </a:solidFill>
              </a:rPr>
              <a:t>Frame</a:t>
            </a:r>
          </a:p>
        </p:txBody>
      </p:sp>
      <p:sp>
        <p:nvSpPr>
          <p:cNvPr id="12" name="">
            <a:extLst xmlns:a="http://schemas.openxmlformats.org/drawingml/2006/main">
              <a:ext uri="{FF2B5EF4-FFF2-40B4-BE49-F238E27FC236}">
                <a16:creationId xmlns:a16="http://schemas.microsoft.com/office/drawing/2014/main" id="{2FCECA43-465C-4F11-8C74-F24C55D6CE9D}"/>
              </a:ext>
            </a:extLst>
          </p:cNvPr>
          <p:cNvSpPr>
            <a:spLocks xmlns:a="http://schemas.openxmlformats.org/drawingml/2006/main" noGrp="1"/>
          </p:cNvSpPr>
          <p:nvPr/>
        </p:nvSpPr>
        <p:spPr>
          <a:xfrm xmlns:a="http://schemas.openxmlformats.org/drawingml/2006/main">
            <a:off x="6762750" y="1981200"/>
            <a:ext cx="428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58657A"/>
                </a:solidFill>
              </a:defRPr>
            </a:pPr>
            <a:r>
              <a:rPr sz="1200">
                <a:solidFill>
                  <a:srgbClr val="58657A"/>
                </a:solidFill>
              </a:rPr>
              <a:t>Define inputs, outputs, and success criteria.</a:t>
            </a:r>
          </a:p>
        </p:txBody>
      </p:sp>
      <p:sp>
        <p:nvSpPr>
          <p:cNvPr id="13" name="">
            <a:extLst xmlns:a="http://schemas.openxmlformats.org/drawingml/2006/main">
              <a:ext uri="{FF2B5EF4-FFF2-40B4-BE49-F238E27FC236}">
                <a16:creationId xmlns:a16="http://schemas.microsoft.com/office/drawing/2014/main" id="{FA3E8011-CCE9-4F13-9C00-76FE5F72D942}"/>
              </a:ext>
            </a:extLst>
          </p:cNvPr>
          <p:cNvSpPr>
            <a:spLocks xmlns:a="http://schemas.openxmlformats.org/drawingml/2006/main" noGrp="1"/>
          </p:cNvSpPr>
          <p:nvPr/>
        </p:nvSpPr>
        <p:spPr>
          <a:xfrm xmlns:a="http://schemas.openxmlformats.org/drawingml/2006/main">
            <a:off x="6153150" y="2495550"/>
            <a:ext cx="4895850" cy="19050"/>
          </a:xfrm>
          <a:prstGeom xmlns:a="http://schemas.openxmlformats.org/drawingml/2006/main" prst="rect">
            <a:avLst/>
          </a:prstGeom>
          <a:solidFill xmlns:a="http://schemas.openxmlformats.org/drawingml/2006/main">
            <a:srgbClr val="D7E2E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9507EB4-5F0A-492A-8BE6-DE7D57FE270F}"/>
              </a:ext>
            </a:extLst>
          </p:cNvPr>
          <p:cNvSpPr>
            <a:spLocks xmlns:a="http://schemas.openxmlformats.org/drawingml/2006/main" noGrp="1"/>
          </p:cNvSpPr>
          <p:nvPr/>
        </p:nvSpPr>
        <p:spPr>
          <a:xfrm xmlns:a="http://schemas.openxmlformats.org/drawingml/2006/main">
            <a:off x="6153150" y="26289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176BDB"/>
                </a:solidFill>
              </a:defRPr>
            </a:pPr>
            <a:r>
              <a:rPr sz="975" b="1">
                <a:solidFill>
                  <a:srgbClr val="176BDB"/>
                </a:solidFill>
              </a:rPr>
              <a:t>02</a:t>
            </a:r>
          </a:p>
        </p:txBody>
      </p:sp>
      <p:sp>
        <p:nvSpPr>
          <p:cNvPr id="15" name="">
            <a:extLst xmlns:a="http://schemas.openxmlformats.org/drawingml/2006/main">
              <a:ext uri="{FF2B5EF4-FFF2-40B4-BE49-F238E27FC236}">
                <a16:creationId xmlns:a16="http://schemas.microsoft.com/office/drawing/2014/main" id="{BE7D19EC-C102-4682-AFDF-20ED1C844B86}"/>
              </a:ext>
            </a:extLst>
          </p:cNvPr>
          <p:cNvSpPr>
            <a:spLocks xmlns:a="http://schemas.openxmlformats.org/drawingml/2006/main" noGrp="1"/>
          </p:cNvSpPr>
          <p:nvPr/>
        </p:nvSpPr>
        <p:spPr>
          <a:xfrm xmlns:a="http://schemas.openxmlformats.org/drawingml/2006/main">
            <a:off x="6762750" y="2600325"/>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172033"/>
                </a:solidFill>
              </a:defRPr>
            </a:pPr>
            <a:r>
              <a:rPr sz="1575" b="1">
                <a:solidFill>
                  <a:srgbClr val="172033"/>
                </a:solidFill>
              </a:rPr>
              <a:t>Build</a:t>
            </a:r>
          </a:p>
        </p:txBody>
      </p:sp>
      <p:sp>
        <p:nvSpPr>
          <p:cNvPr id="16" name="">
            <a:extLst xmlns:a="http://schemas.openxmlformats.org/drawingml/2006/main">
              <a:ext uri="{FF2B5EF4-FFF2-40B4-BE49-F238E27FC236}">
                <a16:creationId xmlns:a16="http://schemas.microsoft.com/office/drawing/2014/main" id="{2C202C8D-A561-4302-9256-7BB504CB3C69}"/>
              </a:ext>
            </a:extLst>
          </p:cNvPr>
          <p:cNvSpPr>
            <a:spLocks xmlns:a="http://schemas.openxmlformats.org/drawingml/2006/main" noGrp="1"/>
          </p:cNvSpPr>
          <p:nvPr/>
        </p:nvSpPr>
        <p:spPr>
          <a:xfrm xmlns:a="http://schemas.openxmlformats.org/drawingml/2006/main">
            <a:off x="6762750" y="2952750"/>
            <a:ext cx="428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58657A"/>
                </a:solidFill>
              </a:defRPr>
            </a:pPr>
            <a:r>
              <a:rPr sz="1200">
                <a:solidFill>
                  <a:srgbClr val="58657A"/>
                </a:solidFill>
              </a:rPr>
              <a:t>Implement the smallest correct workflow.</a:t>
            </a:r>
          </a:p>
        </p:txBody>
      </p:sp>
      <p:sp>
        <p:nvSpPr>
          <p:cNvPr id="17" name="">
            <a:extLst xmlns:a="http://schemas.openxmlformats.org/drawingml/2006/main">
              <a:ext uri="{FF2B5EF4-FFF2-40B4-BE49-F238E27FC236}">
                <a16:creationId xmlns:a16="http://schemas.microsoft.com/office/drawing/2014/main" id="{2639CBD1-48D5-44FF-BAED-DF43CF273E02}"/>
              </a:ext>
            </a:extLst>
          </p:cNvPr>
          <p:cNvSpPr>
            <a:spLocks xmlns:a="http://schemas.openxmlformats.org/drawingml/2006/main" noGrp="1"/>
          </p:cNvSpPr>
          <p:nvPr/>
        </p:nvSpPr>
        <p:spPr>
          <a:xfrm xmlns:a="http://schemas.openxmlformats.org/drawingml/2006/main">
            <a:off x="6153150" y="3467100"/>
            <a:ext cx="4895850" cy="19050"/>
          </a:xfrm>
          <a:prstGeom xmlns:a="http://schemas.openxmlformats.org/drawingml/2006/main" prst="rect">
            <a:avLst/>
          </a:prstGeom>
          <a:solidFill xmlns:a="http://schemas.openxmlformats.org/drawingml/2006/main">
            <a:srgbClr val="D7E2EC"/>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3E00AF4-58C3-4577-9EE8-E5F7F6F04B32}"/>
              </a:ext>
            </a:extLst>
          </p:cNvPr>
          <p:cNvSpPr>
            <a:spLocks xmlns:a="http://schemas.openxmlformats.org/drawingml/2006/main" noGrp="1"/>
          </p:cNvSpPr>
          <p:nvPr/>
        </p:nvSpPr>
        <p:spPr>
          <a:xfrm xmlns:a="http://schemas.openxmlformats.org/drawingml/2006/main">
            <a:off x="6153150" y="360045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176BDB"/>
                </a:solidFill>
              </a:defRPr>
            </a:pPr>
            <a:r>
              <a:rPr sz="975" b="1">
                <a:solidFill>
                  <a:srgbClr val="176BDB"/>
                </a:solidFill>
              </a:rPr>
              <a:t>03</a:t>
            </a:r>
          </a:p>
        </p:txBody>
      </p:sp>
      <p:sp>
        <p:nvSpPr>
          <p:cNvPr id="19" name="">
            <a:extLst xmlns:a="http://schemas.openxmlformats.org/drawingml/2006/main">
              <a:ext uri="{FF2B5EF4-FFF2-40B4-BE49-F238E27FC236}">
                <a16:creationId xmlns:a16="http://schemas.microsoft.com/office/drawing/2014/main" id="{ECCD4CA4-774C-4AF3-BA51-D4DC100DE299}"/>
              </a:ext>
            </a:extLst>
          </p:cNvPr>
          <p:cNvSpPr>
            <a:spLocks xmlns:a="http://schemas.openxmlformats.org/drawingml/2006/main" noGrp="1"/>
          </p:cNvSpPr>
          <p:nvPr/>
        </p:nvSpPr>
        <p:spPr>
          <a:xfrm xmlns:a="http://schemas.openxmlformats.org/drawingml/2006/main">
            <a:off x="6762750" y="3571875"/>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172033"/>
                </a:solidFill>
              </a:defRPr>
            </a:pPr>
            <a:r>
              <a:rPr sz="1575" b="1">
                <a:solidFill>
                  <a:srgbClr val="172033"/>
                </a:solidFill>
              </a:rPr>
              <a:t>Verify</a:t>
            </a:r>
          </a:p>
        </p:txBody>
      </p:sp>
      <p:sp>
        <p:nvSpPr>
          <p:cNvPr id="20" name="">
            <a:extLst xmlns:a="http://schemas.openxmlformats.org/drawingml/2006/main">
              <a:ext uri="{FF2B5EF4-FFF2-40B4-BE49-F238E27FC236}">
                <a16:creationId xmlns:a16="http://schemas.microsoft.com/office/drawing/2014/main" id="{42984B8D-8B70-4439-912E-4D60355E7038}"/>
              </a:ext>
            </a:extLst>
          </p:cNvPr>
          <p:cNvSpPr>
            <a:spLocks xmlns:a="http://schemas.openxmlformats.org/drawingml/2006/main" noGrp="1"/>
          </p:cNvSpPr>
          <p:nvPr/>
        </p:nvSpPr>
        <p:spPr>
          <a:xfrm xmlns:a="http://schemas.openxmlformats.org/drawingml/2006/main">
            <a:off x="6762750" y="3924300"/>
            <a:ext cx="428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58657A"/>
                </a:solidFill>
              </a:defRPr>
            </a:pPr>
            <a:r>
              <a:rPr sz="1200">
                <a:solidFill>
                  <a:srgbClr val="58657A"/>
                </a:solidFill>
              </a:rPr>
              <a:t>Test normal, boundary, and failure cases.</a:t>
            </a:r>
          </a:p>
        </p:txBody>
      </p:sp>
      <p:sp>
        <p:nvSpPr>
          <p:cNvPr id="21" name="">
            <a:extLst xmlns:a="http://schemas.openxmlformats.org/drawingml/2006/main">
              <a:ext uri="{FF2B5EF4-FFF2-40B4-BE49-F238E27FC236}">
                <a16:creationId xmlns:a16="http://schemas.microsoft.com/office/drawing/2014/main" id="{3FC12CD6-B72E-4044-9C62-1664B9008CF5}"/>
              </a:ext>
            </a:extLst>
          </p:cNvPr>
          <p:cNvSpPr>
            <a:spLocks xmlns:a="http://schemas.openxmlformats.org/drawingml/2006/main" noGrp="1"/>
          </p:cNvSpPr>
          <p:nvPr/>
        </p:nvSpPr>
        <p:spPr>
          <a:xfrm xmlns:a="http://schemas.openxmlformats.org/drawingml/2006/main">
            <a:off x="6153150" y="4438650"/>
            <a:ext cx="4895850" cy="19050"/>
          </a:xfrm>
          <a:prstGeom xmlns:a="http://schemas.openxmlformats.org/drawingml/2006/main" prst="rect">
            <a:avLst/>
          </a:prstGeom>
          <a:solidFill xmlns:a="http://schemas.openxmlformats.org/drawingml/2006/main">
            <a:srgbClr val="D7E2EC"/>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703F074-07E6-4250-9C75-FBB529720959}"/>
              </a:ext>
            </a:extLst>
          </p:cNvPr>
          <p:cNvSpPr>
            <a:spLocks xmlns:a="http://schemas.openxmlformats.org/drawingml/2006/main" noGrp="1"/>
          </p:cNvSpPr>
          <p:nvPr/>
        </p:nvSpPr>
        <p:spPr>
          <a:xfrm xmlns:a="http://schemas.openxmlformats.org/drawingml/2006/main">
            <a:off x="6153150" y="45720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EF7768"/>
                </a:solidFill>
              </a:defRPr>
            </a:pPr>
            <a:r>
              <a:rPr sz="975" b="1">
                <a:solidFill>
                  <a:srgbClr val="EF7768"/>
                </a:solidFill>
              </a:rPr>
              <a:t>04</a:t>
            </a:r>
          </a:p>
        </p:txBody>
      </p:sp>
      <p:sp>
        <p:nvSpPr>
          <p:cNvPr id="23" name="">
            <a:extLst xmlns:a="http://schemas.openxmlformats.org/drawingml/2006/main">
              <a:ext uri="{FF2B5EF4-FFF2-40B4-BE49-F238E27FC236}">
                <a16:creationId xmlns:a16="http://schemas.microsoft.com/office/drawing/2014/main" id="{4FA1B963-6C1B-4800-9A64-DA89F4D65479}"/>
              </a:ext>
            </a:extLst>
          </p:cNvPr>
          <p:cNvSpPr>
            <a:spLocks xmlns:a="http://schemas.openxmlformats.org/drawingml/2006/main" noGrp="1"/>
          </p:cNvSpPr>
          <p:nvPr/>
        </p:nvSpPr>
        <p:spPr>
          <a:xfrm xmlns:a="http://schemas.openxmlformats.org/drawingml/2006/main">
            <a:off x="6762750" y="4543425"/>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172033"/>
                </a:solidFill>
              </a:defRPr>
            </a:pPr>
            <a:r>
              <a:rPr sz="1575" b="1">
                <a:solidFill>
                  <a:srgbClr val="172033"/>
                </a:solidFill>
              </a:rPr>
              <a:t>Explain</a:t>
            </a:r>
          </a:p>
        </p:txBody>
      </p:sp>
      <p:sp>
        <p:nvSpPr>
          <p:cNvPr id="24" name="">
            <a:extLst xmlns:a="http://schemas.openxmlformats.org/drawingml/2006/main">
              <a:ext uri="{FF2B5EF4-FFF2-40B4-BE49-F238E27FC236}">
                <a16:creationId xmlns:a16="http://schemas.microsoft.com/office/drawing/2014/main" id="{D85103AB-AD21-4C81-8BFE-48298A438656}"/>
              </a:ext>
            </a:extLst>
          </p:cNvPr>
          <p:cNvSpPr>
            <a:spLocks xmlns:a="http://schemas.openxmlformats.org/drawingml/2006/main" noGrp="1"/>
          </p:cNvSpPr>
          <p:nvPr/>
        </p:nvSpPr>
        <p:spPr>
          <a:xfrm xmlns:a="http://schemas.openxmlformats.org/drawingml/2006/main">
            <a:off x="6762750" y="4895850"/>
            <a:ext cx="428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58657A"/>
                </a:solidFill>
              </a:defRPr>
            </a:pPr>
            <a:r>
              <a:rPr sz="1200">
                <a:solidFill>
                  <a:srgbClr val="58657A"/>
                </a:solidFill>
              </a:rPr>
              <a:t>Record the evidence and remaining limits.</a:t>
            </a:r>
          </a:p>
        </p:txBody>
      </p:sp>
      <p:sp>
        <p:nvSpPr>
          <p:cNvPr id="25" name="">
            <a:extLst xmlns:a="http://schemas.openxmlformats.org/drawingml/2006/main">
              <a:ext uri="{FF2B5EF4-FFF2-40B4-BE49-F238E27FC236}">
                <a16:creationId xmlns:a16="http://schemas.microsoft.com/office/drawing/2014/main" id="{50B58E85-04DF-4EB2-8993-BA71EBB9F8D6}"/>
              </a:ext>
            </a:extLst>
          </p:cNvPr>
          <p:cNvSpPr>
            <a:spLocks xmlns:a="http://schemas.openxmlformats.org/drawingml/2006/main" noGrp="1"/>
          </p:cNvSpPr>
          <p:nvPr/>
        </p:nvSpPr>
        <p:spPr>
          <a:xfrm xmlns:a="http://schemas.openxmlformats.org/drawingml/2006/main">
            <a:off x="495300" y="64770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58657A"/>
                </a:solidFill>
              </a:defRPr>
            </a:pPr>
            <a:r>
              <a:rPr sz="750">
                <a:solidFill>
                  <a:srgbClr val="58657A"/>
                </a:solidFill>
              </a:rPr>
              <a:t>End-to-End Data Science &amp; AI</a:t>
            </a:r>
          </a:p>
        </p:txBody>
      </p:sp>
      <p:sp>
        <p:nvSpPr>
          <p:cNvPr id="26" name="">
            <a:extLst xmlns:a="http://schemas.openxmlformats.org/drawingml/2006/main">
              <a:ext uri="{FF2B5EF4-FFF2-40B4-BE49-F238E27FC236}">
                <a16:creationId xmlns:a16="http://schemas.microsoft.com/office/drawing/2014/main" id="{0C23E021-4189-47D8-AEB2-F1D40CFBA67B}"/>
              </a:ext>
            </a:extLst>
          </p:cNvPr>
          <p:cNvSpPr>
            <a:spLocks xmlns:a="http://schemas.openxmlformats.org/drawingml/2006/main" noGrp="1"/>
          </p:cNvSpPr>
          <p:nvPr/>
        </p:nvSpPr>
        <p:spPr>
          <a:xfrm xmlns:a="http://schemas.openxmlformats.org/drawingml/2006/main">
            <a:off x="11277600" y="6477000"/>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1">
                <a:solidFill>
                  <a:srgbClr val="176BDB"/>
                </a:solidFill>
              </a:defRPr>
            </a:pPr>
            <a:r>
              <a:rPr sz="750" b="1">
                <a:solidFill>
                  <a:srgbClr val="176BDB"/>
                </a:solidFill>
              </a:rPr>
              <a:t>05</a:t>
            </a:r>
          </a:p>
        </p:txBody>
      </p:sp>
    </p:spTree>
    <p:extLst>
      <p:ext uri="{BB962C8B-B14F-4D97-AF65-F5344CB8AC3E}">
        <p14:creationId xmlns:p14="http://schemas.microsoft.com/office/powerpoint/2010/main" val="191130047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855A4F5-DC37-47B5-8827-1E8E2D6545B8}"/>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8A7C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A30ECB3-E67A-47B8-81C4-704E5C69FFA3}"/>
              </a:ext>
            </a:extLst>
          </p:cNvPr>
          <p:cNvSpPr>
            <a:spLocks xmlns:a="http://schemas.openxmlformats.org/drawingml/2006/main" noGrp="1"/>
          </p:cNvSpPr>
          <p:nvPr/>
        </p:nvSpPr>
        <p:spPr>
          <a:xfrm xmlns:a="http://schemas.openxmlformats.org/drawingml/2006/main">
            <a:off x="495300" y="26670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WEEK 01  /  SESSION 01</a:t>
            </a:r>
          </a:p>
        </p:txBody>
      </p:sp>
      <p:sp>
        <p:nvSpPr>
          <p:cNvPr id="3" name="">
            <a:extLst xmlns:a="http://schemas.openxmlformats.org/drawingml/2006/main">
              <a:ext uri="{FF2B5EF4-FFF2-40B4-BE49-F238E27FC236}">
                <a16:creationId xmlns:a16="http://schemas.microsoft.com/office/drawing/2014/main" id="{267560B6-2CF0-4C50-8F42-B67B98B8AE12}"/>
              </a:ext>
            </a:extLst>
          </p:cNvPr>
          <p:cNvSpPr>
            <a:spLocks xmlns:a="http://schemas.openxmlformats.org/drawingml/2006/main" noGrp="1"/>
          </p:cNvSpPr>
          <p:nvPr/>
        </p:nvSpPr>
        <p:spPr>
          <a:xfrm xmlns:a="http://schemas.openxmlformats.org/drawingml/2006/main">
            <a:off x="495300" y="542925"/>
            <a:ext cx="876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172033"/>
                </a:solidFill>
              </a:defRPr>
            </a:pPr>
            <a:r>
              <a:rPr sz="2550" b="1">
                <a:solidFill>
                  <a:srgbClr val="172033"/>
                </a:solidFill>
              </a:rPr>
              <a:t>Portfolio deliverable</a:t>
            </a:r>
          </a:p>
        </p:txBody>
      </p:sp>
      <p:sp>
        <p:nvSpPr>
          <p:cNvPr id="4" name="">
            <a:extLst xmlns:a="http://schemas.openxmlformats.org/drawingml/2006/main">
              <a:ext uri="{FF2B5EF4-FFF2-40B4-BE49-F238E27FC236}">
                <a16:creationId xmlns:a16="http://schemas.microsoft.com/office/drawing/2014/main" id="{A44FB4B0-AE85-4AEB-94BF-4238B008B95A}"/>
              </a:ext>
            </a:extLst>
          </p:cNvPr>
          <p:cNvSpPr>
            <a:spLocks xmlns:a="http://schemas.openxmlformats.org/drawingml/2006/main" noGrp="1"/>
          </p:cNvSpPr>
          <p:nvPr/>
        </p:nvSpPr>
        <p:spPr>
          <a:xfrm xmlns:a="http://schemas.openxmlformats.org/drawingml/2006/main">
            <a:off x="10334625" y="323850"/>
            <a:ext cx="1381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58657A"/>
                </a:solidFill>
              </a:defRPr>
            </a:pPr>
            <a:r>
              <a:rPr sz="900" b="1">
                <a:solidFill>
                  <a:srgbClr val="58657A"/>
                </a:solidFill>
              </a:rPr>
              <a:t>DS ACADEMY</a:t>
            </a:r>
          </a:p>
        </p:txBody>
      </p:sp>
      <p:sp>
        <p:nvSpPr>
          <p:cNvPr id="5" name="">
            <a:extLst xmlns:a="http://schemas.openxmlformats.org/drawingml/2006/main">
              <a:ext uri="{FF2B5EF4-FFF2-40B4-BE49-F238E27FC236}">
                <a16:creationId xmlns:a16="http://schemas.microsoft.com/office/drawing/2014/main" id="{8D37FF70-EE13-4718-8133-A687C93FD82A}"/>
              </a:ext>
            </a:extLst>
          </p:cNvPr>
          <p:cNvSpPr>
            <a:spLocks xmlns:a="http://schemas.openxmlformats.org/drawingml/2006/main" noGrp="1"/>
          </p:cNvSpPr>
          <p:nvPr/>
        </p:nvSpPr>
        <p:spPr>
          <a:xfrm xmlns:a="http://schemas.openxmlformats.org/drawingml/2006/main">
            <a:off x="495300" y="1181100"/>
            <a:ext cx="11220450" cy="19050"/>
          </a:xfrm>
          <a:prstGeom xmlns:a="http://schemas.openxmlformats.org/drawingml/2006/main" prst="rect">
            <a:avLst/>
          </a:prstGeom>
          <a:solidFill xmlns:a="http://schemas.openxmlformats.org/drawingml/2006/main">
            <a:srgbClr val="D7E2E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C4EB91D-3BDD-4A26-88E6-9F33B1E2279F}"/>
              </a:ext>
            </a:extLst>
          </p:cNvPr>
          <p:cNvSpPr>
            <a:spLocks xmlns:a="http://schemas.openxmlformats.org/drawingml/2006/main" noGrp="1"/>
          </p:cNvSpPr>
          <p:nvPr/>
        </p:nvSpPr>
        <p:spPr>
          <a:xfrm xmlns:a="http://schemas.openxmlformats.org/drawingml/2006/main">
            <a:off x="666750" y="1619250"/>
            <a:ext cx="7239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325" b="1">
                <a:solidFill>
                  <a:srgbClr val="172033"/>
                </a:solidFill>
              </a:defRPr>
            </a:pPr>
            <a:r>
              <a:rPr sz="2325" b="1">
                <a:solidFill>
                  <a:srgbClr val="172033"/>
                </a:solidFill>
              </a:rPr>
              <a:t>A tested Python module and concise debugging log.</a:t>
            </a:r>
          </a:p>
        </p:txBody>
      </p:sp>
      <p:sp>
        <p:nvSpPr>
          <p:cNvPr id="7" name="">
            <a:extLst xmlns:a="http://schemas.openxmlformats.org/drawingml/2006/main">
              <a:ext uri="{FF2B5EF4-FFF2-40B4-BE49-F238E27FC236}">
                <a16:creationId xmlns:a16="http://schemas.microsoft.com/office/drawing/2014/main" id="{39CBB4AE-CCDE-43E7-8EBB-4D25357D6327}"/>
              </a:ext>
            </a:extLst>
          </p:cNvPr>
          <p:cNvSpPr>
            <a:spLocks xmlns:a="http://schemas.openxmlformats.org/drawingml/2006/main" noGrp="1"/>
          </p:cNvSpPr>
          <p:nvPr/>
        </p:nvSpPr>
        <p:spPr>
          <a:xfrm xmlns:a="http://schemas.openxmlformats.org/drawingml/2006/main">
            <a:off x="666750" y="31813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QUALITY GATE</a:t>
            </a:r>
          </a:p>
        </p:txBody>
      </p:sp>
      <p:sp>
        <p:nvSpPr>
          <p:cNvPr id="8" name="">
            <a:extLst xmlns:a="http://schemas.openxmlformats.org/drawingml/2006/main">
              <a:ext uri="{FF2B5EF4-FFF2-40B4-BE49-F238E27FC236}">
                <a16:creationId xmlns:a16="http://schemas.microsoft.com/office/drawing/2014/main" id="{76BC61C7-9F40-4B24-9082-182CFCA83962}"/>
              </a:ext>
            </a:extLst>
          </p:cNvPr>
          <p:cNvSpPr>
            <a:spLocks xmlns:a="http://schemas.openxmlformats.org/drawingml/2006/main" noGrp="1"/>
          </p:cNvSpPr>
          <p:nvPr/>
        </p:nvSpPr>
        <p:spPr>
          <a:xfrm xmlns:a="http://schemas.openxmlformats.org/drawingml/2006/main">
            <a:off x="666750" y="3676650"/>
            <a:ext cx="190500" cy="190500"/>
          </a:xfrm>
          <a:prstGeom xmlns:a="http://schemas.openxmlformats.org/drawingml/2006/main" prst="roundRect">
            <a:avLst>
              <a:gd name="adj" fmla="val 40000"/>
            </a:avLst>
          </a:prstGeom>
          <a:solidFill xmlns:a="http://schemas.openxmlformats.org/drawingml/2006/main">
            <a:srgbClr val="08A7C9"/>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3CC0528-394B-4E38-99AE-E50EF3C5BE29}"/>
              </a:ext>
            </a:extLst>
          </p:cNvPr>
          <p:cNvSpPr>
            <a:spLocks xmlns:a="http://schemas.openxmlformats.org/drawingml/2006/main" noGrp="1"/>
          </p:cNvSpPr>
          <p:nvPr/>
        </p:nvSpPr>
        <p:spPr>
          <a:xfrm xmlns:a="http://schemas.openxmlformats.org/drawingml/2006/main">
            <a:off x="1066800" y="360045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172033"/>
                </a:solidFill>
              </a:defRPr>
            </a:pPr>
            <a:r>
              <a:rPr sz="1500" b="1">
                <a:solidFill>
                  <a:srgbClr val="172033"/>
                </a:solidFill>
              </a:rPr>
              <a:t>Reproducible</a:t>
            </a:r>
          </a:p>
        </p:txBody>
      </p:sp>
      <p:sp>
        <p:nvSpPr>
          <p:cNvPr id="10" name="">
            <a:extLst xmlns:a="http://schemas.openxmlformats.org/drawingml/2006/main">
              <a:ext uri="{FF2B5EF4-FFF2-40B4-BE49-F238E27FC236}">
                <a16:creationId xmlns:a16="http://schemas.microsoft.com/office/drawing/2014/main" id="{B77E3E48-1AD2-478B-A462-37C4E7E7F0C2}"/>
              </a:ext>
            </a:extLst>
          </p:cNvPr>
          <p:cNvSpPr>
            <a:spLocks xmlns:a="http://schemas.openxmlformats.org/drawingml/2006/main" noGrp="1"/>
          </p:cNvSpPr>
          <p:nvPr/>
        </p:nvSpPr>
        <p:spPr>
          <a:xfrm xmlns:a="http://schemas.openxmlformats.org/drawingml/2006/main">
            <a:off x="666750" y="4295775"/>
            <a:ext cx="190500" cy="190500"/>
          </a:xfrm>
          <a:prstGeom xmlns:a="http://schemas.openxmlformats.org/drawingml/2006/main" prst="roundRect">
            <a:avLst>
              <a:gd name="adj" fmla="val 40000"/>
            </a:avLst>
          </a:prstGeom>
          <a:solidFill xmlns:a="http://schemas.openxmlformats.org/drawingml/2006/main">
            <a:srgbClr val="08A7C9"/>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2D320F3-1F7E-428A-B83E-C0FDE8F9BA50}"/>
              </a:ext>
            </a:extLst>
          </p:cNvPr>
          <p:cNvSpPr>
            <a:spLocks xmlns:a="http://schemas.openxmlformats.org/drawingml/2006/main" noGrp="1"/>
          </p:cNvSpPr>
          <p:nvPr/>
        </p:nvSpPr>
        <p:spPr>
          <a:xfrm xmlns:a="http://schemas.openxmlformats.org/drawingml/2006/main">
            <a:off x="1066800" y="42195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172033"/>
                </a:solidFill>
              </a:defRPr>
            </a:pPr>
            <a:r>
              <a:rPr sz="1500" b="1">
                <a:solidFill>
                  <a:srgbClr val="172033"/>
                </a:solidFill>
              </a:rPr>
              <a:t>Tested</a:t>
            </a:r>
          </a:p>
        </p:txBody>
      </p:sp>
      <p:sp>
        <p:nvSpPr>
          <p:cNvPr id="12" name="">
            <a:extLst xmlns:a="http://schemas.openxmlformats.org/drawingml/2006/main">
              <a:ext uri="{FF2B5EF4-FFF2-40B4-BE49-F238E27FC236}">
                <a16:creationId xmlns:a16="http://schemas.microsoft.com/office/drawing/2014/main" id="{8C05239C-2880-498F-BC00-6637E95C3641}"/>
              </a:ext>
            </a:extLst>
          </p:cNvPr>
          <p:cNvSpPr>
            <a:spLocks xmlns:a="http://schemas.openxmlformats.org/drawingml/2006/main" noGrp="1"/>
          </p:cNvSpPr>
          <p:nvPr/>
        </p:nvSpPr>
        <p:spPr>
          <a:xfrm xmlns:a="http://schemas.openxmlformats.org/drawingml/2006/main">
            <a:off x="666750" y="4914900"/>
            <a:ext cx="190500" cy="190500"/>
          </a:xfrm>
          <a:prstGeom xmlns:a="http://schemas.openxmlformats.org/drawingml/2006/main" prst="roundRect">
            <a:avLst>
              <a:gd name="adj" fmla="val 40000"/>
            </a:avLst>
          </a:prstGeom>
          <a:solidFill xmlns:a="http://schemas.openxmlformats.org/drawingml/2006/main">
            <a:srgbClr val="EF776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57C1FDE-B39B-4D02-8AD1-0166F4DF955E}"/>
              </a:ext>
            </a:extLst>
          </p:cNvPr>
          <p:cNvSpPr>
            <a:spLocks xmlns:a="http://schemas.openxmlformats.org/drawingml/2006/main" noGrp="1"/>
          </p:cNvSpPr>
          <p:nvPr/>
        </p:nvSpPr>
        <p:spPr>
          <a:xfrm xmlns:a="http://schemas.openxmlformats.org/drawingml/2006/main">
            <a:off x="1066800" y="483870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172033"/>
                </a:solidFill>
              </a:defRPr>
            </a:pPr>
            <a:r>
              <a:rPr sz="1500" b="1">
                <a:solidFill>
                  <a:srgbClr val="172033"/>
                </a:solidFill>
              </a:rPr>
              <a:t>Decision-relevant</a:t>
            </a:r>
          </a:p>
        </p:txBody>
      </p:sp>
      <p:sp>
        <p:nvSpPr>
          <p:cNvPr id="14" name="">
            <a:extLst xmlns:a="http://schemas.openxmlformats.org/drawingml/2006/main">
              <a:ext uri="{FF2B5EF4-FFF2-40B4-BE49-F238E27FC236}">
                <a16:creationId xmlns:a16="http://schemas.microsoft.com/office/drawing/2014/main" id="{B32156E5-7DEC-4B48-A5C8-833837757787}"/>
              </a:ext>
            </a:extLst>
          </p:cNvPr>
          <p:cNvSpPr>
            <a:spLocks xmlns:a="http://schemas.openxmlformats.org/drawingml/2006/main" noGrp="1"/>
          </p:cNvSpPr>
          <p:nvPr/>
        </p:nvSpPr>
        <p:spPr>
          <a:xfrm xmlns:a="http://schemas.openxmlformats.org/drawingml/2006/main">
            <a:off x="8229600" y="1600200"/>
            <a:ext cx="3143250" cy="4057650"/>
          </a:xfrm>
          <a:prstGeom xmlns:a="http://schemas.openxmlformats.org/drawingml/2006/main" prst="roundRect">
            <a:avLst>
              <a:gd name="adj" fmla="val 2424"/>
            </a:avLst>
          </a:prstGeom>
          <a:solidFill xmlns:a="http://schemas.openxmlformats.org/drawingml/2006/main">
            <a:srgbClr val="EDF4F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ED68897-2CED-46C0-B5DD-61C207022436}"/>
              </a:ext>
            </a:extLst>
          </p:cNvPr>
          <p:cNvSpPr>
            <a:spLocks xmlns:a="http://schemas.openxmlformats.org/drawingml/2006/main" noGrp="1"/>
          </p:cNvSpPr>
          <p:nvPr/>
        </p:nvSpPr>
        <p:spPr>
          <a:xfrm xmlns:a="http://schemas.openxmlformats.org/drawingml/2006/main">
            <a:off x="8572500" y="1962150"/>
            <a:ext cx="238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WEEKLY ASSESSMENT</a:t>
            </a:r>
          </a:p>
        </p:txBody>
      </p:sp>
      <p:sp>
        <p:nvSpPr>
          <p:cNvPr id="16" name="">
            <a:extLst xmlns:a="http://schemas.openxmlformats.org/drawingml/2006/main">
              <a:ext uri="{FF2B5EF4-FFF2-40B4-BE49-F238E27FC236}">
                <a16:creationId xmlns:a16="http://schemas.microsoft.com/office/drawing/2014/main" id="{A880F916-0D0B-4162-8748-A0BD131C3911}"/>
              </a:ext>
            </a:extLst>
          </p:cNvPr>
          <p:cNvSpPr>
            <a:spLocks xmlns:a="http://schemas.openxmlformats.org/drawingml/2006/main" noGrp="1"/>
          </p:cNvSpPr>
          <p:nvPr/>
        </p:nvSpPr>
        <p:spPr>
          <a:xfrm xmlns:a="http://schemas.openxmlformats.org/drawingml/2006/main">
            <a:off x="8572500" y="2476500"/>
            <a:ext cx="2381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172033"/>
                </a:solidFill>
              </a:defRPr>
            </a:pPr>
            <a:r>
              <a:rPr sz="1875" b="1">
                <a:solidFill>
                  <a:srgbClr val="172033"/>
                </a:solidFill>
              </a:rPr>
              <a:t>Transaction Quality Profiler</a:t>
            </a:r>
          </a:p>
        </p:txBody>
      </p:sp>
      <p:sp>
        <p:nvSpPr>
          <p:cNvPr id="17" name="">
            <a:extLst xmlns:a="http://schemas.openxmlformats.org/drawingml/2006/main">
              <a:ext uri="{FF2B5EF4-FFF2-40B4-BE49-F238E27FC236}">
                <a16:creationId xmlns:a16="http://schemas.microsoft.com/office/drawing/2014/main" id="{1E655D6D-F53C-4E25-B1E5-A0A0C6FFA286}"/>
              </a:ext>
            </a:extLst>
          </p:cNvPr>
          <p:cNvSpPr>
            <a:spLocks xmlns:a="http://schemas.openxmlformats.org/drawingml/2006/main" noGrp="1"/>
          </p:cNvSpPr>
          <p:nvPr/>
        </p:nvSpPr>
        <p:spPr>
          <a:xfrm xmlns:a="http://schemas.openxmlformats.org/drawingml/2006/main">
            <a:off x="8572500" y="3695700"/>
            <a:ext cx="23812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58657A"/>
                </a:solidFill>
              </a:defRPr>
            </a:pPr>
            <a:r>
              <a:rPr sz="1200">
                <a:solidFill>
                  <a:srgbClr val="58657A"/>
                </a:solidFill>
              </a:rPr>
              <a:t>Correctness 40%, clarity 25%, tests 20%, explanation 15%.</a:t>
            </a:r>
          </a:p>
        </p:txBody>
      </p:sp>
      <p:sp>
        <p:nvSpPr>
          <p:cNvPr id="18" name="">
            <a:extLst xmlns:a="http://schemas.openxmlformats.org/drawingml/2006/main">
              <a:ext uri="{FF2B5EF4-FFF2-40B4-BE49-F238E27FC236}">
                <a16:creationId xmlns:a16="http://schemas.microsoft.com/office/drawing/2014/main" id="{53496960-2ED6-4889-9979-DC42EBA56AF2}"/>
              </a:ext>
            </a:extLst>
          </p:cNvPr>
          <p:cNvSpPr>
            <a:spLocks xmlns:a="http://schemas.openxmlformats.org/drawingml/2006/main" noGrp="1"/>
          </p:cNvSpPr>
          <p:nvPr/>
        </p:nvSpPr>
        <p:spPr>
          <a:xfrm xmlns:a="http://schemas.openxmlformats.org/drawingml/2006/main">
            <a:off x="495300" y="64770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58657A"/>
                </a:solidFill>
              </a:defRPr>
            </a:pPr>
            <a:r>
              <a:rPr sz="750">
                <a:solidFill>
                  <a:srgbClr val="58657A"/>
                </a:solidFill>
              </a:rPr>
              <a:t>End-to-End Data Science &amp; AI</a:t>
            </a:r>
          </a:p>
        </p:txBody>
      </p:sp>
      <p:sp>
        <p:nvSpPr>
          <p:cNvPr id="19" name="">
            <a:extLst xmlns:a="http://schemas.openxmlformats.org/drawingml/2006/main">
              <a:ext uri="{FF2B5EF4-FFF2-40B4-BE49-F238E27FC236}">
                <a16:creationId xmlns:a16="http://schemas.microsoft.com/office/drawing/2014/main" id="{1793940E-EFFF-4770-9EC1-4E8C96B9D16C}"/>
              </a:ext>
            </a:extLst>
          </p:cNvPr>
          <p:cNvSpPr>
            <a:spLocks xmlns:a="http://schemas.openxmlformats.org/drawingml/2006/main" noGrp="1"/>
          </p:cNvSpPr>
          <p:nvPr/>
        </p:nvSpPr>
        <p:spPr>
          <a:xfrm xmlns:a="http://schemas.openxmlformats.org/drawingml/2006/main">
            <a:off x="11277600" y="6477000"/>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1">
                <a:solidFill>
                  <a:srgbClr val="176BDB"/>
                </a:solidFill>
              </a:defRPr>
            </a:pPr>
            <a:r>
              <a:rPr sz="750" b="1">
                <a:solidFill>
                  <a:srgbClr val="176BDB"/>
                </a:solidFill>
              </a:rPr>
              <a:t>06</a:t>
            </a:r>
          </a:p>
        </p:txBody>
      </p:sp>
    </p:spTree>
    <p:extLst>
      <p:ext uri="{BB962C8B-B14F-4D97-AF65-F5344CB8AC3E}">
        <p14:creationId xmlns:p14="http://schemas.microsoft.com/office/powerpoint/2010/main" val="31714406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DA6D736-BD39-44E0-80D8-F718645F9601}"/>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08A7C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F10FC43-6270-4731-B639-29BE80A7ED02}"/>
              </a:ext>
            </a:extLst>
          </p:cNvPr>
          <p:cNvSpPr>
            <a:spLocks xmlns:a="http://schemas.openxmlformats.org/drawingml/2006/main" noGrp="1"/>
          </p:cNvSpPr>
          <p:nvPr/>
        </p:nvSpPr>
        <p:spPr>
          <a:xfrm xmlns:a="http://schemas.openxmlformats.org/drawingml/2006/main">
            <a:off x="685800" y="6477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176BDB"/>
                </a:solidFill>
              </a:defRPr>
            </a:pPr>
            <a:r>
              <a:rPr sz="975" b="1">
                <a:solidFill>
                  <a:srgbClr val="176BDB"/>
                </a:solidFill>
              </a:rPr>
              <a:t>SESSION CHECKPOINT</a:t>
            </a:r>
          </a:p>
        </p:txBody>
      </p:sp>
      <p:sp>
        <p:nvSpPr>
          <p:cNvPr id="3" name="">
            <a:extLst xmlns:a="http://schemas.openxmlformats.org/drawingml/2006/main">
              <a:ext uri="{FF2B5EF4-FFF2-40B4-BE49-F238E27FC236}">
                <a16:creationId xmlns:a16="http://schemas.microsoft.com/office/drawing/2014/main" id="{FA060939-19D9-4F3F-9831-044BB106ADDB}"/>
              </a:ext>
            </a:extLst>
          </p:cNvPr>
          <p:cNvSpPr>
            <a:spLocks xmlns:a="http://schemas.openxmlformats.org/drawingml/2006/main" noGrp="1"/>
          </p:cNvSpPr>
          <p:nvPr/>
        </p:nvSpPr>
        <p:spPr>
          <a:xfrm xmlns:a="http://schemas.openxmlformats.org/drawingml/2006/main">
            <a:off x="685800" y="1104900"/>
            <a:ext cx="876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172033"/>
                </a:solidFill>
              </a:defRPr>
            </a:pPr>
            <a:r>
              <a:rPr sz="2850" b="1">
                <a:solidFill>
                  <a:srgbClr val="172033"/>
                </a:solidFill>
              </a:rPr>
              <a:t>What should remain after the lesson?</a:t>
            </a:r>
          </a:p>
        </p:txBody>
      </p:sp>
      <p:sp>
        <p:nvSpPr>
          <p:cNvPr id="4" name="">
            <a:extLst xmlns:a="http://schemas.openxmlformats.org/drawingml/2006/main">
              <a:ext uri="{FF2B5EF4-FFF2-40B4-BE49-F238E27FC236}">
                <a16:creationId xmlns:a16="http://schemas.microsoft.com/office/drawing/2014/main" id="{3375123F-84A2-4521-83BD-B632228C0EE6}"/>
              </a:ext>
            </a:extLst>
          </p:cNvPr>
          <p:cNvSpPr>
            <a:spLocks xmlns:a="http://schemas.openxmlformats.org/drawingml/2006/main" noGrp="1"/>
          </p:cNvSpPr>
          <p:nvPr/>
        </p:nvSpPr>
        <p:spPr>
          <a:xfrm xmlns:a="http://schemas.openxmlformats.org/drawingml/2006/main">
            <a:off x="723900" y="2324100"/>
            <a:ext cx="1333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8A7C9"/>
                </a:solidFill>
              </a:defRPr>
            </a:pPr>
            <a:r>
              <a:rPr sz="900" b="1">
                <a:solidFill>
                  <a:srgbClr val="08A7C9"/>
                </a:solidFill>
              </a:rPr>
              <a:t>CONCEPT</a:t>
            </a:r>
          </a:p>
        </p:txBody>
      </p:sp>
      <p:sp>
        <p:nvSpPr>
          <p:cNvPr id="5" name="">
            <a:extLst xmlns:a="http://schemas.openxmlformats.org/drawingml/2006/main">
              <a:ext uri="{FF2B5EF4-FFF2-40B4-BE49-F238E27FC236}">
                <a16:creationId xmlns:a16="http://schemas.microsoft.com/office/drawing/2014/main" id="{B914497B-9AF7-4210-B301-A0D80F2C1CE9}"/>
              </a:ext>
            </a:extLst>
          </p:cNvPr>
          <p:cNvSpPr>
            <a:spLocks xmlns:a="http://schemas.openxmlformats.org/drawingml/2006/main" noGrp="1"/>
          </p:cNvSpPr>
          <p:nvPr/>
        </p:nvSpPr>
        <p:spPr>
          <a:xfrm xmlns:a="http://schemas.openxmlformats.org/drawingml/2006/main">
            <a:off x="2305050" y="2257425"/>
            <a:ext cx="8382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a:solidFill>
                  <a:srgbClr val="172033"/>
                </a:solidFill>
              </a:defRPr>
            </a:pPr>
            <a:r>
              <a:rPr sz="1725" b="1">
                <a:solidFill>
                  <a:srgbClr val="172033"/>
                </a:solidFill>
              </a:rPr>
              <a:t>data types + control flow</a:t>
            </a:r>
          </a:p>
        </p:txBody>
      </p:sp>
      <p:sp>
        <p:nvSpPr>
          <p:cNvPr id="6" name="">
            <a:extLst xmlns:a="http://schemas.openxmlformats.org/drawingml/2006/main">
              <a:ext uri="{FF2B5EF4-FFF2-40B4-BE49-F238E27FC236}">
                <a16:creationId xmlns:a16="http://schemas.microsoft.com/office/drawing/2014/main" id="{D8A208DD-92A4-4D70-BDCC-B074F65CA634}"/>
              </a:ext>
            </a:extLst>
          </p:cNvPr>
          <p:cNvSpPr>
            <a:spLocks xmlns:a="http://schemas.openxmlformats.org/drawingml/2006/main" noGrp="1"/>
          </p:cNvSpPr>
          <p:nvPr/>
        </p:nvSpPr>
        <p:spPr>
          <a:xfrm xmlns:a="http://schemas.openxmlformats.org/drawingml/2006/main">
            <a:off x="723900" y="3124200"/>
            <a:ext cx="10172700" cy="19050"/>
          </a:xfrm>
          <a:prstGeom xmlns:a="http://schemas.openxmlformats.org/drawingml/2006/main" prst="rect">
            <a:avLst/>
          </a:prstGeom>
          <a:solidFill xmlns:a="http://schemas.openxmlformats.org/drawingml/2006/main">
            <a:srgbClr val="D7E2E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A0D69DF-F5BA-4676-A838-81A52B10A64B}"/>
              </a:ext>
            </a:extLst>
          </p:cNvPr>
          <p:cNvSpPr>
            <a:spLocks xmlns:a="http://schemas.openxmlformats.org/drawingml/2006/main" noGrp="1"/>
          </p:cNvSpPr>
          <p:nvPr/>
        </p:nvSpPr>
        <p:spPr>
          <a:xfrm xmlns:a="http://schemas.openxmlformats.org/drawingml/2006/main">
            <a:off x="723900" y="3467100"/>
            <a:ext cx="1333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8A7C9"/>
                </a:solidFill>
              </a:defRPr>
            </a:pPr>
            <a:r>
              <a:rPr sz="900" b="1">
                <a:solidFill>
                  <a:srgbClr val="08A7C9"/>
                </a:solidFill>
              </a:rPr>
              <a:t>PRACTICE</a:t>
            </a:r>
          </a:p>
        </p:txBody>
      </p:sp>
      <p:sp>
        <p:nvSpPr>
          <p:cNvPr id="8" name="">
            <a:extLst xmlns:a="http://schemas.openxmlformats.org/drawingml/2006/main">
              <a:ext uri="{FF2B5EF4-FFF2-40B4-BE49-F238E27FC236}">
                <a16:creationId xmlns:a16="http://schemas.microsoft.com/office/drawing/2014/main" id="{8826E001-A8AD-419F-A727-595A7BBC57CC}"/>
              </a:ext>
            </a:extLst>
          </p:cNvPr>
          <p:cNvSpPr>
            <a:spLocks xmlns:a="http://schemas.openxmlformats.org/drawingml/2006/main" noGrp="1"/>
          </p:cNvSpPr>
          <p:nvPr/>
        </p:nvSpPr>
        <p:spPr>
          <a:xfrm xmlns:a="http://schemas.openxmlformats.org/drawingml/2006/main">
            <a:off x="2305050" y="3400425"/>
            <a:ext cx="8382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a:solidFill>
                  <a:srgbClr val="172033"/>
                </a:solidFill>
              </a:defRPr>
            </a:pPr>
            <a:r>
              <a:rPr sz="1725" b="1">
                <a:solidFill>
                  <a:srgbClr val="172033"/>
                </a:solidFill>
              </a:rPr>
              <a:t>Build a reusable profiler for a list of transaction records.</a:t>
            </a:r>
          </a:p>
        </p:txBody>
      </p:sp>
      <p:sp>
        <p:nvSpPr>
          <p:cNvPr id="9" name="">
            <a:extLst xmlns:a="http://schemas.openxmlformats.org/drawingml/2006/main">
              <a:ext uri="{FF2B5EF4-FFF2-40B4-BE49-F238E27FC236}">
                <a16:creationId xmlns:a16="http://schemas.microsoft.com/office/drawing/2014/main" id="{A0271429-FFE2-4BC9-9303-4805E9F3686B}"/>
              </a:ext>
            </a:extLst>
          </p:cNvPr>
          <p:cNvSpPr>
            <a:spLocks xmlns:a="http://schemas.openxmlformats.org/drawingml/2006/main" noGrp="1"/>
          </p:cNvSpPr>
          <p:nvPr/>
        </p:nvSpPr>
        <p:spPr>
          <a:xfrm xmlns:a="http://schemas.openxmlformats.org/drawingml/2006/main">
            <a:off x="723900" y="4267200"/>
            <a:ext cx="10172700" cy="19050"/>
          </a:xfrm>
          <a:prstGeom xmlns:a="http://schemas.openxmlformats.org/drawingml/2006/main" prst="rect">
            <a:avLst/>
          </a:prstGeom>
          <a:solidFill xmlns:a="http://schemas.openxmlformats.org/drawingml/2006/main">
            <a:srgbClr val="D7E2E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9960DB4-F0B4-474F-BC36-674428318202}"/>
              </a:ext>
            </a:extLst>
          </p:cNvPr>
          <p:cNvSpPr>
            <a:spLocks xmlns:a="http://schemas.openxmlformats.org/drawingml/2006/main" noGrp="1"/>
          </p:cNvSpPr>
          <p:nvPr/>
        </p:nvSpPr>
        <p:spPr>
          <a:xfrm xmlns:a="http://schemas.openxmlformats.org/drawingml/2006/main">
            <a:off x="723900" y="4610100"/>
            <a:ext cx="1333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EF7768"/>
                </a:solidFill>
              </a:defRPr>
            </a:pPr>
            <a:r>
              <a:rPr sz="900" b="1">
                <a:solidFill>
                  <a:srgbClr val="EF7768"/>
                </a:solidFill>
              </a:rPr>
              <a:t>EVIDENCE</a:t>
            </a:r>
          </a:p>
        </p:txBody>
      </p:sp>
      <p:sp>
        <p:nvSpPr>
          <p:cNvPr id="11" name="">
            <a:extLst xmlns:a="http://schemas.openxmlformats.org/drawingml/2006/main">
              <a:ext uri="{FF2B5EF4-FFF2-40B4-BE49-F238E27FC236}">
                <a16:creationId xmlns:a16="http://schemas.microsoft.com/office/drawing/2014/main" id="{BAF03B52-57FA-458B-96A1-8D6393F6CC4E}"/>
              </a:ext>
            </a:extLst>
          </p:cNvPr>
          <p:cNvSpPr>
            <a:spLocks xmlns:a="http://schemas.openxmlformats.org/drawingml/2006/main" noGrp="1"/>
          </p:cNvSpPr>
          <p:nvPr/>
        </p:nvSpPr>
        <p:spPr>
          <a:xfrm xmlns:a="http://schemas.openxmlformats.org/drawingml/2006/main">
            <a:off x="2305050" y="4543425"/>
            <a:ext cx="8382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a:solidFill>
                  <a:srgbClr val="172033"/>
                </a:solidFill>
              </a:defRPr>
            </a:pPr>
            <a:r>
              <a:rPr sz="1725" b="1">
                <a:solidFill>
                  <a:srgbClr val="172033"/>
                </a:solidFill>
              </a:rPr>
              <a:t>A tested Python module and concise debugging log.</a:t>
            </a:r>
          </a:p>
        </p:txBody>
      </p:sp>
      <p:sp>
        <p:nvSpPr>
          <p:cNvPr id="12" name="">
            <a:extLst xmlns:a="http://schemas.openxmlformats.org/drawingml/2006/main">
              <a:ext uri="{FF2B5EF4-FFF2-40B4-BE49-F238E27FC236}">
                <a16:creationId xmlns:a16="http://schemas.microsoft.com/office/drawing/2014/main" id="{6459F866-3CBC-4383-8B3E-86BF8321C6D5}"/>
              </a:ext>
            </a:extLst>
          </p:cNvPr>
          <p:cNvSpPr>
            <a:spLocks xmlns:a="http://schemas.openxmlformats.org/drawingml/2006/main" noGrp="1"/>
          </p:cNvSpPr>
          <p:nvPr/>
        </p:nvSpPr>
        <p:spPr>
          <a:xfrm xmlns:a="http://schemas.openxmlformats.org/drawingml/2006/main">
            <a:off x="723900" y="5410200"/>
            <a:ext cx="10172700" cy="19050"/>
          </a:xfrm>
          <a:prstGeom xmlns:a="http://schemas.openxmlformats.org/drawingml/2006/main" prst="rect">
            <a:avLst/>
          </a:prstGeom>
          <a:solidFill xmlns:a="http://schemas.openxmlformats.org/drawingml/2006/main">
            <a:srgbClr val="D7E2E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57C2683-B561-45BC-9144-42DE77A12011}"/>
              </a:ext>
            </a:extLst>
          </p:cNvPr>
          <p:cNvSpPr>
            <a:spLocks xmlns:a="http://schemas.openxmlformats.org/drawingml/2006/main" noGrp="1"/>
          </p:cNvSpPr>
          <p:nvPr/>
        </p:nvSpPr>
        <p:spPr>
          <a:xfrm xmlns:a="http://schemas.openxmlformats.org/drawingml/2006/main">
            <a:off x="723900" y="5981700"/>
            <a:ext cx="2905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176BDB"/>
                </a:solidFill>
              </a:defRPr>
            </a:pPr>
            <a:r>
              <a:rPr sz="1125" b="1">
                <a:solidFill>
                  <a:srgbClr val="176BDB"/>
                </a:solidFill>
              </a:rPr>
              <a:t>Narration available in English and</a:t>
            </a:r>
          </a:p>
        </p:txBody>
      </p:sp>
      <p:sp>
        <p:nvSpPr>
          <p:cNvPr id="14" name="">
            <a:extLst xmlns:a="http://schemas.openxmlformats.org/drawingml/2006/main">
              <a:ext uri="{FF2B5EF4-FFF2-40B4-BE49-F238E27FC236}">
                <a16:creationId xmlns:a16="http://schemas.microsoft.com/office/drawing/2014/main" id="{1E697553-D554-4F4C-9D41-8378C08F665E}"/>
              </a:ext>
            </a:extLst>
          </p:cNvPr>
          <p:cNvSpPr>
            <a:spLocks xmlns:a="http://schemas.openxmlformats.org/drawingml/2006/main" noGrp="1"/>
          </p:cNvSpPr>
          <p:nvPr/>
        </p:nvSpPr>
        <p:spPr>
          <a:xfrm xmlns:a="http://schemas.openxmlformats.org/drawingml/2006/main">
            <a:off x="3657600" y="5953125"/>
            <a:ext cx="876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176BDB"/>
                </a:solidFill>
              </a:defRPr>
            </a:pPr>
            <a:r>
              <a:rPr sz="1200" b="1">
                <a:solidFill>
                  <a:srgbClr val="176BDB"/>
                </a:solidFill>
              </a:rPr>
              <a:t>සිංහල</a:t>
            </a:r>
          </a:p>
        </p:txBody>
      </p:sp>
      <p:sp>
        <p:nvSpPr>
          <p:cNvPr id="15" name="">
            <a:extLst xmlns:a="http://schemas.openxmlformats.org/drawingml/2006/main">
              <a:ext uri="{FF2B5EF4-FFF2-40B4-BE49-F238E27FC236}">
                <a16:creationId xmlns:a16="http://schemas.microsoft.com/office/drawing/2014/main" id="{0D017BEB-354D-461C-B908-5F6F62665179}"/>
              </a:ext>
            </a:extLst>
          </p:cNvPr>
          <p:cNvSpPr>
            <a:spLocks xmlns:a="http://schemas.openxmlformats.org/drawingml/2006/main" noGrp="1"/>
          </p:cNvSpPr>
          <p:nvPr/>
        </p:nvSpPr>
        <p:spPr>
          <a:xfrm xmlns:a="http://schemas.openxmlformats.org/drawingml/2006/main">
            <a:off x="10001250" y="59817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58657A"/>
                </a:solidFill>
              </a:defRPr>
            </a:pPr>
            <a:r>
              <a:rPr sz="900" b="1">
                <a:solidFill>
                  <a:srgbClr val="58657A"/>
                </a:solidFill>
              </a:rPr>
              <a:t>DS ACADEMY</a:t>
            </a:r>
          </a:p>
        </p:txBody>
      </p:sp>
    </p:spTree>
    <p:extLst>
      <p:ext uri="{BB962C8B-B14F-4D97-AF65-F5344CB8AC3E}">
        <p14:creationId xmlns:p14="http://schemas.microsoft.com/office/powerpoint/2010/main" val="15774744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2026-07-27T08:00:58.9260000Z</dcterms:created>
  <dcterms:modified xsi:type="dcterms:W3CDTF">2026-07-27T08:00:58.9260000Z</dcterms:modified>
</coreProperties>
</file>